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f1d37466-978d-ce88-be0e-7e31ba0e7a6f}">
          <p14:sldIdLst>
            <p14:sldId id="256"/>
            <p14:sldId id="257"/>
          </p14:sldIdLst>
        </p14:section>
        <p14:section name="Pembagian luas" id="{0bda55e8-62f7-351d-76b9-334a7787ef4d}">
          <p14:sldIdLst>
            <p14:sldId id="258"/>
          </p14:sldIdLst>
        </p14:section>
        <p14:section name="REDD+" id="{53c96185-f6e0-0f19-b0db-43cc5cf95fc6}">
          <p14:sldIdLst>
            <p14:sldId id="259"/>
            <p14:sldId id="260"/>
          </p14:sldIdLst>
        </p14:section>
        <p14:section name="ARR" id="{41e0bf76-f0ea-5980-bcb6-1109965643b3}">
          <p14:sldIdLst>
            <p14:sldId id="261"/>
            <p14:sldId id="262"/>
          </p14:sldIdLst>
        </p14:section>
        <p14:section name="Konteks dan tindak lanjut" id="{dec3f659-229c-fec3-260e-e6cab16652a8}">
          <p14:sldIdLst>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Hutan sekunder</c:v>
                </c:pt>
              </c:strCache>
            </c:strRef>
          </c:tx>
          <c:spPr>
            <a:solidFill>
              <a:srgbClr val="1F5A45"/>
            </a:solidFill>
            <a:ln w="31750" cap="flat">
              <a:solidFill>
                <a:srgbClr val="1F5A45"/>
              </a:solidFill>
              <a:prstDash val="solid"/>
              <a:round/>
            </a:ln>
            <a:effectLst/>
          </c:spPr>
          <c:invertIfNegative val="0"/>
          <c:dLbls>
            <c:numFmt formatCode="#\.##0\,00" sourceLinked="0"/>
            <c:txPr>
              <a:bodyPr/>
              <a:lstStyle/>
              <a:p>
                <a:pPr>
                  <a:defRPr b="0" i="0" strike="noStrike" sz="1200" u="none">
                    <a:solidFill>
                      <a:srgbClr val="1B2420"/>
                    </a:solidFill>
                    <a:latin typeface="+mn-lt"/>
                  </a:defRPr>
                </a:pPr>
              </a:p>
            </c:txPr>
            <c:dLblPos val="t"/>
            <c:showLegendKey val="0"/>
            <c:showVal val="1"/>
            <c:showCatName val="0"/>
            <c:showSerName val="0"/>
            <c:showPercent val="0"/>
            <c:showBubbleSize val="0"/>
            <c:showLeaderLines val="0"/>
          </c:dLbls>
          <c:marker>
            <c:symbol val="circle"/>
            <c:size val="9"/>
            <c:spPr>
              <a:solidFill>
                <a:srgbClr val="1F5A45"/>
              </a:solidFill>
              <a:ln w="9525" cap="flat">
                <a:solidFill>
                  <a:srgbClr val="1F5A45"/>
                </a:solidFill>
                <a:prstDash val="solid"/>
                <a:round/>
              </a:ln>
              <a:effectLst/>
            </c:spPr>
          </c:marker>
          <c:cat>
            <c:multiLvlStrRef>
              <c:f>Sheet1!$A$2:$A$4</c:f>
              <c:multiLvlStrCache>
                <c:ptCount val="3"/>
                <c:lvl>
                  <c:pt idx="0">
                    <c:v>2016</c:v>
                  </c:pt>
                  <c:pt idx="1">
                    <c:v>2021</c:v>
                  </c:pt>
                  <c:pt idx="2">
                    <c:v>2026</c:v>
                  </c:pt>
                </c:lvl>
              </c:multiLvlStrCache>
            </c:multiLvlStrRef>
          </c:cat>
          <c:val>
            <c:numRef>
              <c:f>Sheet1!$B$2:$B$4</c:f>
              <c:numCache>
                <c:formatCode>General</c:formatCode>
                <c:ptCount val="3"/>
                <c:pt idx="0">
                  <c:v>145207</c:v>
                </c:pt>
                <c:pt idx="1">
                  <c:v>154928</c:v>
                </c:pt>
                <c:pt idx="2">
                  <c:v>141116</c:v>
                </c:pt>
              </c:numCache>
            </c:numRef>
          </c:val>
          <c:smooth val="0"/>
        </c:ser>
        <c:dLbls>
          <c:numFmt formatCode="#\.##0\,00" sourceLinked="0"/>
          <c:txPr>
            <a:bodyPr/>
            <a:lstStyle/>
            <a:p>
              <a:pPr>
                <a:defRPr b="0" i="0" strike="noStrike" sz="1200" u="none">
                  <a:solidFill>
                    <a:srgbClr val="1B2420"/>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F6B65"/>
                </a:solidFill>
                <a:latin typeface="+mn-lt"/>
              </a:defRPr>
            </a:pPr>
            <a:endParaRPr lang="en-US"/>
          </a:p>
        </c:txPr>
        <c:crossAx val="2094734552"/>
        <c:crosses val="autoZero"/>
        <c:auto val="1"/>
        <c:lblAlgn val="ctr"/>
        <c:noMultiLvlLbl val="1"/>
      </c:catAx>
      <c:valAx>
        <c:axId val="2094734552"/>
        <c:scaling>
          <c:orientation val="minMax"/>
          <c:max val="160000"/>
          <c:min val="13500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F6B6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Luas</c:v>
                </c:pt>
              </c:strCache>
            </c:strRef>
          </c:tx>
          <c:spPr>
            <a:solidFill>
              <a:srgbClr val="B5551F"/>
            </a:solidFill>
            <a:effectLst/>
          </c:spPr>
          <c:invertIfNegative val="0"/>
          <c:dLbls>
            <c:numFmt formatCode="#0\,00" sourceLinked="0"/>
            <c:txPr>
              <a:bodyPr/>
              <a:lstStyle/>
              <a:p>
                <a:pPr>
                  <a:defRPr b="0" i="0" strike="noStrike" sz="1200" u="none">
                    <a:solidFill>
                      <a:srgbClr val="1B2420"/>
                    </a:solidFill>
                    <a:latin typeface="+mn-lt"/>
                  </a:defRPr>
                </a:pPr>
              </a:p>
            </c:txPr>
            <c:showLegendKey val="0"/>
            <c:showVal val="1"/>
            <c:showCatName val="0"/>
            <c:showSerName val="0"/>
            <c:showPercent val="0"/>
            <c:showBubbleSize val="0"/>
            <c:showLeaderLines val="0"/>
          </c:dLbls>
          <c:dPt>
            <c:idx val="0"/>
            <c:invertIfNegative val="0"/>
            <c:bubble3D val="0"/>
            <c:spPr>
              <a:solidFill>
                <a:srgbClr val="B5551F"/>
              </a:solidFill>
              <a:effectLst/>
            </c:spPr>
          </c:dPt>
          <c:dPt>
            <c:idx val="1"/>
            <c:invertIfNegative val="0"/>
            <c:bubble3D val="0"/>
            <c:spPr>
              <a:solidFill>
                <a:srgbClr val="B5551F"/>
              </a:solidFill>
              <a:effectLst/>
            </c:spPr>
          </c:dPt>
          <c:dPt>
            <c:idx val="2"/>
            <c:invertIfNegative val="0"/>
            <c:bubble3D val="0"/>
            <c:spPr>
              <a:solidFill>
                <a:srgbClr val="B5551F"/>
              </a:solidFill>
              <a:effectLst/>
            </c:spPr>
          </c:dPt>
          <c:dPt>
            <c:idx val="3"/>
            <c:invertIfNegative val="0"/>
            <c:bubble3D val="0"/>
            <c:spPr>
              <a:solidFill>
                <a:srgbClr val="7FB096"/>
              </a:solidFill>
              <a:effectLst/>
            </c:spPr>
          </c:dPt>
          <c:cat>
            <c:multiLvlStrRef>
              <c:f>Sheet1!$A$2:$A$5</c:f>
              <c:multiLvlStrCache>
                <c:ptCount val="4"/>
                <c:lvl>
                  <c:pt idx="0">
                    <c:v>Hutan → lahan terbuka</c:v>
                  </c:pt>
                  <c:pt idx="1">
                    <c:v>Hutan → semak belukar</c:v>
                  </c:pt>
                  <c:pt idx="2">
                    <c:v>Hutan → perkebunan</c:v>
                  </c:pt>
                  <c:pt idx="3">
                    <c:v>Semak → hutan (regenerasi)</c:v>
                  </c:pt>
                </c:lvl>
              </c:multiLvlStrCache>
            </c:multiLvlStrRef>
          </c:cat>
          <c:val>
            <c:numRef>
              <c:f>Sheet1!$B$2:$B$5</c:f>
              <c:numCache>
                <c:formatCode>General</c:formatCode>
                <c:ptCount val="4"/>
                <c:pt idx="0">
                  <c:v>5522</c:v>
                </c:pt>
                <c:pt idx="1">
                  <c:v>1981</c:v>
                </c:pt>
                <c:pt idx="2">
                  <c:v>785</c:v>
                </c:pt>
                <c:pt idx="3">
                  <c:v>4194</c:v>
                </c:pt>
              </c:numCache>
            </c:numRef>
          </c:val>
        </c:ser>
        <c:dLbls>
          <c:numFmt formatCode="#0\,00" sourceLinked="0"/>
          <c:txPr>
            <a:bodyPr/>
            <a:lstStyle/>
            <a:p>
              <a:pPr>
                <a:defRPr b="0" i="0" strike="noStrike" sz="1200" u="none">
                  <a:solidFill>
                    <a:srgbClr val="1B242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5F6B65"/>
                </a:solidFill>
                <a:latin typeface="+mn-lt"/>
              </a:defRPr>
            </a:pPr>
            <a:endParaRPr lang="en-US"/>
          </a:p>
        </c:txPr>
        <c:crossAx val="2094734552"/>
        <c:crosses val="autoZero"/>
        <c:auto val="1"/>
        <c:lblAlgn val="ctr"/>
        <c:noMultiLvlLbl val="1"/>
      </c:catAx>
      <c:valAx>
        <c:axId val="2094734552"/>
        <c:scaling>
          <c:orientation val="minMax"/>
          <c:max val="65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F6B6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Perubahan</c:v>
                </c:pt>
              </c:strCache>
            </c:strRef>
          </c:tx>
          <c:spPr>
            <a:solidFill>
              <a:srgbClr val="B5551F"/>
            </a:solidFill>
            <a:effectLst/>
          </c:spPr>
          <c:invertIfNegative val="0"/>
          <c:dLbls>
            <c:numFmt formatCode="+#0\,00;−#0\,00" sourceLinked="0"/>
            <c:txPr>
              <a:bodyPr/>
              <a:lstStyle/>
              <a:p>
                <a:pPr>
                  <a:defRPr b="0" i="0" strike="noStrike" sz="1200" u="none">
                    <a:solidFill>
                      <a:srgbClr val="1B2420"/>
                    </a:solidFill>
                    <a:latin typeface="+mn-lt"/>
                  </a:defRPr>
                </a:pPr>
              </a:p>
            </c:txPr>
            <c:showLegendKey val="0"/>
            <c:showVal val="1"/>
            <c:showCatName val="0"/>
            <c:showSerName val="0"/>
            <c:showPercent val="0"/>
            <c:showBubbleSize val="0"/>
            <c:showLeaderLines val="0"/>
          </c:dLbls>
          <c:dPt>
            <c:idx val="0"/>
            <c:invertIfNegative val="0"/>
            <c:bubble3D val="0"/>
            <c:spPr>
              <a:solidFill>
                <a:srgbClr val="B5551F"/>
              </a:solidFill>
              <a:effectLst/>
            </c:spPr>
          </c:dPt>
          <c:dPt>
            <c:idx val="1"/>
            <c:invertIfNegative val="0"/>
            <c:bubble3D val="0"/>
            <c:spPr>
              <a:solidFill>
                <a:srgbClr val="B5551F"/>
              </a:solidFill>
              <a:effectLst/>
            </c:spPr>
          </c:dPt>
          <c:dPt>
            <c:idx val="2"/>
            <c:invertIfNegative val="0"/>
            <c:bubble3D val="0"/>
            <c:spPr>
              <a:solidFill>
                <a:srgbClr val="B5551F"/>
              </a:solidFill>
              <a:effectLst/>
            </c:spPr>
          </c:dPt>
          <c:dPt>
            <c:idx val="3"/>
            <c:invertIfNegative val="0"/>
            <c:bubble3D val="0"/>
            <c:spPr>
              <a:solidFill>
                <a:srgbClr val="3E78A8"/>
              </a:solidFill>
              <a:effectLst/>
            </c:spPr>
          </c:dPt>
          <c:dPt>
            <c:idx val="4"/>
            <c:invertIfNegative val="0"/>
            <c:bubble3D val="0"/>
            <c:spPr>
              <a:solidFill>
                <a:srgbClr val="3E78A8"/>
              </a:solidFill>
              <a:effectLst/>
            </c:spPr>
          </c:dPt>
          <c:cat>
            <c:multiLvlStrRef>
              <c:f>Sheet1!$A$2:$A$6</c:f>
              <c:multiLvlStrCache>
                <c:ptCount val="5"/>
                <c:lvl>
                  <c:pt idx="0">
                    <c:v>Hutan</c:v>
                  </c:pt>
                  <c:pt idx="1">
                    <c:v>Semak belukar</c:v>
                  </c:pt>
                  <c:pt idx="2">
                    <c:v>Pertanian</c:v>
                  </c:pt>
                  <c:pt idx="3">
                    <c:v>Perkebunan</c:v>
                  </c:pt>
                  <c:pt idx="4">
                    <c:v>Lahan terbuka</c:v>
                  </c:pt>
                </c:lvl>
              </c:multiLvlStrCache>
            </c:multiLvlStrRef>
          </c:cat>
          <c:val>
            <c:numRef>
              <c:f>Sheet1!$B$2:$B$6</c:f>
              <c:numCache>
                <c:formatCode>General</c:formatCode>
                <c:ptCount val="5"/>
                <c:pt idx="0">
                  <c:v>-4091</c:v>
                </c:pt>
                <c:pt idx="1">
                  <c:v>-35925</c:v>
                </c:pt>
                <c:pt idx="2">
                  <c:v>-1023</c:v>
                </c:pt>
                <c:pt idx="3">
                  <c:v>35281</c:v>
                </c:pt>
                <c:pt idx="4">
                  <c:v>5760</c:v>
                </c:pt>
              </c:numCache>
            </c:numRef>
          </c:val>
        </c:ser>
        <c:dLbls>
          <c:numFmt formatCode="+#0\,00;−#0\,00" sourceLinked="0"/>
          <c:txPr>
            <a:bodyPr/>
            <a:lstStyle/>
            <a:p>
              <a:pPr>
                <a:defRPr b="0" i="0" strike="noStrike" sz="1200" u="none">
                  <a:solidFill>
                    <a:srgbClr val="1B2420"/>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noFill/>
            <a:prstDash val="solid"/>
            <a:round/>
          </a:ln>
        </c:spPr>
        <c:txPr>
          <a:bodyPr/>
          <a:lstStyle/>
          <a:p>
            <a:pPr>
              <a:defRPr sz="1200" b="0" i="0" u="none" strike="noStrike">
                <a:solidFill>
                  <a:srgbClr val="5F6B65"/>
                </a:solidFill>
                <a:latin typeface="+mn-lt"/>
              </a:defRPr>
            </a:pPr>
            <a:endParaRPr lang="en-US"/>
          </a:p>
        </c:txPr>
        <c:crossAx val="2094734552"/>
        <c:crosses val="autoZero"/>
        <c:auto val="1"/>
        <c:lblAlgn val="ctr"/>
        <c:noMultiLvlLbl val="1"/>
      </c:catAx>
      <c:valAx>
        <c:axId val="2094734552"/>
        <c:scaling>
          <c:orientation val="minMax"/>
          <c:max val="45000"/>
          <c:min val="-450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F6B6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ini membagi area 2.468,51 ha di KHG Sungai Mempawah (Kalimantan Barat) menjadi area yang layak REDD+ dan ARR berdasarkan tutupan lahan 2016, 2021 dan 2026. Asumsi: PV dibaca sebagai Plan Vivo; syarat 10 tahun mengikuti praktik VCS/CDM dan perlu dicek ke PV Climate Requirements terbaru.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REDD+: 1.369,2 ha hutan stabil, ditambah 41,94 ha hutan regenerasi yang perlu dicek definisi hutannya. ARR: hanya 591,3 ha yang lolos saringan dari 1.057,35 ha non-hutan. Deforestasi: angka 40,91 ha adalah net; angka bruto 82,87 ha yang dipakai untuk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Kelas dibentuk dari matriks perubahan tutupan 2016–2026. Hutan stabil = hutan 2016 dikurangi kehilangan bruto 82,87 ha (1.452,07 − 82,87 = 1.369,20), sama dengan hutan 2026 dikurangi regenerasi 41,94 ha. ARR layak = semak dan lahan terbuka yang tidak pernah menjadi hutan dalam 10 tahun terakhir.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Luas hutan sekunder: 2016 1.452,07 ha; 2021 1.549,28 ha; 2026 1.411,16 ha. Selisih 2016–2026 = 40,91 ha (net). Matriks perubahan menunjukkan kehilangan bruto 82,87 ha dan regenerasi 41,94 ha. Regenerasi tidak boleh mengurangi angka deforestasi di baseline. Lonjakan 2021 bisa berarti laju makin cepat atau galat klasifikasi citra 2021; periksa sebelum memilih periode referensi.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Hutan yang hilang 2016–2026 (82,87 ha): lahan terbuka 55,22 ha, semak belukar 19,81 ha, perkebunan 7,85 ha. Di sisi lain, 41,94 ha semak tumbuh kembali menjadi hutan. Hutan regenerasi bisa masuk REDD+ hanya bila memenuhi definisi hutan (≥0,25 ha, tajuk ≥30%, tinggi ≥5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saringan: non-hutan 2026 1.057,35 ha; keluarkan sungai 31,92 ha; keluarkan bekas hutan yang dibuka 2016–2026 sebesar 82,87 ha (lahan terbuka 55,22, semak 19,81, kebun 7,85), karena ARR mensyaratkan lahan sudah non-hutan minimal 10 tahun; pisahkan kebun 351,30 ha sebagai kategori bersyarat. Sisa ARR layak 591,26 ha = semak 588,88 + lahan terbuka 2,38.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Perubahan luas 2016 → 2026: hutan −40,91; semak belukar −359,25; pertanian −10,23; perkebunan +352,81; lahan terbuka +57,60. Perkebunan tumbuh dari 6,33 ha (2016) menjadi 359,14 ha (2026), terutama setelah 2021 (26,04 ha). Pemicu utama perubahan lahan adalah ekspansi kebun. Ini menguatkan argumen ancaman untuk REDD+, tetapi juga berarti area ARR berupa semak rawan dikonversi selama proyek.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Overlay KHG: fungsi lindung (KHG Sungai Mempawah – Sungai Duri, gambut 100–300 cm) ±2.016 ha; fungsi budidaya (KHG Sungai Mempawah – Sungai Peniti, bergambut &lt;50 cm) ±453 ha. Di fungsi lindung, konversi sudah dilarang (PP 71/2014 jo. PP 57/2016), sehingga additionality REDD+ harus menunjukkan larangan tidak efektif di lapangan.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P31 = O37*P30: rata-rata tCO2e/ha seluruh tutupan dikali 0,0116 tanpa luas, hasil 22,67 tCO2e/tahun. Seharusnya luas hutan × laju deforestasi × faktor emisi per ha hutan; sumber laju 0,0116 perlu dicantumkan. 2) D33 memakai C33 (Emisi), seharusnya B33 (Luas). 3) D34 memakai 45, seharusnya 0,45; kesalahan sama di sheet Tuplah D55/D63. 4) E31:E34 memakai 1,5 m untuk semua kelas; BD dan C beda antar-sheet (0,08/0,45; 0,10/0,55; 0,12/0,51). 5) Biomassa di atas permukaan belum dihitung; emisi gambut dihitung tahunan dari selisih faktor emisi.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Urutan kerja: (1) cek klasifikasi citra 2021; (2) cek hutan regenerasi 41,94 ha terhadap definisi hutan; (3) konfirmasi syarat kelayakan di PV Climate Requirements; (4) perbaiki lima rumus dan pilih nilai biomassa; (5) hitung ulang baseline REDD+ dengan laju bruto dan potensi ARR untuk 591 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rtlCol="0"/>
          <a:lstStyle>
            <a:lvl1pPr algn="l" indent="0" marL="0">
              <a:buNone/>
              <a:defRPr lang="en-US" sz="28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6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822960"/>
            <a:ext cx="11094415" cy="320040"/>
          </a:xfrm>
          <a:prstGeom prst="rect">
            <a:avLst/>
          </a:prstGeom>
          <a:noFill/>
          <a:ln/>
        </p:spPr>
        <p:txBody>
          <a:bodyPr wrap="square" rtlCol="0"/>
          <a:lstStyle>
            <a:lvl1pPr indent="0" marL="0">
              <a:buNone/>
              <a:defRPr lang="en-US" sz="1400" b="1" spc="300" kern="0" dirty="0">
                <a:solidFill>
                  <a:schemeClr val="accent5"/>
                </a:solidFill>
              </a:defRPr>
            </a:lvl1pPr>
          </a:lstStyle>
          <a:p>
            <a:pPr indent="0" marL="0">
              <a:buNone/>
            </a:pPr>
            <a:endParaRPr lang="en-US" sz="1400" dirty="0"/>
          </a:p>
        </p:txBody>
      </p:sp>
      <p:sp>
        <p:nvSpPr>
          <p:cNvPr id="3" name="Text 0"/>
          <p:cNvSpPr/>
          <p:nvPr>
            <p:ph idx="101" type="title" hasCustomPrompt="1"/>
          </p:nvPr>
        </p:nvSpPr>
        <p:spPr>
          <a:xfrm>
            <a:off x="548640" y="1280160"/>
            <a:ext cx="10058400" cy="155448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6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822960"/>
            <a:ext cx="11094415" cy="320040"/>
          </a:xfrm>
          <a:prstGeom prst="rect">
            <a:avLst/>
          </a:prstGeom>
          <a:noFill/>
          <a:ln/>
        </p:spPr>
        <p:txBody>
          <a:bodyPr wrap="square" lIns="0" tIns="0" rIns="0" bIns="0" rtlCol="0"/>
          <a:lstStyle/>
          <a:p>
            <a:pPr indent="0" marL="0">
              <a:buNone/>
            </a:pPr>
            <a:r>
              <a:rPr lang="en-US" sz="1400" b="1" spc="300" kern="0" dirty="0">
                <a:solidFill>
                  <a:schemeClr val="accent5"/>
                </a:solidFill>
              </a:rPr>
              <a:t>ANALISIS LUASAN  ·  METODE PLAN VIVO (PV CLIMATE)</a:t>
            </a:r>
            <a:endParaRPr lang="en-US" sz="1400" dirty="0"/>
          </a:p>
        </p:txBody>
      </p:sp>
      <p:sp>
        <p:nvSpPr>
          <p:cNvPr id="3" name="Text 0"/>
          <p:cNvSpPr/>
          <p:nvPr>
            <p:ph idx="101" type="title" hasCustomPrompt="1"/>
          </p:nvPr>
        </p:nvSpPr>
        <p:spPr>
          <a:xfrm>
            <a:off x="548640" y="1280160"/>
            <a:ext cx="10058400" cy="155448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1.411 ha hutan untuk REDD+, tetapi hanya 591 ha lahan yang layak ARR</a:t>
            </a:r>
            <a:endParaRPr lang="en-US" sz="4000" dirty="0"/>
          </a:p>
        </p:txBody>
      </p:sp>
      <p:sp>
        <p:nvSpPr>
          <p:cNvPr id="5" name="Text 2"/>
          <p:cNvSpPr txBox="1"/>
          <p:nvPr/>
        </p:nvSpPr>
        <p:spPr>
          <a:xfrm>
            <a:off x="548640" y="2880360"/>
            <a:ext cx="9144000" cy="457200"/>
          </a:xfrm>
          <a:prstGeom prst="rect">
            <a:avLst/>
          </a:prstGeom>
          <a:noFill/>
          <a:ln/>
        </p:spPr>
        <p:txBody>
          <a:bodyPr wrap="square" lIns="0" tIns="0" rIns="0" bIns="0" rtlCol="0" anchor="t"/>
          <a:lstStyle/>
          <a:p>
            <a:pPr indent="0" marL="0">
              <a:buNone/>
            </a:pPr>
            <a:r>
              <a:rPr lang="en-US" sz="1600" dirty="0">
                <a:solidFill>
                  <a:srgbClr val="C8D6CD"/>
                </a:solidFill>
              </a:rPr>
              <a:t>Pembagian area 2.468,51 ha di KHG Sungai Mempawah berdasarkan tutupan lahan 2016, 2021 dan 2026</a:t>
            </a:r>
            <a:endParaRPr lang="en-US" sz="1600" dirty="0"/>
          </a:p>
        </p:txBody>
      </p:sp>
      <p:sp>
        <p:nvSpPr>
          <p:cNvPr id="6" name="luas-redd"/>
          <p:cNvSpPr/>
          <p:nvPr/>
        </p:nvSpPr>
        <p:spPr>
          <a:xfrm>
            <a:off x="548640" y="4206240"/>
            <a:ext cx="6061396" cy="566928"/>
          </a:xfrm>
          <a:prstGeom prst="rect">
            <a:avLst/>
          </a:prstGeom>
          <a:solidFill>
            <a:schemeClr val="accent1"/>
          </a:solidFill>
          <a:ln/>
        </p:spPr>
      </p:sp>
      <p:sp>
        <p:nvSpPr>
          <p:cNvPr id="7" name="luas-regen"/>
          <p:cNvSpPr/>
          <p:nvPr/>
        </p:nvSpPr>
        <p:spPr>
          <a:xfrm>
            <a:off x="6643319" y="4206240"/>
            <a:ext cx="185667" cy="566928"/>
          </a:xfrm>
          <a:prstGeom prst="rect">
            <a:avLst/>
          </a:prstGeom>
          <a:solidFill>
            <a:schemeClr val="accent5"/>
          </a:solidFill>
          <a:ln/>
        </p:spPr>
      </p:sp>
      <p:sp>
        <p:nvSpPr>
          <p:cNvPr id="8" name="luas-arr"/>
          <p:cNvSpPr/>
          <p:nvPr/>
        </p:nvSpPr>
        <p:spPr>
          <a:xfrm>
            <a:off x="6862269" y="4206240"/>
            <a:ext cx="2617485" cy="566928"/>
          </a:xfrm>
          <a:prstGeom prst="rect">
            <a:avLst/>
          </a:prstGeom>
          <a:solidFill>
            <a:schemeClr val="accent4"/>
          </a:solidFill>
          <a:ln/>
        </p:spPr>
      </p:sp>
      <p:sp>
        <p:nvSpPr>
          <p:cNvPr id="9" name="luas-kebun"/>
          <p:cNvSpPr/>
          <p:nvPr/>
        </p:nvSpPr>
        <p:spPr>
          <a:xfrm>
            <a:off x="9513038" y="4206240"/>
            <a:ext cx="1555192" cy="566928"/>
          </a:xfrm>
          <a:prstGeom prst="rect">
            <a:avLst/>
          </a:prstGeom>
          <a:solidFill>
            <a:schemeClr val="accent2"/>
          </a:solidFill>
          <a:ln/>
        </p:spPr>
      </p:sp>
      <p:sp>
        <p:nvSpPr>
          <p:cNvPr id="10" name="luas-defor"/>
          <p:cNvSpPr/>
          <p:nvPr/>
        </p:nvSpPr>
        <p:spPr>
          <a:xfrm>
            <a:off x="11101512" y="4206240"/>
            <a:ext cx="366862" cy="566928"/>
          </a:xfrm>
          <a:prstGeom prst="rect">
            <a:avLst/>
          </a:prstGeom>
          <a:solidFill>
            <a:schemeClr val="accent3"/>
          </a:solidFill>
          <a:ln/>
        </p:spPr>
      </p:sp>
      <p:sp>
        <p:nvSpPr>
          <p:cNvPr id="11" name="luas-sungai"/>
          <p:cNvSpPr/>
          <p:nvPr/>
        </p:nvSpPr>
        <p:spPr>
          <a:xfrm>
            <a:off x="11501658" y="4206240"/>
            <a:ext cx="141309" cy="566928"/>
          </a:xfrm>
          <a:prstGeom prst="rect">
            <a:avLst/>
          </a:prstGeom>
          <a:solidFill>
            <a:schemeClr val="accent6"/>
          </a:solidFill>
          <a:ln/>
        </p:spPr>
      </p:sp>
      <p:sp>
        <p:nvSpPr>
          <p:cNvPr id="12" name="Text 9"/>
          <p:cNvSpPr txBox="1"/>
          <p:nvPr/>
        </p:nvSpPr>
        <p:spPr>
          <a:xfrm>
            <a:off x="548640" y="4937760"/>
            <a:ext cx="6280346" cy="73152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1.411,16 ha</a:t>
            </a:r>
            <a:endParaRPr lang="en-US" sz="1400" dirty="0"/>
          </a:p>
          <a:p>
            <a:pPr indent="0" marL="0">
              <a:buNone/>
            </a:pPr>
            <a:r>
              <a:rPr lang="en-US" sz="1300" dirty="0">
                <a:solidFill>
                  <a:srgbClr val="C8D6CD"/>
                </a:solidFill>
              </a:rPr>
              <a:t>Hutan 2026 · kandidat REDD+</a:t>
            </a:r>
            <a:endParaRPr lang="en-US" sz="1400" dirty="0"/>
          </a:p>
        </p:txBody>
      </p:sp>
      <p:sp>
        <p:nvSpPr>
          <p:cNvPr id="13" name="Text 10"/>
          <p:cNvSpPr txBox="1"/>
          <p:nvPr/>
        </p:nvSpPr>
        <p:spPr>
          <a:xfrm>
            <a:off x="6862269" y="4937760"/>
            <a:ext cx="4780786" cy="73152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1.057,35 ha</a:t>
            </a:r>
            <a:endParaRPr lang="en-US" sz="1400" dirty="0"/>
          </a:p>
          <a:p>
            <a:pPr indent="0" marL="0">
              <a:buNone/>
            </a:pPr>
            <a:r>
              <a:rPr lang="en-US" sz="1300" dirty="0">
                <a:solidFill>
                  <a:srgbClr val="C8D6CD"/>
                </a:solidFill>
              </a:rPr>
              <a:t>Non-hutan 2026 · kandidat ARR</a:t>
            </a:r>
            <a:endParaRPr lang="en-US" sz="1400" dirty="0"/>
          </a:p>
        </p:txBody>
      </p:sp>
      <p:sp>
        <p:nvSpPr>
          <p:cNvPr id="14" name="Text 11"/>
          <p:cNvSpPr txBox="1"/>
          <p:nvPr/>
        </p:nvSpPr>
        <p:spPr>
          <a:xfrm>
            <a:off x="8899855" y="822960"/>
            <a:ext cx="2743200" cy="320040"/>
          </a:xfrm>
          <a:prstGeom prst="rect">
            <a:avLst/>
          </a:prstGeom>
          <a:noFill/>
          <a:ln/>
        </p:spPr>
        <p:txBody>
          <a:bodyPr wrap="square" lIns="0" tIns="0" rIns="0" bIns="0" rtlCol="0" anchor="t"/>
          <a:lstStyle/>
          <a:p>
            <a:pPr algn="r" indent="0" marL="0">
              <a:buNone/>
            </a:pPr>
            <a:r>
              <a:rPr lang="en-US" sz="1400" b="1" spc="300" kern="0" dirty="0">
                <a:solidFill>
                  <a:schemeClr val="accent5"/>
                </a:solidFill>
              </a:rPr>
              <a:t>OKTOBER 2026</a:t>
            </a:r>
            <a:endParaRPr lang="en-US" sz="1400" dirty="0"/>
          </a:p>
        </p:txBody>
      </p:sp>
      <p:sp>
        <p:nvSpPr>
          <p:cNvPr id="15" name="Text 12"/>
          <p:cNvSpPr txBox="1"/>
          <p:nvPr/>
        </p:nvSpPr>
        <p:spPr>
          <a:xfrm>
            <a:off x="548640" y="6309360"/>
            <a:ext cx="7315200" cy="228600"/>
          </a:xfrm>
          <a:prstGeom prst="rect">
            <a:avLst/>
          </a:prstGeom>
          <a:noFill/>
          <a:ln/>
        </p:spPr>
        <p:txBody>
          <a:bodyPr wrap="square" lIns="0" tIns="0" rIns="0" bIns="0" rtlCol="0" anchor="t"/>
          <a:lstStyle/>
          <a:p>
            <a:pPr indent="0" marL="0">
              <a:buNone/>
            </a:pPr>
            <a:r>
              <a:rPr lang="en-US" sz="1000" i="1" dirty="0">
                <a:solidFill>
                  <a:schemeClr val="accent5"/>
                </a:solidFill>
              </a:rPr>
              <a:t>Sumber: Export_Output_Gambut_M.xlsx · analisis awal, perlu verifikasi lapangan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RINGKASAN</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Tiga angka yang menentukan desain proyek</a:t>
            </a:r>
            <a:endParaRPr lang="en-US" sz="2800" dirty="0"/>
          </a:p>
        </p:txBody>
      </p:sp>
      <p:sp>
        <p:nvSpPr>
          <p:cNvPr id="5" name="Shape 2"/>
          <p:cNvSpPr/>
          <p:nvPr/>
        </p:nvSpPr>
        <p:spPr>
          <a:xfrm>
            <a:off x="548640" y="2057400"/>
            <a:ext cx="201168" cy="201168"/>
          </a:xfrm>
          <a:prstGeom prst="rect">
            <a:avLst/>
          </a:prstGeom>
          <a:solidFill>
            <a:schemeClr val="accent1"/>
          </a:solidFill>
          <a:ln/>
        </p:spPr>
      </p:sp>
      <p:sp>
        <p:nvSpPr>
          <p:cNvPr id="6" name="Text 3"/>
          <p:cNvSpPr txBox="1"/>
          <p:nvPr/>
        </p:nvSpPr>
        <p:spPr>
          <a:xfrm>
            <a:off x="868680" y="2039112"/>
            <a:ext cx="3073298" cy="274320"/>
          </a:xfrm>
          <a:prstGeom prst="rect">
            <a:avLst/>
          </a:prstGeom>
          <a:noFill/>
          <a:ln/>
        </p:spPr>
        <p:txBody>
          <a:bodyPr wrap="square" lIns="0" tIns="0" rIns="0" bIns="0" rtlCol="0" anchor="t"/>
          <a:lstStyle/>
          <a:p>
            <a:pPr indent="0" marL="0">
              <a:buNone/>
            </a:pPr>
            <a:r>
              <a:rPr lang="en-US" sz="1200" b="1" spc="200" kern="0" dirty="0">
                <a:solidFill>
                  <a:srgbClr val="5F6B65"/>
                </a:solidFill>
              </a:rPr>
              <a:t>REDD+ LAYAK</a:t>
            </a:r>
            <a:endParaRPr lang="en-US" sz="1200" dirty="0"/>
          </a:p>
        </p:txBody>
      </p:sp>
      <p:sp>
        <p:nvSpPr>
          <p:cNvPr id="7" name="Text 4"/>
          <p:cNvSpPr txBox="1"/>
          <p:nvPr/>
        </p:nvSpPr>
        <p:spPr>
          <a:xfrm>
            <a:off x="548640" y="2468880"/>
            <a:ext cx="3393338" cy="914400"/>
          </a:xfrm>
          <a:prstGeom prst="rect">
            <a:avLst/>
          </a:prstGeom>
          <a:noFill/>
          <a:ln/>
        </p:spPr>
        <p:txBody>
          <a:bodyPr wrap="square" lIns="0" tIns="0" rIns="0" bIns="0" rtlCol="0" anchor="t"/>
          <a:lstStyle/>
          <a:p>
            <a:pPr indent="0" marL="0">
              <a:buNone/>
            </a:pPr>
            <a:r>
              <a:rPr lang="en-US" sz="5400" b="1" dirty="0">
                <a:solidFill>
                  <a:schemeClr val="tx1"/>
                </a:solidFill>
                <a:latin typeface="Cambria" pitchFamily="34" charset="0"/>
                <a:ea typeface="Cambria" pitchFamily="34" charset="-122"/>
                <a:cs typeface="Cambria" pitchFamily="34" charset="-120"/>
              </a:rPr>
              <a:t>1.369,2</a:t>
            </a:r>
            <a:pPr indent="0" marL="0">
              <a:buNone/>
            </a:pPr>
            <a:r>
              <a:rPr lang="en-US" sz="2000" dirty="0">
                <a:solidFill>
                  <a:srgbClr val="5F6B65"/>
                </a:solidFill>
              </a:rPr>
              <a:t> ha</a:t>
            </a:r>
            <a:endParaRPr lang="en-US" sz="1400" dirty="0"/>
          </a:p>
        </p:txBody>
      </p:sp>
      <p:sp>
        <p:nvSpPr>
          <p:cNvPr id="8" name="Text 5"/>
          <p:cNvSpPr txBox="1"/>
          <p:nvPr/>
        </p:nvSpPr>
        <p:spPr>
          <a:xfrm>
            <a:off x="548640" y="3520440"/>
            <a:ext cx="3393338" cy="914400"/>
          </a:xfrm>
          <a:prstGeom prst="rect">
            <a:avLst/>
          </a:prstGeom>
          <a:noFill/>
          <a:ln/>
        </p:spPr>
        <p:txBody>
          <a:bodyPr wrap="square" lIns="0" tIns="0" rIns="0" bIns="0" rtlCol="0" anchor="t"/>
          <a:lstStyle/>
          <a:p>
            <a:pPr indent="0" marL="0">
              <a:buNone/>
            </a:pPr>
            <a:r>
              <a:rPr lang="en-US" sz="1500" dirty="0">
                <a:solidFill>
                  <a:srgbClr val="5F6B65"/>
                </a:solidFill>
              </a:rPr>
              <a:t>Hutan stabil 2016–2026. Ditambah 41,94 ha hutan regenerasi, totalnya 1.411,16 ha.</a:t>
            </a:r>
            <a:endParaRPr lang="en-US" sz="1500" dirty="0"/>
          </a:p>
        </p:txBody>
      </p:sp>
      <p:sp>
        <p:nvSpPr>
          <p:cNvPr id="9" name="Shape 6"/>
          <p:cNvSpPr/>
          <p:nvPr/>
        </p:nvSpPr>
        <p:spPr>
          <a:xfrm>
            <a:off x="4399178" y="2057400"/>
            <a:ext cx="201168" cy="201168"/>
          </a:xfrm>
          <a:prstGeom prst="rect">
            <a:avLst/>
          </a:prstGeom>
          <a:solidFill>
            <a:schemeClr val="accent4"/>
          </a:solidFill>
          <a:ln/>
        </p:spPr>
      </p:sp>
      <p:sp>
        <p:nvSpPr>
          <p:cNvPr id="10" name="Text 7"/>
          <p:cNvSpPr txBox="1"/>
          <p:nvPr/>
        </p:nvSpPr>
        <p:spPr>
          <a:xfrm>
            <a:off x="4719218" y="2039112"/>
            <a:ext cx="3073298" cy="274320"/>
          </a:xfrm>
          <a:prstGeom prst="rect">
            <a:avLst/>
          </a:prstGeom>
          <a:noFill/>
          <a:ln/>
        </p:spPr>
        <p:txBody>
          <a:bodyPr wrap="square" lIns="0" tIns="0" rIns="0" bIns="0" rtlCol="0" anchor="t"/>
          <a:lstStyle/>
          <a:p>
            <a:pPr indent="0" marL="0">
              <a:buNone/>
            </a:pPr>
            <a:r>
              <a:rPr lang="en-US" sz="1200" b="1" spc="200" kern="0" dirty="0">
                <a:solidFill>
                  <a:srgbClr val="5F6B65"/>
                </a:solidFill>
              </a:rPr>
              <a:t>ARR LAYAK</a:t>
            </a:r>
            <a:endParaRPr lang="en-US" sz="1200" dirty="0"/>
          </a:p>
        </p:txBody>
      </p:sp>
      <p:sp>
        <p:nvSpPr>
          <p:cNvPr id="11" name="Text 8"/>
          <p:cNvSpPr txBox="1"/>
          <p:nvPr/>
        </p:nvSpPr>
        <p:spPr>
          <a:xfrm>
            <a:off x="4399178" y="2468880"/>
            <a:ext cx="3393338" cy="914400"/>
          </a:xfrm>
          <a:prstGeom prst="rect">
            <a:avLst/>
          </a:prstGeom>
          <a:noFill/>
          <a:ln/>
        </p:spPr>
        <p:txBody>
          <a:bodyPr wrap="square" lIns="0" tIns="0" rIns="0" bIns="0" rtlCol="0" anchor="t"/>
          <a:lstStyle/>
          <a:p>
            <a:pPr indent="0" marL="0">
              <a:buNone/>
            </a:pPr>
            <a:r>
              <a:rPr lang="en-US" sz="5400" b="1" dirty="0">
                <a:solidFill>
                  <a:schemeClr val="tx1"/>
                </a:solidFill>
                <a:latin typeface="Cambria" pitchFamily="34" charset="0"/>
                <a:ea typeface="Cambria" pitchFamily="34" charset="-122"/>
                <a:cs typeface="Cambria" pitchFamily="34" charset="-120"/>
              </a:rPr>
              <a:t>591,3</a:t>
            </a:r>
            <a:pPr indent="0" marL="0">
              <a:buNone/>
            </a:pPr>
            <a:r>
              <a:rPr lang="en-US" sz="2000" dirty="0">
                <a:solidFill>
                  <a:srgbClr val="5F6B65"/>
                </a:solidFill>
              </a:rPr>
              <a:t> ha</a:t>
            </a:r>
            <a:endParaRPr lang="en-US" sz="1400" dirty="0"/>
          </a:p>
        </p:txBody>
      </p:sp>
      <p:sp>
        <p:nvSpPr>
          <p:cNvPr id="12" name="Text 9"/>
          <p:cNvSpPr txBox="1"/>
          <p:nvPr/>
        </p:nvSpPr>
        <p:spPr>
          <a:xfrm>
            <a:off x="4399178" y="3520440"/>
            <a:ext cx="3393338" cy="914400"/>
          </a:xfrm>
          <a:prstGeom prst="rect">
            <a:avLst/>
          </a:prstGeom>
          <a:noFill/>
          <a:ln/>
        </p:spPr>
        <p:txBody>
          <a:bodyPr wrap="square" lIns="0" tIns="0" rIns="0" bIns="0" rtlCol="0" anchor="t"/>
          <a:lstStyle/>
          <a:p>
            <a:pPr indent="0" marL="0">
              <a:buNone/>
            </a:pPr>
            <a:r>
              <a:rPr lang="en-US" sz="1500" dirty="0">
                <a:solidFill>
                  <a:srgbClr val="5F6B65"/>
                </a:solidFill>
              </a:rPr>
              <a:t>Hanya 56% dari 1.057,35 ha non-hutan. Sisanya kebun, bekas hutan, atau sungai.</a:t>
            </a:r>
            <a:endParaRPr lang="en-US" sz="1500" dirty="0"/>
          </a:p>
        </p:txBody>
      </p:sp>
      <p:sp>
        <p:nvSpPr>
          <p:cNvPr id="13" name="Shape 10"/>
          <p:cNvSpPr/>
          <p:nvPr/>
        </p:nvSpPr>
        <p:spPr>
          <a:xfrm>
            <a:off x="8249717" y="2057400"/>
            <a:ext cx="201168" cy="201168"/>
          </a:xfrm>
          <a:prstGeom prst="rect">
            <a:avLst/>
          </a:prstGeom>
          <a:solidFill>
            <a:schemeClr val="accent3"/>
          </a:solidFill>
          <a:ln/>
        </p:spPr>
      </p:sp>
      <p:sp>
        <p:nvSpPr>
          <p:cNvPr id="14" name="Text 11"/>
          <p:cNvSpPr txBox="1"/>
          <p:nvPr/>
        </p:nvSpPr>
        <p:spPr>
          <a:xfrm>
            <a:off x="8569757" y="2039112"/>
            <a:ext cx="3073298" cy="274320"/>
          </a:xfrm>
          <a:prstGeom prst="rect">
            <a:avLst/>
          </a:prstGeom>
          <a:noFill/>
          <a:ln/>
        </p:spPr>
        <p:txBody>
          <a:bodyPr wrap="square" lIns="0" tIns="0" rIns="0" bIns="0" rtlCol="0" anchor="t"/>
          <a:lstStyle/>
          <a:p>
            <a:pPr indent="0" marL="0">
              <a:buNone/>
            </a:pPr>
            <a:r>
              <a:rPr lang="en-US" sz="1200" b="1" spc="200" kern="0" dirty="0">
                <a:solidFill>
                  <a:srgbClr val="5F6B65"/>
                </a:solidFill>
              </a:rPr>
              <a:t>DEFORESTASI BRUTO 10 TAHUN</a:t>
            </a:r>
            <a:endParaRPr lang="en-US" sz="1200" dirty="0"/>
          </a:p>
        </p:txBody>
      </p:sp>
      <p:sp>
        <p:nvSpPr>
          <p:cNvPr id="15" name="Text 12"/>
          <p:cNvSpPr txBox="1"/>
          <p:nvPr/>
        </p:nvSpPr>
        <p:spPr>
          <a:xfrm>
            <a:off x="8249717" y="2468880"/>
            <a:ext cx="3393338" cy="914400"/>
          </a:xfrm>
          <a:prstGeom prst="rect">
            <a:avLst/>
          </a:prstGeom>
          <a:noFill/>
          <a:ln/>
        </p:spPr>
        <p:txBody>
          <a:bodyPr wrap="square" lIns="0" tIns="0" rIns="0" bIns="0" rtlCol="0" anchor="t"/>
          <a:lstStyle/>
          <a:p>
            <a:pPr indent="0" marL="0">
              <a:buNone/>
            </a:pPr>
            <a:r>
              <a:rPr lang="en-US" sz="5400" b="1" dirty="0">
                <a:solidFill>
                  <a:schemeClr val="tx1"/>
                </a:solidFill>
                <a:latin typeface="Cambria" pitchFamily="34" charset="0"/>
                <a:ea typeface="Cambria" pitchFamily="34" charset="-122"/>
                <a:cs typeface="Cambria" pitchFamily="34" charset="-120"/>
              </a:rPr>
              <a:t>82,87</a:t>
            </a:r>
            <a:pPr indent="0" marL="0">
              <a:buNone/>
            </a:pPr>
            <a:r>
              <a:rPr lang="en-US" sz="2000" dirty="0">
                <a:solidFill>
                  <a:srgbClr val="5F6B65"/>
                </a:solidFill>
              </a:rPr>
              <a:t> ha</a:t>
            </a:r>
            <a:endParaRPr lang="en-US" sz="1400" dirty="0"/>
          </a:p>
        </p:txBody>
      </p:sp>
      <p:sp>
        <p:nvSpPr>
          <p:cNvPr id="16" name="Text 13"/>
          <p:cNvSpPr txBox="1"/>
          <p:nvPr/>
        </p:nvSpPr>
        <p:spPr>
          <a:xfrm>
            <a:off x="8249717" y="3520440"/>
            <a:ext cx="3393338" cy="914400"/>
          </a:xfrm>
          <a:prstGeom prst="rect">
            <a:avLst/>
          </a:prstGeom>
          <a:noFill/>
          <a:ln/>
        </p:spPr>
        <p:txBody>
          <a:bodyPr wrap="square" lIns="0" tIns="0" rIns="0" bIns="0" rtlCol="0" anchor="t"/>
          <a:lstStyle/>
          <a:p>
            <a:pPr indent="0" marL="0">
              <a:buNone/>
            </a:pPr>
            <a:r>
              <a:rPr lang="en-US" sz="1500" dirty="0">
                <a:solidFill>
                  <a:srgbClr val="5F6B65"/>
                </a:solidFill>
              </a:rPr>
              <a:t>Angka 40,91 ha adalah net. Baseline REDD+ memakai angka bruto.</a:t>
            </a:r>
            <a:endParaRPr lang="en-US" sz="1500" dirty="0"/>
          </a:p>
        </p:txBody>
      </p:sp>
      <p:sp>
        <p:nvSpPr>
          <p:cNvPr id="17" name="Shape 14"/>
          <p:cNvSpPr/>
          <p:nvPr/>
        </p:nvSpPr>
        <p:spPr>
          <a:xfrm>
            <a:off x="548640" y="4892040"/>
            <a:ext cx="11094415" cy="777240"/>
          </a:xfrm>
          <a:prstGeom prst="rect">
            <a:avLst/>
          </a:prstGeom>
          <a:solidFill>
            <a:schemeClr val="bg2"/>
          </a:solidFill>
          <a:ln/>
        </p:spPr>
      </p:sp>
      <p:sp>
        <p:nvSpPr>
          <p:cNvPr id="18" name="Text 15"/>
          <p:cNvSpPr txBox="1"/>
          <p:nvPr/>
        </p:nvSpPr>
        <p:spPr>
          <a:xfrm>
            <a:off x="822960" y="4892040"/>
            <a:ext cx="10545775" cy="777240"/>
          </a:xfrm>
          <a:prstGeom prst="rect">
            <a:avLst/>
          </a:prstGeom>
          <a:noFill/>
          <a:ln/>
        </p:spPr>
        <p:txBody>
          <a:bodyPr wrap="square" lIns="0" tIns="0" rIns="0" bIns="0" rtlCol="0" anchor="ctr"/>
          <a:lstStyle/>
          <a:p>
            <a:pPr indent="0" marL="0">
              <a:buNone/>
            </a:pPr>
            <a:r>
              <a:rPr lang="en-US" sz="1600" b="1" dirty="0">
                <a:solidFill>
                  <a:schemeClr val="accent3"/>
                </a:solidFill>
              </a:rPr>
              <a:t>Sebelum menghitung kredit: </a:t>
            </a:r>
            <a:pPr indent="0" marL="0">
              <a:buNone/>
            </a:pPr>
            <a:r>
              <a:rPr lang="en-US" sz="1600" dirty="0">
                <a:solidFill>
                  <a:schemeClr val="tx1"/>
                </a:solidFill>
              </a:rPr>
              <a:t>perbaiki lima rumus di spreadsheet dan cek klasifikasi citra 2021, lalu hitung ulang baseline REDD+ dengan angka bruto.</a:t>
            </a:r>
            <a:endParaRPr lang="en-US" sz="1600" dirty="0"/>
          </a:p>
        </p:txBody>
      </p:sp>
      <p:sp>
        <p:nvSpPr>
          <p:cNvPr id="19" name="luas-redd"/>
          <p:cNvSpPr/>
          <p:nvPr/>
        </p:nvSpPr>
        <p:spPr>
          <a:xfrm>
            <a:off x="548640" y="6400800"/>
            <a:ext cx="748101" cy="91440"/>
          </a:xfrm>
          <a:prstGeom prst="rect">
            <a:avLst/>
          </a:prstGeom>
          <a:solidFill>
            <a:schemeClr val="accent1"/>
          </a:solidFill>
          <a:ln/>
        </p:spPr>
      </p:sp>
      <p:sp>
        <p:nvSpPr>
          <p:cNvPr id="20" name="luas-regen"/>
          <p:cNvSpPr/>
          <p:nvPr/>
        </p:nvSpPr>
        <p:spPr>
          <a:xfrm>
            <a:off x="1319601" y="6400800"/>
            <a:ext cx="22915" cy="91440"/>
          </a:xfrm>
          <a:prstGeom prst="rect">
            <a:avLst/>
          </a:prstGeom>
          <a:solidFill>
            <a:schemeClr val="accent5"/>
          </a:solidFill>
          <a:ln/>
        </p:spPr>
      </p:sp>
      <p:sp>
        <p:nvSpPr>
          <p:cNvPr id="21" name="luas-arr"/>
          <p:cNvSpPr/>
          <p:nvPr/>
        </p:nvSpPr>
        <p:spPr>
          <a:xfrm>
            <a:off x="1365376" y="6400800"/>
            <a:ext cx="323052" cy="91440"/>
          </a:xfrm>
          <a:prstGeom prst="rect">
            <a:avLst/>
          </a:prstGeom>
          <a:solidFill>
            <a:schemeClr val="accent4"/>
          </a:solidFill>
          <a:ln/>
        </p:spPr>
      </p:sp>
      <p:sp>
        <p:nvSpPr>
          <p:cNvPr id="22" name="luas-kebun"/>
          <p:cNvSpPr/>
          <p:nvPr/>
        </p:nvSpPr>
        <p:spPr>
          <a:xfrm>
            <a:off x="1711288" y="6400800"/>
            <a:ext cx="191943" cy="91440"/>
          </a:xfrm>
          <a:prstGeom prst="rect">
            <a:avLst/>
          </a:prstGeom>
          <a:solidFill>
            <a:schemeClr val="accent2"/>
          </a:solidFill>
          <a:ln/>
        </p:spPr>
      </p:sp>
      <p:sp>
        <p:nvSpPr>
          <p:cNvPr id="23" name="luas-defor"/>
          <p:cNvSpPr/>
          <p:nvPr/>
        </p:nvSpPr>
        <p:spPr>
          <a:xfrm>
            <a:off x="1926090" y="6400800"/>
            <a:ext cx="45278" cy="91440"/>
          </a:xfrm>
          <a:prstGeom prst="rect">
            <a:avLst/>
          </a:prstGeom>
          <a:solidFill>
            <a:schemeClr val="accent3"/>
          </a:solidFill>
          <a:ln/>
        </p:spPr>
      </p:sp>
      <p:sp>
        <p:nvSpPr>
          <p:cNvPr id="24" name="luas-sungai"/>
          <p:cNvSpPr/>
          <p:nvPr/>
        </p:nvSpPr>
        <p:spPr>
          <a:xfrm>
            <a:off x="1994229" y="6400800"/>
            <a:ext cx="18288" cy="91440"/>
          </a:xfrm>
          <a:prstGeom prst="rect">
            <a:avLst/>
          </a:prstGeom>
          <a:solidFill>
            <a:schemeClr val="accent6"/>
          </a:solidFill>
          <a:ln/>
        </p:spPr>
      </p:sp>
      <p:sp>
        <p:nvSpPr>
          <p:cNvPr id="25" name="Text 22"/>
          <p:cNvSpPr txBox="1"/>
          <p:nvPr/>
        </p:nvSpPr>
        <p:spPr>
          <a:xfrm>
            <a:off x="2148840" y="6336792"/>
            <a:ext cx="4572000" cy="228600"/>
          </a:xfrm>
          <a:prstGeom prst="rect">
            <a:avLst/>
          </a:prstGeom>
          <a:noFill/>
          <a:ln/>
        </p:spPr>
        <p:txBody>
          <a:bodyPr wrap="square" lIns="0" tIns="0" rIns="0" bIns="0" rtlCol="0" anchor="t"/>
          <a:lstStyle/>
          <a:p>
            <a:pPr indent="0" marL="0">
              <a:buNone/>
            </a:pPr>
            <a:r>
              <a:rPr lang="en-US" sz="1000" dirty="0">
                <a:solidFill>
                  <a:srgbClr val="5F6B65"/>
                </a:solidFill>
              </a:rPr>
              <a:t>Area 2.468,51 ha</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6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PEMBAGIAN LUAS</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Dari 2.468,51 ha, enam kelas kelayakan dengan aturan berbeda</a:t>
            </a:r>
            <a:endParaRPr lang="en-US" sz="2800" dirty="0"/>
          </a:p>
        </p:txBody>
      </p:sp>
      <p:sp>
        <p:nvSpPr>
          <p:cNvPr id="5" name="luas-redd"/>
          <p:cNvSpPr/>
          <p:nvPr/>
        </p:nvSpPr>
        <p:spPr>
          <a:xfrm>
            <a:off x="548640" y="1920240"/>
            <a:ext cx="6061396" cy="685800"/>
          </a:xfrm>
          <a:prstGeom prst="rect">
            <a:avLst/>
          </a:prstGeom>
          <a:solidFill>
            <a:schemeClr val="accent1"/>
          </a:solidFill>
          <a:ln/>
        </p:spPr>
      </p:sp>
      <p:sp>
        <p:nvSpPr>
          <p:cNvPr id="6" name="luas-regen"/>
          <p:cNvSpPr/>
          <p:nvPr/>
        </p:nvSpPr>
        <p:spPr>
          <a:xfrm>
            <a:off x="6643319" y="1920240"/>
            <a:ext cx="185667" cy="685800"/>
          </a:xfrm>
          <a:prstGeom prst="rect">
            <a:avLst/>
          </a:prstGeom>
          <a:solidFill>
            <a:schemeClr val="accent5"/>
          </a:solidFill>
          <a:ln/>
        </p:spPr>
      </p:sp>
      <p:sp>
        <p:nvSpPr>
          <p:cNvPr id="7" name="luas-arr"/>
          <p:cNvSpPr/>
          <p:nvPr/>
        </p:nvSpPr>
        <p:spPr>
          <a:xfrm>
            <a:off x="6862269" y="1920240"/>
            <a:ext cx="2617485" cy="685800"/>
          </a:xfrm>
          <a:prstGeom prst="rect">
            <a:avLst/>
          </a:prstGeom>
          <a:solidFill>
            <a:schemeClr val="accent4"/>
          </a:solidFill>
          <a:ln/>
        </p:spPr>
      </p:sp>
      <p:sp>
        <p:nvSpPr>
          <p:cNvPr id="8" name="luas-kebun"/>
          <p:cNvSpPr/>
          <p:nvPr/>
        </p:nvSpPr>
        <p:spPr>
          <a:xfrm>
            <a:off x="9513038" y="1920240"/>
            <a:ext cx="1555192" cy="685800"/>
          </a:xfrm>
          <a:prstGeom prst="rect">
            <a:avLst/>
          </a:prstGeom>
          <a:solidFill>
            <a:schemeClr val="accent2"/>
          </a:solidFill>
          <a:ln/>
        </p:spPr>
      </p:sp>
      <p:sp>
        <p:nvSpPr>
          <p:cNvPr id="9" name="luas-defor"/>
          <p:cNvSpPr/>
          <p:nvPr/>
        </p:nvSpPr>
        <p:spPr>
          <a:xfrm>
            <a:off x="11101512" y="1920240"/>
            <a:ext cx="366862" cy="685800"/>
          </a:xfrm>
          <a:prstGeom prst="rect">
            <a:avLst/>
          </a:prstGeom>
          <a:solidFill>
            <a:schemeClr val="accent3"/>
          </a:solidFill>
          <a:ln/>
        </p:spPr>
      </p:sp>
      <p:sp>
        <p:nvSpPr>
          <p:cNvPr id="10" name="luas-sungai"/>
          <p:cNvSpPr/>
          <p:nvPr/>
        </p:nvSpPr>
        <p:spPr>
          <a:xfrm>
            <a:off x="11501658" y="1920240"/>
            <a:ext cx="141309" cy="685800"/>
          </a:xfrm>
          <a:prstGeom prst="rect">
            <a:avLst/>
          </a:prstGeom>
          <a:solidFill>
            <a:schemeClr val="accent6"/>
          </a:solidFill>
          <a:ln/>
        </p:spPr>
      </p:sp>
      <p:sp>
        <p:nvSpPr>
          <p:cNvPr id="11" name="Shape 8"/>
          <p:cNvSpPr/>
          <p:nvPr/>
        </p:nvSpPr>
        <p:spPr>
          <a:xfrm>
            <a:off x="548640" y="2743200"/>
            <a:ext cx="6280346" cy="0"/>
          </a:xfrm>
          <a:prstGeom prst="line">
            <a:avLst/>
          </a:prstGeom>
          <a:noFill/>
          <a:ln w="15875">
            <a:solidFill>
              <a:srgbClr val="5F6B65"/>
            </a:solidFill>
            <a:prstDash val="solid"/>
          </a:ln>
        </p:spPr>
      </p:sp>
      <p:sp>
        <p:nvSpPr>
          <p:cNvPr id="12" name="Shape 9"/>
          <p:cNvSpPr/>
          <p:nvPr/>
        </p:nvSpPr>
        <p:spPr>
          <a:xfrm>
            <a:off x="6862269" y="2743200"/>
            <a:ext cx="4780786" cy="0"/>
          </a:xfrm>
          <a:prstGeom prst="line">
            <a:avLst/>
          </a:prstGeom>
          <a:noFill/>
          <a:ln w="15875">
            <a:solidFill>
              <a:srgbClr val="5F6B65"/>
            </a:solidFill>
            <a:prstDash val="solid"/>
          </a:ln>
        </p:spPr>
      </p:sp>
      <p:sp>
        <p:nvSpPr>
          <p:cNvPr id="13" name="Text 10"/>
          <p:cNvSpPr txBox="1"/>
          <p:nvPr/>
        </p:nvSpPr>
        <p:spPr>
          <a:xfrm>
            <a:off x="548640" y="2807208"/>
            <a:ext cx="4572000" cy="274320"/>
          </a:xfrm>
          <a:prstGeom prst="rect">
            <a:avLst/>
          </a:prstGeom>
          <a:noFill/>
          <a:ln/>
        </p:spPr>
        <p:txBody>
          <a:bodyPr wrap="square" lIns="0" tIns="0" rIns="0" bIns="0" rtlCol="0" anchor="t"/>
          <a:lstStyle/>
          <a:p>
            <a:pPr indent="0" marL="0">
              <a:buNone/>
            </a:pPr>
            <a:r>
              <a:rPr lang="en-US" sz="1200" b="1" dirty="0">
                <a:solidFill>
                  <a:srgbClr val="5F6B65"/>
                </a:solidFill>
              </a:rPr>
              <a:t>Hutan 2026 · 1.411,16 ha</a:t>
            </a:r>
            <a:endParaRPr lang="en-US" sz="1200" dirty="0"/>
          </a:p>
        </p:txBody>
      </p:sp>
      <p:sp>
        <p:nvSpPr>
          <p:cNvPr id="14" name="Text 11"/>
          <p:cNvSpPr txBox="1"/>
          <p:nvPr/>
        </p:nvSpPr>
        <p:spPr>
          <a:xfrm>
            <a:off x="6862269" y="2807208"/>
            <a:ext cx="4572000" cy="274320"/>
          </a:xfrm>
          <a:prstGeom prst="rect">
            <a:avLst/>
          </a:prstGeom>
          <a:noFill/>
          <a:ln/>
        </p:spPr>
        <p:txBody>
          <a:bodyPr wrap="square" lIns="0" tIns="0" rIns="0" bIns="0" rtlCol="0" anchor="t"/>
          <a:lstStyle/>
          <a:p>
            <a:pPr indent="0" marL="0">
              <a:buNone/>
            </a:pPr>
            <a:r>
              <a:rPr lang="en-US" sz="1200" b="1" dirty="0">
                <a:solidFill>
                  <a:srgbClr val="5F6B65"/>
                </a:solidFill>
              </a:rPr>
              <a:t>Non-hutan 2026 · 1.057,35 ha</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3337560"/>
          <a:ext cx="11094415" cy="914400"/>
        </p:xfrm>
        <a:graphic>
          <a:graphicData uri="http://schemas.openxmlformats.org/drawingml/2006/table">
            <a:tbl>
              <a:tblPr/>
              <a:tblGrid>
                <a:gridCol w="320040"/>
                <a:gridCol w="1828800"/>
                <a:gridCol w="3291840"/>
                <a:gridCol w="1234440"/>
                <a:gridCol w="914400"/>
                <a:gridCol w="3504895"/>
              </a:tblGrid>
              <a:tr h="329184">
                <a:tc>
                  <a:txBody>
                    <a:bodyPr/>
                    <a:lstStyle/>
                    <a:p>
                      <a:pPr algn="l" indent="0" marL="0">
                        <a:buNone/>
                      </a:pP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c>
                  <a:txBody>
                    <a:bodyPr/>
                    <a:lstStyle/>
                    <a:p>
                      <a:pPr algn="l" indent="0" marL="0">
                        <a:buNone/>
                      </a:pPr>
                      <a:r>
                        <a:rPr lang="en-US" sz="1200" b="1" dirty="0">
                          <a:solidFill>
                            <a:srgbClr val="5F6B65"/>
                          </a:solidFill>
                          <a:latin typeface="Calibri" pitchFamily="34" charset="0"/>
                          <a:ea typeface="Calibri" pitchFamily="34" charset="-122"/>
                          <a:cs typeface="Calibri" pitchFamily="34" charset="-120"/>
                        </a:rPr>
                        <a:t>Kelas</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c>
                  <a:txBody>
                    <a:bodyPr/>
                    <a:lstStyle/>
                    <a:p>
                      <a:pPr algn="l" indent="0" marL="0">
                        <a:buNone/>
                      </a:pPr>
                      <a:r>
                        <a:rPr lang="en-US" sz="1200" b="1" dirty="0">
                          <a:solidFill>
                            <a:srgbClr val="5F6B65"/>
                          </a:solidFill>
                          <a:latin typeface="Calibri" pitchFamily="34" charset="0"/>
                          <a:ea typeface="Calibri" pitchFamily="34" charset="-122"/>
                          <a:cs typeface="Calibri" pitchFamily="34" charset="-120"/>
                        </a:rPr>
                        <a:t>Isi</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c>
                  <a:txBody>
                    <a:bodyPr/>
                    <a:lstStyle/>
                    <a:p>
                      <a:pPr algn="r" indent="0" marL="0">
                        <a:buNone/>
                      </a:pPr>
                      <a:r>
                        <a:rPr lang="en-US" sz="1200" b="1" dirty="0">
                          <a:solidFill>
                            <a:srgbClr val="5F6B65"/>
                          </a:solidFill>
                          <a:latin typeface="Calibri" pitchFamily="34" charset="0"/>
                          <a:ea typeface="Calibri" pitchFamily="34" charset="-122"/>
                          <a:cs typeface="Calibri" pitchFamily="34" charset="-120"/>
                        </a:rPr>
                        <a:t>Luas (ha)</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c>
                  <a:txBody>
                    <a:bodyPr/>
                    <a:lstStyle/>
                    <a:p>
                      <a:pPr algn="r" indent="0" marL="0">
                        <a:buNone/>
                      </a:pPr>
                      <a:r>
                        <a:rPr lang="en-US" sz="1200" b="1" dirty="0">
                          <a:solidFill>
                            <a:srgbClr val="5F6B65"/>
                          </a:solidFill>
                          <a:latin typeface="Calibri" pitchFamily="34" charset="0"/>
                          <a:ea typeface="Calibri" pitchFamily="34" charset="-122"/>
                          <a:cs typeface="Calibri" pitchFamily="34" charset="-120"/>
                        </a:rPr>
                        <a:t>Porsi</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c>
                  <a:txBody>
                    <a:bodyPr/>
                    <a:lstStyle/>
                    <a:p>
                      <a:pPr algn="l" indent="0" marL="0">
                        <a:buNone/>
                      </a:pPr>
                      <a:r>
                        <a:rPr lang="en-US" sz="1200" b="1" dirty="0">
                          <a:solidFill>
                            <a:srgbClr val="5F6B65"/>
                          </a:solidFill>
                          <a:latin typeface="Calibri" pitchFamily="34" charset="0"/>
                          <a:ea typeface="Calibri" pitchFamily="34" charset="-122"/>
                          <a:cs typeface="Calibri" pitchFamily="34" charset="-120"/>
                        </a:rPr>
                        <a:t>Aturan</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r>
              <a:tr h="329184">
                <a:tc>
                  <a:txBody>
                    <a:bodyPr/>
                    <a:lstStyle/>
                    <a:p>
                      <a:pPr indent="0" marL="0">
                        <a:buNone/>
                      </a:pPr>
                      <a:r>
                        <a:rPr lang="en-US" sz="1600" dirty="0">
                          <a:solidFill>
                            <a:schemeClr val="accent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indent="0" marL="0">
                        <a:buNone/>
                      </a:pPr>
                      <a:r>
                        <a:rPr lang="en-US" sz="1300" b="1" dirty="0">
                          <a:solidFill>
                            <a:srgbClr val="1B2420"/>
                          </a:solidFill>
                          <a:latin typeface="Calibri" pitchFamily="34" charset="0"/>
                          <a:ea typeface="Calibri" pitchFamily="34" charset="-122"/>
                          <a:cs typeface="Calibri" pitchFamily="34" charset="-120"/>
                        </a:rPr>
                        <a:t>REDD+ layak</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indent="0" marL="0">
                        <a:buNone/>
                      </a:pPr>
                      <a:r>
                        <a:rPr lang="en-US" sz="1300" dirty="0">
                          <a:solidFill>
                            <a:srgbClr val="5F6B65"/>
                          </a:solidFill>
                          <a:latin typeface="Calibri" pitchFamily="34" charset="0"/>
                          <a:ea typeface="Calibri" pitchFamily="34" charset="-122"/>
                          <a:cs typeface="Calibri" pitchFamily="34" charset="-120"/>
                        </a:rPr>
                        <a:t>Hutan stabil 2016–2026</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300" dirty="0">
                          <a:solidFill>
                            <a:srgbClr val="1B2420"/>
                          </a:solidFill>
                          <a:latin typeface="Calibri" pitchFamily="34" charset="0"/>
                          <a:ea typeface="Calibri" pitchFamily="34" charset="-122"/>
                          <a:cs typeface="Calibri" pitchFamily="34" charset="-120"/>
                        </a:rPr>
                        <a:t>1.369,20</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300" dirty="0">
                          <a:solidFill>
                            <a:srgbClr val="5F6B65"/>
                          </a:solidFill>
                          <a:latin typeface="Calibri" pitchFamily="34" charset="0"/>
                          <a:ea typeface="Calibri" pitchFamily="34" charset="-122"/>
                          <a:cs typeface="Calibri" pitchFamily="34" charset="-120"/>
                        </a:rPr>
                        <a:t>55,5%</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indent="0" marL="0">
                        <a:buNone/>
                      </a:pPr>
                      <a:r>
                        <a:rPr lang="en-US" sz="1300" dirty="0">
                          <a:solidFill>
                            <a:srgbClr val="1B2420"/>
                          </a:solidFill>
                          <a:latin typeface="Calibri" pitchFamily="34" charset="0"/>
                          <a:ea typeface="Calibri" pitchFamily="34" charset="-122"/>
                          <a:cs typeface="Calibri" pitchFamily="34" charset="-120"/>
                        </a:rPr>
                        <a:t>Masuk area REDD+</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r>
              <a:tr h="329184">
                <a:tc>
                  <a:txBody>
                    <a:bodyPr/>
                    <a:lstStyle/>
                    <a:p>
                      <a:pPr indent="0" marL="0">
                        <a:buNone/>
                      </a:pPr>
                      <a:r>
                        <a:rPr lang="en-US" sz="1600" dirty="0">
                          <a:solidFill>
                            <a:schemeClr val="accent5"/>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indent="0" marL="0">
                        <a:buNone/>
                      </a:pPr>
                      <a:r>
                        <a:rPr lang="en-US" sz="1300" b="1" dirty="0">
                          <a:solidFill>
                            <a:srgbClr val="1B2420"/>
                          </a:solidFill>
                          <a:latin typeface="Calibri" pitchFamily="34" charset="0"/>
                          <a:ea typeface="Calibri" pitchFamily="34" charset="-122"/>
                          <a:cs typeface="Calibri" pitchFamily="34" charset="-120"/>
                        </a:rPr>
                        <a:t>REDD+ bersyarat</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indent="0" marL="0">
                        <a:buNone/>
                      </a:pPr>
                      <a:r>
                        <a:rPr lang="en-US" sz="1300" dirty="0">
                          <a:solidFill>
                            <a:srgbClr val="5F6B65"/>
                          </a:solidFill>
                          <a:latin typeface="Calibri" pitchFamily="34" charset="0"/>
                          <a:ea typeface="Calibri" pitchFamily="34" charset="-122"/>
                          <a:cs typeface="Calibri" pitchFamily="34" charset="-120"/>
                        </a:rPr>
                        <a:t>Hutan regenerasi (semak → hutan)</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300" dirty="0">
                          <a:solidFill>
                            <a:srgbClr val="1B2420"/>
                          </a:solidFill>
                          <a:latin typeface="Calibri" pitchFamily="34" charset="0"/>
                          <a:ea typeface="Calibri" pitchFamily="34" charset="-122"/>
                          <a:cs typeface="Calibri" pitchFamily="34" charset="-120"/>
                        </a:rPr>
                        <a:t>41,94</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300" dirty="0">
                          <a:solidFill>
                            <a:srgbClr val="5F6B65"/>
                          </a:solidFill>
                          <a:latin typeface="Calibri" pitchFamily="34" charset="0"/>
                          <a:ea typeface="Calibri" pitchFamily="34" charset="-122"/>
                          <a:cs typeface="Calibri" pitchFamily="34" charset="-120"/>
                        </a:rPr>
                        <a:t>1,7%</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indent="0" marL="0">
                        <a:buNone/>
                      </a:pPr>
                      <a:r>
                        <a:rPr lang="en-US" sz="1300" dirty="0">
                          <a:solidFill>
                            <a:srgbClr val="1B2420"/>
                          </a:solidFill>
                          <a:latin typeface="Calibri" pitchFamily="34" charset="0"/>
                          <a:ea typeface="Calibri" pitchFamily="34" charset="-122"/>
                          <a:cs typeface="Calibri" pitchFamily="34" charset="-120"/>
                        </a:rPr>
                        <a:t>Cek definisi hutan dulu</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r>
              <a:tr h="329184">
                <a:tc>
                  <a:txBody>
                    <a:bodyPr/>
                    <a:lstStyle/>
                    <a:p>
                      <a:pPr indent="0" marL="0">
                        <a:buNone/>
                      </a:pPr>
                      <a:r>
                        <a:rPr lang="en-US" sz="1600" dirty="0">
                          <a:solidFill>
                            <a:schemeClr val="accent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indent="0" marL="0">
                        <a:buNone/>
                      </a:pPr>
                      <a:r>
                        <a:rPr lang="en-US" sz="1300" b="1" dirty="0">
                          <a:solidFill>
                            <a:srgbClr val="1B2420"/>
                          </a:solidFill>
                          <a:latin typeface="Calibri" pitchFamily="34" charset="0"/>
                          <a:ea typeface="Calibri" pitchFamily="34" charset="-122"/>
                          <a:cs typeface="Calibri" pitchFamily="34" charset="-120"/>
                        </a:rPr>
                        <a:t>ARR layak</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indent="0" marL="0">
                        <a:buNone/>
                      </a:pPr>
                      <a:r>
                        <a:rPr lang="en-US" sz="1300" dirty="0">
                          <a:solidFill>
                            <a:srgbClr val="5F6B65"/>
                          </a:solidFill>
                          <a:latin typeface="Calibri" pitchFamily="34" charset="0"/>
                          <a:ea typeface="Calibri" pitchFamily="34" charset="-122"/>
                          <a:cs typeface="Calibri" pitchFamily="34" charset="-120"/>
                        </a:rPr>
                        <a:t>Semak 588,88 + lahan terbuka 2,38</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300" dirty="0">
                          <a:solidFill>
                            <a:srgbClr val="1B2420"/>
                          </a:solidFill>
                          <a:latin typeface="Calibri" pitchFamily="34" charset="0"/>
                          <a:ea typeface="Calibri" pitchFamily="34" charset="-122"/>
                          <a:cs typeface="Calibri" pitchFamily="34" charset="-120"/>
                        </a:rPr>
                        <a:t>591,26</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300" dirty="0">
                          <a:solidFill>
                            <a:srgbClr val="5F6B65"/>
                          </a:solidFill>
                          <a:latin typeface="Calibri" pitchFamily="34" charset="0"/>
                          <a:ea typeface="Calibri" pitchFamily="34" charset="-122"/>
                          <a:cs typeface="Calibri" pitchFamily="34" charset="-120"/>
                        </a:rPr>
                        <a:t>24,0%</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indent="0" marL="0">
                        <a:buNone/>
                      </a:pPr>
                      <a:r>
                        <a:rPr lang="en-US" sz="1300" dirty="0">
                          <a:solidFill>
                            <a:srgbClr val="1B2420"/>
                          </a:solidFill>
                          <a:latin typeface="Calibri" pitchFamily="34" charset="0"/>
                          <a:ea typeface="Calibri" pitchFamily="34" charset="-122"/>
                          <a:cs typeface="Calibri" pitchFamily="34" charset="-120"/>
                        </a:rPr>
                        <a:t>Masuk area ARR</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r>
              <a:tr h="329184">
                <a:tc>
                  <a:txBody>
                    <a:bodyPr/>
                    <a:lstStyle/>
                    <a:p>
                      <a:pPr indent="0" marL="0">
                        <a:buNone/>
                      </a:pPr>
                      <a:r>
                        <a:rPr lang="en-US" sz="1600" dirty="0">
                          <a:solidFill>
                            <a:schemeClr val="accent2"/>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indent="0" marL="0">
                        <a:buNone/>
                      </a:pPr>
                      <a:r>
                        <a:rPr lang="en-US" sz="1300" b="1" dirty="0">
                          <a:solidFill>
                            <a:srgbClr val="1B2420"/>
                          </a:solidFill>
                          <a:latin typeface="Calibri" pitchFamily="34" charset="0"/>
                          <a:ea typeface="Calibri" pitchFamily="34" charset="-122"/>
                          <a:cs typeface="Calibri" pitchFamily="34" charset="-120"/>
                        </a:rPr>
                        <a:t>ARR bersyarat</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indent="0" marL="0">
                        <a:buNone/>
                      </a:pPr>
                      <a:r>
                        <a:rPr lang="en-US" sz="1300" dirty="0">
                          <a:solidFill>
                            <a:srgbClr val="5F6B65"/>
                          </a:solidFill>
                          <a:latin typeface="Calibri" pitchFamily="34" charset="0"/>
                          <a:ea typeface="Calibri" pitchFamily="34" charset="-122"/>
                          <a:cs typeface="Calibri" pitchFamily="34" charset="-120"/>
                        </a:rPr>
                        <a:t>Kebun, lewat agroforestri</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300" dirty="0">
                          <a:solidFill>
                            <a:srgbClr val="1B2420"/>
                          </a:solidFill>
                          <a:latin typeface="Calibri" pitchFamily="34" charset="0"/>
                          <a:ea typeface="Calibri" pitchFamily="34" charset="-122"/>
                          <a:cs typeface="Calibri" pitchFamily="34" charset="-120"/>
                        </a:rPr>
                        <a:t>351,30</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300" dirty="0">
                          <a:solidFill>
                            <a:srgbClr val="5F6B65"/>
                          </a:solidFill>
                          <a:latin typeface="Calibri" pitchFamily="34" charset="0"/>
                          <a:ea typeface="Calibri" pitchFamily="34" charset="-122"/>
                          <a:cs typeface="Calibri" pitchFamily="34" charset="-120"/>
                        </a:rPr>
                        <a:t>14,2%</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indent="0" marL="0">
                        <a:buNone/>
                      </a:pPr>
                      <a:r>
                        <a:rPr lang="en-US" sz="1300" dirty="0">
                          <a:solidFill>
                            <a:srgbClr val="1B2420"/>
                          </a:solidFill>
                          <a:latin typeface="Calibri" pitchFamily="34" charset="0"/>
                          <a:ea typeface="Calibri" pitchFamily="34" charset="-122"/>
                          <a:cs typeface="Calibri" pitchFamily="34" charset="-120"/>
                        </a:rPr>
                        <a:t>Perlu agroforestri + persetujuan pemilik</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r>
              <a:tr h="329184">
                <a:tc>
                  <a:txBody>
                    <a:bodyPr/>
                    <a:lstStyle/>
                    <a:p>
                      <a:pPr indent="0" marL="0">
                        <a:buNone/>
                      </a:pPr>
                      <a:r>
                        <a:rPr lang="en-US" sz="1600" dirty="0">
                          <a:solidFill>
                            <a:schemeClr val="accent3"/>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indent="0" marL="0">
                        <a:buNone/>
                      </a:pPr>
                      <a:r>
                        <a:rPr lang="en-US" sz="1300" b="1" dirty="0">
                          <a:solidFill>
                            <a:srgbClr val="1B2420"/>
                          </a:solidFill>
                          <a:latin typeface="Calibri" pitchFamily="34" charset="0"/>
                          <a:ea typeface="Calibri" pitchFamily="34" charset="-122"/>
                          <a:cs typeface="Calibri" pitchFamily="34" charset="-120"/>
                        </a:rPr>
                        <a:t>Tidak layak ARR</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indent="0" marL="0">
                        <a:buNone/>
                      </a:pPr>
                      <a:r>
                        <a:rPr lang="en-US" sz="1300" dirty="0">
                          <a:solidFill>
                            <a:srgbClr val="5F6B65"/>
                          </a:solidFill>
                          <a:latin typeface="Calibri" pitchFamily="34" charset="0"/>
                          <a:ea typeface="Calibri" pitchFamily="34" charset="-122"/>
                          <a:cs typeface="Calibri" pitchFamily="34" charset="-120"/>
                        </a:rPr>
                        <a:t>Bekas hutan yang dibuka 2016–2026</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300" dirty="0">
                          <a:solidFill>
                            <a:srgbClr val="1B2420"/>
                          </a:solidFill>
                          <a:latin typeface="Calibri" pitchFamily="34" charset="0"/>
                          <a:ea typeface="Calibri" pitchFamily="34" charset="-122"/>
                          <a:cs typeface="Calibri" pitchFamily="34" charset="-120"/>
                        </a:rPr>
                        <a:t>82,87</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300" dirty="0">
                          <a:solidFill>
                            <a:srgbClr val="5F6B65"/>
                          </a:solidFill>
                          <a:latin typeface="Calibri" pitchFamily="34" charset="0"/>
                          <a:ea typeface="Calibri" pitchFamily="34" charset="-122"/>
                          <a:cs typeface="Calibri" pitchFamily="34" charset="-120"/>
                        </a:rPr>
                        <a:t>3,4%</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indent="0" marL="0">
                        <a:buNone/>
                      </a:pPr>
                      <a:r>
                        <a:rPr lang="en-US" sz="1300" dirty="0">
                          <a:solidFill>
                            <a:srgbClr val="1B2420"/>
                          </a:solidFill>
                          <a:latin typeface="Calibri" pitchFamily="34" charset="0"/>
                          <a:ea typeface="Calibri" pitchFamily="34" charset="-122"/>
                          <a:cs typeface="Calibri" pitchFamily="34" charset="-120"/>
                        </a:rPr>
                        <a:t>Dibuka &lt; 10 tahun, bukan kredit ARR</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r>
              <a:tr h="329184">
                <a:tc>
                  <a:txBody>
                    <a:bodyPr/>
                    <a:lstStyle/>
                    <a:p>
                      <a:pPr indent="0" marL="0">
                        <a:buNone/>
                      </a:pPr>
                      <a:r>
                        <a:rPr lang="en-US" sz="1600" dirty="0">
                          <a:solidFill>
                            <a:schemeClr val="accent6"/>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indent="0" marL="0">
                        <a:buNone/>
                      </a:pPr>
                      <a:r>
                        <a:rPr lang="en-US" sz="1300" b="1" dirty="0">
                          <a:solidFill>
                            <a:srgbClr val="1B2420"/>
                          </a:solidFill>
                          <a:latin typeface="Calibri" pitchFamily="34" charset="0"/>
                          <a:ea typeface="Calibri" pitchFamily="34" charset="-122"/>
                          <a:cs typeface="Calibri" pitchFamily="34" charset="-120"/>
                        </a:rPr>
                        <a:t>Sungai</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indent="0" marL="0">
                        <a:buNone/>
                      </a:pPr>
                      <a:r>
                        <a:rPr lang="en-US" sz="1300" dirty="0">
                          <a:solidFill>
                            <a:srgbClr val="5F6B65"/>
                          </a:solidFill>
                          <a:latin typeface="Calibri" pitchFamily="34" charset="0"/>
                          <a:ea typeface="Calibri" pitchFamily="34" charset="-122"/>
                          <a:cs typeface="Calibri" pitchFamily="34" charset="-120"/>
                        </a:rPr>
                        <a:t>Dikeluarkan</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300" dirty="0">
                          <a:solidFill>
                            <a:srgbClr val="1B2420"/>
                          </a:solidFill>
                          <a:latin typeface="Calibri" pitchFamily="34" charset="0"/>
                          <a:ea typeface="Calibri" pitchFamily="34" charset="-122"/>
                          <a:cs typeface="Calibri" pitchFamily="34" charset="-120"/>
                        </a:rPr>
                        <a:t>31,92</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300" dirty="0">
                          <a:solidFill>
                            <a:srgbClr val="5F6B65"/>
                          </a:solidFill>
                          <a:latin typeface="Calibri" pitchFamily="34" charset="0"/>
                          <a:ea typeface="Calibri" pitchFamily="34" charset="-122"/>
                          <a:cs typeface="Calibri" pitchFamily="34" charset="-120"/>
                        </a:rPr>
                        <a:t>1,3%</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indent="0" marL="0">
                        <a:buNone/>
                      </a:pPr>
                      <a:r>
                        <a:rPr lang="en-US" sz="1300" dirty="0">
                          <a:solidFill>
                            <a:srgbClr val="1B2420"/>
                          </a:solidFill>
                          <a:latin typeface="Calibri" pitchFamily="34" charset="0"/>
                          <a:ea typeface="Calibri" pitchFamily="34" charset="-122"/>
                          <a:cs typeface="Calibri" pitchFamily="34" charset="-120"/>
                        </a:rPr>
                        <a:t>Dikeluarkan</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r>
            </a:tbl>
          </a:graphicData>
        </a:graphic>
      </p:graphicFrame>
      <p:sp>
        <p:nvSpPr>
          <p:cNvPr id="16" name="Text 12"/>
          <p:cNvSpPr txBox="1"/>
          <p:nvPr/>
        </p:nvSpPr>
        <p:spPr>
          <a:xfrm>
            <a:off x="548640" y="5989320"/>
            <a:ext cx="10545775" cy="228600"/>
          </a:xfrm>
          <a:prstGeom prst="rect">
            <a:avLst/>
          </a:prstGeom>
          <a:noFill/>
          <a:ln/>
        </p:spPr>
        <p:txBody>
          <a:bodyPr wrap="square" lIns="0" tIns="0" rIns="0" bIns="0" rtlCol="0" anchor="t"/>
          <a:lstStyle/>
          <a:p>
            <a:pPr indent="0" marL="0">
              <a:buNone/>
            </a:pPr>
            <a:r>
              <a:rPr lang="en-US" sz="1000" i="1" dirty="0">
                <a:solidFill>
                  <a:srgbClr val="5F6B65"/>
                </a:solidFill>
              </a:rPr>
              <a:t>Sumber: sheet Tuplah (2), matriks perubahan tutupan 2016–2026. Total 2.468,51 ha.</a:t>
            </a:r>
            <a:endParaRPr lang="en-US" sz="1000" dirty="0"/>
          </a:p>
        </p:txBody>
      </p:sp>
      <p:sp>
        <p:nvSpPr>
          <p:cNvPr id="17" name="luas-redd"/>
          <p:cNvSpPr/>
          <p:nvPr/>
        </p:nvSpPr>
        <p:spPr>
          <a:xfrm>
            <a:off x="548640" y="6400800"/>
            <a:ext cx="748101" cy="91440"/>
          </a:xfrm>
          <a:prstGeom prst="rect">
            <a:avLst/>
          </a:prstGeom>
          <a:solidFill>
            <a:schemeClr val="accent1"/>
          </a:solidFill>
          <a:ln/>
        </p:spPr>
      </p:sp>
      <p:sp>
        <p:nvSpPr>
          <p:cNvPr id="18" name="luas-regen"/>
          <p:cNvSpPr/>
          <p:nvPr/>
        </p:nvSpPr>
        <p:spPr>
          <a:xfrm>
            <a:off x="1319601" y="6400800"/>
            <a:ext cx="22915" cy="91440"/>
          </a:xfrm>
          <a:prstGeom prst="rect">
            <a:avLst/>
          </a:prstGeom>
          <a:solidFill>
            <a:schemeClr val="accent5"/>
          </a:solidFill>
          <a:ln/>
        </p:spPr>
      </p:sp>
      <p:sp>
        <p:nvSpPr>
          <p:cNvPr id="19" name="luas-arr"/>
          <p:cNvSpPr/>
          <p:nvPr/>
        </p:nvSpPr>
        <p:spPr>
          <a:xfrm>
            <a:off x="1365376" y="6400800"/>
            <a:ext cx="323052" cy="91440"/>
          </a:xfrm>
          <a:prstGeom prst="rect">
            <a:avLst/>
          </a:prstGeom>
          <a:solidFill>
            <a:schemeClr val="accent4"/>
          </a:solidFill>
          <a:ln/>
        </p:spPr>
      </p:sp>
      <p:sp>
        <p:nvSpPr>
          <p:cNvPr id="20" name="luas-kebun"/>
          <p:cNvSpPr/>
          <p:nvPr/>
        </p:nvSpPr>
        <p:spPr>
          <a:xfrm>
            <a:off x="1711288" y="6400800"/>
            <a:ext cx="191943" cy="91440"/>
          </a:xfrm>
          <a:prstGeom prst="rect">
            <a:avLst/>
          </a:prstGeom>
          <a:solidFill>
            <a:schemeClr val="accent2"/>
          </a:solidFill>
          <a:ln/>
        </p:spPr>
      </p:sp>
      <p:sp>
        <p:nvSpPr>
          <p:cNvPr id="21" name="luas-defor"/>
          <p:cNvSpPr/>
          <p:nvPr/>
        </p:nvSpPr>
        <p:spPr>
          <a:xfrm>
            <a:off x="1926090" y="6400800"/>
            <a:ext cx="45278" cy="91440"/>
          </a:xfrm>
          <a:prstGeom prst="rect">
            <a:avLst/>
          </a:prstGeom>
          <a:solidFill>
            <a:schemeClr val="accent3"/>
          </a:solidFill>
          <a:ln/>
        </p:spPr>
      </p:sp>
      <p:sp>
        <p:nvSpPr>
          <p:cNvPr id="22" name="luas-sungai"/>
          <p:cNvSpPr/>
          <p:nvPr/>
        </p:nvSpPr>
        <p:spPr>
          <a:xfrm>
            <a:off x="1994229" y="6400800"/>
            <a:ext cx="18288" cy="91440"/>
          </a:xfrm>
          <a:prstGeom prst="rect">
            <a:avLst/>
          </a:prstGeom>
          <a:solidFill>
            <a:schemeClr val="accent6"/>
          </a:solidFill>
          <a:ln/>
        </p:spPr>
      </p:sp>
      <p:sp>
        <p:nvSpPr>
          <p:cNvPr id="23" name="Text 19"/>
          <p:cNvSpPr txBox="1"/>
          <p:nvPr/>
        </p:nvSpPr>
        <p:spPr>
          <a:xfrm>
            <a:off x="2148840" y="6336792"/>
            <a:ext cx="4572000" cy="228600"/>
          </a:xfrm>
          <a:prstGeom prst="rect">
            <a:avLst/>
          </a:prstGeom>
          <a:noFill/>
          <a:ln/>
        </p:spPr>
        <p:txBody>
          <a:bodyPr wrap="square" lIns="0" tIns="0" rIns="0" bIns="0" rtlCol="0" anchor="t"/>
          <a:lstStyle/>
          <a:p>
            <a:pPr indent="0" marL="0">
              <a:buNone/>
            </a:pPr>
            <a:r>
              <a:rPr lang="en-US" sz="1000" dirty="0">
                <a:solidFill>
                  <a:srgbClr val="5F6B65"/>
                </a:solidFill>
              </a:rPr>
              <a:t>Area 2.468,51 ha</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6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REDD+ · BASELINE DEFORESTASI</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Kehilangan hutan bruto 82,87 ha, dua kali angka net yang dipakai</a:t>
            </a:r>
            <a:endParaRPr lang="en-US" sz="2800" dirty="0"/>
          </a:p>
        </p:txBody>
      </p:sp>
      <p:sp>
        <p:nvSpPr>
          <p:cNvPr id="5" name="Text 2"/>
          <p:cNvSpPr txBox="1"/>
          <p:nvPr/>
        </p:nvSpPr>
        <p:spPr>
          <a:xfrm>
            <a:off x="548640" y="1874520"/>
            <a:ext cx="576072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LUAS HUTAN SEKUNDER (HA)</a:t>
            </a:r>
            <a:endParaRPr lang="en-US" sz="1200" dirty="0"/>
          </a:p>
        </p:txBody>
      </p:sp>
      <p:graphicFrame>
        <p:nvGraphicFramePr>
          <p:cNvPr id="6" name="Chart 0" descr=""/>
          <p:cNvGraphicFramePr/>
          <p:nvPr/>
        </p:nvGraphicFramePr>
        <p:xfrm>
          <a:off x="548640" y="2194560"/>
          <a:ext cx="5760720" cy="3383280"/>
        </p:xfrm>
        <a:graphic xmlns:a="http://schemas.openxmlformats.org/drawingml/2006/main">
          <a:graphicData uri="http://schemas.openxmlformats.org/drawingml/2006/chart">
            <c:chart xmlns:c="http://schemas.openxmlformats.org/drawingml/2006/chart" r:id="rId1"/>
          </a:graphicData>
        </a:graphic>
      </p:graphicFrame>
      <p:sp>
        <p:nvSpPr>
          <p:cNvPr id="7" name="Text 3"/>
          <p:cNvSpPr txBox="1"/>
          <p:nvPr/>
        </p:nvSpPr>
        <p:spPr>
          <a:xfrm>
            <a:off x="548640" y="5577840"/>
            <a:ext cx="5760720" cy="228600"/>
          </a:xfrm>
          <a:prstGeom prst="rect">
            <a:avLst/>
          </a:prstGeom>
          <a:noFill/>
          <a:ln/>
        </p:spPr>
        <p:txBody>
          <a:bodyPr wrap="square" lIns="0" tIns="0" rIns="0" bIns="0" rtlCol="0" anchor="t"/>
          <a:lstStyle/>
          <a:p>
            <a:pPr indent="0" marL="0">
              <a:buNone/>
            </a:pPr>
            <a:r>
              <a:rPr lang="en-US" sz="1100" i="1" dirty="0">
                <a:solidFill>
                  <a:srgbClr val="5F6B65"/>
                </a:solidFill>
              </a:rPr>
              <a:t>Sumbu tidak dimulai dari nol supaya perubahan terlihat.</a:t>
            </a:r>
            <a:endParaRPr lang="en-US" sz="1100" dirty="0"/>
          </a:p>
        </p:txBody>
      </p:sp>
      <p:sp>
        <p:nvSpPr>
          <p:cNvPr id="8" name="Text 4"/>
          <p:cNvSpPr txBox="1"/>
          <p:nvPr/>
        </p:nvSpPr>
        <p:spPr>
          <a:xfrm>
            <a:off x="6858000" y="1874520"/>
            <a:ext cx="4785055"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LAJU DEFORESTASI</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858000" y="2240280"/>
          <a:ext cx="4785055" cy="914400"/>
        </p:xfrm>
        <a:graphic>
          <a:graphicData uri="http://schemas.openxmlformats.org/drawingml/2006/table">
            <a:tbl>
              <a:tblPr/>
              <a:tblGrid>
                <a:gridCol w="1767535"/>
                <a:gridCol w="1005840"/>
                <a:gridCol w="1005840"/>
                <a:gridCol w="1005840"/>
              </a:tblGrid>
              <a:tr h="384048">
                <a:tc>
                  <a:txBody>
                    <a:bodyPr/>
                    <a:lstStyle/>
                    <a:p>
                      <a:pPr algn="l" indent="0" marL="0">
                        <a:buNone/>
                      </a:pPr>
                      <a:r>
                        <a:rPr lang="en-US" sz="1200" b="1" dirty="0">
                          <a:solidFill>
                            <a:srgbClr val="5F6B65"/>
                          </a:solidFill>
                          <a:latin typeface="Calibri" pitchFamily="34" charset="0"/>
                          <a:ea typeface="Calibri" pitchFamily="34" charset="-122"/>
                          <a:cs typeface="Calibri" pitchFamily="34" charset="-120"/>
                        </a:rPr>
                        <a:t>Periode</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c>
                  <a:txBody>
                    <a:bodyPr/>
                    <a:lstStyle/>
                    <a:p>
                      <a:pPr algn="r" indent="0" marL="0">
                        <a:buNone/>
                      </a:pPr>
                      <a:r>
                        <a:rPr lang="en-US" sz="1200" b="1" dirty="0">
                          <a:solidFill>
                            <a:srgbClr val="5F6B65"/>
                          </a:solidFill>
                          <a:latin typeface="Calibri" pitchFamily="34" charset="0"/>
                          <a:ea typeface="Calibri" pitchFamily="34" charset="-122"/>
                          <a:cs typeface="Calibri" pitchFamily="34" charset="-120"/>
                        </a:rPr>
                        <a:t>Luas (ha)</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c>
                  <a:txBody>
                    <a:bodyPr/>
                    <a:lstStyle/>
                    <a:p>
                      <a:pPr algn="r" indent="0" marL="0">
                        <a:buNone/>
                      </a:pPr>
                      <a:r>
                        <a:rPr lang="en-US" sz="1200" b="1" dirty="0">
                          <a:solidFill>
                            <a:srgbClr val="5F6B65"/>
                          </a:solidFill>
                          <a:latin typeface="Calibri" pitchFamily="34" charset="0"/>
                          <a:ea typeface="Calibri" pitchFamily="34" charset="-122"/>
                          <a:cs typeface="Calibri" pitchFamily="34" charset="-120"/>
                        </a:rPr>
                        <a:t>Ha/tahun</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c>
                  <a:txBody>
                    <a:bodyPr/>
                    <a:lstStyle/>
                    <a:p>
                      <a:pPr algn="r" indent="0" marL="0">
                        <a:buNone/>
                      </a:pPr>
                      <a:r>
                        <a:rPr lang="en-US" sz="1200" b="1" dirty="0">
                          <a:solidFill>
                            <a:srgbClr val="5F6B65"/>
                          </a:solidFill>
                          <a:latin typeface="Calibri" pitchFamily="34" charset="0"/>
                          <a:ea typeface="Calibri" pitchFamily="34" charset="-122"/>
                          <a:cs typeface="Calibri" pitchFamily="34" charset="-120"/>
                        </a:rPr>
                        <a:t>%/tahun</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r>
              <a:tr h="384048">
                <a:tc>
                  <a:txBody>
                    <a:bodyPr/>
                    <a:lstStyle/>
                    <a:p>
                      <a:pPr algn="l" indent="0" marL="0">
                        <a:buNone/>
                      </a:pPr>
                      <a:r>
                        <a:rPr lang="en-US" sz="1400" b="1" dirty="0">
                          <a:solidFill>
                            <a:srgbClr val="B5551F"/>
                          </a:solidFill>
                          <a:latin typeface="Calibri" pitchFamily="34" charset="0"/>
                          <a:ea typeface="Calibri" pitchFamily="34" charset="-122"/>
                          <a:cs typeface="Calibri" pitchFamily="34" charset="-120"/>
                        </a:rPr>
                        <a:t>Bruto 2016–2026</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400" b="1" dirty="0">
                          <a:solidFill>
                            <a:srgbClr val="B5551F"/>
                          </a:solidFill>
                          <a:latin typeface="Calibri" pitchFamily="34" charset="0"/>
                          <a:ea typeface="Calibri" pitchFamily="34" charset="-122"/>
                          <a:cs typeface="Calibri" pitchFamily="34" charset="-120"/>
                        </a:rPr>
                        <a:t>82,87</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400" b="1" dirty="0">
                          <a:solidFill>
                            <a:srgbClr val="B5551F"/>
                          </a:solidFill>
                          <a:latin typeface="Calibri" pitchFamily="34" charset="0"/>
                          <a:ea typeface="Calibri" pitchFamily="34" charset="-122"/>
                          <a:cs typeface="Calibri" pitchFamily="34" charset="-120"/>
                        </a:rPr>
                        <a:t>8,29</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400" b="1" dirty="0">
                          <a:solidFill>
                            <a:srgbClr val="B5551F"/>
                          </a:solidFill>
                          <a:latin typeface="Calibri" pitchFamily="34" charset="0"/>
                          <a:ea typeface="Calibri" pitchFamily="34" charset="-122"/>
                          <a:cs typeface="Calibri" pitchFamily="34" charset="-120"/>
                        </a:rPr>
                        <a:t>0,57%</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r>
              <a:tr h="384048">
                <a:tc>
                  <a:txBody>
                    <a:bodyPr/>
                    <a:lstStyle/>
                    <a:p>
                      <a:pPr algn="l" indent="0" marL="0">
                        <a:buNone/>
                      </a:pPr>
                      <a:r>
                        <a:rPr lang="en-US" sz="1400" dirty="0">
                          <a:solidFill>
                            <a:srgbClr val="1B2420"/>
                          </a:solidFill>
                          <a:latin typeface="Calibri" pitchFamily="34" charset="0"/>
                          <a:ea typeface="Calibri" pitchFamily="34" charset="-122"/>
                          <a:cs typeface="Calibri" pitchFamily="34" charset="-120"/>
                        </a:rPr>
                        <a:t>Net 2016–2026</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400" dirty="0">
                          <a:solidFill>
                            <a:srgbClr val="1B2420"/>
                          </a:solidFill>
                          <a:latin typeface="Calibri" pitchFamily="34" charset="0"/>
                          <a:ea typeface="Calibri" pitchFamily="34" charset="-122"/>
                          <a:cs typeface="Calibri" pitchFamily="34" charset="-120"/>
                        </a:rPr>
                        <a:t>40,91</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400" dirty="0">
                          <a:solidFill>
                            <a:srgbClr val="1B2420"/>
                          </a:solidFill>
                          <a:latin typeface="Calibri" pitchFamily="34" charset="0"/>
                          <a:ea typeface="Calibri" pitchFamily="34" charset="-122"/>
                          <a:cs typeface="Calibri" pitchFamily="34" charset="-120"/>
                        </a:rPr>
                        <a:t>4,09</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400" dirty="0">
                          <a:solidFill>
                            <a:srgbClr val="1B2420"/>
                          </a:solidFill>
                          <a:latin typeface="Calibri" pitchFamily="34" charset="0"/>
                          <a:ea typeface="Calibri" pitchFamily="34" charset="-122"/>
                          <a:cs typeface="Calibri" pitchFamily="34" charset="-120"/>
                        </a:rPr>
                        <a:t>0,28%</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r>
              <a:tr h="384048">
                <a:tc>
                  <a:txBody>
                    <a:bodyPr/>
                    <a:lstStyle/>
                    <a:p>
                      <a:pPr algn="l" indent="0" marL="0">
                        <a:buNone/>
                      </a:pPr>
                      <a:r>
                        <a:rPr lang="en-US" sz="1400" dirty="0">
                          <a:solidFill>
                            <a:srgbClr val="1B2420"/>
                          </a:solidFill>
                          <a:latin typeface="Calibri" pitchFamily="34" charset="0"/>
                          <a:ea typeface="Calibri" pitchFamily="34" charset="-122"/>
                          <a:cs typeface="Calibri" pitchFamily="34" charset="-120"/>
                        </a:rPr>
                        <a:t>2021–2026 saja</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400" dirty="0">
                          <a:solidFill>
                            <a:srgbClr val="1B2420"/>
                          </a:solidFill>
                          <a:latin typeface="Calibri" pitchFamily="34" charset="0"/>
                          <a:ea typeface="Calibri" pitchFamily="34" charset="-122"/>
                          <a:cs typeface="Calibri" pitchFamily="34" charset="-120"/>
                        </a:rPr>
                        <a:t>138,12</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400" dirty="0">
                          <a:solidFill>
                            <a:srgbClr val="1B2420"/>
                          </a:solidFill>
                          <a:latin typeface="Calibri" pitchFamily="34" charset="0"/>
                          <a:ea typeface="Calibri" pitchFamily="34" charset="-122"/>
                          <a:cs typeface="Calibri" pitchFamily="34" charset="-120"/>
                        </a:rPr>
                        <a:t>27,62</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400" dirty="0">
                          <a:solidFill>
                            <a:srgbClr val="1B2420"/>
                          </a:solidFill>
                          <a:latin typeface="Calibri" pitchFamily="34" charset="0"/>
                          <a:ea typeface="Calibri" pitchFamily="34" charset="-122"/>
                          <a:cs typeface="Calibri" pitchFamily="34" charset="-120"/>
                        </a:rPr>
                        <a:t>1,78%</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r>
            </a:tbl>
          </a:graphicData>
        </a:graphic>
      </p:graphicFrame>
      <p:sp>
        <p:nvSpPr>
          <p:cNvPr id="10" name="Shape 5"/>
          <p:cNvSpPr/>
          <p:nvPr/>
        </p:nvSpPr>
        <p:spPr>
          <a:xfrm>
            <a:off x="6858000" y="4114800"/>
            <a:ext cx="4785055" cy="1463040"/>
          </a:xfrm>
          <a:prstGeom prst="rect">
            <a:avLst/>
          </a:prstGeom>
          <a:solidFill>
            <a:schemeClr val="bg2"/>
          </a:solidFill>
          <a:ln/>
        </p:spPr>
      </p:sp>
      <p:sp>
        <p:nvSpPr>
          <p:cNvPr id="11" name="Text 6"/>
          <p:cNvSpPr txBox="1"/>
          <p:nvPr/>
        </p:nvSpPr>
        <p:spPr>
          <a:xfrm>
            <a:off x="7086600" y="4114800"/>
            <a:ext cx="4327855" cy="1463040"/>
          </a:xfrm>
          <a:prstGeom prst="rect">
            <a:avLst/>
          </a:prstGeom>
          <a:noFill/>
          <a:ln/>
        </p:spPr>
        <p:txBody>
          <a:bodyPr wrap="square" lIns="0" tIns="0" rIns="0" bIns="0" rtlCol="0" anchor="ctr"/>
          <a:lstStyle/>
          <a:p>
            <a:pPr indent="0" marL="0">
              <a:buNone/>
            </a:pPr>
            <a:r>
              <a:rPr lang="en-US" sz="1500" b="1" dirty="0">
                <a:solidFill>
                  <a:schemeClr val="accent3"/>
                </a:solidFill>
              </a:rPr>
              <a:t>Data 2021 janggal. </a:t>
            </a:r>
            <a:pPr indent="0" marL="0">
              <a:buNone/>
            </a:pPr>
            <a:r>
              <a:rPr lang="en-US" sz="1500" dirty="0">
                <a:solidFill>
                  <a:schemeClr val="tx1"/>
                </a:solidFill>
              </a:rPr>
              <a:t>Hutan naik 97 ha lalu turun 138 ha. Bisa jadi laju makin cepat, bisa juga galat klasifikasi citra. Periksa sebelum memilih periode referensi.</a:t>
            </a:r>
            <a:endParaRPr lang="en-US" sz="1500" dirty="0"/>
          </a:p>
        </p:txBody>
      </p:sp>
      <p:sp>
        <p:nvSpPr>
          <p:cNvPr id="12" name="Text 7"/>
          <p:cNvSpPr txBox="1"/>
          <p:nvPr/>
        </p:nvSpPr>
        <p:spPr>
          <a:xfrm>
            <a:off x="548640" y="5989320"/>
            <a:ext cx="10545775" cy="228600"/>
          </a:xfrm>
          <a:prstGeom prst="rect">
            <a:avLst/>
          </a:prstGeom>
          <a:noFill/>
          <a:ln/>
        </p:spPr>
        <p:txBody>
          <a:bodyPr wrap="square" lIns="0" tIns="0" rIns="0" bIns="0" rtlCol="0" anchor="t"/>
          <a:lstStyle/>
          <a:p>
            <a:pPr indent="0" marL="0">
              <a:buNone/>
            </a:pPr>
            <a:r>
              <a:rPr lang="en-US" sz="1000" i="1" dirty="0">
                <a:solidFill>
                  <a:srgbClr val="5F6B65"/>
                </a:solidFill>
              </a:rPr>
              <a:t>Sumber: sheet Tuplah (2), klasifikasi tutupan 2016, 2021, 2026. % per tahun dihitung dari luas hutan 2016.</a:t>
            </a:r>
            <a:endParaRPr lang="en-US" sz="1000" dirty="0"/>
          </a:p>
        </p:txBody>
      </p:sp>
      <p:sp>
        <p:nvSpPr>
          <p:cNvPr id="13" name="luas-redd"/>
          <p:cNvSpPr/>
          <p:nvPr/>
        </p:nvSpPr>
        <p:spPr>
          <a:xfrm>
            <a:off x="548640" y="6400800"/>
            <a:ext cx="748101" cy="91440"/>
          </a:xfrm>
          <a:prstGeom prst="rect">
            <a:avLst/>
          </a:prstGeom>
          <a:solidFill>
            <a:schemeClr val="accent1"/>
          </a:solidFill>
          <a:ln/>
        </p:spPr>
      </p:sp>
      <p:sp>
        <p:nvSpPr>
          <p:cNvPr id="14" name="luas-regen"/>
          <p:cNvSpPr/>
          <p:nvPr/>
        </p:nvSpPr>
        <p:spPr>
          <a:xfrm>
            <a:off x="1319601" y="6400800"/>
            <a:ext cx="22915" cy="91440"/>
          </a:xfrm>
          <a:prstGeom prst="rect">
            <a:avLst/>
          </a:prstGeom>
          <a:solidFill>
            <a:schemeClr val="accent5"/>
          </a:solidFill>
          <a:ln/>
        </p:spPr>
      </p:sp>
      <p:sp>
        <p:nvSpPr>
          <p:cNvPr id="15" name="luas-arr"/>
          <p:cNvSpPr/>
          <p:nvPr/>
        </p:nvSpPr>
        <p:spPr>
          <a:xfrm>
            <a:off x="1365376" y="6400800"/>
            <a:ext cx="323052" cy="91440"/>
          </a:xfrm>
          <a:prstGeom prst="rect">
            <a:avLst/>
          </a:prstGeom>
          <a:solidFill>
            <a:srgbClr val="D5DBD6"/>
          </a:solidFill>
          <a:ln/>
        </p:spPr>
      </p:sp>
      <p:sp>
        <p:nvSpPr>
          <p:cNvPr id="16" name="luas-kebun"/>
          <p:cNvSpPr/>
          <p:nvPr/>
        </p:nvSpPr>
        <p:spPr>
          <a:xfrm>
            <a:off x="1711288" y="6400800"/>
            <a:ext cx="191943" cy="91440"/>
          </a:xfrm>
          <a:prstGeom prst="rect">
            <a:avLst/>
          </a:prstGeom>
          <a:solidFill>
            <a:srgbClr val="D5DBD6"/>
          </a:solidFill>
          <a:ln/>
        </p:spPr>
      </p:sp>
      <p:sp>
        <p:nvSpPr>
          <p:cNvPr id="17" name="luas-defor"/>
          <p:cNvSpPr/>
          <p:nvPr/>
        </p:nvSpPr>
        <p:spPr>
          <a:xfrm>
            <a:off x="1926090" y="6400800"/>
            <a:ext cx="45278" cy="91440"/>
          </a:xfrm>
          <a:prstGeom prst="rect">
            <a:avLst/>
          </a:prstGeom>
          <a:solidFill>
            <a:srgbClr val="D5DBD6"/>
          </a:solidFill>
          <a:ln/>
        </p:spPr>
      </p:sp>
      <p:sp>
        <p:nvSpPr>
          <p:cNvPr id="18" name="luas-sungai"/>
          <p:cNvSpPr/>
          <p:nvPr/>
        </p:nvSpPr>
        <p:spPr>
          <a:xfrm>
            <a:off x="1994229" y="6400800"/>
            <a:ext cx="18288" cy="91440"/>
          </a:xfrm>
          <a:prstGeom prst="rect">
            <a:avLst/>
          </a:prstGeom>
          <a:solidFill>
            <a:srgbClr val="D5DBD6"/>
          </a:solidFill>
          <a:ln/>
        </p:spPr>
      </p:sp>
      <p:sp>
        <p:nvSpPr>
          <p:cNvPr id="19" name="Text 14"/>
          <p:cNvSpPr txBox="1"/>
          <p:nvPr/>
        </p:nvSpPr>
        <p:spPr>
          <a:xfrm>
            <a:off x="2148840" y="6336792"/>
            <a:ext cx="4572000" cy="228600"/>
          </a:xfrm>
          <a:prstGeom prst="rect">
            <a:avLst/>
          </a:prstGeom>
          <a:noFill/>
          <a:ln/>
        </p:spPr>
        <p:txBody>
          <a:bodyPr wrap="square" lIns="0" tIns="0" rIns="0" bIns="0" rtlCol="0" anchor="t"/>
          <a:lstStyle/>
          <a:p>
            <a:pPr indent="0" marL="0">
              <a:buNone/>
            </a:pPr>
            <a:r>
              <a:rPr lang="en-US" sz="1000" dirty="0">
                <a:solidFill>
                  <a:srgbClr val="5F6B65"/>
                </a:solidFill>
              </a:rPr>
              <a:t>Fokus: hutan 1.411,16 ha (REDD+)</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6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REDD+ · PEMICU</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Dua pertiga hutan yang hilang kini menjadi lahan terbuka</a:t>
            </a:r>
            <a:endParaRPr lang="en-US" sz="2800" dirty="0"/>
          </a:p>
        </p:txBody>
      </p:sp>
      <p:sp>
        <p:nvSpPr>
          <p:cNvPr id="5" name="Text 2"/>
          <p:cNvSpPr txBox="1"/>
          <p:nvPr/>
        </p:nvSpPr>
        <p:spPr>
          <a:xfrm>
            <a:off x="548640" y="1874520"/>
            <a:ext cx="676656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HUTAN 2016 → TUTUPAN 2026 (HA)</a:t>
            </a:r>
            <a:endParaRPr lang="en-US" sz="1200" dirty="0"/>
          </a:p>
        </p:txBody>
      </p:sp>
      <p:graphicFrame>
        <p:nvGraphicFramePr>
          <p:cNvPr id="6" name="Chart 0" descr=""/>
          <p:cNvGraphicFramePr/>
          <p:nvPr/>
        </p:nvGraphicFramePr>
        <p:xfrm>
          <a:off x="548640" y="2194560"/>
          <a:ext cx="6766560" cy="3566160"/>
        </p:xfrm>
        <a:graphic xmlns:a="http://schemas.openxmlformats.org/drawingml/2006/main">
          <a:graphicData uri="http://schemas.openxmlformats.org/drawingml/2006/chart">
            <c:chart xmlns:c="http://schemas.openxmlformats.org/drawingml/2006/chart" r:id="rId1"/>
          </a:graphicData>
        </a:graphic>
      </p:graphicFrame>
      <p:sp>
        <p:nvSpPr>
          <p:cNvPr id="7" name="Text 3"/>
          <p:cNvSpPr txBox="1"/>
          <p:nvPr/>
        </p:nvSpPr>
        <p:spPr>
          <a:xfrm>
            <a:off x="7863840" y="2103120"/>
            <a:ext cx="3779215" cy="914400"/>
          </a:xfrm>
          <a:prstGeom prst="rect">
            <a:avLst/>
          </a:prstGeom>
          <a:noFill/>
          <a:ln/>
        </p:spPr>
        <p:txBody>
          <a:bodyPr wrap="square" lIns="0" tIns="0" rIns="0" bIns="0" rtlCol="0" anchor="t"/>
          <a:lstStyle/>
          <a:p>
            <a:pPr indent="0" marL="0">
              <a:buNone/>
            </a:pPr>
            <a:r>
              <a:rPr lang="en-US" sz="5400" b="1" dirty="0">
                <a:solidFill>
                  <a:schemeClr val="accent3"/>
                </a:solidFill>
                <a:latin typeface="Cambria" pitchFamily="34" charset="0"/>
                <a:ea typeface="Cambria" pitchFamily="34" charset="-122"/>
                <a:cs typeface="Cambria" pitchFamily="34" charset="-120"/>
              </a:rPr>
              <a:t>82,87</a:t>
            </a:r>
            <a:pPr indent="0" marL="0">
              <a:buNone/>
            </a:pPr>
            <a:r>
              <a:rPr lang="en-US" sz="2000" dirty="0">
                <a:solidFill>
                  <a:srgbClr val="5F6B65"/>
                </a:solidFill>
              </a:rPr>
              <a:t> ha</a:t>
            </a:r>
            <a:endParaRPr lang="en-US" sz="1400" dirty="0"/>
          </a:p>
        </p:txBody>
      </p:sp>
      <p:sp>
        <p:nvSpPr>
          <p:cNvPr id="8" name="Text 4"/>
          <p:cNvSpPr txBox="1"/>
          <p:nvPr/>
        </p:nvSpPr>
        <p:spPr>
          <a:xfrm>
            <a:off x="7863840" y="3017520"/>
            <a:ext cx="3779215" cy="365760"/>
          </a:xfrm>
          <a:prstGeom prst="rect">
            <a:avLst/>
          </a:prstGeom>
          <a:noFill/>
          <a:ln/>
        </p:spPr>
        <p:txBody>
          <a:bodyPr wrap="square" lIns="0" tIns="0" rIns="0" bIns="0" rtlCol="0" anchor="t"/>
          <a:lstStyle/>
          <a:p>
            <a:pPr indent="0" marL="0">
              <a:buNone/>
            </a:pPr>
            <a:r>
              <a:rPr lang="en-US" sz="1500" dirty="0">
                <a:solidFill>
                  <a:srgbClr val="5F6B65"/>
                </a:solidFill>
              </a:rPr>
              <a:t>kehilangan hutan bruto, dasar baseline REDD+</a:t>
            </a:r>
            <a:endParaRPr lang="en-US" sz="1500" dirty="0"/>
          </a:p>
        </p:txBody>
      </p:sp>
      <p:sp>
        <p:nvSpPr>
          <p:cNvPr id="9" name="Shape 5"/>
          <p:cNvSpPr/>
          <p:nvPr/>
        </p:nvSpPr>
        <p:spPr>
          <a:xfrm>
            <a:off x="7863840" y="3611880"/>
            <a:ext cx="3779215" cy="0"/>
          </a:xfrm>
          <a:prstGeom prst="line">
            <a:avLst/>
          </a:prstGeom>
          <a:noFill/>
          <a:ln w="9525">
            <a:solidFill>
              <a:srgbClr val="D5DBD6"/>
            </a:solidFill>
            <a:prstDash val="solid"/>
          </a:ln>
        </p:spPr>
      </p:sp>
      <p:sp>
        <p:nvSpPr>
          <p:cNvPr id="10" name="Text 6"/>
          <p:cNvSpPr txBox="1"/>
          <p:nvPr/>
        </p:nvSpPr>
        <p:spPr>
          <a:xfrm>
            <a:off x="7863840" y="3794760"/>
            <a:ext cx="3779215" cy="73152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41,94</a:t>
            </a:r>
            <a:pPr indent="0" marL="0">
              <a:buNone/>
            </a:pPr>
            <a:r>
              <a:rPr lang="en-US" sz="1800" dirty="0">
                <a:solidFill>
                  <a:srgbClr val="5F6B65"/>
                </a:solidFill>
              </a:rPr>
              <a:t> ha</a:t>
            </a:r>
            <a:endParaRPr lang="en-US" sz="1400" dirty="0"/>
          </a:p>
        </p:txBody>
      </p:sp>
      <p:sp>
        <p:nvSpPr>
          <p:cNvPr id="11" name="Text 7"/>
          <p:cNvSpPr txBox="1"/>
          <p:nvPr/>
        </p:nvSpPr>
        <p:spPr>
          <a:xfrm>
            <a:off x="7863840" y="4526280"/>
            <a:ext cx="3779215" cy="640080"/>
          </a:xfrm>
          <a:prstGeom prst="rect">
            <a:avLst/>
          </a:prstGeom>
          <a:noFill/>
          <a:ln/>
        </p:spPr>
        <p:txBody>
          <a:bodyPr wrap="square" lIns="0" tIns="0" rIns="0" bIns="0" rtlCol="0" anchor="t"/>
          <a:lstStyle/>
          <a:p>
            <a:pPr indent="0" marL="0">
              <a:buNone/>
            </a:pPr>
            <a:r>
              <a:rPr lang="en-US" sz="1500" dirty="0">
                <a:solidFill>
                  <a:srgbClr val="5F6B65"/>
                </a:solidFill>
              </a:rPr>
              <a:t>regenerasi, dihitung terpisah. Tidak mengurangi angka deforestasi.</a:t>
            </a:r>
            <a:endParaRPr lang="en-US" sz="1500" dirty="0"/>
          </a:p>
        </p:txBody>
      </p:sp>
      <p:sp>
        <p:nvSpPr>
          <p:cNvPr id="12" name="Text 8"/>
          <p:cNvSpPr txBox="1"/>
          <p:nvPr/>
        </p:nvSpPr>
        <p:spPr>
          <a:xfrm>
            <a:off x="548640" y="5989320"/>
            <a:ext cx="10545775" cy="228600"/>
          </a:xfrm>
          <a:prstGeom prst="rect">
            <a:avLst/>
          </a:prstGeom>
          <a:noFill/>
          <a:ln/>
        </p:spPr>
        <p:txBody>
          <a:bodyPr wrap="square" lIns="0" tIns="0" rIns="0" bIns="0" rtlCol="0" anchor="t"/>
          <a:lstStyle/>
          <a:p>
            <a:pPr indent="0" marL="0">
              <a:buNone/>
            </a:pPr>
            <a:r>
              <a:rPr lang="en-US" sz="1000" i="1" dirty="0">
                <a:solidFill>
                  <a:srgbClr val="5F6B65"/>
                </a:solidFill>
              </a:rPr>
              <a:t>Sumber: sheet Tuplah (2), Perubahan Loss dan Perubahan Gain 2016–2026.</a:t>
            </a:r>
            <a:endParaRPr lang="en-US" sz="1000" dirty="0"/>
          </a:p>
        </p:txBody>
      </p:sp>
      <p:sp>
        <p:nvSpPr>
          <p:cNvPr id="13" name="luas-redd"/>
          <p:cNvSpPr/>
          <p:nvPr/>
        </p:nvSpPr>
        <p:spPr>
          <a:xfrm>
            <a:off x="548640" y="6400800"/>
            <a:ext cx="748101" cy="91440"/>
          </a:xfrm>
          <a:prstGeom prst="rect">
            <a:avLst/>
          </a:prstGeom>
          <a:solidFill>
            <a:schemeClr val="accent1"/>
          </a:solidFill>
          <a:ln/>
        </p:spPr>
      </p:sp>
      <p:sp>
        <p:nvSpPr>
          <p:cNvPr id="14" name="luas-regen"/>
          <p:cNvSpPr/>
          <p:nvPr/>
        </p:nvSpPr>
        <p:spPr>
          <a:xfrm>
            <a:off x="1319601" y="6400800"/>
            <a:ext cx="22915" cy="91440"/>
          </a:xfrm>
          <a:prstGeom prst="rect">
            <a:avLst/>
          </a:prstGeom>
          <a:solidFill>
            <a:schemeClr val="accent5"/>
          </a:solidFill>
          <a:ln/>
        </p:spPr>
      </p:sp>
      <p:sp>
        <p:nvSpPr>
          <p:cNvPr id="15" name="luas-arr"/>
          <p:cNvSpPr/>
          <p:nvPr/>
        </p:nvSpPr>
        <p:spPr>
          <a:xfrm>
            <a:off x="1365376" y="6400800"/>
            <a:ext cx="323052" cy="91440"/>
          </a:xfrm>
          <a:prstGeom prst="rect">
            <a:avLst/>
          </a:prstGeom>
          <a:solidFill>
            <a:srgbClr val="D5DBD6"/>
          </a:solidFill>
          <a:ln/>
        </p:spPr>
      </p:sp>
      <p:sp>
        <p:nvSpPr>
          <p:cNvPr id="16" name="luas-kebun"/>
          <p:cNvSpPr/>
          <p:nvPr/>
        </p:nvSpPr>
        <p:spPr>
          <a:xfrm>
            <a:off x="1711288" y="6400800"/>
            <a:ext cx="191943" cy="91440"/>
          </a:xfrm>
          <a:prstGeom prst="rect">
            <a:avLst/>
          </a:prstGeom>
          <a:solidFill>
            <a:srgbClr val="D5DBD6"/>
          </a:solidFill>
          <a:ln/>
        </p:spPr>
      </p:sp>
      <p:sp>
        <p:nvSpPr>
          <p:cNvPr id="17" name="luas-defor"/>
          <p:cNvSpPr/>
          <p:nvPr/>
        </p:nvSpPr>
        <p:spPr>
          <a:xfrm>
            <a:off x="1926090" y="6400800"/>
            <a:ext cx="45278" cy="91440"/>
          </a:xfrm>
          <a:prstGeom prst="rect">
            <a:avLst/>
          </a:prstGeom>
          <a:solidFill>
            <a:srgbClr val="D5DBD6"/>
          </a:solidFill>
          <a:ln/>
        </p:spPr>
      </p:sp>
      <p:sp>
        <p:nvSpPr>
          <p:cNvPr id="18" name="luas-sungai"/>
          <p:cNvSpPr/>
          <p:nvPr/>
        </p:nvSpPr>
        <p:spPr>
          <a:xfrm>
            <a:off x="1994229" y="6400800"/>
            <a:ext cx="18288" cy="91440"/>
          </a:xfrm>
          <a:prstGeom prst="rect">
            <a:avLst/>
          </a:prstGeom>
          <a:solidFill>
            <a:srgbClr val="D5DBD6"/>
          </a:solidFill>
          <a:ln/>
        </p:spPr>
      </p:sp>
      <p:sp>
        <p:nvSpPr>
          <p:cNvPr id="19" name="Text 15"/>
          <p:cNvSpPr txBox="1"/>
          <p:nvPr/>
        </p:nvSpPr>
        <p:spPr>
          <a:xfrm>
            <a:off x="2148840" y="6336792"/>
            <a:ext cx="4572000" cy="228600"/>
          </a:xfrm>
          <a:prstGeom prst="rect">
            <a:avLst/>
          </a:prstGeom>
          <a:noFill/>
          <a:ln/>
        </p:spPr>
        <p:txBody>
          <a:bodyPr wrap="square" lIns="0" tIns="0" rIns="0" bIns="0" rtlCol="0" anchor="t"/>
          <a:lstStyle/>
          <a:p>
            <a:pPr indent="0" marL="0">
              <a:buNone/>
            </a:pPr>
            <a:r>
              <a:rPr lang="en-US" sz="1000" dirty="0">
                <a:solidFill>
                  <a:srgbClr val="5F6B65"/>
                </a:solidFill>
              </a:rPr>
              <a:t>Fokus: hutan 1.411,16 ha (REDD+)</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6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ARR · SARINGAN KELAYAKAN</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Dari 1.057 ha non-hutan, hanya 591 ha lolos saringan ARR</a:t>
            </a:r>
            <a:endParaRPr lang="en-US" sz="2800" dirty="0"/>
          </a:p>
        </p:txBody>
      </p:sp>
      <p:sp>
        <p:nvSpPr>
          <p:cNvPr id="5" name="Text 2"/>
          <p:cNvSpPr txBox="1"/>
          <p:nvPr/>
        </p:nvSpPr>
        <p:spPr>
          <a:xfrm>
            <a:off x="548640" y="1965960"/>
            <a:ext cx="3017520" cy="594360"/>
          </a:xfrm>
          <a:prstGeom prst="rect">
            <a:avLst/>
          </a:prstGeom>
          <a:noFill/>
          <a:ln/>
        </p:spPr>
        <p:txBody>
          <a:bodyPr wrap="square" lIns="0" tIns="0" rIns="0" bIns="0" rtlCol="0" anchor="t"/>
          <a:lstStyle/>
          <a:p>
            <a:pPr indent="0" marL="0">
              <a:buNone/>
            </a:pPr>
            <a:r>
              <a:rPr lang="en-US" sz="1500" b="1" dirty="0">
                <a:solidFill>
                  <a:schemeClr val="tx1"/>
                </a:solidFill>
              </a:rPr>
              <a:t>Non-hutan 2026</a:t>
            </a:r>
            <a:endParaRPr lang="en-US" sz="1500" dirty="0"/>
          </a:p>
          <a:p>
            <a:pPr indent="0" marL="0">
              <a:buNone/>
            </a:pPr>
            <a:r>
              <a:rPr lang="en-US" sz="1200" dirty="0">
                <a:solidFill>
                  <a:srgbClr val="5F6B65"/>
                </a:solidFill>
              </a:rPr>
              <a:t>Titik awal</a:t>
            </a:r>
            <a:endParaRPr lang="en-US" sz="1500" dirty="0"/>
          </a:p>
        </p:txBody>
      </p:sp>
      <p:sp>
        <p:nvSpPr>
          <p:cNvPr id="6" name="Shape 3"/>
          <p:cNvSpPr/>
          <p:nvPr/>
        </p:nvSpPr>
        <p:spPr>
          <a:xfrm>
            <a:off x="3840480" y="2075688"/>
            <a:ext cx="3291840" cy="292608"/>
          </a:xfrm>
          <a:prstGeom prst="rect">
            <a:avLst/>
          </a:prstGeom>
          <a:solidFill>
            <a:schemeClr val="accent4"/>
          </a:solidFill>
          <a:ln/>
        </p:spPr>
      </p:sp>
      <p:sp>
        <p:nvSpPr>
          <p:cNvPr id="7" name="Text 4"/>
          <p:cNvSpPr txBox="1"/>
          <p:nvPr/>
        </p:nvSpPr>
        <p:spPr>
          <a:xfrm>
            <a:off x="7360920" y="2039112"/>
            <a:ext cx="1463040" cy="365760"/>
          </a:xfrm>
          <a:prstGeom prst="rect">
            <a:avLst/>
          </a:prstGeom>
          <a:noFill/>
          <a:ln/>
        </p:spPr>
        <p:txBody>
          <a:bodyPr wrap="square" lIns="0" tIns="0" rIns="0" bIns="0" rtlCol="0" anchor="t"/>
          <a:lstStyle/>
          <a:p>
            <a:pPr algn="r" indent="0" marL="0">
              <a:buNone/>
            </a:pPr>
            <a:r>
              <a:rPr lang="en-US" sz="1500" dirty="0">
                <a:solidFill>
                  <a:srgbClr val="1B2420"/>
                </a:solidFill>
              </a:rPr>
              <a:t>1.057,35 ha</a:t>
            </a:r>
            <a:endParaRPr lang="en-US" sz="1500" dirty="0"/>
          </a:p>
        </p:txBody>
      </p:sp>
      <p:sp>
        <p:nvSpPr>
          <p:cNvPr id="8" name="Shape 5"/>
          <p:cNvSpPr/>
          <p:nvPr/>
        </p:nvSpPr>
        <p:spPr>
          <a:xfrm>
            <a:off x="548640" y="2624328"/>
            <a:ext cx="8275320" cy="0"/>
          </a:xfrm>
          <a:prstGeom prst="line">
            <a:avLst/>
          </a:prstGeom>
          <a:noFill/>
          <a:ln w="9525">
            <a:solidFill>
              <a:srgbClr val="D5DBD6"/>
            </a:solidFill>
            <a:prstDash val="solid"/>
          </a:ln>
        </p:spPr>
      </p:sp>
      <p:sp>
        <p:nvSpPr>
          <p:cNvPr id="9" name="Text 6"/>
          <p:cNvSpPr txBox="1"/>
          <p:nvPr/>
        </p:nvSpPr>
        <p:spPr>
          <a:xfrm>
            <a:off x="548640" y="2679192"/>
            <a:ext cx="3017520" cy="594360"/>
          </a:xfrm>
          <a:prstGeom prst="rect">
            <a:avLst/>
          </a:prstGeom>
          <a:noFill/>
          <a:ln/>
        </p:spPr>
        <p:txBody>
          <a:bodyPr wrap="square" lIns="0" tIns="0" rIns="0" bIns="0" rtlCol="0" anchor="t"/>
          <a:lstStyle/>
          <a:p>
            <a:pPr indent="0" marL="0">
              <a:buNone/>
            </a:pPr>
            <a:r>
              <a:rPr lang="en-US" sz="1500" b="1" dirty="0">
                <a:solidFill>
                  <a:schemeClr val="tx1"/>
                </a:solidFill>
              </a:rPr>
              <a:t>Keluarkan sungai</a:t>
            </a:r>
            <a:endParaRPr lang="en-US" sz="1500" dirty="0"/>
          </a:p>
          <a:p>
            <a:pPr indent="0" marL="0">
              <a:buNone/>
            </a:pPr>
            <a:r>
              <a:rPr lang="en-US" sz="1200" dirty="0">
                <a:solidFill>
                  <a:srgbClr val="5F6B65"/>
                </a:solidFill>
              </a:rPr>
              <a:t>Bukan daratan</a:t>
            </a:r>
            <a:endParaRPr lang="en-US" sz="1500" dirty="0"/>
          </a:p>
        </p:txBody>
      </p:sp>
      <p:sp>
        <p:nvSpPr>
          <p:cNvPr id="10" name="Shape 7"/>
          <p:cNvSpPr/>
          <p:nvPr/>
        </p:nvSpPr>
        <p:spPr>
          <a:xfrm>
            <a:off x="3840480" y="2788920"/>
            <a:ext cx="3192464" cy="292608"/>
          </a:xfrm>
          <a:prstGeom prst="rect">
            <a:avLst/>
          </a:prstGeom>
          <a:solidFill>
            <a:schemeClr val="accent4"/>
          </a:solidFill>
          <a:ln/>
        </p:spPr>
      </p:sp>
      <p:sp>
        <p:nvSpPr>
          <p:cNvPr id="11" name="Shape 8"/>
          <p:cNvSpPr/>
          <p:nvPr/>
        </p:nvSpPr>
        <p:spPr>
          <a:xfrm>
            <a:off x="7060376" y="2788920"/>
            <a:ext cx="71944" cy="292608"/>
          </a:xfrm>
          <a:prstGeom prst="rect">
            <a:avLst/>
          </a:prstGeom>
          <a:solidFill>
            <a:schemeClr val="accent6"/>
          </a:solidFill>
          <a:ln/>
        </p:spPr>
      </p:sp>
      <p:sp>
        <p:nvSpPr>
          <p:cNvPr id="12" name="Text 9"/>
          <p:cNvSpPr txBox="1"/>
          <p:nvPr/>
        </p:nvSpPr>
        <p:spPr>
          <a:xfrm>
            <a:off x="7360920" y="2752344"/>
            <a:ext cx="1463040" cy="365760"/>
          </a:xfrm>
          <a:prstGeom prst="rect">
            <a:avLst/>
          </a:prstGeom>
          <a:noFill/>
          <a:ln/>
        </p:spPr>
        <p:txBody>
          <a:bodyPr wrap="square" lIns="0" tIns="0" rIns="0" bIns="0" rtlCol="0" anchor="t"/>
          <a:lstStyle/>
          <a:p>
            <a:pPr algn="r" indent="0" marL="0">
              <a:buNone/>
            </a:pPr>
            <a:r>
              <a:rPr lang="en-US" sz="1500" dirty="0">
                <a:solidFill>
                  <a:srgbClr val="5F6B65"/>
                </a:solidFill>
              </a:rPr>
              <a:t>− 31,92 ha</a:t>
            </a:r>
            <a:endParaRPr lang="en-US" sz="1500" dirty="0"/>
          </a:p>
        </p:txBody>
      </p:sp>
      <p:sp>
        <p:nvSpPr>
          <p:cNvPr id="13" name="Shape 10"/>
          <p:cNvSpPr/>
          <p:nvPr/>
        </p:nvSpPr>
        <p:spPr>
          <a:xfrm>
            <a:off x="548640" y="3337560"/>
            <a:ext cx="8275320" cy="0"/>
          </a:xfrm>
          <a:prstGeom prst="line">
            <a:avLst/>
          </a:prstGeom>
          <a:noFill/>
          <a:ln w="9525">
            <a:solidFill>
              <a:srgbClr val="D5DBD6"/>
            </a:solidFill>
            <a:prstDash val="solid"/>
          </a:ln>
        </p:spPr>
      </p:sp>
      <p:sp>
        <p:nvSpPr>
          <p:cNvPr id="14" name="Text 11"/>
          <p:cNvSpPr txBox="1"/>
          <p:nvPr/>
        </p:nvSpPr>
        <p:spPr>
          <a:xfrm>
            <a:off x="548640" y="3392424"/>
            <a:ext cx="3017520" cy="594360"/>
          </a:xfrm>
          <a:prstGeom prst="rect">
            <a:avLst/>
          </a:prstGeom>
          <a:noFill/>
          <a:ln/>
        </p:spPr>
        <p:txBody>
          <a:bodyPr wrap="square" lIns="0" tIns="0" rIns="0" bIns="0" rtlCol="0" anchor="t"/>
          <a:lstStyle/>
          <a:p>
            <a:pPr indent="0" marL="0">
              <a:buNone/>
            </a:pPr>
            <a:r>
              <a:rPr lang="en-US" sz="1500" b="1" dirty="0">
                <a:solidFill>
                  <a:schemeClr val="tx1"/>
                </a:solidFill>
              </a:rPr>
              <a:t>Keluarkan bekas hutan 2016–2026</a:t>
            </a:r>
            <a:endParaRPr lang="en-US" sz="1500" dirty="0"/>
          </a:p>
          <a:p>
            <a:pPr indent="0" marL="0">
              <a:buNone/>
            </a:pPr>
            <a:r>
              <a:rPr lang="en-US" sz="1200" dirty="0">
                <a:solidFill>
                  <a:srgbClr val="5F6B65"/>
                </a:solidFill>
              </a:rPr>
              <a:t>Terbuka 55,22 · semak 19,81 · kebun 7,85</a:t>
            </a:r>
            <a:endParaRPr lang="en-US" sz="1500" dirty="0"/>
          </a:p>
        </p:txBody>
      </p:sp>
      <p:sp>
        <p:nvSpPr>
          <p:cNvPr id="15" name="Shape 12"/>
          <p:cNvSpPr/>
          <p:nvPr/>
        </p:nvSpPr>
        <p:spPr>
          <a:xfrm>
            <a:off x="3840480" y="3502152"/>
            <a:ext cx="2934465" cy="292608"/>
          </a:xfrm>
          <a:prstGeom prst="rect">
            <a:avLst/>
          </a:prstGeom>
          <a:solidFill>
            <a:schemeClr val="accent4"/>
          </a:solidFill>
          <a:ln/>
        </p:spPr>
      </p:sp>
      <p:sp>
        <p:nvSpPr>
          <p:cNvPr id="16" name="Shape 13"/>
          <p:cNvSpPr/>
          <p:nvPr/>
        </p:nvSpPr>
        <p:spPr>
          <a:xfrm>
            <a:off x="6802377" y="3502152"/>
            <a:ext cx="71944" cy="292608"/>
          </a:xfrm>
          <a:prstGeom prst="rect">
            <a:avLst/>
          </a:prstGeom>
          <a:solidFill>
            <a:schemeClr val="accent6">
              <a:alpha val="35000"/>
            </a:schemeClr>
          </a:solidFill>
          <a:ln/>
        </p:spPr>
      </p:sp>
      <p:sp>
        <p:nvSpPr>
          <p:cNvPr id="17" name="Shape 14"/>
          <p:cNvSpPr/>
          <p:nvPr/>
        </p:nvSpPr>
        <p:spPr>
          <a:xfrm>
            <a:off x="6901753" y="3502152"/>
            <a:ext cx="230567" cy="292608"/>
          </a:xfrm>
          <a:prstGeom prst="rect">
            <a:avLst/>
          </a:prstGeom>
          <a:solidFill>
            <a:schemeClr val="accent3"/>
          </a:solidFill>
          <a:ln/>
        </p:spPr>
      </p:sp>
      <p:sp>
        <p:nvSpPr>
          <p:cNvPr id="18" name="Text 15"/>
          <p:cNvSpPr txBox="1"/>
          <p:nvPr/>
        </p:nvSpPr>
        <p:spPr>
          <a:xfrm>
            <a:off x="7360920" y="3465576"/>
            <a:ext cx="1463040" cy="365760"/>
          </a:xfrm>
          <a:prstGeom prst="rect">
            <a:avLst/>
          </a:prstGeom>
          <a:noFill/>
          <a:ln/>
        </p:spPr>
        <p:txBody>
          <a:bodyPr wrap="square" lIns="0" tIns="0" rIns="0" bIns="0" rtlCol="0" anchor="t"/>
          <a:lstStyle/>
          <a:p>
            <a:pPr algn="r" indent="0" marL="0">
              <a:buNone/>
            </a:pPr>
            <a:r>
              <a:rPr lang="en-US" sz="1500" dirty="0">
                <a:solidFill>
                  <a:srgbClr val="5F6B65"/>
                </a:solidFill>
              </a:rPr>
              <a:t>− 82,87 ha</a:t>
            </a:r>
            <a:endParaRPr lang="en-US" sz="1500" dirty="0"/>
          </a:p>
        </p:txBody>
      </p:sp>
      <p:sp>
        <p:nvSpPr>
          <p:cNvPr id="19" name="Shape 16"/>
          <p:cNvSpPr/>
          <p:nvPr/>
        </p:nvSpPr>
        <p:spPr>
          <a:xfrm>
            <a:off x="548640" y="4050792"/>
            <a:ext cx="8275320" cy="0"/>
          </a:xfrm>
          <a:prstGeom prst="line">
            <a:avLst/>
          </a:prstGeom>
          <a:noFill/>
          <a:ln w="9525">
            <a:solidFill>
              <a:srgbClr val="D5DBD6"/>
            </a:solidFill>
            <a:prstDash val="solid"/>
          </a:ln>
        </p:spPr>
      </p:sp>
      <p:sp>
        <p:nvSpPr>
          <p:cNvPr id="20" name="Text 17"/>
          <p:cNvSpPr txBox="1"/>
          <p:nvPr/>
        </p:nvSpPr>
        <p:spPr>
          <a:xfrm>
            <a:off x="548640" y="4105656"/>
            <a:ext cx="3017520" cy="594360"/>
          </a:xfrm>
          <a:prstGeom prst="rect">
            <a:avLst/>
          </a:prstGeom>
          <a:noFill/>
          <a:ln/>
        </p:spPr>
        <p:txBody>
          <a:bodyPr wrap="square" lIns="0" tIns="0" rIns="0" bIns="0" rtlCol="0" anchor="t"/>
          <a:lstStyle/>
          <a:p>
            <a:pPr indent="0" marL="0">
              <a:buNone/>
            </a:pPr>
            <a:r>
              <a:rPr lang="en-US" sz="1500" b="1" dirty="0">
                <a:solidFill>
                  <a:schemeClr val="tx1"/>
                </a:solidFill>
              </a:rPr>
              <a:t>Pisahkan kebun</a:t>
            </a:r>
            <a:endParaRPr lang="en-US" sz="1500" dirty="0"/>
          </a:p>
          <a:p>
            <a:pPr indent="0" marL="0">
              <a:buNone/>
            </a:pPr>
            <a:r>
              <a:rPr lang="en-US" sz="1200" dirty="0">
                <a:solidFill>
                  <a:srgbClr val="5F6B65"/>
                </a:solidFill>
              </a:rPr>
              <a:t>Bersyarat: agroforestri</a:t>
            </a:r>
            <a:endParaRPr lang="en-US" sz="1500" dirty="0"/>
          </a:p>
        </p:txBody>
      </p:sp>
      <p:sp>
        <p:nvSpPr>
          <p:cNvPr id="21" name="Shape 18"/>
          <p:cNvSpPr/>
          <p:nvPr/>
        </p:nvSpPr>
        <p:spPr>
          <a:xfrm>
            <a:off x="3840480" y="4215384"/>
            <a:ext cx="1840765" cy="292608"/>
          </a:xfrm>
          <a:prstGeom prst="rect">
            <a:avLst/>
          </a:prstGeom>
          <a:solidFill>
            <a:schemeClr val="accent4"/>
          </a:solidFill>
          <a:ln/>
        </p:spPr>
      </p:sp>
      <p:sp>
        <p:nvSpPr>
          <p:cNvPr id="22" name="Shape 19"/>
          <p:cNvSpPr/>
          <p:nvPr/>
        </p:nvSpPr>
        <p:spPr>
          <a:xfrm>
            <a:off x="5708677" y="4215384"/>
            <a:ext cx="71944" cy="292608"/>
          </a:xfrm>
          <a:prstGeom prst="rect">
            <a:avLst/>
          </a:prstGeom>
          <a:solidFill>
            <a:schemeClr val="accent6">
              <a:alpha val="35000"/>
            </a:schemeClr>
          </a:solidFill>
          <a:ln/>
        </p:spPr>
      </p:sp>
      <p:sp>
        <p:nvSpPr>
          <p:cNvPr id="23" name="Shape 20"/>
          <p:cNvSpPr/>
          <p:nvPr/>
        </p:nvSpPr>
        <p:spPr>
          <a:xfrm>
            <a:off x="5808054" y="4215384"/>
            <a:ext cx="230567" cy="292608"/>
          </a:xfrm>
          <a:prstGeom prst="rect">
            <a:avLst/>
          </a:prstGeom>
          <a:solidFill>
            <a:schemeClr val="accent3">
              <a:alpha val="35000"/>
            </a:schemeClr>
          </a:solidFill>
          <a:ln/>
        </p:spPr>
      </p:sp>
      <p:sp>
        <p:nvSpPr>
          <p:cNvPr id="24" name="Shape 21"/>
          <p:cNvSpPr/>
          <p:nvPr/>
        </p:nvSpPr>
        <p:spPr>
          <a:xfrm>
            <a:off x="6066052" y="4215384"/>
            <a:ext cx="1066268" cy="292608"/>
          </a:xfrm>
          <a:prstGeom prst="rect">
            <a:avLst/>
          </a:prstGeom>
          <a:solidFill>
            <a:schemeClr val="accent2"/>
          </a:solidFill>
          <a:ln/>
        </p:spPr>
      </p:sp>
      <p:sp>
        <p:nvSpPr>
          <p:cNvPr id="25" name="Text 22"/>
          <p:cNvSpPr txBox="1"/>
          <p:nvPr/>
        </p:nvSpPr>
        <p:spPr>
          <a:xfrm>
            <a:off x="7360920" y="4178808"/>
            <a:ext cx="1463040" cy="365760"/>
          </a:xfrm>
          <a:prstGeom prst="rect">
            <a:avLst/>
          </a:prstGeom>
          <a:noFill/>
          <a:ln/>
        </p:spPr>
        <p:txBody>
          <a:bodyPr wrap="square" lIns="0" tIns="0" rIns="0" bIns="0" rtlCol="0" anchor="t"/>
          <a:lstStyle/>
          <a:p>
            <a:pPr algn="r" indent="0" marL="0">
              <a:buNone/>
            </a:pPr>
            <a:r>
              <a:rPr lang="en-US" sz="1500" dirty="0">
                <a:solidFill>
                  <a:srgbClr val="5F6B65"/>
                </a:solidFill>
              </a:rPr>
              <a:t>− 351,30 ha</a:t>
            </a:r>
            <a:endParaRPr lang="en-US" sz="1500" dirty="0"/>
          </a:p>
        </p:txBody>
      </p:sp>
      <p:sp>
        <p:nvSpPr>
          <p:cNvPr id="26" name="Shape 23"/>
          <p:cNvSpPr/>
          <p:nvPr/>
        </p:nvSpPr>
        <p:spPr>
          <a:xfrm>
            <a:off x="548640" y="4764024"/>
            <a:ext cx="8275320" cy="0"/>
          </a:xfrm>
          <a:prstGeom prst="line">
            <a:avLst/>
          </a:prstGeom>
          <a:noFill/>
          <a:ln w="9525">
            <a:solidFill>
              <a:srgbClr val="D5DBD6"/>
            </a:solidFill>
            <a:prstDash val="solid"/>
          </a:ln>
        </p:spPr>
      </p:sp>
      <p:sp>
        <p:nvSpPr>
          <p:cNvPr id="27" name="Text 24"/>
          <p:cNvSpPr txBox="1"/>
          <p:nvPr/>
        </p:nvSpPr>
        <p:spPr>
          <a:xfrm>
            <a:off x="548640" y="4864608"/>
            <a:ext cx="3017520" cy="594360"/>
          </a:xfrm>
          <a:prstGeom prst="rect">
            <a:avLst/>
          </a:prstGeom>
          <a:noFill/>
          <a:ln/>
        </p:spPr>
        <p:txBody>
          <a:bodyPr wrap="square" lIns="0" tIns="0" rIns="0" bIns="0" rtlCol="0" anchor="t"/>
          <a:lstStyle/>
          <a:p>
            <a:pPr indent="0" marL="0">
              <a:buNone/>
            </a:pPr>
            <a:r>
              <a:rPr lang="en-US" sz="1600" b="1" dirty="0">
                <a:solidFill>
                  <a:schemeClr val="tx1"/>
                </a:solidFill>
              </a:rPr>
              <a:t>ARR layak</a:t>
            </a:r>
            <a:endParaRPr lang="en-US" sz="1600" dirty="0"/>
          </a:p>
          <a:p>
            <a:pPr indent="0" marL="0">
              <a:buNone/>
            </a:pPr>
            <a:r>
              <a:rPr lang="en-US" sz="1200" dirty="0">
                <a:solidFill>
                  <a:srgbClr val="5F6B65"/>
                </a:solidFill>
              </a:rPr>
              <a:t>Semak 588,88 + lahan terbuka 2,38</a:t>
            </a:r>
            <a:endParaRPr lang="en-US" sz="1600" dirty="0"/>
          </a:p>
        </p:txBody>
      </p:sp>
      <p:sp>
        <p:nvSpPr>
          <p:cNvPr id="28" name="Shape 25"/>
          <p:cNvSpPr/>
          <p:nvPr/>
        </p:nvSpPr>
        <p:spPr>
          <a:xfrm>
            <a:off x="3840480" y="4937760"/>
            <a:ext cx="1840765" cy="384048"/>
          </a:xfrm>
          <a:prstGeom prst="rect">
            <a:avLst/>
          </a:prstGeom>
          <a:solidFill>
            <a:schemeClr val="accent4"/>
          </a:solidFill>
          <a:ln/>
        </p:spPr>
      </p:sp>
      <p:sp>
        <p:nvSpPr>
          <p:cNvPr id="29" name="Text 26"/>
          <p:cNvSpPr txBox="1"/>
          <p:nvPr/>
        </p:nvSpPr>
        <p:spPr>
          <a:xfrm>
            <a:off x="6995160" y="4882896"/>
            <a:ext cx="1828800" cy="457200"/>
          </a:xfrm>
          <a:prstGeom prst="rect">
            <a:avLst/>
          </a:prstGeom>
          <a:noFill/>
          <a:ln/>
        </p:spPr>
        <p:txBody>
          <a:bodyPr wrap="square" lIns="0" tIns="0" rIns="0" bIns="0" rtlCol="0" anchor="t"/>
          <a:lstStyle/>
          <a:p>
            <a:pPr algn="r" indent="0" marL="0">
              <a:buNone/>
            </a:pPr>
            <a:r>
              <a:rPr lang="en-US" sz="2400" b="1" dirty="0">
                <a:solidFill>
                  <a:schemeClr val="tx1"/>
                </a:solidFill>
                <a:latin typeface="Cambria" pitchFamily="34" charset="0"/>
                <a:ea typeface="Cambria" pitchFamily="34" charset="-122"/>
                <a:cs typeface="Cambria" pitchFamily="34" charset="-120"/>
              </a:rPr>
              <a:t>591,26 ha</a:t>
            </a:r>
            <a:endParaRPr lang="en-US" sz="2400" dirty="0"/>
          </a:p>
        </p:txBody>
      </p:sp>
      <p:sp>
        <p:nvSpPr>
          <p:cNvPr id="30" name="Shape 27"/>
          <p:cNvSpPr/>
          <p:nvPr/>
        </p:nvSpPr>
        <p:spPr>
          <a:xfrm>
            <a:off x="9235440" y="1965960"/>
            <a:ext cx="2407615" cy="3611880"/>
          </a:xfrm>
          <a:prstGeom prst="rect">
            <a:avLst/>
          </a:prstGeom>
          <a:solidFill>
            <a:schemeClr val="bg2"/>
          </a:solidFill>
          <a:ln/>
        </p:spPr>
      </p:sp>
      <p:sp>
        <p:nvSpPr>
          <p:cNvPr id="31" name="Text 28"/>
          <p:cNvSpPr txBox="1"/>
          <p:nvPr/>
        </p:nvSpPr>
        <p:spPr>
          <a:xfrm>
            <a:off x="9418320" y="2148840"/>
            <a:ext cx="2041855" cy="3291840"/>
          </a:xfrm>
          <a:prstGeom prst="rect">
            <a:avLst/>
          </a:prstGeom>
          <a:noFill/>
          <a:ln/>
        </p:spPr>
        <p:txBody>
          <a:bodyPr wrap="square" lIns="0" tIns="0" rIns="0" bIns="0" rtlCol="0" anchor="t"/>
          <a:lstStyle/>
          <a:p>
            <a:pPr indent="0" marL="0">
              <a:buNone/>
            </a:pPr>
            <a:r>
              <a:rPr lang="en-US" sz="1400" b="1" dirty="0">
                <a:solidFill>
                  <a:schemeClr val="tx1"/>
                </a:solidFill>
              </a:rPr>
              <a:t>Bekas hutan 82,87 ha</a:t>
            </a:r>
            <a:endParaRPr lang="en-US" sz="1400" dirty="0"/>
          </a:p>
          <a:p>
            <a:pPr indent="0" marL="0">
              <a:buNone/>
            </a:pPr>
            <a:r>
              <a:rPr lang="en-US" sz="1400" dirty="0">
                <a:solidFill>
                  <a:srgbClr val="5F6B65"/>
                </a:solidFill>
              </a:rPr>
              <a:t>boleh direstorasi, tetapi tidak dihitung sebagai kredit ARR.</a:t>
            </a:r>
            <a:endParaRPr lang="en-US" sz="1400" dirty="0"/>
          </a:p>
          <a:p>
            <a:pPr indent="0" marL="0">
              <a:buNone/>
            </a:pPr>
            <a:r>
              <a:rPr lang="en-US" sz="800" dirty="0">
                <a:solidFill>
                  <a:schemeClr val="tx1"/>
                </a:solidFill>
              </a:rPr>
              <a:t> </a:t>
            </a:r>
            <a:endParaRPr lang="en-US" sz="1400" dirty="0"/>
          </a:p>
          <a:p>
            <a:pPr indent="0" marL="0">
              <a:buNone/>
            </a:pPr>
            <a:r>
              <a:rPr lang="en-US" sz="1400" b="1" dirty="0">
                <a:solidFill>
                  <a:schemeClr val="tx1"/>
                </a:solidFill>
              </a:rPr>
              <a:t>Kebun 351,30 ha</a:t>
            </a:r>
            <a:endParaRPr lang="en-US" sz="1400" dirty="0"/>
          </a:p>
          <a:p>
            <a:pPr indent="0" marL="0">
              <a:buNone/>
            </a:pPr>
            <a:r>
              <a:rPr lang="en-US" sz="1400" dirty="0">
                <a:solidFill>
                  <a:srgbClr val="5F6B65"/>
                </a:solidFill>
              </a:rPr>
              <a:t>masuk hanya lewat agroforestri jenis rawa gambut dengan persetujuan pemilik lahan.</a:t>
            </a:r>
            <a:endParaRPr lang="en-US" sz="1400" dirty="0"/>
          </a:p>
        </p:txBody>
      </p:sp>
      <p:sp>
        <p:nvSpPr>
          <p:cNvPr id="32" name="Text 29"/>
          <p:cNvSpPr txBox="1"/>
          <p:nvPr/>
        </p:nvSpPr>
        <p:spPr>
          <a:xfrm>
            <a:off x="548640" y="5989320"/>
            <a:ext cx="10545775" cy="228600"/>
          </a:xfrm>
          <a:prstGeom prst="rect">
            <a:avLst/>
          </a:prstGeom>
          <a:noFill/>
          <a:ln/>
        </p:spPr>
        <p:txBody>
          <a:bodyPr wrap="square" lIns="0" tIns="0" rIns="0" bIns="0" rtlCol="0" anchor="t"/>
          <a:lstStyle/>
          <a:p>
            <a:pPr indent="0" marL="0">
              <a:buNone/>
            </a:pPr>
            <a:r>
              <a:rPr lang="en-US" sz="1000" i="1" dirty="0">
                <a:solidFill>
                  <a:srgbClr val="5F6B65"/>
                </a:solidFill>
              </a:rPr>
              <a:t>Syarat non-hutan minimal 10 tahun mengikuti praktik VCS/CDM; cek ke PV Climate Requirements versi terbaru.</a:t>
            </a:r>
            <a:endParaRPr lang="en-US" sz="1000" dirty="0"/>
          </a:p>
        </p:txBody>
      </p:sp>
      <p:sp>
        <p:nvSpPr>
          <p:cNvPr id="33" name="luas-redd"/>
          <p:cNvSpPr/>
          <p:nvPr/>
        </p:nvSpPr>
        <p:spPr>
          <a:xfrm>
            <a:off x="548640" y="6400800"/>
            <a:ext cx="748101" cy="91440"/>
          </a:xfrm>
          <a:prstGeom prst="rect">
            <a:avLst/>
          </a:prstGeom>
          <a:solidFill>
            <a:srgbClr val="D5DBD6"/>
          </a:solidFill>
          <a:ln/>
        </p:spPr>
      </p:sp>
      <p:sp>
        <p:nvSpPr>
          <p:cNvPr id="34" name="luas-regen"/>
          <p:cNvSpPr/>
          <p:nvPr/>
        </p:nvSpPr>
        <p:spPr>
          <a:xfrm>
            <a:off x="1319601" y="6400800"/>
            <a:ext cx="22915" cy="91440"/>
          </a:xfrm>
          <a:prstGeom prst="rect">
            <a:avLst/>
          </a:prstGeom>
          <a:solidFill>
            <a:srgbClr val="D5DBD6"/>
          </a:solidFill>
          <a:ln/>
        </p:spPr>
      </p:sp>
      <p:sp>
        <p:nvSpPr>
          <p:cNvPr id="35" name="luas-arr"/>
          <p:cNvSpPr/>
          <p:nvPr/>
        </p:nvSpPr>
        <p:spPr>
          <a:xfrm>
            <a:off x="1365376" y="6400800"/>
            <a:ext cx="323052" cy="91440"/>
          </a:xfrm>
          <a:prstGeom prst="rect">
            <a:avLst/>
          </a:prstGeom>
          <a:solidFill>
            <a:schemeClr val="accent4"/>
          </a:solidFill>
          <a:ln/>
        </p:spPr>
      </p:sp>
      <p:sp>
        <p:nvSpPr>
          <p:cNvPr id="36" name="luas-kebun"/>
          <p:cNvSpPr/>
          <p:nvPr/>
        </p:nvSpPr>
        <p:spPr>
          <a:xfrm>
            <a:off x="1711288" y="6400800"/>
            <a:ext cx="191943" cy="91440"/>
          </a:xfrm>
          <a:prstGeom prst="rect">
            <a:avLst/>
          </a:prstGeom>
          <a:solidFill>
            <a:schemeClr val="accent2"/>
          </a:solidFill>
          <a:ln/>
        </p:spPr>
      </p:sp>
      <p:sp>
        <p:nvSpPr>
          <p:cNvPr id="37" name="luas-defor"/>
          <p:cNvSpPr/>
          <p:nvPr/>
        </p:nvSpPr>
        <p:spPr>
          <a:xfrm>
            <a:off x="1926090" y="6400800"/>
            <a:ext cx="45278" cy="91440"/>
          </a:xfrm>
          <a:prstGeom prst="rect">
            <a:avLst/>
          </a:prstGeom>
          <a:solidFill>
            <a:schemeClr val="accent3"/>
          </a:solidFill>
          <a:ln/>
        </p:spPr>
      </p:sp>
      <p:sp>
        <p:nvSpPr>
          <p:cNvPr id="38" name="luas-sungai"/>
          <p:cNvSpPr/>
          <p:nvPr/>
        </p:nvSpPr>
        <p:spPr>
          <a:xfrm>
            <a:off x="1994229" y="6400800"/>
            <a:ext cx="18288" cy="91440"/>
          </a:xfrm>
          <a:prstGeom prst="rect">
            <a:avLst/>
          </a:prstGeom>
          <a:solidFill>
            <a:schemeClr val="accent6"/>
          </a:solidFill>
          <a:ln/>
        </p:spPr>
      </p:sp>
      <p:sp>
        <p:nvSpPr>
          <p:cNvPr id="39" name="Text 36"/>
          <p:cNvSpPr txBox="1"/>
          <p:nvPr/>
        </p:nvSpPr>
        <p:spPr>
          <a:xfrm>
            <a:off x="2148840" y="6336792"/>
            <a:ext cx="4572000" cy="228600"/>
          </a:xfrm>
          <a:prstGeom prst="rect">
            <a:avLst/>
          </a:prstGeom>
          <a:noFill/>
          <a:ln/>
        </p:spPr>
        <p:txBody>
          <a:bodyPr wrap="square" lIns="0" tIns="0" rIns="0" bIns="0" rtlCol="0" anchor="t"/>
          <a:lstStyle/>
          <a:p>
            <a:pPr indent="0" marL="0">
              <a:buNone/>
            </a:pPr>
            <a:r>
              <a:rPr lang="en-US" sz="1000" dirty="0">
                <a:solidFill>
                  <a:srgbClr val="5F6B65"/>
                </a:solidFill>
              </a:rPr>
              <a:t>Fokus: non-hutan 1.057,35 ha (ARR)</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6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ARR · RISIKO KONVERSI</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Semak berkurang 359 ha seiring kebun bertambah 353 ha</a:t>
            </a:r>
            <a:endParaRPr lang="en-US" sz="2800" dirty="0"/>
          </a:p>
        </p:txBody>
      </p:sp>
      <p:sp>
        <p:nvSpPr>
          <p:cNvPr id="5" name="Text 2"/>
          <p:cNvSpPr txBox="1"/>
          <p:nvPr/>
        </p:nvSpPr>
        <p:spPr>
          <a:xfrm>
            <a:off x="548640" y="1874520"/>
            <a:ext cx="694944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PERUBAHAN LUAS 2016 → 2026 (HA)</a:t>
            </a:r>
            <a:endParaRPr lang="en-US" sz="1200" dirty="0"/>
          </a:p>
        </p:txBody>
      </p:sp>
      <p:graphicFrame>
        <p:nvGraphicFramePr>
          <p:cNvPr id="6" name="Chart 0" descr=""/>
          <p:cNvGraphicFramePr/>
          <p:nvPr/>
        </p:nvGraphicFramePr>
        <p:xfrm>
          <a:off x="548640" y="2194560"/>
          <a:ext cx="6949440" cy="3566160"/>
        </p:xfrm>
        <a:graphic xmlns:a="http://schemas.openxmlformats.org/drawingml/2006/main">
          <a:graphicData uri="http://schemas.openxmlformats.org/drawingml/2006/chart">
            <c:chart xmlns:c="http://schemas.openxmlformats.org/drawingml/2006/chart" r:id="rId1"/>
          </a:graphicData>
        </a:graphic>
      </p:graphicFrame>
      <p:sp>
        <p:nvSpPr>
          <p:cNvPr id="7" name="Text 3"/>
          <p:cNvSpPr txBox="1"/>
          <p:nvPr/>
        </p:nvSpPr>
        <p:spPr>
          <a:xfrm>
            <a:off x="8046720" y="1874520"/>
            <a:ext cx="3596335"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PERKEBUNAN (HA)</a:t>
            </a:r>
            <a:endParaRPr lang="en-US" sz="1200" dirty="0"/>
          </a:p>
        </p:txBody>
      </p:sp>
      <p:sp>
        <p:nvSpPr>
          <p:cNvPr id="8" name="Text 4"/>
          <p:cNvSpPr txBox="1"/>
          <p:nvPr/>
        </p:nvSpPr>
        <p:spPr>
          <a:xfrm>
            <a:off x="8046720" y="2240280"/>
            <a:ext cx="914400" cy="502920"/>
          </a:xfrm>
          <a:prstGeom prst="rect">
            <a:avLst/>
          </a:prstGeom>
          <a:noFill/>
          <a:ln/>
        </p:spPr>
        <p:txBody>
          <a:bodyPr wrap="square" lIns="0" tIns="0" rIns="0" bIns="0" rtlCol="0" anchor="ctr"/>
          <a:lstStyle/>
          <a:p>
            <a:pPr indent="0" marL="0">
              <a:buNone/>
            </a:pPr>
            <a:r>
              <a:rPr lang="en-US" sz="1500" dirty="0">
                <a:solidFill>
                  <a:srgbClr val="5F6B65"/>
                </a:solidFill>
              </a:rPr>
              <a:t>2016</a:t>
            </a:r>
            <a:endParaRPr lang="en-US" sz="1500" dirty="0"/>
          </a:p>
        </p:txBody>
      </p:sp>
      <p:sp>
        <p:nvSpPr>
          <p:cNvPr id="9" name="Text 5"/>
          <p:cNvSpPr txBox="1"/>
          <p:nvPr/>
        </p:nvSpPr>
        <p:spPr>
          <a:xfrm>
            <a:off x="8961120" y="2240280"/>
            <a:ext cx="2681935" cy="502920"/>
          </a:xfrm>
          <a:prstGeom prst="rect">
            <a:avLst/>
          </a:prstGeom>
          <a:noFill/>
          <a:ln/>
        </p:spPr>
        <p:txBody>
          <a:bodyPr wrap="square" lIns="0" tIns="0" rIns="0" bIns="0" rtlCol="0" anchor="ctr"/>
          <a:lstStyle/>
          <a:p>
            <a:pPr algn="r" indent="0" marL="0">
              <a:buNone/>
            </a:pPr>
            <a:r>
              <a:rPr lang="en-US" sz="2200" b="1" dirty="0">
                <a:solidFill>
                  <a:schemeClr val="tx1"/>
                </a:solidFill>
                <a:latin typeface="Cambria" pitchFamily="34" charset="0"/>
                <a:ea typeface="Cambria" pitchFamily="34" charset="-122"/>
                <a:cs typeface="Cambria" pitchFamily="34" charset="-120"/>
              </a:rPr>
              <a:t>6,33</a:t>
            </a:r>
            <a:endParaRPr lang="en-US" sz="2200" dirty="0"/>
          </a:p>
        </p:txBody>
      </p:sp>
      <p:sp>
        <p:nvSpPr>
          <p:cNvPr id="10" name="Shape 6"/>
          <p:cNvSpPr/>
          <p:nvPr/>
        </p:nvSpPr>
        <p:spPr>
          <a:xfrm>
            <a:off x="8046720" y="2807208"/>
            <a:ext cx="3596335" cy="0"/>
          </a:xfrm>
          <a:prstGeom prst="line">
            <a:avLst/>
          </a:prstGeom>
          <a:noFill/>
          <a:ln w="9525">
            <a:solidFill>
              <a:srgbClr val="D5DBD6"/>
            </a:solidFill>
            <a:prstDash val="solid"/>
          </a:ln>
        </p:spPr>
      </p:sp>
      <p:sp>
        <p:nvSpPr>
          <p:cNvPr id="11" name="Text 7"/>
          <p:cNvSpPr txBox="1"/>
          <p:nvPr/>
        </p:nvSpPr>
        <p:spPr>
          <a:xfrm>
            <a:off x="8046720" y="2880360"/>
            <a:ext cx="914400" cy="502920"/>
          </a:xfrm>
          <a:prstGeom prst="rect">
            <a:avLst/>
          </a:prstGeom>
          <a:noFill/>
          <a:ln/>
        </p:spPr>
        <p:txBody>
          <a:bodyPr wrap="square" lIns="0" tIns="0" rIns="0" bIns="0" rtlCol="0" anchor="ctr"/>
          <a:lstStyle/>
          <a:p>
            <a:pPr indent="0" marL="0">
              <a:buNone/>
            </a:pPr>
            <a:r>
              <a:rPr lang="en-US" sz="1500" dirty="0">
                <a:solidFill>
                  <a:srgbClr val="5F6B65"/>
                </a:solidFill>
              </a:rPr>
              <a:t>2021</a:t>
            </a:r>
            <a:endParaRPr lang="en-US" sz="1500" dirty="0"/>
          </a:p>
        </p:txBody>
      </p:sp>
      <p:sp>
        <p:nvSpPr>
          <p:cNvPr id="12" name="Text 8"/>
          <p:cNvSpPr txBox="1"/>
          <p:nvPr/>
        </p:nvSpPr>
        <p:spPr>
          <a:xfrm>
            <a:off x="8961120" y="2880360"/>
            <a:ext cx="2681935" cy="502920"/>
          </a:xfrm>
          <a:prstGeom prst="rect">
            <a:avLst/>
          </a:prstGeom>
          <a:noFill/>
          <a:ln/>
        </p:spPr>
        <p:txBody>
          <a:bodyPr wrap="square" lIns="0" tIns="0" rIns="0" bIns="0" rtlCol="0" anchor="ctr"/>
          <a:lstStyle/>
          <a:p>
            <a:pPr algn="r" indent="0" marL="0">
              <a:buNone/>
            </a:pPr>
            <a:r>
              <a:rPr lang="en-US" sz="2200" b="1" dirty="0">
                <a:solidFill>
                  <a:schemeClr val="tx1"/>
                </a:solidFill>
                <a:latin typeface="Cambria" pitchFamily="34" charset="0"/>
                <a:ea typeface="Cambria" pitchFamily="34" charset="-122"/>
                <a:cs typeface="Cambria" pitchFamily="34" charset="-120"/>
              </a:rPr>
              <a:t>26,04</a:t>
            </a:r>
            <a:endParaRPr lang="en-US" sz="2200" dirty="0"/>
          </a:p>
        </p:txBody>
      </p:sp>
      <p:sp>
        <p:nvSpPr>
          <p:cNvPr id="13" name="Shape 9"/>
          <p:cNvSpPr/>
          <p:nvPr/>
        </p:nvSpPr>
        <p:spPr>
          <a:xfrm>
            <a:off x="8046720" y="3447288"/>
            <a:ext cx="3596335" cy="0"/>
          </a:xfrm>
          <a:prstGeom prst="line">
            <a:avLst/>
          </a:prstGeom>
          <a:noFill/>
          <a:ln w="9525">
            <a:solidFill>
              <a:srgbClr val="D5DBD6"/>
            </a:solidFill>
            <a:prstDash val="solid"/>
          </a:ln>
        </p:spPr>
      </p:sp>
      <p:sp>
        <p:nvSpPr>
          <p:cNvPr id="14" name="Text 10"/>
          <p:cNvSpPr txBox="1"/>
          <p:nvPr/>
        </p:nvSpPr>
        <p:spPr>
          <a:xfrm>
            <a:off x="8046720" y="3520440"/>
            <a:ext cx="914400" cy="502920"/>
          </a:xfrm>
          <a:prstGeom prst="rect">
            <a:avLst/>
          </a:prstGeom>
          <a:noFill/>
          <a:ln/>
        </p:spPr>
        <p:txBody>
          <a:bodyPr wrap="square" lIns="0" tIns="0" rIns="0" bIns="0" rtlCol="0" anchor="ctr"/>
          <a:lstStyle/>
          <a:p>
            <a:pPr indent="0" marL="0">
              <a:buNone/>
            </a:pPr>
            <a:r>
              <a:rPr lang="en-US" sz="1500" dirty="0">
                <a:solidFill>
                  <a:srgbClr val="5F6B65"/>
                </a:solidFill>
              </a:rPr>
              <a:t>2026</a:t>
            </a:r>
            <a:endParaRPr lang="en-US" sz="1500" dirty="0"/>
          </a:p>
        </p:txBody>
      </p:sp>
      <p:sp>
        <p:nvSpPr>
          <p:cNvPr id="15" name="Text 11"/>
          <p:cNvSpPr txBox="1"/>
          <p:nvPr/>
        </p:nvSpPr>
        <p:spPr>
          <a:xfrm>
            <a:off x="8961120" y="3520440"/>
            <a:ext cx="2681935" cy="502920"/>
          </a:xfrm>
          <a:prstGeom prst="rect">
            <a:avLst/>
          </a:prstGeom>
          <a:noFill/>
          <a:ln/>
        </p:spPr>
        <p:txBody>
          <a:bodyPr wrap="square" lIns="0" tIns="0" rIns="0" bIns="0" rtlCol="0" anchor="ctr"/>
          <a:lstStyle/>
          <a:p>
            <a:pPr algn="r" indent="0" marL="0">
              <a:buNone/>
            </a:pPr>
            <a:r>
              <a:rPr lang="en-US" sz="3000" b="1" dirty="0">
                <a:solidFill>
                  <a:schemeClr val="accent6"/>
                </a:solidFill>
                <a:latin typeface="Cambria" pitchFamily="34" charset="0"/>
                <a:ea typeface="Cambria" pitchFamily="34" charset="-122"/>
                <a:cs typeface="Cambria" pitchFamily="34" charset="-120"/>
              </a:rPr>
              <a:t>359,14</a:t>
            </a:r>
            <a:endParaRPr lang="en-US" sz="3000" dirty="0"/>
          </a:p>
        </p:txBody>
      </p:sp>
      <p:sp>
        <p:nvSpPr>
          <p:cNvPr id="16" name="Shape 12"/>
          <p:cNvSpPr/>
          <p:nvPr/>
        </p:nvSpPr>
        <p:spPr>
          <a:xfrm>
            <a:off x="8046720" y="4087368"/>
            <a:ext cx="3596335" cy="0"/>
          </a:xfrm>
          <a:prstGeom prst="line">
            <a:avLst/>
          </a:prstGeom>
          <a:noFill/>
          <a:ln w="9525">
            <a:solidFill>
              <a:srgbClr val="D5DBD6"/>
            </a:solidFill>
            <a:prstDash val="solid"/>
          </a:ln>
        </p:spPr>
      </p:sp>
      <p:sp>
        <p:nvSpPr>
          <p:cNvPr id="17" name="Shape 13"/>
          <p:cNvSpPr/>
          <p:nvPr/>
        </p:nvSpPr>
        <p:spPr>
          <a:xfrm>
            <a:off x="8046720" y="4343400"/>
            <a:ext cx="3596335" cy="1234440"/>
          </a:xfrm>
          <a:prstGeom prst="rect">
            <a:avLst/>
          </a:prstGeom>
          <a:solidFill>
            <a:schemeClr val="bg2"/>
          </a:solidFill>
          <a:ln/>
        </p:spPr>
      </p:sp>
      <p:sp>
        <p:nvSpPr>
          <p:cNvPr id="18" name="Text 14"/>
          <p:cNvSpPr txBox="1"/>
          <p:nvPr/>
        </p:nvSpPr>
        <p:spPr>
          <a:xfrm>
            <a:off x="8275320" y="4343400"/>
            <a:ext cx="3139135" cy="1234440"/>
          </a:xfrm>
          <a:prstGeom prst="rect">
            <a:avLst/>
          </a:prstGeom>
          <a:noFill/>
          <a:ln/>
        </p:spPr>
        <p:txBody>
          <a:bodyPr wrap="square" lIns="0" tIns="0" rIns="0" bIns="0" rtlCol="0" anchor="ctr"/>
          <a:lstStyle/>
          <a:p>
            <a:pPr indent="0" marL="0">
              <a:buNone/>
            </a:pPr>
            <a:r>
              <a:rPr lang="en-US" sz="1500" dirty="0">
                <a:solidFill>
                  <a:schemeClr val="tx1"/>
                </a:solidFill>
              </a:rPr>
              <a:t>Ekspansi kebun mendukung argumen ancaman REDD+, tetapi area ARR rawan dikonversi.</a:t>
            </a:r>
            <a:endParaRPr lang="en-US" sz="1500" dirty="0"/>
          </a:p>
        </p:txBody>
      </p:sp>
      <p:sp>
        <p:nvSpPr>
          <p:cNvPr id="19" name="Text 15"/>
          <p:cNvSpPr txBox="1"/>
          <p:nvPr/>
        </p:nvSpPr>
        <p:spPr>
          <a:xfrm>
            <a:off x="548640" y="5989320"/>
            <a:ext cx="10545775" cy="228600"/>
          </a:xfrm>
          <a:prstGeom prst="rect">
            <a:avLst/>
          </a:prstGeom>
          <a:noFill/>
          <a:ln/>
        </p:spPr>
        <p:txBody>
          <a:bodyPr wrap="square" lIns="0" tIns="0" rIns="0" bIns="0" rtlCol="0" anchor="t"/>
          <a:lstStyle/>
          <a:p>
            <a:pPr indent="0" marL="0">
              <a:buNone/>
            </a:pPr>
            <a:r>
              <a:rPr lang="en-US" sz="1000" i="1" dirty="0">
                <a:solidFill>
                  <a:srgbClr val="5F6B65"/>
                </a:solidFill>
              </a:rPr>
              <a:t>Sumber: sheet Tuplah (2), luas per kelas tutupan 2016, 2021, 2026.</a:t>
            </a:r>
            <a:endParaRPr lang="en-US" sz="1000" dirty="0"/>
          </a:p>
        </p:txBody>
      </p:sp>
      <p:sp>
        <p:nvSpPr>
          <p:cNvPr id="20" name="luas-redd"/>
          <p:cNvSpPr/>
          <p:nvPr/>
        </p:nvSpPr>
        <p:spPr>
          <a:xfrm>
            <a:off x="548640" y="6400800"/>
            <a:ext cx="748101" cy="91440"/>
          </a:xfrm>
          <a:prstGeom prst="rect">
            <a:avLst/>
          </a:prstGeom>
          <a:solidFill>
            <a:srgbClr val="D5DBD6"/>
          </a:solidFill>
          <a:ln/>
        </p:spPr>
      </p:sp>
      <p:sp>
        <p:nvSpPr>
          <p:cNvPr id="21" name="luas-regen"/>
          <p:cNvSpPr/>
          <p:nvPr/>
        </p:nvSpPr>
        <p:spPr>
          <a:xfrm>
            <a:off x="1319601" y="6400800"/>
            <a:ext cx="22915" cy="91440"/>
          </a:xfrm>
          <a:prstGeom prst="rect">
            <a:avLst/>
          </a:prstGeom>
          <a:solidFill>
            <a:srgbClr val="D5DBD6"/>
          </a:solidFill>
          <a:ln/>
        </p:spPr>
      </p:sp>
      <p:sp>
        <p:nvSpPr>
          <p:cNvPr id="22" name="luas-arr"/>
          <p:cNvSpPr/>
          <p:nvPr/>
        </p:nvSpPr>
        <p:spPr>
          <a:xfrm>
            <a:off x="1365376" y="6400800"/>
            <a:ext cx="323052" cy="91440"/>
          </a:xfrm>
          <a:prstGeom prst="rect">
            <a:avLst/>
          </a:prstGeom>
          <a:solidFill>
            <a:schemeClr val="accent4"/>
          </a:solidFill>
          <a:ln/>
        </p:spPr>
      </p:sp>
      <p:sp>
        <p:nvSpPr>
          <p:cNvPr id="23" name="luas-kebun"/>
          <p:cNvSpPr/>
          <p:nvPr/>
        </p:nvSpPr>
        <p:spPr>
          <a:xfrm>
            <a:off x="1711288" y="6400800"/>
            <a:ext cx="191943" cy="91440"/>
          </a:xfrm>
          <a:prstGeom prst="rect">
            <a:avLst/>
          </a:prstGeom>
          <a:solidFill>
            <a:schemeClr val="accent2"/>
          </a:solidFill>
          <a:ln/>
        </p:spPr>
      </p:sp>
      <p:sp>
        <p:nvSpPr>
          <p:cNvPr id="24" name="luas-defor"/>
          <p:cNvSpPr/>
          <p:nvPr/>
        </p:nvSpPr>
        <p:spPr>
          <a:xfrm>
            <a:off x="1926090" y="6400800"/>
            <a:ext cx="45278" cy="91440"/>
          </a:xfrm>
          <a:prstGeom prst="rect">
            <a:avLst/>
          </a:prstGeom>
          <a:solidFill>
            <a:schemeClr val="accent3"/>
          </a:solidFill>
          <a:ln/>
        </p:spPr>
      </p:sp>
      <p:sp>
        <p:nvSpPr>
          <p:cNvPr id="25" name="luas-sungai"/>
          <p:cNvSpPr/>
          <p:nvPr/>
        </p:nvSpPr>
        <p:spPr>
          <a:xfrm>
            <a:off x="1994229" y="6400800"/>
            <a:ext cx="18288" cy="91440"/>
          </a:xfrm>
          <a:prstGeom prst="rect">
            <a:avLst/>
          </a:prstGeom>
          <a:solidFill>
            <a:schemeClr val="accent6"/>
          </a:solidFill>
          <a:ln/>
        </p:spPr>
      </p:sp>
      <p:sp>
        <p:nvSpPr>
          <p:cNvPr id="26" name="Text 22"/>
          <p:cNvSpPr txBox="1"/>
          <p:nvPr/>
        </p:nvSpPr>
        <p:spPr>
          <a:xfrm>
            <a:off x="2148840" y="6336792"/>
            <a:ext cx="4572000" cy="228600"/>
          </a:xfrm>
          <a:prstGeom prst="rect">
            <a:avLst/>
          </a:prstGeom>
          <a:noFill/>
          <a:ln/>
        </p:spPr>
        <p:txBody>
          <a:bodyPr wrap="square" lIns="0" tIns="0" rIns="0" bIns="0" rtlCol="0" anchor="t"/>
          <a:lstStyle/>
          <a:p>
            <a:pPr indent="0" marL="0">
              <a:buNone/>
            </a:pPr>
            <a:r>
              <a:rPr lang="en-US" sz="1000" dirty="0">
                <a:solidFill>
                  <a:srgbClr val="5F6B65"/>
                </a:solidFill>
              </a:rPr>
              <a:t>Fokus: non-hutan 1.057,35 ha (ARR)</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6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STATUS GAMBUT</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82% area berada di fungsi lindung ekosistem gambut</a:t>
            </a:r>
            <a:endParaRPr lang="en-US" sz="2800" dirty="0"/>
          </a:p>
        </p:txBody>
      </p:sp>
      <p:sp>
        <p:nvSpPr>
          <p:cNvPr id="5" name="Shape 2"/>
          <p:cNvSpPr/>
          <p:nvPr/>
        </p:nvSpPr>
        <p:spPr>
          <a:xfrm>
            <a:off x="548640" y="2011680"/>
            <a:ext cx="9029001" cy="640080"/>
          </a:xfrm>
          <a:prstGeom prst="rect">
            <a:avLst/>
          </a:prstGeom>
          <a:solidFill>
            <a:schemeClr val="accent1"/>
          </a:solidFill>
          <a:ln/>
        </p:spPr>
      </p:sp>
      <p:sp>
        <p:nvSpPr>
          <p:cNvPr id="6" name="Shape 3"/>
          <p:cNvSpPr/>
          <p:nvPr/>
        </p:nvSpPr>
        <p:spPr>
          <a:xfrm>
            <a:off x="9614217" y="2011680"/>
            <a:ext cx="2028838" cy="640080"/>
          </a:xfrm>
          <a:prstGeom prst="rect">
            <a:avLst/>
          </a:prstGeom>
          <a:solidFill>
            <a:schemeClr val="accent2"/>
          </a:solidFill>
          <a:ln/>
        </p:spPr>
      </p:sp>
      <p:sp>
        <p:nvSpPr>
          <p:cNvPr id="7" name="Text 4"/>
          <p:cNvSpPr txBox="1"/>
          <p:nvPr/>
        </p:nvSpPr>
        <p:spPr>
          <a:xfrm>
            <a:off x="731520" y="2011680"/>
            <a:ext cx="8663241" cy="640080"/>
          </a:xfrm>
          <a:prstGeom prst="rect">
            <a:avLst/>
          </a:prstGeom>
          <a:noFill/>
          <a:ln/>
        </p:spPr>
        <p:txBody>
          <a:bodyPr wrap="square" lIns="0" tIns="0" rIns="0" bIns="0" rtlCol="0" anchor="ctr"/>
          <a:lstStyle/>
          <a:p>
            <a:pPr indent="0" marL="0">
              <a:buNone/>
            </a:pPr>
            <a:r>
              <a:rPr lang="en-US" sz="1600" b="1" dirty="0">
                <a:solidFill>
                  <a:schemeClr val="bg1"/>
                </a:solidFill>
              </a:rPr>
              <a:t>Lindung · ±2.016 ha (82%)</a:t>
            </a:r>
            <a:endParaRPr lang="en-US" sz="1600" dirty="0"/>
          </a:p>
        </p:txBody>
      </p:sp>
      <p:sp>
        <p:nvSpPr>
          <p:cNvPr id="8" name="Text 5"/>
          <p:cNvSpPr txBox="1"/>
          <p:nvPr/>
        </p:nvSpPr>
        <p:spPr>
          <a:xfrm>
            <a:off x="9751377" y="2011680"/>
            <a:ext cx="1791094" cy="640080"/>
          </a:xfrm>
          <a:prstGeom prst="rect">
            <a:avLst/>
          </a:prstGeom>
          <a:noFill/>
          <a:ln/>
        </p:spPr>
        <p:txBody>
          <a:bodyPr wrap="square" lIns="0" tIns="0" rIns="0" bIns="0" rtlCol="0" anchor="ctr"/>
          <a:lstStyle/>
          <a:p>
            <a:pPr indent="0" marL="0">
              <a:buNone/>
            </a:pPr>
            <a:r>
              <a:rPr lang="en-US" sz="1400" b="1" dirty="0">
                <a:solidFill>
                  <a:schemeClr val="bg1"/>
                </a:solidFill>
              </a:rPr>
              <a:t>Budidaya · ±453 ha</a:t>
            </a:r>
            <a:endParaRPr lang="en-US" sz="1400" dirty="0"/>
          </a:p>
        </p:txBody>
      </p:sp>
      <p:sp>
        <p:nvSpPr>
          <p:cNvPr id="9" name="Shape 6"/>
          <p:cNvSpPr/>
          <p:nvPr/>
        </p:nvSpPr>
        <p:spPr>
          <a:xfrm>
            <a:off x="548640" y="3154680"/>
            <a:ext cx="3393338" cy="0"/>
          </a:xfrm>
          <a:prstGeom prst="line">
            <a:avLst/>
          </a:prstGeom>
          <a:noFill/>
          <a:ln w="12700">
            <a:solidFill>
              <a:srgbClr val="1B2420"/>
            </a:solidFill>
            <a:prstDash val="solid"/>
          </a:ln>
        </p:spPr>
      </p:sp>
      <p:sp>
        <p:nvSpPr>
          <p:cNvPr id="10" name="Text 7"/>
          <p:cNvSpPr txBox="1"/>
          <p:nvPr/>
        </p:nvSpPr>
        <p:spPr>
          <a:xfrm>
            <a:off x="548640" y="3291840"/>
            <a:ext cx="3393338"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Dampak untuk REDD+</a:t>
            </a:r>
            <a:endParaRPr lang="en-US" sz="1700" dirty="0"/>
          </a:p>
        </p:txBody>
      </p:sp>
      <p:sp>
        <p:nvSpPr>
          <p:cNvPr id="11" name="Text 8"/>
          <p:cNvSpPr txBox="1"/>
          <p:nvPr/>
        </p:nvSpPr>
        <p:spPr>
          <a:xfrm>
            <a:off x="548640" y="3749040"/>
            <a:ext cx="3393338" cy="1828800"/>
          </a:xfrm>
          <a:prstGeom prst="rect">
            <a:avLst/>
          </a:prstGeom>
          <a:noFill/>
          <a:ln/>
        </p:spPr>
        <p:txBody>
          <a:bodyPr wrap="square" lIns="0" tIns="0" rIns="0" bIns="0" rtlCol="0" anchor="t"/>
          <a:lstStyle/>
          <a:p>
            <a:pPr indent="0" marL="0">
              <a:buNone/>
            </a:pPr>
            <a:r>
              <a:rPr lang="en-US" sz="1500" dirty="0">
                <a:solidFill>
                  <a:srgbClr val="5F6B65"/>
                </a:solidFill>
              </a:rPr>
              <a:t>Konversi di fungsi lindung sudah dilarang aturan. Additionality harus menunjukkan larangan itu tidak efektif. Kehilangan hutan 82,87 ha menjadi buktinya.</a:t>
            </a:r>
            <a:endParaRPr lang="en-US" sz="1500" dirty="0"/>
          </a:p>
        </p:txBody>
      </p:sp>
      <p:sp>
        <p:nvSpPr>
          <p:cNvPr id="12" name="Shape 9"/>
          <p:cNvSpPr/>
          <p:nvPr/>
        </p:nvSpPr>
        <p:spPr>
          <a:xfrm>
            <a:off x="4399178" y="3154680"/>
            <a:ext cx="3393338" cy="0"/>
          </a:xfrm>
          <a:prstGeom prst="line">
            <a:avLst/>
          </a:prstGeom>
          <a:noFill/>
          <a:ln w="12700">
            <a:solidFill>
              <a:srgbClr val="1B2420"/>
            </a:solidFill>
            <a:prstDash val="solid"/>
          </a:ln>
        </p:spPr>
      </p:sp>
      <p:sp>
        <p:nvSpPr>
          <p:cNvPr id="13" name="Text 10"/>
          <p:cNvSpPr txBox="1"/>
          <p:nvPr/>
        </p:nvSpPr>
        <p:spPr>
          <a:xfrm>
            <a:off x="4399178" y="3291840"/>
            <a:ext cx="3393338"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Dampak untuk ARR</a:t>
            </a:r>
            <a:endParaRPr lang="en-US" sz="1700" dirty="0"/>
          </a:p>
        </p:txBody>
      </p:sp>
      <p:sp>
        <p:nvSpPr>
          <p:cNvPr id="14" name="Text 11"/>
          <p:cNvSpPr txBox="1"/>
          <p:nvPr/>
        </p:nvSpPr>
        <p:spPr>
          <a:xfrm>
            <a:off x="4399178" y="3749040"/>
            <a:ext cx="3393338" cy="1828800"/>
          </a:xfrm>
          <a:prstGeom prst="rect">
            <a:avLst/>
          </a:prstGeom>
          <a:noFill/>
          <a:ln/>
        </p:spPr>
        <p:txBody>
          <a:bodyPr wrap="square" lIns="0" tIns="0" rIns="0" bIns="0" rtlCol="0" anchor="t"/>
          <a:lstStyle/>
          <a:p>
            <a:pPr indent="0" marL="0">
              <a:buNone/>
            </a:pPr>
            <a:r>
              <a:rPr lang="en-US" sz="1500" dirty="0">
                <a:solidFill>
                  <a:srgbClr val="5F6B65"/>
                </a:solidFill>
              </a:rPr>
              <a:t>Restorasi perlu pembasahan ulang (sekat kanal) dan jenis asli rawa gambut. Kebun di fungsi lindung punya dasar untuk dipulihkan.</a:t>
            </a:r>
            <a:endParaRPr lang="en-US" sz="1500" dirty="0"/>
          </a:p>
        </p:txBody>
      </p:sp>
      <p:sp>
        <p:nvSpPr>
          <p:cNvPr id="15" name="Shape 12"/>
          <p:cNvSpPr/>
          <p:nvPr/>
        </p:nvSpPr>
        <p:spPr>
          <a:xfrm>
            <a:off x="8249717" y="3154680"/>
            <a:ext cx="3393338" cy="0"/>
          </a:xfrm>
          <a:prstGeom prst="line">
            <a:avLst/>
          </a:prstGeom>
          <a:noFill/>
          <a:ln w="12700">
            <a:solidFill>
              <a:srgbClr val="1B2420"/>
            </a:solidFill>
            <a:prstDash val="solid"/>
          </a:ln>
        </p:spPr>
      </p:sp>
      <p:sp>
        <p:nvSpPr>
          <p:cNvPr id="16" name="Text 13"/>
          <p:cNvSpPr txBox="1"/>
          <p:nvPr/>
        </p:nvSpPr>
        <p:spPr>
          <a:xfrm>
            <a:off x="8249717" y="3291840"/>
            <a:ext cx="3393338"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Data gambut yang dipakai</a:t>
            </a:r>
            <a:endParaRPr lang="en-US" sz="1700" dirty="0"/>
          </a:p>
        </p:txBody>
      </p:sp>
      <p:sp>
        <p:nvSpPr>
          <p:cNvPr id="17" name="Text 14"/>
          <p:cNvSpPr txBox="1"/>
          <p:nvPr/>
        </p:nvSpPr>
        <p:spPr>
          <a:xfrm>
            <a:off x="8249717" y="3749040"/>
            <a:ext cx="3393338" cy="1828800"/>
          </a:xfrm>
          <a:prstGeom prst="rect">
            <a:avLst/>
          </a:prstGeom>
          <a:noFill/>
          <a:ln/>
        </p:spPr>
        <p:txBody>
          <a:bodyPr wrap="square" lIns="0" tIns="0" rIns="0" bIns="0" rtlCol="0" anchor="t"/>
          <a:lstStyle/>
          <a:p>
            <a:pPr indent="0" marL="0">
              <a:buNone/>
            </a:pPr>
            <a:r>
              <a:rPr lang="en-US" sz="1500" dirty="0">
                <a:solidFill>
                  <a:srgbClr val="5F6B65"/>
                </a:solidFill>
              </a:rPr>
              <a:t>Gambut 100–200 cm ±1.587 ha, 200–300 cm ±429 ha, bergambut &lt;50 cm ±453 ha. Kedalaman ini harus masuk ke hitungan stok, bukan 1,5 m seragam.</a:t>
            </a:r>
            <a:endParaRPr lang="en-US" sz="1500" dirty="0"/>
          </a:p>
        </p:txBody>
      </p:sp>
      <p:sp>
        <p:nvSpPr>
          <p:cNvPr id="18" name="Text 15"/>
          <p:cNvSpPr txBox="1"/>
          <p:nvPr/>
        </p:nvSpPr>
        <p:spPr>
          <a:xfrm>
            <a:off x="548640" y="5989320"/>
            <a:ext cx="10545775" cy="228600"/>
          </a:xfrm>
          <a:prstGeom prst="rect">
            <a:avLst/>
          </a:prstGeom>
          <a:noFill/>
          <a:ln/>
        </p:spPr>
        <p:txBody>
          <a:bodyPr wrap="square" lIns="0" tIns="0" rIns="0" bIns="0" rtlCol="0" anchor="t"/>
          <a:lstStyle/>
          <a:p>
            <a:pPr indent="0" marL="0">
              <a:buNone/>
            </a:pPr>
            <a:r>
              <a:rPr lang="en-US" sz="1000" i="1" dirty="0">
                <a:solidFill>
                  <a:srgbClr val="5F6B65"/>
                </a:solidFill>
              </a:rPr>
              <a:t>Sumber: Export_Output (overlay PL2022 KLHK × peta KHG). Luas dibulatkan per poligon.</a:t>
            </a:r>
            <a:endParaRPr lang="en-US" sz="1000" dirty="0"/>
          </a:p>
        </p:txBody>
      </p:sp>
      <p:sp>
        <p:nvSpPr>
          <p:cNvPr id="19" name="luas-redd"/>
          <p:cNvSpPr/>
          <p:nvPr/>
        </p:nvSpPr>
        <p:spPr>
          <a:xfrm>
            <a:off x="548640" y="6400800"/>
            <a:ext cx="748101" cy="91440"/>
          </a:xfrm>
          <a:prstGeom prst="rect">
            <a:avLst/>
          </a:prstGeom>
          <a:solidFill>
            <a:schemeClr val="accent1"/>
          </a:solidFill>
          <a:ln/>
        </p:spPr>
      </p:sp>
      <p:sp>
        <p:nvSpPr>
          <p:cNvPr id="20" name="luas-regen"/>
          <p:cNvSpPr/>
          <p:nvPr/>
        </p:nvSpPr>
        <p:spPr>
          <a:xfrm>
            <a:off x="1319601" y="6400800"/>
            <a:ext cx="22915" cy="91440"/>
          </a:xfrm>
          <a:prstGeom prst="rect">
            <a:avLst/>
          </a:prstGeom>
          <a:solidFill>
            <a:schemeClr val="accent5"/>
          </a:solidFill>
          <a:ln/>
        </p:spPr>
      </p:sp>
      <p:sp>
        <p:nvSpPr>
          <p:cNvPr id="21" name="luas-arr"/>
          <p:cNvSpPr/>
          <p:nvPr/>
        </p:nvSpPr>
        <p:spPr>
          <a:xfrm>
            <a:off x="1365376" y="6400800"/>
            <a:ext cx="323052" cy="91440"/>
          </a:xfrm>
          <a:prstGeom prst="rect">
            <a:avLst/>
          </a:prstGeom>
          <a:solidFill>
            <a:schemeClr val="accent4"/>
          </a:solidFill>
          <a:ln/>
        </p:spPr>
      </p:sp>
      <p:sp>
        <p:nvSpPr>
          <p:cNvPr id="22" name="luas-kebun"/>
          <p:cNvSpPr/>
          <p:nvPr/>
        </p:nvSpPr>
        <p:spPr>
          <a:xfrm>
            <a:off x="1711288" y="6400800"/>
            <a:ext cx="191943" cy="91440"/>
          </a:xfrm>
          <a:prstGeom prst="rect">
            <a:avLst/>
          </a:prstGeom>
          <a:solidFill>
            <a:schemeClr val="accent2"/>
          </a:solidFill>
          <a:ln/>
        </p:spPr>
      </p:sp>
      <p:sp>
        <p:nvSpPr>
          <p:cNvPr id="23" name="luas-defor"/>
          <p:cNvSpPr/>
          <p:nvPr/>
        </p:nvSpPr>
        <p:spPr>
          <a:xfrm>
            <a:off x="1926090" y="6400800"/>
            <a:ext cx="45278" cy="91440"/>
          </a:xfrm>
          <a:prstGeom prst="rect">
            <a:avLst/>
          </a:prstGeom>
          <a:solidFill>
            <a:schemeClr val="accent3"/>
          </a:solidFill>
          <a:ln/>
        </p:spPr>
      </p:sp>
      <p:sp>
        <p:nvSpPr>
          <p:cNvPr id="24" name="luas-sungai"/>
          <p:cNvSpPr/>
          <p:nvPr/>
        </p:nvSpPr>
        <p:spPr>
          <a:xfrm>
            <a:off x="1994229" y="6400800"/>
            <a:ext cx="18288" cy="91440"/>
          </a:xfrm>
          <a:prstGeom prst="rect">
            <a:avLst/>
          </a:prstGeom>
          <a:solidFill>
            <a:schemeClr val="accent6"/>
          </a:solidFill>
          <a:ln/>
        </p:spPr>
      </p:sp>
      <p:sp>
        <p:nvSpPr>
          <p:cNvPr id="25" name="Text 22"/>
          <p:cNvSpPr txBox="1"/>
          <p:nvPr/>
        </p:nvSpPr>
        <p:spPr>
          <a:xfrm>
            <a:off x="2148840" y="6336792"/>
            <a:ext cx="4572000" cy="228600"/>
          </a:xfrm>
          <a:prstGeom prst="rect">
            <a:avLst/>
          </a:prstGeom>
          <a:noFill/>
          <a:ln/>
        </p:spPr>
        <p:txBody>
          <a:bodyPr wrap="square" lIns="0" tIns="0" rIns="0" bIns="0" rtlCol="0" anchor="t"/>
          <a:lstStyle/>
          <a:p>
            <a:pPr indent="0" marL="0">
              <a:buNone/>
            </a:pPr>
            <a:r>
              <a:rPr lang="en-US" sz="1000" dirty="0">
                <a:solidFill>
                  <a:srgbClr val="5F6B65"/>
                </a:solidFill>
              </a:rPr>
              <a:t>Area 2.468,51 ha</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6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SHEET TUPLAH (2)</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Lima rumus perlu dikoreksi sebelum menghitung kredit</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411480"/>
                <a:gridCol w="1143000"/>
                <a:gridCol w="3017520"/>
                <a:gridCol w="2743200"/>
                <a:gridCol w="3779215"/>
              </a:tblGrid>
              <a:tr h="566928">
                <a:tc>
                  <a:txBody>
                    <a:bodyPr/>
                    <a:lstStyle/>
                    <a:p>
                      <a:pPr indent="0" marL="0">
                        <a:buNone/>
                      </a:pPr>
                      <a:r>
                        <a:rPr lang="en-US" sz="1200" b="1" dirty="0">
                          <a:solidFill>
                            <a:srgbClr val="5F6B65"/>
                          </a:solidFill>
                        </a:rPr>
                        <a:t>#</a:t>
                      </a:r>
                      <a:endParaRPr lang="en-US" sz="1200" dirty="0"/>
                    </a:p>
                  </a:txBody>
                  <a:tcPr marL="73152" marR="73152" marT="27432" marB="27432" anchor="ctr">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c>
                  <a:txBody>
                    <a:bodyPr/>
                    <a:lstStyle/>
                    <a:p>
                      <a:pPr indent="0" marL="0">
                        <a:buNone/>
                      </a:pPr>
                      <a:r>
                        <a:rPr lang="en-US" sz="1200" b="1" dirty="0">
                          <a:solidFill>
                            <a:srgbClr val="5F6B65"/>
                          </a:solidFill>
                        </a:rPr>
                        <a:t>Sel</a:t>
                      </a:r>
                      <a:endParaRPr lang="en-US" sz="1200" dirty="0"/>
                    </a:p>
                  </a:txBody>
                  <a:tcPr marL="73152" marR="73152" marT="27432" marB="27432" anchor="ctr">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c>
                  <a:txBody>
                    <a:bodyPr/>
                    <a:lstStyle/>
                    <a:p>
                      <a:pPr indent="0" marL="0">
                        <a:buNone/>
                      </a:pPr>
                      <a:r>
                        <a:rPr lang="en-US" sz="1200" b="1" dirty="0">
                          <a:solidFill>
                            <a:srgbClr val="5F6B65"/>
                          </a:solidFill>
                        </a:rPr>
                        <a:t>Masalah</a:t>
                      </a:r>
                      <a:endParaRPr lang="en-US" sz="1200" dirty="0"/>
                    </a:p>
                  </a:txBody>
                  <a:tcPr marL="73152" marR="73152" marT="27432" marB="27432" anchor="ctr">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c>
                  <a:txBody>
                    <a:bodyPr/>
                    <a:lstStyle/>
                    <a:p>
                      <a:pPr indent="0" marL="0">
                        <a:buNone/>
                      </a:pPr>
                      <a:r>
                        <a:rPr lang="en-US" sz="1200" b="1" dirty="0">
                          <a:solidFill>
                            <a:srgbClr val="5F6B65"/>
                          </a:solidFill>
                        </a:rPr>
                        <a:t>Dampak</a:t>
                      </a:r>
                      <a:endParaRPr lang="en-US" sz="1200" dirty="0"/>
                    </a:p>
                  </a:txBody>
                  <a:tcPr marL="73152" marR="73152" marT="27432" marB="27432" anchor="ctr">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c>
                  <a:txBody>
                    <a:bodyPr/>
                    <a:lstStyle/>
                    <a:p>
                      <a:pPr indent="0" marL="0">
                        <a:buNone/>
                      </a:pPr>
                      <a:r>
                        <a:rPr lang="en-US" sz="1200" b="1" dirty="0">
                          <a:solidFill>
                            <a:srgbClr val="5F6B65"/>
                          </a:solidFill>
                        </a:rPr>
                        <a:t>Perbaikan</a:t>
                      </a:r>
                      <a:endParaRPr lang="en-US" sz="1200" dirty="0"/>
                    </a:p>
                  </a:txBody>
                  <a:tcPr marL="73152" marR="73152" marT="27432" marB="27432" anchor="ctr">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r>
              <a:tr h="566928">
                <a:tc>
                  <a:txBody>
                    <a:bodyPr/>
                    <a:lstStyle/>
                    <a:p>
                      <a:pPr indent="0" marL="0">
                        <a:buNone/>
                      </a:pPr>
                      <a:r>
                        <a:rPr lang="en-US" sz="1400" dirty="0">
                          <a:solidFill>
                            <a:srgbClr val="B5551F"/>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indent="0" marL="0">
                        <a:buNone/>
                      </a:pPr>
                      <a:r>
                        <a:rPr lang="en-US" sz="1400" dirty="0">
                          <a:solidFill>
                            <a:srgbClr val="1B2420"/>
                          </a:solidFill>
                          <a:latin typeface="Courier New" pitchFamily="34" charset="0"/>
                          <a:ea typeface="Courier New" pitchFamily="34" charset="-122"/>
                          <a:cs typeface="Courier New" pitchFamily="34" charset="-120"/>
                        </a:rPr>
                        <a:t>P31</a:t>
                      </a:r>
                      <a:endParaRPr lang="en-US" sz="1400" dirty="0">
                        <a:latin typeface="Courier New" charset="0"/>
                        <a:ea typeface="Courier New" charset="0"/>
                        <a:cs typeface="Courier New"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indent="0" marL="0">
                        <a:buNone/>
                      </a:pPr>
                      <a:r>
                        <a:rPr lang="en-US" sz="1400" b="1" dirty="0">
                          <a:solidFill>
                            <a:srgbClr val="1B2420"/>
                          </a:solidFill>
                          <a:latin typeface="Calibri" pitchFamily="34" charset="0"/>
                          <a:ea typeface="Calibri" pitchFamily="34" charset="-122"/>
                          <a:cs typeface="Calibri" pitchFamily="34" charset="-120"/>
                        </a:rPr>
                        <a:t>Emisi tahunan tidak dikali luas</a:t>
                      </a:r>
                      <a:endParaRPr lang="en-US" sz="1400" dirty="0">
                        <a:latin typeface="Calibri" charset="0"/>
                        <a:ea typeface="Calibri" charset="0"/>
                        <a:cs typeface="Calibri"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indent="0" marL="0">
                        <a:buNone/>
                      </a:pPr>
                      <a:r>
                        <a:rPr lang="en-US" sz="1400" dirty="0">
                          <a:solidFill>
                            <a:srgbClr val="5F6B65"/>
                          </a:solidFill>
                          <a:latin typeface="Calibri" pitchFamily="34" charset="0"/>
                          <a:ea typeface="Calibri" pitchFamily="34" charset="-122"/>
                          <a:cs typeface="Calibri" pitchFamily="34" charset="-120"/>
                        </a:rPr>
                        <a:t>22,67 tCO₂e/tahun untuk 1.411 ha hutan</a:t>
                      </a:r>
                      <a:endParaRPr lang="en-US" sz="1400" dirty="0">
                        <a:latin typeface="Calibri" charset="0"/>
                        <a:ea typeface="Calibri" charset="0"/>
                        <a:cs typeface="Calibri"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indent="0" marL="0">
                        <a:buNone/>
                      </a:pPr>
                      <a:r>
                        <a:rPr lang="en-US" sz="1400" dirty="0">
                          <a:solidFill>
                            <a:srgbClr val="1B2420"/>
                          </a:solidFill>
                          <a:latin typeface="Calibri" pitchFamily="34" charset="0"/>
                          <a:ea typeface="Calibri" pitchFamily="34" charset="-122"/>
                          <a:cs typeface="Calibri" pitchFamily="34" charset="-120"/>
                        </a:rPr>
                        <a:t>Luas hutan × laju × faktor emisi per ha; cantumkan sumber laju 0,0116</a:t>
                      </a:r>
                      <a:endParaRPr lang="en-US" sz="1400" dirty="0">
                        <a:latin typeface="Calibri" charset="0"/>
                        <a:ea typeface="Calibri" charset="0"/>
                        <a:cs typeface="Calibri"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r>
              <a:tr h="566928">
                <a:tc>
                  <a:txBody>
                    <a:bodyPr/>
                    <a:lstStyle/>
                    <a:p>
                      <a:pPr indent="0" marL="0">
                        <a:buNone/>
                      </a:pPr>
                      <a:r>
                        <a:rPr lang="en-US" sz="1400" dirty="0">
                          <a:solidFill>
                            <a:srgbClr val="B5551F"/>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indent="0" marL="0">
                        <a:buNone/>
                      </a:pPr>
                      <a:r>
                        <a:rPr lang="en-US" sz="1400" dirty="0">
                          <a:solidFill>
                            <a:srgbClr val="1B2420"/>
                          </a:solidFill>
                          <a:latin typeface="Courier New" pitchFamily="34" charset="0"/>
                          <a:ea typeface="Courier New" pitchFamily="34" charset="-122"/>
                          <a:cs typeface="Courier New" pitchFamily="34" charset="-120"/>
                        </a:rPr>
                        <a:t>D33</a:t>
                      </a:r>
                      <a:endParaRPr lang="en-US" sz="1400" dirty="0">
                        <a:latin typeface="Courier New" charset="0"/>
                        <a:ea typeface="Courier New" charset="0"/>
                        <a:cs typeface="Courier New"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indent="0" marL="0">
                        <a:buNone/>
                      </a:pPr>
                      <a:r>
                        <a:rPr lang="en-US" sz="1400" b="1" dirty="0">
                          <a:solidFill>
                            <a:srgbClr val="1B2420"/>
                          </a:solidFill>
                          <a:latin typeface="Calibri" pitchFamily="34" charset="0"/>
                          <a:ea typeface="Calibri" pitchFamily="34" charset="-122"/>
                          <a:cs typeface="Calibri" pitchFamily="34" charset="-120"/>
                        </a:rPr>
                        <a:t>Stok kebun memakai kolom Emisi (C33)</a:t>
                      </a:r>
                      <a:endParaRPr lang="en-US" sz="1400" dirty="0">
                        <a:latin typeface="Calibri" charset="0"/>
                        <a:ea typeface="Calibri" charset="0"/>
                        <a:cs typeface="Calibri"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indent="0" marL="0">
                        <a:buNone/>
                      </a:pPr>
                      <a:r>
                        <a:rPr lang="en-US" sz="1400" dirty="0">
                          <a:solidFill>
                            <a:srgbClr val="5F6B65"/>
                          </a:solidFill>
                          <a:latin typeface="Calibri" pitchFamily="34" charset="0"/>
                          <a:ea typeface="Calibri" pitchFamily="34" charset="-122"/>
                          <a:cs typeface="Calibri" pitchFamily="34" charset="-120"/>
                        </a:rPr>
                        <a:t>Stok kebun 6.464.520</a:t>
                      </a:r>
                      <a:endParaRPr lang="en-US" sz="1400" dirty="0">
                        <a:latin typeface="Calibri" charset="0"/>
                        <a:ea typeface="Calibri" charset="0"/>
                        <a:cs typeface="Calibri"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indent="0" marL="0">
                        <a:buNone/>
                      </a:pPr>
                      <a:r>
                        <a:rPr lang="en-US" sz="1400" dirty="0">
                          <a:solidFill>
                            <a:srgbClr val="1B2420"/>
                          </a:solidFill>
                          <a:latin typeface="Calibri" pitchFamily="34" charset="0"/>
                          <a:ea typeface="Calibri" pitchFamily="34" charset="-122"/>
                          <a:cs typeface="Calibri" pitchFamily="34" charset="-120"/>
                        </a:rPr>
                        <a:t>Ganti C33 dengan B33 (Luas)</a:t>
                      </a:r>
                      <a:endParaRPr lang="en-US" sz="1400" dirty="0">
                        <a:latin typeface="Calibri" charset="0"/>
                        <a:ea typeface="Calibri" charset="0"/>
                        <a:cs typeface="Calibri"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r>
              <a:tr h="566928">
                <a:tc>
                  <a:txBody>
                    <a:bodyPr/>
                    <a:lstStyle/>
                    <a:p>
                      <a:pPr indent="0" marL="0">
                        <a:buNone/>
                      </a:pPr>
                      <a:r>
                        <a:rPr lang="en-US" sz="1400" dirty="0">
                          <a:solidFill>
                            <a:srgbClr val="B5551F"/>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indent="0" marL="0">
                        <a:buNone/>
                      </a:pPr>
                      <a:r>
                        <a:rPr lang="en-US" sz="1400" dirty="0">
                          <a:solidFill>
                            <a:srgbClr val="1B2420"/>
                          </a:solidFill>
                          <a:latin typeface="Courier New" pitchFamily="34" charset="0"/>
                          <a:ea typeface="Courier New" pitchFamily="34" charset="-122"/>
                          <a:cs typeface="Courier New" pitchFamily="34" charset="-120"/>
                        </a:rPr>
                        <a:t>D34</a:t>
                      </a:r>
                      <a:endParaRPr lang="en-US" sz="1400" dirty="0">
                        <a:latin typeface="Courier New" charset="0"/>
                        <a:ea typeface="Courier New" charset="0"/>
                        <a:cs typeface="Courier New"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indent="0" marL="0">
                        <a:buNone/>
                      </a:pPr>
                      <a:r>
                        <a:rPr lang="en-US" sz="1400" b="1" dirty="0">
                          <a:solidFill>
                            <a:srgbClr val="1B2420"/>
                          </a:solidFill>
                          <a:latin typeface="Calibri" pitchFamily="34" charset="0"/>
                          <a:ea typeface="Calibri" pitchFamily="34" charset="-122"/>
                          <a:cs typeface="Calibri" pitchFamily="34" charset="-120"/>
                        </a:rPr>
                        <a:t>Fraksi karbon tertulis 45</a:t>
                      </a:r>
                      <a:endParaRPr lang="en-US" sz="1400" dirty="0">
                        <a:latin typeface="Calibri" charset="0"/>
                        <a:ea typeface="Calibri" charset="0"/>
                        <a:cs typeface="Calibri"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indent="0" marL="0">
                        <a:buNone/>
                      </a:pPr>
                      <a:r>
                        <a:rPr lang="en-US" sz="1400" dirty="0">
                          <a:solidFill>
                            <a:srgbClr val="5F6B65"/>
                          </a:solidFill>
                          <a:latin typeface="Calibri" pitchFamily="34" charset="0"/>
                          <a:ea typeface="Calibri" pitchFamily="34" charset="-122"/>
                          <a:cs typeface="Calibri" pitchFamily="34" charset="-120"/>
                        </a:rPr>
                        <a:t>Stok semak 27.391.050</a:t>
                      </a:r>
                      <a:endParaRPr lang="en-US" sz="1400" dirty="0">
                        <a:latin typeface="Calibri" charset="0"/>
                        <a:ea typeface="Calibri" charset="0"/>
                        <a:cs typeface="Calibri"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indent="0" marL="0">
                        <a:buNone/>
                      </a:pPr>
                      <a:r>
                        <a:rPr lang="en-US" sz="1400" dirty="0">
                          <a:solidFill>
                            <a:srgbClr val="1B2420"/>
                          </a:solidFill>
                          <a:latin typeface="Calibri" pitchFamily="34" charset="0"/>
                          <a:ea typeface="Calibri" pitchFamily="34" charset="-122"/>
                          <a:cs typeface="Calibri" pitchFamily="34" charset="-120"/>
                        </a:rPr>
                        <a:t>Ganti 45 dengan 0,45; sama di Tuplah D55, D63</a:t>
                      </a:r>
                      <a:endParaRPr lang="en-US" sz="1400" dirty="0">
                        <a:latin typeface="Calibri" charset="0"/>
                        <a:ea typeface="Calibri" charset="0"/>
                        <a:cs typeface="Calibri"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r>
              <a:tr h="566928">
                <a:tc>
                  <a:txBody>
                    <a:bodyPr/>
                    <a:lstStyle/>
                    <a:p>
                      <a:pPr indent="0" marL="0">
                        <a:buNone/>
                      </a:pPr>
                      <a:r>
                        <a:rPr lang="en-US" sz="1400" dirty="0">
                          <a:solidFill>
                            <a:srgbClr val="B5551F"/>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indent="0" marL="0">
                        <a:buNone/>
                      </a:pPr>
                      <a:r>
                        <a:rPr lang="en-US" sz="1400" dirty="0">
                          <a:solidFill>
                            <a:srgbClr val="1B2420"/>
                          </a:solidFill>
                          <a:latin typeface="Courier New" pitchFamily="34" charset="0"/>
                          <a:ea typeface="Courier New" pitchFamily="34" charset="-122"/>
                          <a:cs typeface="Courier New" pitchFamily="34" charset="-120"/>
                        </a:rPr>
                        <a:t>E31:E34</a:t>
                      </a:r>
                      <a:endParaRPr lang="en-US" sz="1400" dirty="0">
                        <a:latin typeface="Courier New" charset="0"/>
                        <a:ea typeface="Courier New" charset="0"/>
                        <a:cs typeface="Courier New"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indent="0" marL="0">
                        <a:buNone/>
                      </a:pPr>
                      <a:r>
                        <a:rPr lang="en-US" sz="1400" b="1" dirty="0">
                          <a:solidFill>
                            <a:srgbClr val="1B2420"/>
                          </a:solidFill>
                          <a:latin typeface="Calibri" pitchFamily="34" charset="0"/>
                          <a:ea typeface="Calibri" pitchFamily="34" charset="-122"/>
                          <a:cs typeface="Calibri" pitchFamily="34" charset="-120"/>
                        </a:rPr>
                        <a:t>Kedalaman gambut seragam 1,5 m</a:t>
                      </a:r>
                      <a:endParaRPr lang="en-US" sz="1400" dirty="0">
                        <a:latin typeface="Calibri" charset="0"/>
                        <a:ea typeface="Calibri" charset="0"/>
                        <a:cs typeface="Calibri"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indent="0" marL="0">
                        <a:buNone/>
                      </a:pPr>
                      <a:r>
                        <a:rPr lang="en-US" sz="1400" dirty="0">
                          <a:solidFill>
                            <a:srgbClr val="5F6B65"/>
                          </a:solidFill>
                          <a:latin typeface="Calibri" pitchFamily="34" charset="0"/>
                          <a:ea typeface="Calibri" pitchFamily="34" charset="-122"/>
                          <a:cs typeface="Calibri" pitchFamily="34" charset="-120"/>
                        </a:rPr>
                        <a:t>Stok gambut salah per kelas</a:t>
                      </a:r>
                      <a:endParaRPr lang="en-US" sz="1400" dirty="0">
                        <a:latin typeface="Calibri" charset="0"/>
                        <a:ea typeface="Calibri" charset="0"/>
                        <a:cs typeface="Calibri"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indent="0" marL="0">
                        <a:buNone/>
                      </a:pPr>
                      <a:r>
                        <a:rPr lang="en-US" sz="1400" dirty="0">
                          <a:solidFill>
                            <a:srgbClr val="1B2420"/>
                          </a:solidFill>
                          <a:latin typeface="Calibri" pitchFamily="34" charset="0"/>
                          <a:ea typeface="Calibri" pitchFamily="34" charset="-122"/>
                          <a:cs typeface="Calibri" pitchFamily="34" charset="-120"/>
                        </a:rPr>
                        <a:t>Pakai kedalaman per poligon; samakan BD dan C antar-sheet</a:t>
                      </a:r>
                      <a:endParaRPr lang="en-US" sz="1400" dirty="0">
                        <a:latin typeface="Calibri" charset="0"/>
                        <a:ea typeface="Calibri" charset="0"/>
                        <a:cs typeface="Calibri"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r>
              <a:tr h="566928">
                <a:tc>
                  <a:txBody>
                    <a:bodyPr/>
                    <a:lstStyle/>
                    <a:p>
                      <a:pPr indent="0" marL="0">
                        <a:buNone/>
                      </a:pPr>
                      <a:r>
                        <a:rPr lang="en-US" sz="1400" dirty="0">
                          <a:solidFill>
                            <a:srgbClr val="B5551F"/>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indent="0" marL="0">
                        <a:buNone/>
                      </a:pPr>
                      <a:r>
                        <a:rPr lang="en-US" sz="1400" dirty="0">
                          <a:solidFill>
                            <a:srgbClr val="1B2420"/>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indent="0" marL="0">
                        <a:buNone/>
                      </a:pPr>
                      <a:r>
                        <a:rPr lang="en-US" sz="1400" b="1" dirty="0">
                          <a:solidFill>
                            <a:srgbClr val="1B2420"/>
                          </a:solidFill>
                          <a:latin typeface="Calibri" pitchFamily="34" charset="0"/>
                          <a:ea typeface="Calibri" pitchFamily="34" charset="-122"/>
                          <a:cs typeface="Calibri" pitchFamily="34" charset="-120"/>
                        </a:rPr>
                        <a:t>Biomassa hutan belum dihitung</a:t>
                      </a:r>
                      <a:endParaRPr lang="en-US" sz="1400" dirty="0">
                        <a:latin typeface="Calibri" charset="0"/>
                        <a:ea typeface="Calibri" charset="0"/>
                        <a:cs typeface="Calibri"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indent="0" marL="0">
                        <a:buNone/>
                      </a:pPr>
                      <a:r>
                        <a:rPr lang="en-US" sz="1400" dirty="0">
                          <a:solidFill>
                            <a:srgbClr val="5F6B65"/>
                          </a:solidFill>
                          <a:latin typeface="Calibri" pitchFamily="34" charset="0"/>
                          <a:ea typeface="Calibri" pitchFamily="34" charset="-122"/>
                          <a:cs typeface="Calibri" pitchFamily="34" charset="-120"/>
                        </a:rPr>
                        <a:t>Emisi deforestasi terlalu kecil</a:t>
                      </a:r>
                      <a:endParaRPr lang="en-US" sz="1400" dirty="0">
                        <a:latin typeface="Calibri" charset="0"/>
                        <a:ea typeface="Calibri" charset="0"/>
                        <a:cs typeface="Calibri"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indent="0" marL="0">
                        <a:buNone/>
                      </a:pPr>
                      <a:r>
                        <a:rPr lang="en-US" sz="1400" dirty="0">
                          <a:solidFill>
                            <a:srgbClr val="1B2420"/>
                          </a:solidFill>
                          <a:latin typeface="Calibri" pitchFamily="34" charset="0"/>
                          <a:ea typeface="Calibri" pitchFamily="34" charset="-122"/>
                          <a:cs typeface="Calibri" pitchFamily="34" charset="-120"/>
                        </a:rPr>
                        <a:t>Tambah karbon biomassa (FREL KLHK atau plot); emisi gambut tahunan</a:t>
                      </a:r>
                      <a:endParaRPr lang="en-US" sz="1400" dirty="0">
                        <a:latin typeface="Calibri" charset="0"/>
                        <a:ea typeface="Calibri" charset="0"/>
                        <a:cs typeface="Calibri"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r>
            </a:tbl>
          </a:graphicData>
        </a:graphic>
      </p:graphicFrame>
      <p:sp>
        <p:nvSpPr>
          <p:cNvPr id="6" name="Text 2"/>
          <p:cNvSpPr txBox="1"/>
          <p:nvPr/>
        </p:nvSpPr>
        <p:spPr>
          <a:xfrm>
            <a:off x="548640" y="5989320"/>
            <a:ext cx="10545775" cy="228600"/>
          </a:xfrm>
          <a:prstGeom prst="rect">
            <a:avLst/>
          </a:prstGeom>
          <a:noFill/>
          <a:ln/>
        </p:spPr>
        <p:txBody>
          <a:bodyPr wrap="square" lIns="0" tIns="0" rIns="0" bIns="0" rtlCol="0" anchor="t"/>
          <a:lstStyle/>
          <a:p>
            <a:pPr indent="0" marL="0">
              <a:buNone/>
            </a:pPr>
            <a:r>
              <a:rPr lang="en-US" sz="1000" i="1" dirty="0">
                <a:solidFill>
                  <a:srgbClr val="5F6B65"/>
                </a:solidFill>
              </a:rPr>
              <a:t>Sumber: rumus di sheet Tuplah (2) dan Tuplah, Export_Output_Gambut_M.xlsx.</a:t>
            </a:r>
            <a:endParaRPr lang="en-US" sz="1000" dirty="0"/>
          </a:p>
        </p:txBody>
      </p:sp>
      <p:sp>
        <p:nvSpPr>
          <p:cNvPr id="7" name="luas-redd"/>
          <p:cNvSpPr/>
          <p:nvPr/>
        </p:nvSpPr>
        <p:spPr>
          <a:xfrm>
            <a:off x="548640" y="6400800"/>
            <a:ext cx="748101" cy="91440"/>
          </a:xfrm>
          <a:prstGeom prst="rect">
            <a:avLst/>
          </a:prstGeom>
          <a:solidFill>
            <a:schemeClr val="accent1"/>
          </a:solidFill>
          <a:ln/>
        </p:spPr>
      </p:sp>
      <p:sp>
        <p:nvSpPr>
          <p:cNvPr id="8" name="luas-regen"/>
          <p:cNvSpPr/>
          <p:nvPr/>
        </p:nvSpPr>
        <p:spPr>
          <a:xfrm>
            <a:off x="1319601" y="6400800"/>
            <a:ext cx="22915" cy="91440"/>
          </a:xfrm>
          <a:prstGeom prst="rect">
            <a:avLst/>
          </a:prstGeom>
          <a:solidFill>
            <a:schemeClr val="accent5"/>
          </a:solidFill>
          <a:ln/>
        </p:spPr>
      </p:sp>
      <p:sp>
        <p:nvSpPr>
          <p:cNvPr id="9" name="luas-arr"/>
          <p:cNvSpPr/>
          <p:nvPr/>
        </p:nvSpPr>
        <p:spPr>
          <a:xfrm>
            <a:off x="1365376" y="6400800"/>
            <a:ext cx="323052" cy="91440"/>
          </a:xfrm>
          <a:prstGeom prst="rect">
            <a:avLst/>
          </a:prstGeom>
          <a:solidFill>
            <a:schemeClr val="accent4"/>
          </a:solidFill>
          <a:ln/>
        </p:spPr>
      </p:sp>
      <p:sp>
        <p:nvSpPr>
          <p:cNvPr id="10" name="luas-kebun"/>
          <p:cNvSpPr/>
          <p:nvPr/>
        </p:nvSpPr>
        <p:spPr>
          <a:xfrm>
            <a:off x="1711288" y="6400800"/>
            <a:ext cx="191943" cy="91440"/>
          </a:xfrm>
          <a:prstGeom prst="rect">
            <a:avLst/>
          </a:prstGeom>
          <a:solidFill>
            <a:schemeClr val="accent2"/>
          </a:solidFill>
          <a:ln/>
        </p:spPr>
      </p:sp>
      <p:sp>
        <p:nvSpPr>
          <p:cNvPr id="11" name="luas-defor"/>
          <p:cNvSpPr/>
          <p:nvPr/>
        </p:nvSpPr>
        <p:spPr>
          <a:xfrm>
            <a:off x="1926090" y="6400800"/>
            <a:ext cx="45278" cy="91440"/>
          </a:xfrm>
          <a:prstGeom prst="rect">
            <a:avLst/>
          </a:prstGeom>
          <a:solidFill>
            <a:schemeClr val="accent3"/>
          </a:solidFill>
          <a:ln/>
        </p:spPr>
      </p:sp>
      <p:sp>
        <p:nvSpPr>
          <p:cNvPr id="12" name="luas-sungai"/>
          <p:cNvSpPr/>
          <p:nvPr/>
        </p:nvSpPr>
        <p:spPr>
          <a:xfrm>
            <a:off x="1994229" y="6400800"/>
            <a:ext cx="18288" cy="91440"/>
          </a:xfrm>
          <a:prstGeom prst="rect">
            <a:avLst/>
          </a:prstGeom>
          <a:solidFill>
            <a:schemeClr val="accent6"/>
          </a:solidFill>
          <a:ln/>
        </p:spPr>
      </p:sp>
      <p:sp>
        <p:nvSpPr>
          <p:cNvPr id="13" name="Text 9"/>
          <p:cNvSpPr txBox="1"/>
          <p:nvPr/>
        </p:nvSpPr>
        <p:spPr>
          <a:xfrm>
            <a:off x="2148840" y="6336792"/>
            <a:ext cx="4572000" cy="228600"/>
          </a:xfrm>
          <a:prstGeom prst="rect">
            <a:avLst/>
          </a:prstGeom>
          <a:noFill/>
          <a:ln/>
        </p:spPr>
        <p:txBody>
          <a:bodyPr wrap="square" lIns="0" tIns="0" rIns="0" bIns="0" rtlCol="0" anchor="t"/>
          <a:lstStyle/>
          <a:p>
            <a:pPr indent="0" marL="0">
              <a:buNone/>
            </a:pPr>
            <a:r>
              <a:rPr lang="en-US" sz="1000" dirty="0">
                <a:solidFill>
                  <a:srgbClr val="5F6B65"/>
                </a:solidFill>
              </a:rPr>
              <a:t>Area 2.468,51 ha</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6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822960"/>
            <a:ext cx="11094415" cy="320040"/>
          </a:xfrm>
          <a:prstGeom prst="rect">
            <a:avLst/>
          </a:prstGeom>
          <a:noFill/>
          <a:ln/>
        </p:spPr>
        <p:txBody>
          <a:bodyPr wrap="square" lIns="0" tIns="0" rIns="0" bIns="0" rtlCol="0"/>
          <a:lstStyle/>
          <a:p>
            <a:pPr indent="0" marL="0">
              <a:buNone/>
            </a:pPr>
            <a:r>
              <a:rPr lang="en-US" sz="1400" b="1" spc="300" kern="0" dirty="0">
                <a:solidFill>
                  <a:schemeClr val="accent5"/>
                </a:solidFill>
              </a:rPr>
              <a:t>LANGKAH BERIKUT</a:t>
            </a:r>
            <a:endParaRPr lang="en-US" sz="1400" dirty="0"/>
          </a:p>
        </p:txBody>
      </p:sp>
      <p:sp>
        <p:nvSpPr>
          <p:cNvPr id="3" name="Text 0"/>
          <p:cNvSpPr/>
          <p:nvPr>
            <p:ph idx="101" type="title" hasCustomPrompt="1"/>
          </p:nvPr>
        </p:nvSpPr>
        <p:spPr>
          <a:xfrm>
            <a:off x="548640" y="1280160"/>
            <a:ext cx="10058400" cy="155448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Kunci luasan dulu, baru hitung kredit</a:t>
            </a:r>
            <a:endParaRPr lang="en-US" sz="4000" dirty="0"/>
          </a:p>
        </p:txBody>
      </p:sp>
      <p:sp>
        <p:nvSpPr>
          <p:cNvPr id="5" name="Shape 2"/>
          <p:cNvSpPr/>
          <p:nvPr/>
        </p:nvSpPr>
        <p:spPr>
          <a:xfrm>
            <a:off x="548640" y="3154680"/>
            <a:ext cx="2499284" cy="0"/>
          </a:xfrm>
          <a:prstGeom prst="line">
            <a:avLst/>
          </a:prstGeom>
          <a:noFill/>
          <a:ln w="12700">
            <a:solidFill>
              <a:srgbClr val="7FB096"/>
            </a:solidFill>
            <a:prstDash val="solid"/>
          </a:ln>
        </p:spPr>
      </p:sp>
      <p:sp>
        <p:nvSpPr>
          <p:cNvPr id="6" name="Text 3"/>
          <p:cNvSpPr txBox="1"/>
          <p:nvPr/>
        </p:nvSpPr>
        <p:spPr>
          <a:xfrm>
            <a:off x="548640" y="3291840"/>
            <a:ext cx="2499284" cy="457200"/>
          </a:xfrm>
          <a:prstGeom prst="rect">
            <a:avLst/>
          </a:prstGeom>
          <a:noFill/>
          <a:ln/>
        </p:spPr>
        <p:txBody>
          <a:bodyPr wrap="square" lIns="0" tIns="0" rIns="0" bIns="0" rtlCol="0" anchor="t"/>
          <a:lstStyle/>
          <a:p>
            <a:pPr indent="0" marL="0">
              <a:buNone/>
            </a:pPr>
            <a:r>
              <a:rPr lang="en-US" sz="2600" b="1" dirty="0">
                <a:solidFill>
                  <a:schemeClr val="accent5"/>
                </a:solidFill>
                <a:latin typeface="Cambria" pitchFamily="34" charset="0"/>
                <a:ea typeface="Cambria" pitchFamily="34" charset="-122"/>
                <a:cs typeface="Cambria" pitchFamily="34" charset="-120"/>
              </a:rPr>
              <a:t>1</a:t>
            </a:r>
            <a:endParaRPr lang="en-US" sz="2600" dirty="0"/>
          </a:p>
        </p:txBody>
      </p:sp>
      <p:sp>
        <p:nvSpPr>
          <p:cNvPr id="7" name="Text 4"/>
          <p:cNvSpPr txBox="1"/>
          <p:nvPr/>
        </p:nvSpPr>
        <p:spPr>
          <a:xfrm>
            <a:off x="548640" y="3840480"/>
            <a:ext cx="2499284" cy="365760"/>
          </a:xfrm>
          <a:prstGeom prst="rect">
            <a:avLst/>
          </a:prstGeom>
          <a:noFill/>
          <a:ln/>
        </p:spPr>
        <p:txBody>
          <a:bodyPr wrap="square" lIns="0" tIns="0" rIns="0" bIns="0" rtlCol="0" anchor="t"/>
          <a:lstStyle/>
          <a:p>
            <a:pPr indent="0" marL="0">
              <a:buNone/>
            </a:pPr>
            <a:r>
              <a:rPr lang="en-US" sz="1700" b="1" dirty="0">
                <a:solidFill>
                  <a:schemeClr val="bg1"/>
                </a:solidFill>
              </a:rPr>
              <a:t>Cek data</a:t>
            </a:r>
            <a:endParaRPr lang="en-US" sz="1700" dirty="0"/>
          </a:p>
        </p:txBody>
      </p:sp>
      <p:sp>
        <p:nvSpPr>
          <p:cNvPr id="8" name="Text 5"/>
          <p:cNvSpPr txBox="1"/>
          <p:nvPr/>
        </p:nvSpPr>
        <p:spPr>
          <a:xfrm>
            <a:off x="548640" y="4251960"/>
            <a:ext cx="2499284" cy="1005840"/>
          </a:xfrm>
          <a:prstGeom prst="rect">
            <a:avLst/>
          </a:prstGeom>
          <a:noFill/>
          <a:ln/>
        </p:spPr>
        <p:txBody>
          <a:bodyPr wrap="square" lIns="0" tIns="0" rIns="0" bIns="0" rtlCol="0" anchor="t"/>
          <a:lstStyle/>
          <a:p>
            <a:pPr indent="0" marL="0">
              <a:buNone/>
            </a:pPr>
            <a:r>
              <a:rPr lang="en-US" sz="1400" dirty="0">
                <a:solidFill>
                  <a:srgbClr val="C8D6CD"/>
                </a:solidFill>
              </a:rPr>
              <a:t>Klasifikasi citra 2021 dan definisi hutan untuk 41,94 ha regenerasi</a:t>
            </a:r>
            <a:endParaRPr lang="en-US" sz="1400" dirty="0"/>
          </a:p>
        </p:txBody>
      </p:sp>
      <p:sp>
        <p:nvSpPr>
          <p:cNvPr id="9" name="Shape 6"/>
          <p:cNvSpPr/>
          <p:nvPr/>
        </p:nvSpPr>
        <p:spPr>
          <a:xfrm>
            <a:off x="3413684" y="3154680"/>
            <a:ext cx="2499284" cy="0"/>
          </a:xfrm>
          <a:prstGeom prst="line">
            <a:avLst/>
          </a:prstGeom>
          <a:noFill/>
          <a:ln w="12700">
            <a:solidFill>
              <a:srgbClr val="7FB096"/>
            </a:solidFill>
            <a:prstDash val="solid"/>
          </a:ln>
        </p:spPr>
      </p:sp>
      <p:sp>
        <p:nvSpPr>
          <p:cNvPr id="10" name="Text 7"/>
          <p:cNvSpPr txBox="1"/>
          <p:nvPr/>
        </p:nvSpPr>
        <p:spPr>
          <a:xfrm>
            <a:off x="3413684" y="3291840"/>
            <a:ext cx="2499284" cy="457200"/>
          </a:xfrm>
          <a:prstGeom prst="rect">
            <a:avLst/>
          </a:prstGeom>
          <a:noFill/>
          <a:ln/>
        </p:spPr>
        <p:txBody>
          <a:bodyPr wrap="square" lIns="0" tIns="0" rIns="0" bIns="0" rtlCol="0" anchor="t"/>
          <a:lstStyle/>
          <a:p>
            <a:pPr indent="0" marL="0">
              <a:buNone/>
            </a:pPr>
            <a:r>
              <a:rPr lang="en-US" sz="2600" b="1" dirty="0">
                <a:solidFill>
                  <a:schemeClr val="accent5"/>
                </a:solidFill>
                <a:latin typeface="Cambria" pitchFamily="34" charset="0"/>
                <a:ea typeface="Cambria" pitchFamily="34" charset="-122"/>
                <a:cs typeface="Cambria" pitchFamily="34" charset="-120"/>
              </a:rPr>
              <a:t>2</a:t>
            </a:r>
            <a:endParaRPr lang="en-US" sz="2600" dirty="0"/>
          </a:p>
        </p:txBody>
      </p:sp>
      <p:sp>
        <p:nvSpPr>
          <p:cNvPr id="11" name="Text 8"/>
          <p:cNvSpPr txBox="1"/>
          <p:nvPr/>
        </p:nvSpPr>
        <p:spPr>
          <a:xfrm>
            <a:off x="3413684" y="3840480"/>
            <a:ext cx="2499284" cy="365760"/>
          </a:xfrm>
          <a:prstGeom prst="rect">
            <a:avLst/>
          </a:prstGeom>
          <a:noFill/>
          <a:ln/>
        </p:spPr>
        <p:txBody>
          <a:bodyPr wrap="square" lIns="0" tIns="0" rIns="0" bIns="0" rtlCol="0" anchor="t"/>
          <a:lstStyle/>
          <a:p>
            <a:pPr indent="0" marL="0">
              <a:buNone/>
            </a:pPr>
            <a:r>
              <a:rPr lang="en-US" sz="1700" b="1" dirty="0">
                <a:solidFill>
                  <a:schemeClr val="bg1"/>
                </a:solidFill>
              </a:rPr>
              <a:t>Cek standar</a:t>
            </a:r>
            <a:endParaRPr lang="en-US" sz="1700" dirty="0"/>
          </a:p>
        </p:txBody>
      </p:sp>
      <p:sp>
        <p:nvSpPr>
          <p:cNvPr id="12" name="Text 9"/>
          <p:cNvSpPr txBox="1"/>
          <p:nvPr/>
        </p:nvSpPr>
        <p:spPr>
          <a:xfrm>
            <a:off x="3413684" y="4251960"/>
            <a:ext cx="2499284" cy="1005840"/>
          </a:xfrm>
          <a:prstGeom prst="rect">
            <a:avLst/>
          </a:prstGeom>
          <a:noFill/>
          <a:ln/>
        </p:spPr>
        <p:txBody>
          <a:bodyPr wrap="square" lIns="0" tIns="0" rIns="0" bIns="0" rtlCol="0" anchor="t"/>
          <a:lstStyle/>
          <a:p>
            <a:pPr indent="0" marL="0">
              <a:buNone/>
            </a:pPr>
            <a:r>
              <a:rPr lang="en-US" sz="1400" dirty="0">
                <a:solidFill>
                  <a:srgbClr val="C8D6CD"/>
                </a:solidFill>
              </a:rPr>
              <a:t>Syarat 10 tahun REDD+ dan ARR di PV Climate Requirements terbaru</a:t>
            </a:r>
            <a:endParaRPr lang="en-US" sz="1400" dirty="0"/>
          </a:p>
        </p:txBody>
      </p:sp>
      <p:sp>
        <p:nvSpPr>
          <p:cNvPr id="13" name="Shape 10"/>
          <p:cNvSpPr/>
          <p:nvPr/>
        </p:nvSpPr>
        <p:spPr>
          <a:xfrm>
            <a:off x="6278728" y="3154680"/>
            <a:ext cx="2499284" cy="0"/>
          </a:xfrm>
          <a:prstGeom prst="line">
            <a:avLst/>
          </a:prstGeom>
          <a:noFill/>
          <a:ln w="12700">
            <a:solidFill>
              <a:srgbClr val="7FB096"/>
            </a:solidFill>
            <a:prstDash val="solid"/>
          </a:ln>
        </p:spPr>
      </p:sp>
      <p:sp>
        <p:nvSpPr>
          <p:cNvPr id="14" name="Text 11"/>
          <p:cNvSpPr txBox="1"/>
          <p:nvPr/>
        </p:nvSpPr>
        <p:spPr>
          <a:xfrm>
            <a:off x="6278728" y="3291840"/>
            <a:ext cx="2499284" cy="457200"/>
          </a:xfrm>
          <a:prstGeom prst="rect">
            <a:avLst/>
          </a:prstGeom>
          <a:noFill/>
          <a:ln/>
        </p:spPr>
        <p:txBody>
          <a:bodyPr wrap="square" lIns="0" tIns="0" rIns="0" bIns="0" rtlCol="0" anchor="t"/>
          <a:lstStyle/>
          <a:p>
            <a:pPr indent="0" marL="0">
              <a:buNone/>
            </a:pPr>
            <a:r>
              <a:rPr lang="en-US" sz="2600" b="1" dirty="0">
                <a:solidFill>
                  <a:schemeClr val="accent5"/>
                </a:solidFill>
                <a:latin typeface="Cambria" pitchFamily="34" charset="0"/>
                <a:ea typeface="Cambria" pitchFamily="34" charset="-122"/>
                <a:cs typeface="Cambria" pitchFamily="34" charset="-120"/>
              </a:rPr>
              <a:t>3</a:t>
            </a:r>
            <a:endParaRPr lang="en-US" sz="2600" dirty="0"/>
          </a:p>
        </p:txBody>
      </p:sp>
      <p:sp>
        <p:nvSpPr>
          <p:cNvPr id="15" name="Text 12"/>
          <p:cNvSpPr txBox="1"/>
          <p:nvPr/>
        </p:nvSpPr>
        <p:spPr>
          <a:xfrm>
            <a:off x="6278728" y="3840480"/>
            <a:ext cx="2499284" cy="365760"/>
          </a:xfrm>
          <a:prstGeom prst="rect">
            <a:avLst/>
          </a:prstGeom>
          <a:noFill/>
          <a:ln/>
        </p:spPr>
        <p:txBody>
          <a:bodyPr wrap="square" lIns="0" tIns="0" rIns="0" bIns="0" rtlCol="0" anchor="t"/>
          <a:lstStyle/>
          <a:p>
            <a:pPr indent="0" marL="0">
              <a:buNone/>
            </a:pPr>
            <a:r>
              <a:rPr lang="en-US" sz="1700" b="1" dirty="0">
                <a:solidFill>
                  <a:schemeClr val="bg1"/>
                </a:solidFill>
              </a:rPr>
              <a:t>Perbaiki model</a:t>
            </a:r>
            <a:endParaRPr lang="en-US" sz="1700" dirty="0"/>
          </a:p>
        </p:txBody>
      </p:sp>
      <p:sp>
        <p:nvSpPr>
          <p:cNvPr id="16" name="Text 13"/>
          <p:cNvSpPr txBox="1"/>
          <p:nvPr/>
        </p:nvSpPr>
        <p:spPr>
          <a:xfrm>
            <a:off x="6278728" y="4251960"/>
            <a:ext cx="2499284" cy="1005840"/>
          </a:xfrm>
          <a:prstGeom prst="rect">
            <a:avLst/>
          </a:prstGeom>
          <a:noFill/>
          <a:ln/>
        </p:spPr>
        <p:txBody>
          <a:bodyPr wrap="square" lIns="0" tIns="0" rIns="0" bIns="0" rtlCol="0" anchor="t"/>
          <a:lstStyle/>
          <a:p>
            <a:pPr indent="0" marL="0">
              <a:buNone/>
            </a:pPr>
            <a:r>
              <a:rPr lang="en-US" sz="1400" dirty="0">
                <a:solidFill>
                  <a:srgbClr val="C8D6CD"/>
                </a:solidFill>
              </a:rPr>
              <a:t>Lima rumus, kedalaman gambut, dan nilai biomassa hutan rawa sekunder</a:t>
            </a:r>
            <a:endParaRPr lang="en-US" sz="1400" dirty="0"/>
          </a:p>
        </p:txBody>
      </p:sp>
      <p:sp>
        <p:nvSpPr>
          <p:cNvPr id="17" name="Shape 14"/>
          <p:cNvSpPr/>
          <p:nvPr/>
        </p:nvSpPr>
        <p:spPr>
          <a:xfrm>
            <a:off x="9143771" y="3154680"/>
            <a:ext cx="2499284" cy="0"/>
          </a:xfrm>
          <a:prstGeom prst="line">
            <a:avLst/>
          </a:prstGeom>
          <a:noFill/>
          <a:ln w="12700">
            <a:solidFill>
              <a:srgbClr val="7FB096"/>
            </a:solidFill>
            <a:prstDash val="solid"/>
          </a:ln>
        </p:spPr>
      </p:sp>
      <p:sp>
        <p:nvSpPr>
          <p:cNvPr id="18" name="Text 15"/>
          <p:cNvSpPr txBox="1"/>
          <p:nvPr/>
        </p:nvSpPr>
        <p:spPr>
          <a:xfrm>
            <a:off x="9143771" y="3291840"/>
            <a:ext cx="2499284" cy="457200"/>
          </a:xfrm>
          <a:prstGeom prst="rect">
            <a:avLst/>
          </a:prstGeom>
          <a:noFill/>
          <a:ln/>
        </p:spPr>
        <p:txBody>
          <a:bodyPr wrap="square" lIns="0" tIns="0" rIns="0" bIns="0" rtlCol="0" anchor="t"/>
          <a:lstStyle/>
          <a:p>
            <a:pPr indent="0" marL="0">
              <a:buNone/>
            </a:pPr>
            <a:r>
              <a:rPr lang="en-US" sz="2600" b="1" dirty="0">
                <a:solidFill>
                  <a:schemeClr val="accent5"/>
                </a:solidFill>
                <a:latin typeface="Cambria" pitchFamily="34" charset="0"/>
                <a:ea typeface="Cambria" pitchFamily="34" charset="-122"/>
                <a:cs typeface="Cambria" pitchFamily="34" charset="-120"/>
              </a:rPr>
              <a:t>4</a:t>
            </a:r>
            <a:endParaRPr lang="en-US" sz="2600" dirty="0"/>
          </a:p>
        </p:txBody>
      </p:sp>
      <p:sp>
        <p:nvSpPr>
          <p:cNvPr id="19" name="Text 16"/>
          <p:cNvSpPr txBox="1"/>
          <p:nvPr/>
        </p:nvSpPr>
        <p:spPr>
          <a:xfrm>
            <a:off x="9143771" y="3840480"/>
            <a:ext cx="2499284" cy="365760"/>
          </a:xfrm>
          <a:prstGeom prst="rect">
            <a:avLst/>
          </a:prstGeom>
          <a:noFill/>
          <a:ln/>
        </p:spPr>
        <p:txBody>
          <a:bodyPr wrap="square" lIns="0" tIns="0" rIns="0" bIns="0" rtlCol="0" anchor="t"/>
          <a:lstStyle/>
          <a:p>
            <a:pPr indent="0" marL="0">
              <a:buNone/>
            </a:pPr>
            <a:r>
              <a:rPr lang="en-US" sz="1700" b="1" dirty="0">
                <a:solidFill>
                  <a:schemeClr val="bg1"/>
                </a:solidFill>
              </a:rPr>
              <a:t>Hitung ulang</a:t>
            </a:r>
            <a:endParaRPr lang="en-US" sz="1700" dirty="0"/>
          </a:p>
        </p:txBody>
      </p:sp>
      <p:sp>
        <p:nvSpPr>
          <p:cNvPr id="20" name="Text 17"/>
          <p:cNvSpPr txBox="1"/>
          <p:nvPr/>
        </p:nvSpPr>
        <p:spPr>
          <a:xfrm>
            <a:off x="9143771" y="4251960"/>
            <a:ext cx="2499284" cy="1005840"/>
          </a:xfrm>
          <a:prstGeom prst="rect">
            <a:avLst/>
          </a:prstGeom>
          <a:noFill/>
          <a:ln/>
        </p:spPr>
        <p:txBody>
          <a:bodyPr wrap="square" lIns="0" tIns="0" rIns="0" bIns="0" rtlCol="0" anchor="t"/>
          <a:lstStyle/>
          <a:p>
            <a:pPr indent="0" marL="0">
              <a:buNone/>
            </a:pPr>
            <a:r>
              <a:rPr lang="en-US" sz="1400" dirty="0">
                <a:solidFill>
                  <a:srgbClr val="C8D6CD"/>
                </a:solidFill>
              </a:rPr>
              <a:t>Baseline REDD+ dengan laju bruto; potensi ARR untuk 591 ha</a:t>
            </a:r>
            <a:endParaRPr lang="en-US" sz="1400" dirty="0"/>
          </a:p>
        </p:txBody>
      </p:sp>
      <p:sp>
        <p:nvSpPr>
          <p:cNvPr id="21" name="luas-redd"/>
          <p:cNvSpPr/>
          <p:nvPr/>
        </p:nvSpPr>
        <p:spPr>
          <a:xfrm>
            <a:off x="548640" y="5486400"/>
            <a:ext cx="6061396" cy="201168"/>
          </a:xfrm>
          <a:prstGeom prst="rect">
            <a:avLst/>
          </a:prstGeom>
          <a:solidFill>
            <a:schemeClr val="accent1"/>
          </a:solidFill>
          <a:ln/>
        </p:spPr>
      </p:sp>
      <p:sp>
        <p:nvSpPr>
          <p:cNvPr id="22" name="luas-regen"/>
          <p:cNvSpPr/>
          <p:nvPr/>
        </p:nvSpPr>
        <p:spPr>
          <a:xfrm>
            <a:off x="6643319" y="5486400"/>
            <a:ext cx="185667" cy="201168"/>
          </a:xfrm>
          <a:prstGeom prst="rect">
            <a:avLst/>
          </a:prstGeom>
          <a:solidFill>
            <a:schemeClr val="accent5"/>
          </a:solidFill>
          <a:ln/>
        </p:spPr>
      </p:sp>
      <p:sp>
        <p:nvSpPr>
          <p:cNvPr id="23" name="luas-arr"/>
          <p:cNvSpPr/>
          <p:nvPr/>
        </p:nvSpPr>
        <p:spPr>
          <a:xfrm>
            <a:off x="6862269" y="5486400"/>
            <a:ext cx="2617485" cy="201168"/>
          </a:xfrm>
          <a:prstGeom prst="rect">
            <a:avLst/>
          </a:prstGeom>
          <a:solidFill>
            <a:schemeClr val="accent4"/>
          </a:solidFill>
          <a:ln/>
        </p:spPr>
      </p:sp>
      <p:sp>
        <p:nvSpPr>
          <p:cNvPr id="24" name="luas-kebun"/>
          <p:cNvSpPr/>
          <p:nvPr/>
        </p:nvSpPr>
        <p:spPr>
          <a:xfrm>
            <a:off x="9513038" y="5486400"/>
            <a:ext cx="1555192" cy="201168"/>
          </a:xfrm>
          <a:prstGeom prst="rect">
            <a:avLst/>
          </a:prstGeom>
          <a:solidFill>
            <a:schemeClr val="accent2"/>
          </a:solidFill>
          <a:ln/>
        </p:spPr>
      </p:sp>
      <p:sp>
        <p:nvSpPr>
          <p:cNvPr id="25" name="luas-defor"/>
          <p:cNvSpPr/>
          <p:nvPr/>
        </p:nvSpPr>
        <p:spPr>
          <a:xfrm>
            <a:off x="11101512" y="5486400"/>
            <a:ext cx="366862" cy="201168"/>
          </a:xfrm>
          <a:prstGeom prst="rect">
            <a:avLst/>
          </a:prstGeom>
          <a:solidFill>
            <a:schemeClr val="accent3"/>
          </a:solidFill>
          <a:ln/>
        </p:spPr>
      </p:sp>
      <p:sp>
        <p:nvSpPr>
          <p:cNvPr id="26" name="luas-sungai"/>
          <p:cNvSpPr/>
          <p:nvPr/>
        </p:nvSpPr>
        <p:spPr>
          <a:xfrm>
            <a:off x="11501658" y="5486400"/>
            <a:ext cx="141309" cy="201168"/>
          </a:xfrm>
          <a:prstGeom prst="rect">
            <a:avLst/>
          </a:prstGeom>
          <a:solidFill>
            <a:schemeClr val="accent6"/>
          </a:solidFill>
          <a:ln/>
        </p:spPr>
      </p:sp>
      <p:sp>
        <p:nvSpPr>
          <p:cNvPr id="27" name="Text 24"/>
          <p:cNvSpPr txBox="1"/>
          <p:nvPr/>
        </p:nvSpPr>
        <p:spPr>
          <a:xfrm>
            <a:off x="548640" y="5852160"/>
            <a:ext cx="11094415" cy="274320"/>
          </a:xfrm>
          <a:prstGeom prst="rect">
            <a:avLst/>
          </a:prstGeom>
          <a:noFill/>
          <a:ln/>
        </p:spPr>
        <p:txBody>
          <a:bodyPr wrap="square" lIns="0" tIns="0" rIns="0" bIns="0" rtlCol="0" anchor="t"/>
          <a:lstStyle/>
          <a:p>
            <a:pPr indent="0" marL="0">
              <a:buNone/>
            </a:pPr>
            <a:r>
              <a:rPr lang="en-US" sz="1200" dirty="0">
                <a:solidFill>
                  <a:schemeClr val="accent5"/>
                </a:solidFill>
              </a:rPr>
              <a:t>Area 2.468,51 ha · REDD+ 1.411,16 ha · ARR layak 591,26 ha</a:t>
            </a:r>
            <a:endParaRPr lang="en-US" sz="1200" dirty="0"/>
          </a:p>
        </p:txBody>
      </p:sp>
    </p:spTree>
  </p:cSld>
  <p:clrMapOvr>
    <a:masterClrMapping/>
  </p:clrMapOvr>
</p:sld>
</file>

<file path=ppt/theme/theme1.xml><?xml version="1.0" encoding="utf-8"?>
<a:theme xmlns:a="http://schemas.openxmlformats.org/drawingml/2006/main" name="Mayawana Karbon">
  <a:themeElements>
    <a:clrScheme name="Mayawana Karbon">
      <a:dk1>
        <a:srgbClr val="1B2420"/>
      </a:dk1>
      <a:lt1>
        <a:srgbClr val="FFFFFF"/>
      </a:lt1>
      <a:dk2>
        <a:srgbClr val="163A2E"/>
      </a:dk2>
      <a:lt2>
        <a:srgbClr val="EEF2EE"/>
      </a:lt2>
      <a:accent1>
        <a:srgbClr val="1F5A45"/>
      </a:accent1>
      <a:accent2>
        <a:srgbClr val="9C967F"/>
      </a:accent2>
      <a:accent3>
        <a:srgbClr val="B5551F"/>
      </a:accent3>
      <a:accent4>
        <a:srgbClr val="C8901E"/>
      </a:accent4>
      <a:accent5>
        <a:srgbClr val="7FB096"/>
      </a:accent5>
      <a:accent6>
        <a:srgbClr val="3E78A8"/>
      </a:accent6>
      <a:hlink>
        <a:srgbClr val="1F5A45"/>
      </a:hlink>
      <a:folHlink>
        <a:srgbClr val="5F6B65"/>
      </a:folHlink>
    </a:clrScheme>
    <a:fontScheme name="Mayawana Karb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Luasan REDD+ dan ARR — Metode Plan Vivo</dc:title>
  <dc:subject>PptxGenJS Presentation</dc:subject>
  <dc:creator>PptxGenJS</dc:creator>
  <cp:lastModifiedBy>PptxGenJS</cp:lastModifiedBy>
  <cp:revision>1</cp:revision>
  <dcterms:created xsi:type="dcterms:W3CDTF">2026-10-22T13:08:07Z</dcterms:created>
  <dcterms:modified xsi:type="dcterms:W3CDTF">2026-10-22T13:08:07Z</dcterms:modified>
</cp:coreProperties>
</file>