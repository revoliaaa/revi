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SETAPAK 4 selesai ketika PIN disetujui dan proyek tercantum di pipeline Plan Vivo. Itu bukan registrasi dan belum menghasilkan kredit. STEP 2 (PDD, validasi, registrasi, monitoring, verifikasi, issuance, penjualan) membutuhkan pendanaan dan mitra lanjutan. Belah ketupat = keputusan pihak luar, tanggalnya tidak bisa dijamin.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SETAPAK 4 membawa proyek sampai gerbang Plan Vivo Pipeline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kredit karbon baru lahir di fase pengembangan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6903720" cy="38404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98448"/>
            <a:ext cx="68122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1 · SETAPAK 4 (didukung TAF)  </a:t>
            </a:r>
            <a:r>
              <a:rPr sz="1000" b="0">
                <a:solidFill>
                  <a:srgbClr val="FFFFFF"/>
                </a:solidFill>
                <a:latin typeface="Calibri"/>
              </a:rPr>
              <a:t>Persiapan → PIN → Pipeline · SAMPAN Kalimantan &amp; LPHD Pasir · Okt 2026 – ±Apr 2028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298448"/>
            <a:ext cx="4096512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298448"/>
            <a:ext cx="4005072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2 · POST-SETAPAK 4  </a:t>
            </a:r>
            <a:r>
              <a:rPr sz="1000" b="0">
                <a:solidFill>
                  <a:srgbClr val="FFFFFF"/>
                </a:solidFill>
                <a:latin typeface="Calibri"/>
              </a:rPr>
              <a:t>PDD → kredit → penjualan · 2028+ (indikatif)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1188720"/>
            <a:ext cx="0" cy="3886200"/>
          </a:xfrm>
          <a:prstGeom prst="line">
            <a:avLst/>
          </a:prstGeom>
          <a:ln w="2857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931151" y="1783080"/>
            <a:ext cx="1133856" cy="274320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TRANSITION GATE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" y="2514600"/>
            <a:ext cx="6656831" cy="0"/>
          </a:xfrm>
          <a:prstGeom prst="line">
            <a:avLst/>
          </a:prstGeom>
          <a:ln w="381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514600"/>
            <a:ext cx="4160521" cy="0"/>
          </a:xfrm>
          <a:prstGeom prst="line">
            <a:avLst/>
          </a:prstGeom>
          <a:ln w="381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Okt 26–Des 26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Inisiasi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kelembagaan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memo legal awal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26–Jan 27</a:t>
            </a:r>
          </a:p>
        </p:txBody>
      </p:sp>
      <p:sp>
        <p:nvSpPr>
          <p:cNvPr id="18" name="Oval 17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Identifikasi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keterlibatan pihak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Stakeholder register,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Jan 27–Jul 27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3432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Kajian partisipatif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FPIC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2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BA FPIC tahap i–ii,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GRM aktif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0984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Mar 27–Sep 27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KUPS, WFD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livelihood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ToC, prinsip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benefit-sharing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6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Feb 27–Agu 27</a:t>
            </a:r>
          </a:p>
        </p:txBody>
      </p:sp>
      <p:sp>
        <p:nvSpPr>
          <p:cNvPr id="30" name="Oval 29"/>
          <p:cNvSpPr/>
          <p:nvPr/>
        </p:nvSpPr>
        <p:spPr>
          <a:xfrm>
            <a:off x="4581144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Kelayakan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karbon awal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Feasibility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Go/No-Go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Agu 27–Nov 27</a:t>
            </a:r>
          </a:p>
        </p:txBody>
      </p:sp>
      <p:sp>
        <p:nvSpPr>
          <p:cNvPr id="34" name="Oval 33"/>
          <p:cNvSpPr/>
          <p:nvPr/>
        </p:nvSpPr>
        <p:spPr>
          <a:xfrm>
            <a:off x="556869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Penyusunan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pengajuan PIN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terkirim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+ fee dibayar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27–Apr 28</a:t>
            </a:r>
          </a:p>
        </p:txBody>
      </p:sp>
      <p:sp>
        <p:nvSpPr>
          <p:cNvPr id="38" name="Diamond 37"/>
          <p:cNvSpPr/>
          <p:nvPr/>
        </p:nvSpPr>
        <p:spPr>
          <a:xfrm>
            <a:off x="6492240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Penerimaan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disetujui,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tercantum di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2028–2029</a:t>
            </a:r>
          </a:p>
        </p:txBody>
      </p:sp>
      <p:sp>
        <p:nvSpPr>
          <p:cNvPr id="42" name="Oval 41"/>
          <p:cNvSpPr/>
          <p:nvPr/>
        </p:nvSpPr>
        <p:spPr>
          <a:xfrm>
            <a:off x="7973567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Desain penuh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PDD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PDD lolos screening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&amp; review Plan Vivo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5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2029–2030</a:t>
            </a:r>
          </a:p>
        </p:txBody>
      </p:sp>
      <p:sp>
        <p:nvSpPr>
          <p:cNvPr id="46" name="Diamond 45"/>
          <p:cNvSpPr/>
          <p:nvPr/>
        </p:nvSpPr>
        <p:spPr>
          <a:xfrm>
            <a:off x="877823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Validasi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registrasi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5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Validation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MoU, registry account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2030 →</a:t>
            </a:r>
          </a:p>
        </p:txBody>
      </p:sp>
      <p:sp>
        <p:nvSpPr>
          <p:cNvPr id="50" name="Oval 49"/>
          <p:cNvSpPr/>
          <p:nvPr/>
        </p:nvSpPr>
        <p:spPr>
          <a:xfrm>
            <a:off x="971092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Implementasi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monitoring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Annual Report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tiap 12 bulan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1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≤5 th pasca-validasi</a:t>
            </a:r>
          </a:p>
        </p:txBody>
      </p:sp>
      <p:sp>
        <p:nvSpPr>
          <p:cNvPr id="54" name="Diamond 53"/>
          <p:cNvSpPr/>
          <p:nvPr/>
        </p:nvSpPr>
        <p:spPr>
          <a:xfrm>
            <a:off x="1051559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1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Verifikasi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issuance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1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vPVC di PV Climate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Registry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paralel sejak M8</a:t>
            </a:r>
          </a:p>
        </p:txBody>
      </p:sp>
      <p:sp>
        <p:nvSpPr>
          <p:cNvPr id="58" name="Oval 57"/>
          <p:cNvSpPr/>
          <p:nvPr/>
        </p:nvSpPr>
        <p:spPr>
          <a:xfrm>
            <a:off x="1144828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Komersialisasi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bagi manfaat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0140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3566160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(bulan program)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373075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3767328"/>
            <a:ext cx="1025090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388620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18936" y="3922776"/>
            <a:ext cx="1025090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041648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02330" y="4078224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4197096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85724" y="4233672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4352544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44027" y="4389120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0799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94208" y="4544568"/>
            <a:ext cx="1366787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466344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19298" y="4700016"/>
            <a:ext cx="2050181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801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53101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78191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 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328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837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53463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02330" y="4046220"/>
            <a:ext cx="3075271" cy="466344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23322" y="4059936"/>
            <a:ext cx="17373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∥ M3 · M4 · M5 berjalan paralel</a:t>
            </a:r>
          </a:p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(bulan 4–12)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79" y="3566160"/>
            <a:ext cx="4023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(tahun, indikatif)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373075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902244" y="3767328"/>
            <a:ext cx="877823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43800" y="3886200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63025" y="3922776"/>
            <a:ext cx="585215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43800" y="4041648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189719" y="4078224"/>
            <a:ext cx="2633472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43800" y="419709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067544" y="4233672"/>
            <a:ext cx="409651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543800" y="435254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077809" y="4389120"/>
            <a:ext cx="3745382" cy="100584"/>
          </a:xfrm>
          <a:prstGeom prst="rect">
            <a:avLst/>
          </a:prstGeom>
          <a:solidFill>
            <a:srgbClr val="E6E9EF"/>
          </a:solidFill>
          <a:ln w="6350">
            <a:solidFill>
              <a:srgbClr val="8A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472062" y="4233672"/>
            <a:ext cx="351129" cy="100584"/>
          </a:xfrm>
          <a:prstGeom prst="rect">
            <a:avLst/>
          </a:prstGeom>
          <a:noFill/>
          <a:ln w="9525">
            <a:solidFill>
              <a:srgbClr val="1F2A4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98079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329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68511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253728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838944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24159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0937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94592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/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26679" y="4736592"/>
            <a:ext cx="4069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5F6B65"/>
                </a:solidFill>
                <a:latin typeface="Calibri"/>
              </a:rPr>
              <a:t>M12 dimulai paralel sejak M8 (offtake/pre-finance); transaksi unit mengikuti issuance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65760" y="5157216"/>
            <a:ext cx="11457432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11480" y="5285231"/>
            <a:ext cx="219456" cy="219456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5800" y="527608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Milestone internal (dikendalikan tim)</a:t>
            </a:r>
          </a:p>
        </p:txBody>
      </p:sp>
      <p:sp>
        <p:nvSpPr>
          <p:cNvPr id="109" name="Diamond 108"/>
          <p:cNvSpPr/>
          <p:nvPr/>
        </p:nvSpPr>
        <p:spPr>
          <a:xfrm>
            <a:off x="393192" y="5577840"/>
            <a:ext cx="256032" cy="256032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85800" y="559612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Persetujuan eksternal (Plan Vivo / VVB)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11480" y="6016752"/>
            <a:ext cx="228600" cy="0"/>
          </a:xfrm>
          <a:prstGeom prst="line">
            <a:avLst/>
          </a:prstGeom>
          <a:ln w="25400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685800" y="59161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Batas cakupan SETAPAK 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1480" y="6199631"/>
            <a:ext cx="228600" cy="91440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" y="61447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Aktivitas paralel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46120" y="5230368"/>
            <a:ext cx="40690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Arti gerbang: </a:t>
            </a:r>
            <a:r>
              <a:rPr sz="800" b="0">
                <a:solidFill>
                  <a:srgbClr val="1B2420"/>
                </a:solidFill>
                <a:latin typeface="Calibri"/>
              </a:rPr>
              <a:t>PIN disetujui Plan Vivo → proyek tercantum di Project pipeline. Pengajuan PIN (M6) belum berarti diterima; review ±6 minggu + putaran CAR/NIR (±4 minggu tiap putaran).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Pipeline ≠ registrasi ≠ issuance. </a:t>
            </a:r>
            <a:r>
              <a:rPr sz="800" b="0">
                <a:solidFill>
                  <a:srgbClr val="1B2420"/>
                </a:solidFill>
                <a:latin typeface="Calibri"/>
              </a:rPr>
              <a:t>Registrasi baru setelah validasi (M9). PDD wajib diajukan ≤3 tahun setelah PIN disetujui.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589520" y="5230368"/>
            <a:ext cx="425196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Unit Plan Vivo (PVC) di STEP 2: 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fPVC </a:t>
            </a:r>
            <a:r>
              <a:rPr sz="800" b="0">
                <a:solidFill>
                  <a:srgbClr val="1B2420"/>
                </a:solidFill>
                <a:latin typeface="Calibri"/>
              </a:rPr>
              <a:t>saat validasi — hanya intervensi serapan (restorasi)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rPVC </a:t>
            </a:r>
            <a:r>
              <a:rPr sz="800" b="0">
                <a:solidFill>
                  <a:srgbClr val="1B2420"/>
                </a:solidFill>
                <a:latin typeface="Calibri"/>
              </a:rPr>
              <a:t>dari monitoring di Annual Report, belum diverifikasi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vPVC </a:t>
            </a:r>
            <a:r>
              <a:rPr sz="800" b="0">
                <a:solidFill>
                  <a:srgbClr val="1B2420"/>
                </a:solidFill>
                <a:latin typeface="Calibri"/>
              </a:rPr>
              <a:t>setelah verifikasi (≤5 th pasca-validasi) — satu-satunya unit yang dapat di-retire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(Bab 1–9, 14); Project Requirements V5.7; Participatory Toolkit V1.0. Tanggal STEP 2 dan seluruh persetujuan eksternal bersifat indikatif.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4 · TIMELINE &amp; CRITICAL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Jalur kritis melewati FPIC dan keputusan metodologi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PIN dikirim paling lambat bulan ke-14 (Nov 2027)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42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42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53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853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63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63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074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74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684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84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295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5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05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05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Mei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516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16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126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26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374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37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Agu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479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47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Sep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84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8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689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68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179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179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7899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789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400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400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0109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010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3621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3621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5760" y="175564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65760" y="174193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174193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Kick-off &amp; koordinasi LPHD–Pemdes–BPD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72384" y="1777502"/>
            <a:ext cx="4427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18512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18512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Persetujuan pendampingan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72384" y="1886772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196047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196047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Kerja sama &amp; kesiapan kelembagaan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33434" y="1996043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206974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206974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legalitas awal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72384" y="2105314"/>
            <a:ext cx="13648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65760" y="2192731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65760" y="217901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217901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mapping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3434" y="2214585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22882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" y="22882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isu sosial &amp; lingkungan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94484" y="2323856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23975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808" y="23975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awal komunitas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94484" y="2433126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250682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8" y="250682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kelompok perempuan &amp; rentan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94484" y="2542397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261609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808" y="261609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Engagement Plan (SEP)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55534" y="2651668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365760" y="273908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272536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272536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Pra-FPIC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55534" y="2760939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28346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28346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Pelaksanaan participatory tools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16584" y="2870210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29439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808" y="29439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Pemetaan partisipatif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6584" y="2979480"/>
            <a:ext cx="18259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305318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808" y="305318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E&amp;S risk screening partisipatif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38684" y="3088751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316245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8" y="316245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keputusan FPIC tahap i–ii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99734" y="319802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5760" y="327172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9808" y="327172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Dokumentasi keputusan &amp; persetujuan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60784" y="3307293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5760" y="33809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9808" y="33809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Mekanisme pengaduan (GRM)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16584" y="3416564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65760" y="350398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65760" y="349026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349026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&amp; penguatan KUPS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77634" y="3525834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359953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9808" y="359953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Pembentukan/penguatan Women Forest Defender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77634" y="3635105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370880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9808" y="370880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potensi livelihood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38684" y="3744376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381807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M4.4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9808" y="381807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Konsep kegiatan komunitas (intervensi &amp; ToC)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299734" y="3853647"/>
            <a:ext cx="18259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5760" y="392734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9808" y="392734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Prinsip benefit-sharing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221834" y="3962918"/>
            <a:ext cx="13648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5760" y="403661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9808" y="403661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Penguatan tata kelola LPHD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99734" y="4072188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365760" y="415960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365760" y="414588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9808" y="414588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batas &amp; status kawasan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916584" y="4181459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425516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49808" y="425516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Analisis tutupan lahan &amp; ekosistem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377634" y="4290730"/>
            <a:ext cx="13648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5760" y="436443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436443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ancaman &amp; sumber emisi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38684" y="4400001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44737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44737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Kesesuaian metodologi PV Climate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99734" y="450927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5760" y="458297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49808" y="458297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Estimasi indikatif potensi kredit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760784" y="461854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469224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9808" y="469224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Risiko &amp; kelayakan awal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221834" y="4727813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365760" y="481523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65760" y="480151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8" y="480151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Konsolidasi data &amp; data room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682885" y="4837084"/>
            <a:ext cx="4427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49107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9808" y="49107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Penyusunan draft PIN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682885" y="4946355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50200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50200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review bersama LPHD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143935" y="5055626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65760" y="512932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12932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Pre-submission call dengan Plan Vivo (opsional)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760784" y="5164896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523859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523859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Finalisasi PIN &amp; lampiran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04985" y="5274167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65760" y="534786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49808" y="534786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Pengajuan PIN ke Plan Vivo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066035" y="5383438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365760" y="547085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54571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49808" y="54571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Komunikasi &amp; tracking review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066035" y="5492709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55664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49808" y="55664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Tindak lanjut PIN review report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988135" y="5601980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65760" y="567568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49808" y="567568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Revisi &amp; klarifikasi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988135" y="5711250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65760" y="578495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9808" y="578495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Pemenuhan persyaratan relevan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988135" y="5820521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65760" y="589422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9808" y="589422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Konfirmasi pencantuman di pipeline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0910235" y="5929792"/>
            <a:ext cx="90381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65760" y="60034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49808" y="60034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Umpan balik ke komunitas &amp; handover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371285" y="6039063"/>
            <a:ext cx="4427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9517941" y="1371600"/>
            <a:ext cx="0" cy="4754880"/>
          </a:xfrm>
          <a:prstGeom prst="line">
            <a:avLst/>
          </a:prstGeom>
          <a:ln w="15875">
            <a:solidFill>
              <a:srgbClr val="0E7C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8054901" y="1143000"/>
            <a:ext cx="14173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0E7C6B"/>
                </a:solidFill>
                <a:latin typeface="Calibri"/>
              </a:rPr>
              <a:t>PIN submitted (M6.6)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37192" y="1143000"/>
            <a:ext cx="2286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C26A0A"/>
                </a:solidFill>
                <a:latin typeface="Calibri"/>
              </a:rPr>
              <a:t>Target indikatif pipeline (M7.5)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5760" y="6281928"/>
            <a:ext cx="274320" cy="91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8580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Jalur kritis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28800" y="6281928"/>
            <a:ext cx="274320" cy="91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884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Ada float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108960" y="6281928"/>
            <a:ext cx="274320" cy="91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429000" y="6236208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Bergantung review Plan Vivo (tanggal tidak pasti)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583680" y="6236208"/>
            <a:ext cx="5212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1F2A44"/>
                </a:solidFill>
                <a:latin typeface="Calibri"/>
              </a:rPr>
              <a:t>STEP 2 jangka panjang: M8 2028–29 · M9 2029–30 · M10 2030→ · M11 ≤5 th pasca-validasi · M12 paralel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Bulan 1 = Oktober 2026. Review PIN: awal ±6 minggu; tanggapan CAR/NIR ±4 minggu; revisi wajib ≤6 bulan, maks. 3 putaran (Procedures Manual V3.9 §2.2, §9).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3 · POST-SETAPAK 4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Lima milestone lanjutan membutuhkan pendanaan baru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metodologi mangrove yang disetujui adalah syarat pertama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M8  </a:t>
            </a:r>
            <a:r>
              <a:rPr sz="900" b="1">
                <a:solidFill>
                  <a:srgbClr val="FFFFFF"/>
                </a:solidFill>
                <a:latin typeface="Calibri"/>
              </a:rPr>
              <a:t>Full Project Design &amp; PDD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(M7); metodologi yang berlaku SUDAH disetujui Plan Vivo; pendanaan PDD tersedia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12–18 bulan (PDD screening ±6 mgg, konsultasi publik 4 mgg, PDD review ±8 mgg; belum termasuk waktu tanggapan)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60–120 rb (indikatif, perlu penawaran)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Tenaga ahli karbon blue carbon; lembaga riset (mis. BRIN, universitas lokal) untuk plot stok karbon; donor lanjutan (TAF follow-on, filantropi iklim, BPDLH)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Data room M1–M7, peta partisipatif &amp; KML, BA FPIC i–ii, feasibility &amp; memo metodologi, prinsip benefit-sharing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wajib diajukan ≤3 tahun sejak PIN approved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79191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24911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M9  </a:t>
            </a:r>
            <a:r>
              <a:rPr sz="900" b="1">
                <a:solidFill>
                  <a:srgbClr val="1F2A44"/>
                </a:solidFill>
                <a:latin typeface="Calibri"/>
              </a:rPr>
              <a:t>Validation &amp; Project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review report diterima; public consultation selesai; kontrak VVB/IE; fee validasi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4056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6–12 bulan (tergantung ketersediaan VVB/IE)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4056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25–60 rb (microscale cenderung lebih rendah)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4056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 terdaftar di Plan Vivo atau Independent Expert; legal counsel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4056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Kualitas FPIC, peta &amp; bukti hak dari STEP 1 diuji ulang saat site visit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4056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Validasi selesai ≤3 tahun sejak PDD diajukan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79191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92624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4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M10  </a:t>
            </a:r>
            <a:r>
              <a:rPr sz="900" b="1">
                <a:solidFill>
                  <a:srgbClr val="FFFFFF"/>
                </a:solidFill>
                <a:latin typeface="Calibri"/>
              </a:rPr>
              <a:t>Project Implementation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Registrasi (untuk issuance); kegiatan lapangan dapat sudah berjalan sejak STEP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7488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Berkelanjutan sepanjang Project Period; laporan tiap 12 bulan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47488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47488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40–90 rb/tahun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7488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KPH/Dinas LHK, DKP, pemerintah desa, pembeli/offtaker (pre-finance)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47488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47488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SOP patroli WFD, KUPS, GRM, baseline sosial dari STEP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47488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47488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Periode laporan pertama berakhir ≤12 bulan setelah registrasi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92624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06056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51776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M11  </a:t>
            </a:r>
            <a:r>
              <a:rPr sz="900" b="1">
                <a:solidFill>
                  <a:srgbClr val="1F2A44"/>
                </a:solidFill>
                <a:latin typeface="Calibri"/>
              </a:rPr>
              <a:t>Verification &amp; Credit Issuance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Annual Report kontinu; monitoring sesuai PDD; kontrak VVB/IE; fee verifikasi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4–9 bulan per siklus; verifikasi pertama ≤5 tahun setelah validasi, periode berikut ≤5 tahun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20–50 rb per verifikasi + issuance fee per PVC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VVB/IE; Kemenhut/KLH untuk pencatatan nasional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Konsistensi data monitoring dengan baseline &amp; peta STEP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Gagal verifikasi &gt;2 tahun setelah akhir periode → proses suspensi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06056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9488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65208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M12  </a:t>
            </a:r>
            <a:r>
              <a:rPr sz="900" b="1">
                <a:solidFill>
                  <a:srgbClr val="FFFFFF"/>
                </a:solidFill>
                <a:latin typeface="Calibri"/>
              </a:rPr>
              <a:t>Carbon Commercialization &amp; Benefit Distribution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4352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74352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Unit dapat dialokasikan setelah issuance; hanya vPVC yang dapat di-retire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4352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74352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Paralel sejak M8; transaksi mengikuti jadwal issuance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74352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74352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10–25 rb/tahun (marketing &amp; administrasi)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74352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74352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Pembeli korporat/broker berintegritas, IDXCarbon (bila relevan), lembaga keuangan desa/BUMDes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74352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74352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Prinsip benefit-sharing (M4.5), tata kelola LPHD (M4.6)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74352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≥60% pendapatan PVC ke peserta &amp; pihak lokal (dapat dirata-rata sepanjang Crediting Period)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19488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Durasi review dari Procedures Manual V3.9 §9; batas 3 tahun §2.2 &amp; §4.4; verifikasi §8. Angka biaya = asumsi perencanaan, bukan tarif Plan Vivo — konfirmasi lewat penawaran VVB/IE dan dokumen Costs &amp; fees.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5 · TRANSITION READINESS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Enam belas syarat memindahkan proyek dari pipeline ke penyusunan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LEGAL &amp; HAK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dan proyek tercantum di Plan Vivo pipeline (bukti tertulis)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SK Hutan Desa &amp; SK LPHD berlaku; tidak ada sengketa batas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M1.4, M5.1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Posisi hak karbon &amp; jalur otorisasi nasional dipetakan (Permenhut 6/2026, SRN/SRUK, MRA Plan Vivo)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PERSETUJUAN MASYARAKAT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 FPIC tahap i–ii lengkap; rencana FPIC tahap iii (implementasi) &amp; Project Agreement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3872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50215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0215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GRM berjalan ≥6 bulan dengan register pengaduan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0215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98678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partisipatif &amp; KML batas Project Region/Area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67258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63600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63600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tutupan lahan historis &amp; analisis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63600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M5.2, M5.3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C26A0A"/>
                </a:solidFill>
                <a:latin typeface="Calibri"/>
              </a:rPr>
              <a:t>DATA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048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Inventarisasi stok karbon lapangan (plot biomassa &amp; tanah mangrove)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048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sosial-ekonomi rumah tangga (well-being) yang representatif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4420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048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biodiversitas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METODOLOGI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9048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Metodologi/modul yang dipilih sudah disetujui Plan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420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M5.4 → M8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593592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KELEMBAGAAN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0488" y="3886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3849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3849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SAMPAN dikonfirmasi sebagai Project Coordinator; tim PDD terbentuk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3849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048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LPHD, KUPS, WFD aktif dengan rencana kerja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472744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PENDANAAN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90488" y="502005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8232" y="498348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498348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Pendanaan PDD + validasi teridentifikasi (komitmen atau proposal terkirim)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498348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0488" y="541324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537667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537667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Anggaran fee Plan Vivo (PDD/validasi) dan audit VVB/IE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44200" y="537667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5861303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WAKTU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90488" y="615391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28232" y="611733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611733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Jadwal PDD mematuhi batas 3 tahun sejak PIN approved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44200" y="611733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Kolom kanan = milestone sumber bukti. Data gap (T08–T10) belum menjadi kewajiban SETAPAK 4 dan diselesaikan di M8.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