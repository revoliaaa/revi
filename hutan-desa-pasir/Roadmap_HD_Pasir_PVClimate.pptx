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Kerangka 8 tahap mengikuti usulan tim, diselaraskan dengan PV Climate Procedures Manual V3.9 dan Permenhut 6/2026. Tahap 1: syarat PIN (safeguard, kebutuhan, progres) + baseline dengan participatory tools untuk menyusun baseline dan project scenario. Tahap 2: submit PIN, review Plan Vivo (CAR/NIR) hingga approval. Tahap 3: pipeline dan mobilisasi investasi. Presale disusun sebagai pre-financing/kontrak offtake berjangka; Permenhut 6/2026 Ps. 10(1) mensyaratkan kepemilikan Unit Karbon untuk perdagangan, sehingga penyerahan unit baru setelah issuance (perlu konfirmasi hukum). Tahap 4–8: PDD, validasi &amp; registrasi (DPP dicatat ke Menteri sebelum validasi), implementasi &amp; monitoring, verifikasi &amp; issuance (persetujuan Menteri untuk penerbitan non-SPE GRK, berlaku 6 bulan), penjualan &amp; benefit sharing (≥60% pendapatan ke komunitas; otorisasi &amp; CA bila ke luar negeri; PNBP).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Pesan utama: SETAPAK 4 selesai ketika PIN disetujui dan proyek tercantum di pipeline Plan Vivo. Itu bukan registrasi dan belum menghasilkan kredit. STEP 2 (PDD, validasi, registrasi, monitoring, verifikasi, issuance, penjualan) membutuhkan pendanaan dan mitra lanjutan. Belah ketupat = keputusan pihak luar, tanggalnya tidak bisa dijamin.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91440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0E7C6B"/>
                </a:solidFill>
                <a:latin typeface="Calibri"/>
              </a:rPr>
              <a:t>HUTAN DESA PASIR · MEMPAWAH, KALIMANTAN BARAT · PLAN VIVO PV CLIMATE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7315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Delapan tahap dari persiapan PIN sampai penjualan kredit: SETAPAK 4</a:t>
            </a:r>
          </a:p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menuntaskan Tahap 1–2, Tahap 3 menjadi jembatan ke investasi dan PDD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9436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800" b="0" i="0">
                <a:solidFill>
                  <a:srgbClr val="5F6B65"/>
                </a:solidFill>
                <a:latin typeface="Calibri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34440"/>
            <a:ext cx="11457432" cy="2212848"/>
          </a:xfrm>
          <a:prstGeom prst="roundRect">
            <a:avLst>
              <a:gd name="adj" fmla="val 5000"/>
            </a:avLst>
          </a:prstGeom>
          <a:solidFill>
            <a:srgbClr val="E3F1EE"/>
          </a:solidFill>
          <a:ln w="12700">
            <a:solidFill>
              <a:srgbClr val="7FBCB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868680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B2420"/>
                </a:solidFill>
                <a:latin typeface="Calibri"/>
              </a:rPr>
              <a:t>STEP 1 — SETAPAK 4   </a:t>
            </a:r>
            <a:r>
              <a:rPr sz="1100" b="0">
                <a:solidFill>
                  <a:srgbClr val="0E7C6B"/>
                </a:solidFill>
                <a:latin typeface="Calibri"/>
              </a:rPr>
              <a:t>Okt 2026 – Sep 2027 · Dukungan: TAF · Pelaksana: SAMPAN Kalimantan &amp; LPHD Pasir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0" y="1307592"/>
            <a:ext cx="1600200" cy="256032"/>
          </a:xfrm>
          <a:prstGeom prst="roundRect">
            <a:avLst/>
          </a:prstGeom>
          <a:solidFill>
            <a:srgbClr val="C9E5D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0E7C6B"/>
                </a:solidFill>
                <a:latin typeface="Calibri"/>
              </a:rPr>
              <a:t>Cakupan program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6446520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E7C6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1755648"/>
            <a:ext cx="347472" cy="347472"/>
          </a:xfrm>
          <a:prstGeom prst="round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19072"/>
            <a:ext cx="5806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B2420"/>
                </a:solidFill>
                <a:latin typeface="Calibri"/>
              </a:rPr>
              <a:t>Tahap 1 — Persiapan Pendaftaran PIN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1956816"/>
            <a:ext cx="58064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0E7C6B"/>
                </a:solidFill>
                <a:latin typeface="Calibri"/>
              </a:rPr>
              <a:t>Okt 2026 – Apr 2027 · M1–M5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176272"/>
            <a:ext cx="580644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E7C6B"/>
                </a:solidFill>
                <a:latin typeface="Calibri"/>
              </a:rPr>
              <a:t>▪ </a:t>
            </a:r>
            <a:r>
              <a:rPr sz="950" b="0">
                <a:solidFill>
                  <a:srgbClr val="1B2420"/>
                </a:solidFill>
                <a:latin typeface="Calibri"/>
              </a:rPr>
              <a:t>Safeguard: FPIC tahap i–ii, GRM, E&amp;S risk screening, GESI</a:t>
            </a:r>
          </a:p>
          <a:p>
            <a:pPr algn="l">
              <a:spcAft>
                <a:spcPts val="200"/>
              </a:spcAft>
            </a:pPr>
            <a:r>
              <a:rPr sz="950" b="1">
                <a:solidFill>
                  <a:srgbClr val="0E7C6B"/>
                </a:solidFill>
                <a:latin typeface="Calibri"/>
              </a:rPr>
              <a:t>▪ </a:t>
            </a:r>
            <a:r>
              <a:rPr sz="950" b="0">
                <a:solidFill>
                  <a:srgbClr val="1B2420"/>
                </a:solidFill>
                <a:latin typeface="Calibri"/>
              </a:rPr>
              <a:t>Kebutuhan: masalah &amp; kebutuhan komunitas, livelihood, kapasitas, pendanaan</a:t>
            </a:r>
          </a:p>
          <a:p>
            <a:pPr algn="l">
              <a:spcAft>
                <a:spcPts val="200"/>
              </a:spcAft>
            </a:pPr>
            <a:r>
              <a:rPr sz="950" b="1">
                <a:solidFill>
                  <a:srgbClr val="0E7C6B"/>
                </a:solidFill>
                <a:latin typeface="Calibri"/>
              </a:rPr>
              <a:t>▪ </a:t>
            </a:r>
            <a:r>
              <a:rPr sz="950" b="0">
                <a:solidFill>
                  <a:srgbClr val="1B2420"/>
                </a:solidFill>
                <a:latin typeface="Calibri"/>
              </a:rPr>
              <a:t>Progres yang sudah dilakukan: status HD, rehabilitasi, patroli, KUPS</a:t>
            </a:r>
          </a:p>
          <a:p>
            <a:pPr algn="l">
              <a:spcAft>
                <a:spcPts val="200"/>
              </a:spcAft>
            </a:pPr>
            <a:r>
              <a:rPr sz="950" b="1">
                <a:solidFill>
                  <a:srgbClr val="0E7C6B"/>
                </a:solidFill>
                <a:latin typeface="Calibri"/>
              </a:rPr>
              <a:t>▪ </a:t>
            </a:r>
            <a:r>
              <a:rPr sz="950" b="0">
                <a:solidFill>
                  <a:srgbClr val="1B2420"/>
                </a:solidFill>
                <a:latin typeface="Calibri"/>
              </a:rPr>
              <a:t>Data baseline dengan PV Participatory Tools → baseline &amp; project scenario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059168" y="2240280"/>
            <a:ext cx="256032" cy="274320"/>
          </a:xfrm>
          <a:prstGeom prst="rightArrow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79208" y="1645920"/>
            <a:ext cx="4261104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E7C6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7488936" y="1737360"/>
            <a:ext cx="384048" cy="384048"/>
          </a:xfrm>
          <a:prstGeom prst="diamond">
            <a:avLst/>
          </a:prstGeom>
          <a:solidFill>
            <a:srgbClr val="FFFFFF"/>
          </a:solidFill>
          <a:ln w="22225">
            <a:solidFill>
              <a:srgbClr val="0E7C6B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E7C6B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7848" y="1719072"/>
            <a:ext cx="3621024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B2420"/>
                </a:solidFill>
                <a:latin typeface="Calibri"/>
              </a:rPr>
              <a:t>Tahap 2 — Submit PIN hingga Approval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46136" y="1956816"/>
            <a:ext cx="362102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0E7C6B"/>
                </a:solidFill>
                <a:latin typeface="Calibri"/>
              </a:rPr>
              <a:t>Mar – Sep 2027 · M6–M7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7848" y="2176272"/>
            <a:ext cx="3621024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E7C6B"/>
                </a:solidFill>
                <a:latin typeface="Calibri"/>
              </a:rPr>
              <a:t>▪ </a:t>
            </a:r>
            <a:r>
              <a:rPr sz="950" b="0">
                <a:solidFill>
                  <a:srgbClr val="1B2420"/>
                </a:solidFill>
                <a:latin typeface="Calibri"/>
              </a:rPr>
              <a:t>PIN Template V1.4 + review LPHD</a:t>
            </a:r>
          </a:p>
          <a:p>
            <a:pPr algn="l">
              <a:spcAft>
                <a:spcPts val="200"/>
              </a:spcAft>
            </a:pPr>
            <a:r>
              <a:rPr sz="950" b="1">
                <a:solidFill>
                  <a:srgbClr val="0E7C6B"/>
                </a:solidFill>
                <a:latin typeface="Calibri"/>
              </a:rPr>
              <a:t>▪ </a:t>
            </a:r>
            <a:r>
              <a:rPr sz="950" b="0">
                <a:solidFill>
                  <a:srgbClr val="1B2420"/>
                </a:solidFill>
                <a:latin typeface="Calibri"/>
              </a:rPr>
              <a:t>Submit ≤ Mei 2027 + PIN review fee</a:t>
            </a:r>
          </a:p>
          <a:p>
            <a:pPr algn="l">
              <a:spcAft>
                <a:spcPts val="200"/>
              </a:spcAft>
            </a:pPr>
            <a:r>
              <a:rPr sz="950" b="1">
                <a:solidFill>
                  <a:srgbClr val="0E7C6B"/>
                </a:solidFill>
                <a:latin typeface="Calibri"/>
              </a:rPr>
              <a:t>▪ </a:t>
            </a:r>
            <a:r>
              <a:rPr sz="950" b="0">
                <a:solidFill>
                  <a:srgbClr val="1B2420"/>
                </a:solidFill>
                <a:latin typeface="Calibri"/>
              </a:rPr>
              <a:t>PIN review report: CAR/NIR, maks. 3 putaran</a:t>
            </a:r>
          </a:p>
          <a:p>
            <a:pPr algn="l">
              <a:spcAft>
                <a:spcPts val="200"/>
              </a:spcAft>
            </a:pPr>
            <a:r>
              <a:rPr sz="950" b="1">
                <a:solidFill>
                  <a:srgbClr val="0E7C6B"/>
                </a:solidFill>
                <a:latin typeface="Calibri"/>
              </a:rPr>
              <a:t>▪ </a:t>
            </a:r>
            <a:r>
              <a:rPr sz="950" b="0">
                <a:solidFill>
                  <a:srgbClr val="1B2420"/>
                </a:solidFill>
                <a:latin typeface="Calibri"/>
              </a:rPr>
              <a:t>Approval = keputusan Plan Vivo (target Sep 2027)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145536"/>
            <a:ext cx="111556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B2420"/>
                </a:solidFill>
                <a:latin typeface="Calibri"/>
              </a:rPr>
              <a:t>Target SETAPAK 4: </a:t>
            </a:r>
            <a:r>
              <a:rPr sz="950" b="0">
                <a:solidFill>
                  <a:srgbClr val="1B2420"/>
                </a:solidFill>
                <a:latin typeface="Calibri"/>
              </a:rPr>
              <a:t>PIN disetujui Plan Vivo → proyek masuk pipeline (submit ≠ approval; pipeline ≠ registrasi ≠ kredit).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3566160"/>
            <a:ext cx="11457432" cy="749808"/>
          </a:xfrm>
          <a:prstGeom prst="roundRect">
            <a:avLst>
              <a:gd name="adj" fmla="val 12000"/>
            </a:avLst>
          </a:prstGeom>
          <a:solidFill>
            <a:srgbClr val="FBF3E8"/>
          </a:solidFill>
          <a:ln w="15875">
            <a:solidFill>
              <a:srgbClr val="C26A0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3730752"/>
            <a:ext cx="384048" cy="384048"/>
          </a:xfrm>
          <a:prstGeom prst="round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3611880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B2420"/>
                </a:solidFill>
                <a:latin typeface="Calibri"/>
              </a:rPr>
              <a:t>Tahap 3 — Masuk Pipeline PV &amp; Mobilisasi Investasi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" y="3877056"/>
            <a:ext cx="393192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C26A0A"/>
                </a:solidFill>
                <a:latin typeface="Calibri"/>
              </a:rPr>
              <a:t>Sep 2027 – 2028 · M8 · Transisi / Project Handover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" y="4059936"/>
            <a:ext cx="39319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F6B65"/>
                </a:solidFill>
                <a:latin typeface="Calibri"/>
              </a:rPr>
              <a:t>Gerbang: pipeline Plan Vivo = batas SETAPAK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3630168"/>
            <a:ext cx="67665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C26A0A"/>
                </a:solidFill>
                <a:latin typeface="Calibri"/>
              </a:rPr>
              <a:t>▪ </a:t>
            </a:r>
            <a:r>
              <a:rPr sz="850" b="0">
                <a:solidFill>
                  <a:srgbClr val="1B2420"/>
                </a:solidFill>
                <a:latin typeface="Calibri"/>
              </a:rPr>
              <a:t>PIN dipublikasikan di pipeline Plan Vivo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C26A0A"/>
                </a:solidFill>
                <a:latin typeface="Calibri"/>
              </a:rPr>
              <a:t>▪ </a:t>
            </a:r>
            <a:r>
              <a:rPr sz="850" b="0">
                <a:solidFill>
                  <a:srgbClr val="1B2420"/>
                </a:solidFill>
                <a:latin typeface="Calibri"/>
              </a:rPr>
              <a:t>Investor/offtaker: pre-financing &amp; kontrak offtake berjangka (presale)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C26A0A"/>
                </a:solidFill>
                <a:latin typeface="Calibri"/>
              </a:rPr>
              <a:t>▪ </a:t>
            </a:r>
            <a:r>
              <a:rPr sz="850" b="0">
                <a:solidFill>
                  <a:srgbClr val="1B2420"/>
                </a:solidFill>
                <a:latin typeface="Calibri"/>
              </a:rPr>
              <a:t>Pendamping teregistrasi &amp; pencatatan DPP (Permenhut 6/2026)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4434840"/>
            <a:ext cx="11457432" cy="1965960"/>
          </a:xfrm>
          <a:prstGeom prst="roundRect">
            <a:avLst>
              <a:gd name="adj" fmla="val 5000"/>
            </a:avLst>
          </a:prstGeom>
          <a:solidFill>
            <a:srgbClr val="E6E9EF"/>
          </a:solidFill>
          <a:ln w="12700">
            <a:solidFill>
              <a:srgbClr val="8A93A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480560"/>
            <a:ext cx="868680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B2420"/>
                </a:solidFill>
                <a:latin typeface="Calibri"/>
              </a:rPr>
              <a:t>STEP 2 — POST-SETAPAK 4   </a:t>
            </a:r>
            <a:r>
              <a:rPr sz="1100" b="0">
                <a:solidFill>
                  <a:srgbClr val="1F2A44"/>
                </a:solidFill>
                <a:latin typeface="Calibri"/>
              </a:rPr>
              <a:t>2027 → · Dukungan: pre-financing/offtake (Tahap 3) &amp; pendanaan lanjutan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38360" y="4507992"/>
            <a:ext cx="1920240" cy="256032"/>
          </a:xfrm>
          <a:prstGeom prst="roundRect">
            <a:avLst/>
          </a:prstGeom>
          <a:solidFill>
            <a:srgbClr val="D3D8E2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1F2A44"/>
                </a:solidFill>
                <a:latin typeface="Calibri"/>
              </a:rPr>
              <a:t>Pengembangan lanjutan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657807" y="5138928"/>
            <a:ext cx="8873337" cy="0"/>
          </a:xfrm>
          <a:prstGeom prst="line">
            <a:avLst/>
          </a:prstGeom>
          <a:ln w="25400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438351" y="4919472"/>
            <a:ext cx="438912" cy="438912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413248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Penyusunan</a:t>
            </a:r>
          </a:p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PDD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760720"/>
            <a:ext cx="221833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F2A44"/>
                </a:solidFill>
                <a:latin typeface="Calibri"/>
              </a:rPr>
              <a:t>M9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907024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Metodologi disetujui · screening ·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konsultasi publik · PDD review</a:t>
            </a:r>
          </a:p>
        </p:txBody>
      </p:sp>
      <p:sp>
        <p:nvSpPr>
          <p:cNvPr id="34" name="Diamond 33"/>
          <p:cNvSpPr/>
          <p:nvPr/>
        </p:nvSpPr>
        <p:spPr>
          <a:xfrm>
            <a:off x="3629253" y="4892040"/>
            <a:ext cx="493776" cy="493776"/>
          </a:xfrm>
          <a:prstGeom prst="diamond">
            <a:avLst/>
          </a:prstGeom>
          <a:solidFill>
            <a:srgbClr val="FFFFFF"/>
          </a:solidFill>
          <a:ln w="25400">
            <a:solidFill>
              <a:srgbClr val="1F2A44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F2A44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66974" y="5413248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Validasi &amp;</a:t>
            </a:r>
          </a:p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Registrasi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66974" y="5760720"/>
            <a:ext cx="221833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F2A44"/>
                </a:solidFill>
                <a:latin typeface="Calibri"/>
              </a:rPr>
              <a:t>M10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66974" y="5907024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DPP tercatat (Kemenhut) → VVB/IE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→ MoU &amp; PV Climate Registry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875020" y="4919472"/>
            <a:ext cx="438912" cy="438912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85308" y="5413248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Implementasi</a:t>
            </a:r>
          </a:p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&amp; Monitoring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85308" y="5760720"/>
            <a:ext cx="221833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F2A44"/>
                </a:solidFill>
                <a:latin typeface="Calibri"/>
              </a:rPr>
              <a:t>M11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85308" y="5907024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Annual Report tiap 12 bln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(rPVC bila diminta)</a:t>
            </a:r>
          </a:p>
        </p:txBody>
      </p:sp>
      <p:sp>
        <p:nvSpPr>
          <p:cNvPr id="42" name="Diamond 41"/>
          <p:cNvSpPr/>
          <p:nvPr/>
        </p:nvSpPr>
        <p:spPr>
          <a:xfrm>
            <a:off x="8065922" y="4892040"/>
            <a:ext cx="493776" cy="493776"/>
          </a:xfrm>
          <a:prstGeom prst="diamond">
            <a:avLst/>
          </a:prstGeom>
          <a:solidFill>
            <a:srgbClr val="FFFFFF"/>
          </a:solidFill>
          <a:ln w="25400">
            <a:solidFill>
              <a:srgbClr val="1F2A44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F2A44"/>
                </a:solidFill>
                <a:latin typeface="Calibri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03643" y="5413248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Verifikasi &amp;</a:t>
            </a:r>
          </a:p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Issuance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03643" y="5760720"/>
            <a:ext cx="221833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F2A44"/>
                </a:solidFill>
                <a:latin typeface="Calibri"/>
              </a:rPr>
              <a:t>M12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03643" y="5907024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Verifikasi ≤5 th · persetujuan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Menteri → vPVC terbit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311688" y="4919472"/>
            <a:ext cx="438912" cy="438912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21977" y="5413248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Penjualan &amp;</a:t>
            </a:r>
          </a:p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Benefit Sharing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1977" y="5760720"/>
            <a:ext cx="221833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F2A44"/>
                </a:solidFill>
                <a:latin typeface="Calibri"/>
              </a:rPr>
              <a:t>M13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21977" y="5907024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Offtake terealisasi · PNBP ·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≥60% pendapatan ke komunitas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28232"/>
            <a:ext cx="11430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1F2A44"/>
                </a:solidFill>
                <a:latin typeface="Calibri"/>
              </a:rPr>
              <a:t>Target akhir: </a:t>
            </a:r>
            <a:r>
              <a:rPr sz="850" b="0">
                <a:solidFill>
                  <a:srgbClr val="1B2420"/>
                </a:solidFill>
                <a:latin typeface="Calibri"/>
              </a:rPr>
              <a:t>vPVC terbit dan terjual, manfaat terukur bagi komunitas.   </a:t>
            </a:r>
            <a:r>
              <a:rPr sz="850" b="0">
                <a:solidFill>
                  <a:srgbClr val="5F6B65"/>
                </a:solidFill>
                <a:latin typeface="Calibri"/>
              </a:rPr>
              <a:t>■ internal   ◆ keputusan eksternal (Plan Vivo / VVB / Menteri)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91440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0E7C6B"/>
                </a:solidFill>
                <a:latin typeface="Calibri"/>
              </a:rPr>
              <a:t>HUTAN DESA PASIR · MEMPAWAH, KALIMANTAN BARAT · PLAN VIVO PV CLIMATE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7315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SETAPAK 4 membawa proyek sampai gerbang Plan Vivo Pipeline —</a:t>
            </a:r>
          </a:p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kredit karbon baru lahir di fase pengembangan berikutnya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9436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800" b="0" i="0">
                <a:solidFill>
                  <a:srgbClr val="5F6B65"/>
                </a:solidFill>
                <a:latin typeface="Calibr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98448"/>
            <a:ext cx="6903720" cy="384048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298448"/>
            <a:ext cx="681228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STEP 1 · SETAPAK 4 (didukung TAF)  </a:t>
            </a:r>
            <a:r>
              <a:rPr sz="1000" b="0">
                <a:solidFill>
                  <a:srgbClr val="FFFFFF"/>
                </a:solidFill>
                <a:latin typeface="Calibri"/>
              </a:rPr>
              <a:t>Persiapan → PIN → Pipeline · SAMPAN Kalimantan &amp; LPHD Pasir · Okt 2026 – Sep 2027</a:t>
            </a:r>
          </a:p>
        </p:txBody>
      </p:sp>
      <p:sp>
        <p:nvSpPr>
          <p:cNvPr id="7" name="Rectangle 6"/>
          <p:cNvSpPr/>
          <p:nvPr/>
        </p:nvSpPr>
        <p:spPr>
          <a:xfrm>
            <a:off x="7726679" y="1298448"/>
            <a:ext cx="4096512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99831" y="1298448"/>
            <a:ext cx="4005072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STEP 2 · POST-SETAPAK 4  </a:t>
            </a:r>
            <a:r>
              <a:rPr sz="1000" b="0">
                <a:solidFill>
                  <a:srgbClr val="FFFFFF"/>
                </a:solidFill>
                <a:latin typeface="Calibri"/>
              </a:rPr>
              <a:t>PDD → kredit → penjualan · Q4 2027+ (indikatif)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79" y="1188720"/>
            <a:ext cx="0" cy="3886200"/>
          </a:xfrm>
          <a:prstGeom prst="line">
            <a:avLst/>
          </a:prstGeom>
          <a:ln w="28575">
            <a:solidFill>
              <a:srgbClr val="C26A0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931151" y="1783080"/>
            <a:ext cx="1133856" cy="274320"/>
          </a:xfrm>
          <a:prstGeom prst="round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TRANSITION GATE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41248" y="2514600"/>
            <a:ext cx="6656831" cy="0"/>
          </a:xfrm>
          <a:prstGeom prst="line">
            <a:avLst/>
          </a:prstGeom>
          <a:ln w="38100">
            <a:solidFill>
              <a:srgbClr val="0E7C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498079" y="2514600"/>
            <a:ext cx="4251961" cy="0"/>
          </a:xfrm>
          <a:prstGeom prst="line">
            <a:avLst/>
          </a:prstGeom>
          <a:ln w="38100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38328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Okt 26–Nov 26</a:t>
            </a:r>
          </a:p>
        </p:txBody>
      </p:sp>
      <p:sp>
        <p:nvSpPr>
          <p:cNvPr id="14" name="Oval 13"/>
          <p:cNvSpPr/>
          <p:nvPr/>
        </p:nvSpPr>
        <p:spPr>
          <a:xfrm>
            <a:off x="630936" y="2304288"/>
            <a:ext cx="420624" cy="420624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Inisiasi &amp;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kelembagaan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PKS SAMPAN–LPHD,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memo legal awal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Nov 26–Des 26</a:t>
            </a:r>
          </a:p>
        </p:txBody>
      </p:sp>
      <p:sp>
        <p:nvSpPr>
          <p:cNvPr id="18" name="Oval 17"/>
          <p:cNvSpPr/>
          <p:nvPr/>
        </p:nvSpPr>
        <p:spPr>
          <a:xfrm>
            <a:off x="1618488" y="2304288"/>
            <a:ext cx="420624" cy="420624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Identifikasi &amp;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keterlibatan pihak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Stakeholder register,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SEP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13432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Des 26–Apr 27</a:t>
            </a:r>
          </a:p>
        </p:txBody>
      </p:sp>
      <p:sp>
        <p:nvSpPr>
          <p:cNvPr id="22" name="Oval 21"/>
          <p:cNvSpPr/>
          <p:nvPr/>
        </p:nvSpPr>
        <p:spPr>
          <a:xfrm>
            <a:off x="2606040" y="2304288"/>
            <a:ext cx="420624" cy="420624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13432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Kajian partisipatif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&amp; FPIC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13432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BA FPIC tahap i–ii,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GRM aktif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00984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Jan 27–Jul 27</a:t>
            </a:r>
          </a:p>
        </p:txBody>
      </p:sp>
      <p:sp>
        <p:nvSpPr>
          <p:cNvPr id="26" name="Oval 25"/>
          <p:cNvSpPr/>
          <p:nvPr/>
        </p:nvSpPr>
        <p:spPr>
          <a:xfrm>
            <a:off x="3593592" y="2304288"/>
            <a:ext cx="420624" cy="420624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00984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KUPS, WFD &amp;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livelihood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00984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ToC, prinsip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benefit-sharing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88536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Des 26–Apr 27</a:t>
            </a:r>
          </a:p>
        </p:txBody>
      </p:sp>
      <p:sp>
        <p:nvSpPr>
          <p:cNvPr id="30" name="Oval 29"/>
          <p:cNvSpPr/>
          <p:nvPr/>
        </p:nvSpPr>
        <p:spPr>
          <a:xfrm>
            <a:off x="4581144" y="2304288"/>
            <a:ext cx="420624" cy="420624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Baseline &amp;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project scenario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88536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Baseline vs project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scenario, Go/No-Go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76088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Mar 27–Mei 27</a:t>
            </a:r>
          </a:p>
        </p:txBody>
      </p:sp>
      <p:sp>
        <p:nvSpPr>
          <p:cNvPr id="34" name="Oval 33"/>
          <p:cNvSpPr/>
          <p:nvPr/>
        </p:nvSpPr>
        <p:spPr>
          <a:xfrm>
            <a:off x="5568696" y="2304288"/>
            <a:ext cx="420624" cy="420624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76088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Penyusunan &amp;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pengajuan PIN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76088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PIN terkirim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+ fee dibayar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Mei 27–Sep 27</a:t>
            </a:r>
          </a:p>
        </p:txBody>
      </p:sp>
      <p:sp>
        <p:nvSpPr>
          <p:cNvPr id="38" name="Diamond 37"/>
          <p:cNvSpPr/>
          <p:nvPr/>
        </p:nvSpPr>
        <p:spPr>
          <a:xfrm>
            <a:off x="6492240" y="2240280"/>
            <a:ext cx="548640" cy="548640"/>
          </a:xfrm>
          <a:prstGeom prst="diamond">
            <a:avLst/>
          </a:prstGeom>
          <a:solidFill>
            <a:srgbClr val="FFFFFF"/>
          </a:solidFill>
          <a:ln w="28575">
            <a:solidFill>
              <a:srgbClr val="0E7C6B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0E7C6B"/>
                </a:solidFill>
                <a:latin typeface="Calibri"/>
              </a:rPr>
              <a:t>M7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Penerimaan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Pipeline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PIN disetujui,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tercantum di pipeline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72" y="2075688"/>
            <a:ext cx="768096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Sep 2027 – 2028</a:t>
            </a:r>
          </a:p>
        </p:txBody>
      </p:sp>
      <p:sp>
        <p:nvSpPr>
          <p:cNvPr id="42" name="Oval 41"/>
          <p:cNvSpPr/>
          <p:nvPr/>
        </p:nvSpPr>
        <p:spPr>
          <a:xfrm>
            <a:off x="7836408" y="2304288"/>
            <a:ext cx="420624" cy="420624"/>
          </a:xfrm>
          <a:prstGeom prst="ellipse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62672" y="2816352"/>
            <a:ext cx="768096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B2420"/>
                </a:solidFill>
                <a:latin typeface="Calibri"/>
              </a:rPr>
              <a:t>Pipeline &amp;</a:t>
            </a:r>
          </a:p>
          <a:p>
            <a:pPr algn="ctr"/>
            <a:r>
              <a:rPr sz="800" b="1" i="0">
                <a:solidFill>
                  <a:srgbClr val="1B2420"/>
                </a:solidFill>
                <a:latin typeface="Calibri"/>
              </a:rPr>
              <a:t>investasi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62672" y="3172968"/>
            <a:ext cx="768096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Pre-financing /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offtake berjangka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03336" y="2075688"/>
            <a:ext cx="768096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2027–2029</a:t>
            </a:r>
          </a:p>
        </p:txBody>
      </p:sp>
      <p:sp>
        <p:nvSpPr>
          <p:cNvPr id="46" name="Oval 45"/>
          <p:cNvSpPr/>
          <p:nvPr/>
        </p:nvSpPr>
        <p:spPr>
          <a:xfrm>
            <a:off x="8577072" y="2304288"/>
            <a:ext cx="420624" cy="420624"/>
          </a:xfrm>
          <a:prstGeom prst="ellipse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03336" y="2816352"/>
            <a:ext cx="768096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B2420"/>
                </a:solidFill>
                <a:latin typeface="Calibri"/>
              </a:rPr>
              <a:t>Desain penuh</a:t>
            </a:r>
          </a:p>
          <a:p>
            <a:pPr algn="ctr"/>
            <a:r>
              <a:rPr sz="800" b="1" i="0">
                <a:solidFill>
                  <a:srgbClr val="1B2420"/>
                </a:solidFill>
                <a:latin typeface="Calibri"/>
              </a:rPr>
              <a:t>&amp; PDD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03336" y="3172968"/>
            <a:ext cx="768096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PDD lolos screening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&amp; review Plan Vivo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2075688"/>
            <a:ext cx="768096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2029–2030</a:t>
            </a:r>
          </a:p>
        </p:txBody>
      </p:sp>
      <p:sp>
        <p:nvSpPr>
          <p:cNvPr id="50" name="Diamond 49"/>
          <p:cNvSpPr/>
          <p:nvPr/>
        </p:nvSpPr>
        <p:spPr>
          <a:xfrm>
            <a:off x="9253728" y="2240280"/>
            <a:ext cx="548640" cy="548640"/>
          </a:xfrm>
          <a:prstGeom prst="diamond">
            <a:avLst/>
          </a:prstGeom>
          <a:solidFill>
            <a:srgbClr val="FFFFFF"/>
          </a:solidFill>
          <a:ln w="28575">
            <a:solidFill>
              <a:srgbClr val="1F2A44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1F2A44"/>
                </a:solidFill>
                <a:latin typeface="Calibri"/>
              </a:rPr>
              <a:t>M10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0" y="2816352"/>
            <a:ext cx="768096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B2420"/>
                </a:solidFill>
                <a:latin typeface="Calibri"/>
              </a:rPr>
              <a:t>Validasi &amp;</a:t>
            </a:r>
          </a:p>
          <a:p>
            <a:pPr algn="ctr"/>
            <a:r>
              <a:rPr sz="800" b="1" i="0">
                <a:solidFill>
                  <a:srgbClr val="1B2420"/>
                </a:solidFill>
                <a:latin typeface="Calibri"/>
              </a:rPr>
              <a:t>registrasi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3172968"/>
            <a:ext cx="768096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Validation report,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MoU, registry account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84664" y="2075688"/>
            <a:ext cx="768096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2030 →</a:t>
            </a:r>
          </a:p>
        </p:txBody>
      </p:sp>
      <p:sp>
        <p:nvSpPr>
          <p:cNvPr id="54" name="Oval 53"/>
          <p:cNvSpPr/>
          <p:nvPr/>
        </p:nvSpPr>
        <p:spPr>
          <a:xfrm>
            <a:off x="10058400" y="2304288"/>
            <a:ext cx="420624" cy="420624"/>
          </a:xfrm>
          <a:prstGeom prst="ellipse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84664" y="2816352"/>
            <a:ext cx="768096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B2420"/>
                </a:solidFill>
                <a:latin typeface="Calibri"/>
              </a:rPr>
              <a:t>Implementasi</a:t>
            </a:r>
          </a:p>
          <a:p>
            <a:pPr algn="ctr"/>
            <a:r>
              <a:rPr sz="800" b="1" i="0">
                <a:solidFill>
                  <a:srgbClr val="1B2420"/>
                </a:solidFill>
                <a:latin typeface="Calibri"/>
              </a:rPr>
              <a:t>&amp; monitoring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84664" y="3172968"/>
            <a:ext cx="768096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Annual Report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tiap 12 bulan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25328" y="2075688"/>
            <a:ext cx="768096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≤5 th pasca-validasi</a:t>
            </a:r>
          </a:p>
        </p:txBody>
      </p:sp>
      <p:sp>
        <p:nvSpPr>
          <p:cNvPr id="58" name="Diamond 57"/>
          <p:cNvSpPr/>
          <p:nvPr/>
        </p:nvSpPr>
        <p:spPr>
          <a:xfrm>
            <a:off x="10735056" y="2240280"/>
            <a:ext cx="548640" cy="548640"/>
          </a:xfrm>
          <a:prstGeom prst="diamond">
            <a:avLst/>
          </a:prstGeom>
          <a:solidFill>
            <a:srgbClr val="FFFFFF"/>
          </a:solidFill>
          <a:ln w="28575">
            <a:solidFill>
              <a:srgbClr val="1F2A44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1F2A44"/>
                </a:solidFill>
                <a:latin typeface="Calibri"/>
              </a:rPr>
              <a:t>M12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25328" y="2816352"/>
            <a:ext cx="768096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B2420"/>
                </a:solidFill>
                <a:latin typeface="Calibri"/>
              </a:rPr>
              <a:t>Verifikasi &amp;</a:t>
            </a:r>
          </a:p>
          <a:p>
            <a:pPr algn="ctr"/>
            <a:r>
              <a:rPr sz="800" b="1" i="0">
                <a:solidFill>
                  <a:srgbClr val="1B2420"/>
                </a:solidFill>
                <a:latin typeface="Calibri"/>
              </a:rPr>
              <a:t>issuance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625328" y="3172968"/>
            <a:ext cx="768096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vPVC di PV Climate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Registry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365992" y="2075688"/>
            <a:ext cx="768096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setelah issuance</a:t>
            </a:r>
          </a:p>
        </p:txBody>
      </p:sp>
      <p:sp>
        <p:nvSpPr>
          <p:cNvPr id="62" name="Oval 61"/>
          <p:cNvSpPr/>
          <p:nvPr/>
        </p:nvSpPr>
        <p:spPr>
          <a:xfrm>
            <a:off x="11539728" y="2304288"/>
            <a:ext cx="420624" cy="420624"/>
          </a:xfrm>
          <a:prstGeom prst="ellipse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M13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65992" y="2816352"/>
            <a:ext cx="768096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B2420"/>
                </a:solidFill>
                <a:latin typeface="Calibri"/>
              </a:rPr>
              <a:t>Penjualan &amp;</a:t>
            </a:r>
          </a:p>
          <a:p>
            <a:pPr algn="ctr"/>
            <a:r>
              <a:rPr sz="800" b="1" i="0">
                <a:solidFill>
                  <a:srgbClr val="1B2420"/>
                </a:solidFill>
                <a:latin typeface="Calibri"/>
              </a:rPr>
              <a:t>bagi manfaat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65992" y="3172968"/>
            <a:ext cx="768096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≥60% pendapatan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ke komunitas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566160"/>
            <a:ext cx="36576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1" i="0">
                <a:solidFill>
                  <a:srgbClr val="5F6B65"/>
                </a:solidFill>
                <a:latin typeface="Calibri"/>
              </a:rPr>
              <a:t>Lajur kerja (bulan program)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3730752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M1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77240" y="3767328"/>
            <a:ext cx="865632" cy="100584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65760" y="3886200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M2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210056" y="3922776"/>
            <a:ext cx="865632" cy="100584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65760" y="4041648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M3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2872" y="4078224"/>
            <a:ext cx="2164079" cy="100584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197096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M4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075688" y="4233672"/>
            <a:ext cx="3029711" cy="100584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65760" y="4352544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M5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642872" y="4389120"/>
            <a:ext cx="2164079" cy="100584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65760" y="4507992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M6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941320" y="4544568"/>
            <a:ext cx="1298448" cy="100584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65760" y="4663440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M7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806952" y="4700016"/>
            <a:ext cx="2164080" cy="100584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02920" y="4855464"/>
            <a:ext cx="5486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Okt 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801368" y="4855464"/>
            <a:ext cx="5486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Jan 27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099816" y="4855464"/>
            <a:ext cx="5486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Apr 27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98264" y="4855464"/>
            <a:ext cx="5486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Jul 27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96712" y="4855464"/>
            <a:ext cx="5486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Okt 27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5971032" y="3721608"/>
            <a:ext cx="0" cy="1133856"/>
          </a:xfrm>
          <a:prstGeom prst="line">
            <a:avLst/>
          </a:prstGeom>
          <a:ln w="15875">
            <a:solidFill>
              <a:srgbClr val="C26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6007608" y="3547872"/>
            <a:ext cx="14630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C26A0A"/>
                </a:solidFill>
                <a:latin typeface="Calibri"/>
              </a:rPr>
              <a:t>Akhir TAF · Sep 27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07608" y="4526280"/>
            <a:ext cx="91440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1">
                <a:solidFill>
                  <a:srgbClr val="C26A0A"/>
                </a:solidFill>
                <a:latin typeface="Calibri"/>
              </a:rPr>
              <a:t>buffer review</a:t>
            </a:r>
          </a:p>
          <a:p>
            <a:pPr algn="l"/>
            <a:r>
              <a:rPr sz="650" b="0" i="1">
                <a:solidFill>
                  <a:srgbClr val="C26A0A"/>
                </a:solidFill>
                <a:latin typeface="Calibri"/>
              </a:rPr>
              <a:t>di luar TAF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642872" y="4046220"/>
            <a:ext cx="3462527" cy="466344"/>
          </a:xfrm>
          <a:prstGeom prst="rect">
            <a:avLst/>
          </a:prstGeom>
          <a:noFill/>
          <a:ln w="12700">
            <a:solidFill>
              <a:srgbClr val="0E7C6B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688592" y="5010912"/>
            <a:ext cx="32004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1" i="0">
                <a:solidFill>
                  <a:srgbClr val="0E7C6B"/>
                </a:solidFill>
                <a:latin typeface="Calibri"/>
              </a:rPr>
              <a:t>∥ M3 · M4 · M5 berjalan paralel (bulan 3–10)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726679" y="3566160"/>
            <a:ext cx="402336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1" i="0">
                <a:solidFill>
                  <a:srgbClr val="5F6B65"/>
                </a:solidFill>
                <a:latin typeface="Calibri"/>
              </a:rPr>
              <a:t>Lajur kerja (tahun, indikatif)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543800" y="3730752"/>
            <a:ext cx="27432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0" i="0">
                <a:solidFill>
                  <a:srgbClr val="5F6B65"/>
                </a:solidFill>
                <a:latin typeface="Calibri"/>
              </a:rPr>
              <a:t>M8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854948" y="3767328"/>
            <a:ext cx="489235" cy="100584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43800" y="3886200"/>
            <a:ext cx="27432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0" i="0">
                <a:solidFill>
                  <a:srgbClr val="5F6B65"/>
                </a:solidFill>
                <a:latin typeface="Calibri"/>
              </a:rPr>
              <a:t>M9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09307" y="3922776"/>
            <a:ext cx="869752" cy="100584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543800" y="4041648"/>
            <a:ext cx="27432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0" i="0">
                <a:solidFill>
                  <a:srgbClr val="5F6B65"/>
                </a:solidFill>
                <a:latin typeface="Calibri"/>
              </a:rPr>
              <a:t>M10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670340" y="4078224"/>
            <a:ext cx="543595" cy="100584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43800" y="4197096"/>
            <a:ext cx="27432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0" i="0">
                <a:solidFill>
                  <a:srgbClr val="5F6B65"/>
                </a:solidFill>
                <a:latin typeface="Calibri"/>
              </a:rPr>
              <a:t>M11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159576" y="4233672"/>
            <a:ext cx="2663615" cy="100584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43800" y="4352544"/>
            <a:ext cx="27432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0" i="0">
                <a:solidFill>
                  <a:srgbClr val="5F6B65"/>
                </a:solidFill>
                <a:latin typeface="Calibri"/>
              </a:rPr>
              <a:t>M12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029328" y="4389120"/>
            <a:ext cx="380516" cy="100584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543800" y="4507992"/>
            <a:ext cx="27432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0" i="0">
                <a:solidFill>
                  <a:srgbClr val="5F6B65"/>
                </a:solidFill>
                <a:latin typeface="Calibri"/>
              </a:rPr>
              <a:t>M13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409844" y="4544568"/>
            <a:ext cx="1413347" cy="100584"/>
          </a:xfrm>
          <a:prstGeom prst="rect">
            <a:avLst/>
          </a:prstGeom>
          <a:solidFill>
            <a:srgbClr val="E6E9EF"/>
          </a:solidFill>
          <a:ln w="6350">
            <a:solidFill>
              <a:srgbClr val="8A93A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1497034" y="4389120"/>
            <a:ext cx="326157" cy="100584"/>
          </a:xfrm>
          <a:prstGeom prst="rect">
            <a:avLst/>
          </a:prstGeom>
          <a:noFill/>
          <a:ln w="9525">
            <a:solidFill>
              <a:srgbClr val="1F2A44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789426" y="4718304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2028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333021" y="4718304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2029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876616" y="4718304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2030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420211" y="4718304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2031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963806" y="4718304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2032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507401" y="4718304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2033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1050996" y="4718304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2034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726679" y="4892040"/>
            <a:ext cx="40690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1">
                <a:solidFill>
                  <a:srgbClr val="5F6B65"/>
                </a:solidFill>
                <a:latin typeface="Calibri"/>
              </a:rPr>
              <a:t>M8 investasi/presale paralel dengan awal PDD; penjualan unit (M13) setelah issuance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365760" y="5157216"/>
            <a:ext cx="11457432" cy="0"/>
          </a:xfrm>
          <a:prstGeom prst="line">
            <a:avLst/>
          </a:prstGeom>
          <a:ln w="9525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411480" y="5285231"/>
            <a:ext cx="219456" cy="219456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85800" y="5276088"/>
            <a:ext cx="237744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1B2420"/>
                </a:solidFill>
                <a:latin typeface="Calibri"/>
              </a:rPr>
              <a:t>Milestone internal (dikendalikan tim)</a:t>
            </a:r>
          </a:p>
        </p:txBody>
      </p:sp>
      <p:sp>
        <p:nvSpPr>
          <p:cNvPr id="115" name="Diamond 114"/>
          <p:cNvSpPr/>
          <p:nvPr/>
        </p:nvSpPr>
        <p:spPr>
          <a:xfrm>
            <a:off x="393192" y="5577840"/>
            <a:ext cx="256032" cy="256032"/>
          </a:xfrm>
          <a:prstGeom prst="diamond">
            <a:avLst/>
          </a:prstGeom>
          <a:solidFill>
            <a:srgbClr val="FFFFFF"/>
          </a:solidFill>
          <a:ln w="22225">
            <a:solidFill>
              <a:srgbClr val="0E7C6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85800" y="5596128"/>
            <a:ext cx="237744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1B2420"/>
                </a:solidFill>
                <a:latin typeface="Calibri"/>
              </a:rPr>
              <a:t>Persetujuan eksternal (Plan Vivo / VVB)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411480" y="6016752"/>
            <a:ext cx="228600" cy="0"/>
          </a:xfrm>
          <a:prstGeom prst="line">
            <a:avLst/>
          </a:prstGeom>
          <a:ln w="25400">
            <a:solidFill>
              <a:srgbClr val="C26A0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685800" y="5916168"/>
            <a:ext cx="246888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1B2420"/>
                </a:solidFill>
                <a:latin typeface="Calibri"/>
              </a:rPr>
              <a:t>Batas cakupan SETAPAK 4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11480" y="6199631"/>
            <a:ext cx="228600" cy="91440"/>
          </a:xfrm>
          <a:prstGeom prst="rect">
            <a:avLst/>
          </a:prstGeom>
          <a:noFill/>
          <a:ln w="12700">
            <a:solidFill>
              <a:srgbClr val="0E7C6B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85800" y="6144768"/>
            <a:ext cx="246888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1B2420"/>
                </a:solidFill>
                <a:latin typeface="Calibri"/>
              </a:rPr>
              <a:t>Aktivitas paralel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246120" y="5230368"/>
            <a:ext cx="40690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C26A0A"/>
                </a:solidFill>
                <a:latin typeface="Calibri"/>
              </a:rPr>
              <a:t>Arti gerbang: </a:t>
            </a:r>
            <a:r>
              <a:rPr sz="800" b="0">
                <a:solidFill>
                  <a:srgbClr val="1B2420"/>
                </a:solidFill>
                <a:latin typeface="Calibri"/>
              </a:rPr>
              <a:t>PIN disetujui Plan Vivo → proyek tercantum di Project pipeline. Pengajuan PIN (M6) belum berarti diterima; review ±6 minggu + putaran CAR/NIR (±4 minggu tiap putaran).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B2420"/>
                </a:solidFill>
                <a:latin typeface="Calibri"/>
              </a:rPr>
              <a:t>Pipeline ≠ registrasi ≠ issuance. </a:t>
            </a:r>
            <a:r>
              <a:rPr sz="800" b="0">
                <a:solidFill>
                  <a:srgbClr val="1B2420"/>
                </a:solidFill>
                <a:latin typeface="Calibri"/>
              </a:rPr>
              <a:t>Registrasi baru setelah validasi (M10). PDD wajib diajukan ≤3 tahun setelah PIN disetujui.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589520" y="5230368"/>
            <a:ext cx="425196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Unit Plan Vivo (PVC) di STEP 2: 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B2420"/>
                </a:solidFill>
                <a:latin typeface="Calibri"/>
              </a:rPr>
              <a:t>fPVC </a:t>
            </a:r>
            <a:r>
              <a:rPr sz="800" b="0">
                <a:solidFill>
                  <a:srgbClr val="1B2420"/>
                </a:solidFill>
                <a:latin typeface="Calibri"/>
              </a:rPr>
              <a:t>saat validasi — hanya intervensi serapan (restorasi)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B2420"/>
                </a:solidFill>
                <a:latin typeface="Calibri"/>
              </a:rPr>
              <a:t>rPVC </a:t>
            </a:r>
            <a:r>
              <a:rPr sz="800" b="0">
                <a:solidFill>
                  <a:srgbClr val="1B2420"/>
                </a:solidFill>
                <a:latin typeface="Calibri"/>
              </a:rPr>
              <a:t>dari monitoring di Annual Report, belum diverifikasi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B2420"/>
                </a:solidFill>
                <a:latin typeface="Calibri"/>
              </a:rPr>
              <a:t>vPVC </a:t>
            </a:r>
            <a:r>
              <a:rPr sz="800" b="0">
                <a:solidFill>
                  <a:srgbClr val="1B2420"/>
                </a:solidFill>
                <a:latin typeface="Calibri"/>
              </a:rPr>
              <a:t>setelah verifikasi (≤5 th pasca-validasi) — satu-satunya unit yang dapat di-retire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65760" y="6473952"/>
            <a:ext cx="107899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Sumber: Plan Vivo PV Climate Procedures Manual V3.9 (Bab 1–9, 14); Project Requirements V5.7; Participatory Toolkit V1.0. Tanggal STEP 2 dan seluruh persetujuan eksternal bersifat indikatif.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91440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0E7C6B"/>
                </a:solidFill>
                <a:latin typeface="Calibri"/>
              </a:rPr>
              <a:t>OUTPUT 4 · TIMELINE &amp; CRITICAL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7315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PIN harus dikirim Mei 2027 agar keputusan Plan Vivo dapat</a:t>
            </a:r>
          </a:p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keluar sebelum TAF berakhir September 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9436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800" b="0" i="0">
                <a:solidFill>
                  <a:srgbClr val="5F6B65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3063240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63240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Okt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47236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47236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Nov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231233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31233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Des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15230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5230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Jan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9227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9227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Feb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3224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3224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Mar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67220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7220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Apr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51217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51217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Mei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35214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35214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Jun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19211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19211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Jul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03208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03208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Agu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87204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87204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Sep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71201" y="1371600"/>
            <a:ext cx="574852" cy="329184"/>
          </a:xfrm>
          <a:prstGeom prst="rect">
            <a:avLst/>
          </a:prstGeom>
          <a:solidFill>
            <a:srgbClr val="F6EBD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71201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Okt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655198" y="1371600"/>
            <a:ext cx="574852" cy="329184"/>
          </a:xfrm>
          <a:prstGeom prst="rect">
            <a:avLst/>
          </a:prstGeom>
          <a:solidFill>
            <a:srgbClr val="F6EBD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55198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Nov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239195" y="1371600"/>
            <a:ext cx="574852" cy="329184"/>
          </a:xfrm>
          <a:prstGeom prst="rect">
            <a:avLst/>
          </a:prstGeom>
          <a:solidFill>
            <a:srgbClr val="F6EBD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239195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Des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65760" y="1755648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65760" y="1741932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M1.1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1741932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Kick-off &amp; koordinasi LPHD–Pemdes–BPD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72384" y="1776461"/>
            <a:ext cx="565708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1845999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M1.2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1845999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Persetujuan pendampingan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72384" y="1880528"/>
            <a:ext cx="565708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1950066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M1.3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1950066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Kerja sama &amp; kesiapan kelembagaan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72384" y="1984596"/>
            <a:ext cx="1149705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2054134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M1.4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2054134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Pemeriksaan legalitas awal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072384" y="2088663"/>
            <a:ext cx="1149705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2158201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M1.5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8" y="2158201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Inventarisasi progres yang sudah dilakukan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072384" y="2192731"/>
            <a:ext cx="1149705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365760" y="2275985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365760" y="2262269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M2.1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9808" y="2262269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Stakeholder mapping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6380" y="2296798"/>
            <a:ext cx="565708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2366336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M2.2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8" y="2366336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Identifikasi isu sosial &amp; lingkungan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6380" y="2400866"/>
            <a:ext cx="1149705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2470404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M2.3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9808" y="2470404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Konsultasi awal komunitas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6380" y="2504933"/>
            <a:ext cx="1149705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2574471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M2.4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9808" y="2574471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Identifikasi kelompok perempuan &amp; rentan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6380" y="2609000"/>
            <a:ext cx="1149705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65760" y="2678538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M2.5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9808" y="2678538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Stakeholder Engagement Plan (SEP)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240377" y="2713068"/>
            <a:ext cx="565708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365760" y="2796322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365760" y="2782606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M3.1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9808" y="2782606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Pra-FPIC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40377" y="2817135"/>
            <a:ext cx="1149705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5760" y="2886673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M3.2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9808" y="2886673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Pelaksanaan participatory tools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24374" y="2921203"/>
            <a:ext cx="1733702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65760" y="2990741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M3.3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9808" y="2990741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Pemetaan partisipatif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824374" y="3025270"/>
            <a:ext cx="1149705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5760" y="3094808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M3.4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9808" y="3094808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E&amp;S risk screening partisipatif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408371" y="3129338"/>
            <a:ext cx="565708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3198876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M3.5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49808" y="3198876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Konsultasi &amp; keputusan FPIC tahap i–ii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992367" y="3233405"/>
            <a:ext cx="565708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65760" y="3302943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M3.6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9808" y="3302943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Dokumentasi keputusan &amp; persetujuan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992367" y="3337472"/>
            <a:ext cx="1149705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65760" y="3407010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M3.7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49808" y="3407010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Mekanisme pengaduan (GRM)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824374" y="3441540"/>
            <a:ext cx="1733702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>
            <a:off x="365760" y="3524794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365760" y="3511078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M4.1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9808" y="3511078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Identifikasi &amp; penguatan KUPS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824374" y="3545607"/>
            <a:ext cx="3485692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65760" y="3615145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M4.2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49808" y="3615145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Pembentukan/penguatan Women Forest Defender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824374" y="3649675"/>
            <a:ext cx="2317699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65760" y="3719213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M4.3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49808" y="3719213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Identifikasi potensi livelihood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408371" y="3753742"/>
            <a:ext cx="2317699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65760" y="3823280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M4.4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49808" y="3823280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Konsep kegiatan komunitas (intervensi &amp; ToC)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408371" y="3857810"/>
            <a:ext cx="1733702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65760" y="3927348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M4.5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49808" y="3927348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Prinsip benefit-sharing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576364" y="3961877"/>
            <a:ext cx="2317699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65760" y="4031415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M4.6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49808" y="4031415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Penguatan tata kelola LPHD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992367" y="4065944"/>
            <a:ext cx="2901696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>
            <a:off x="365760" y="4149198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365760" y="4135482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M5.1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9808" y="4135482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Pemeriksaan batas &amp; status kawasan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4240377" y="4170012"/>
            <a:ext cx="565708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65760" y="4239550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M5.2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49808" y="4239550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Analisis tutupan lahan &amp; ekosistem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240377" y="4274079"/>
            <a:ext cx="1149705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365760" y="4343617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M5.3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49808" y="4343617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Identifikasi ancaman &amp; sumber emisi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824374" y="4378147"/>
            <a:ext cx="1149705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65760" y="4447685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M5.4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49808" y="4447685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Kesesuaian metodologi PV Climate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08371" y="4482214"/>
            <a:ext cx="565708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65760" y="4551752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M5.5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9808" y="4551752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Estimasi indikatif potensi kredit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408371" y="4586282"/>
            <a:ext cx="1149705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65760" y="4655820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M5.6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49808" y="4655820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Risiko &amp; kelayakan awal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992367" y="4690349"/>
            <a:ext cx="1149705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365760" y="4759887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M5.7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49808" y="4759887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Penyusunan baseline scenario &amp; project scenario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5992367" y="4794416"/>
            <a:ext cx="1149705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365760" y="4877670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365760" y="4863954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M6.1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49808" y="4863954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Konsolidasi data &amp; data room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992367" y="4898484"/>
            <a:ext cx="565708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365760" y="4968022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M6.2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9808" y="4968022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Penyusunan draft PIN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992367" y="5002551"/>
            <a:ext cx="1149705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65760" y="5072089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M6.3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5072089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Konsultasi &amp; review bersama LPHD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576364" y="5106619"/>
            <a:ext cx="1149705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65760" y="5176157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M6.4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49808" y="5176157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Pre-submission call dengan Plan Vivo (opsional)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4824374" y="5210686"/>
            <a:ext cx="1733702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65760" y="5280224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M6.5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49808" y="5280224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Finalisasi PIN &amp; lampiran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160361" y="5314754"/>
            <a:ext cx="565708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65760" y="5384292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M6.6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49808" y="5384292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Pengajuan PIN ke Plan Vivo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160361" y="5418821"/>
            <a:ext cx="565708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9" name="Connector 148"/>
          <p:cNvCxnSpPr/>
          <p:nvPr/>
        </p:nvCxnSpPr>
        <p:spPr>
          <a:xfrm>
            <a:off x="365760" y="5502075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/>
          <p:cNvSpPr txBox="1"/>
          <p:nvPr/>
        </p:nvSpPr>
        <p:spPr>
          <a:xfrm>
            <a:off x="365760" y="5488359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M7.1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49808" y="5488359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Komunikasi &amp; tracking review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7160361" y="5522888"/>
            <a:ext cx="1149705" cy="62440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65760" y="5592426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M7.2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749808" y="5592426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Tindak lanjut PIN review report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7744358" y="5626956"/>
            <a:ext cx="1733702" cy="62440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365760" y="5696494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M7.3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749808" y="5696494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Revisi &amp; klarifikasi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744358" y="5731023"/>
            <a:ext cx="1733702" cy="62440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365760" y="5800561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M7.4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49808" y="5800561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Pemenuhan persyaratan relevan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7744358" y="5835091"/>
            <a:ext cx="1733702" cy="62440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365760" y="5904629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M7.5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49808" y="5904629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Konfirmasi pencantuman di pipeline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8912352" y="5939158"/>
            <a:ext cx="1149705" cy="62440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365760" y="6008696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M7.6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49808" y="6008696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Umpan balik ke komunitas &amp; handover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9496348" y="6043226"/>
            <a:ext cx="565708" cy="62440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68" name="Connector 167"/>
          <p:cNvCxnSpPr/>
          <p:nvPr/>
        </p:nvCxnSpPr>
        <p:spPr>
          <a:xfrm>
            <a:off x="7735214" y="1371600"/>
            <a:ext cx="0" cy="4754879"/>
          </a:xfrm>
          <a:prstGeom prst="line">
            <a:avLst/>
          </a:prstGeom>
          <a:ln w="15875">
            <a:solidFill>
              <a:srgbClr val="0E7C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/>
          <p:cNvSpPr txBox="1"/>
          <p:nvPr/>
        </p:nvSpPr>
        <p:spPr>
          <a:xfrm>
            <a:off x="6272174" y="1143000"/>
            <a:ext cx="14173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1" i="0">
                <a:solidFill>
                  <a:srgbClr val="0E7C6B"/>
                </a:solidFill>
                <a:latin typeface="Calibri"/>
              </a:rPr>
              <a:t>PIN submitted (M6.6)</a:t>
            </a:r>
          </a:p>
        </p:txBody>
      </p:sp>
      <p:cxnSp>
        <p:nvCxnSpPr>
          <p:cNvPr id="170" name="Connector 169"/>
          <p:cNvCxnSpPr/>
          <p:nvPr/>
        </p:nvCxnSpPr>
        <p:spPr>
          <a:xfrm>
            <a:off x="10071201" y="1371600"/>
            <a:ext cx="0" cy="4754879"/>
          </a:xfrm>
          <a:prstGeom prst="line">
            <a:avLst/>
          </a:prstGeom>
          <a:ln w="19050">
            <a:solidFill>
              <a:srgbClr val="C26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Box 170"/>
          <p:cNvSpPr txBox="1"/>
          <p:nvPr/>
        </p:nvSpPr>
        <p:spPr>
          <a:xfrm>
            <a:off x="7693761" y="1143000"/>
            <a:ext cx="23317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1" i="0">
                <a:solidFill>
                  <a:srgbClr val="C26A0A"/>
                </a:solidFill>
                <a:latin typeface="Calibri"/>
              </a:rPr>
              <a:t>Akhir TAF · target pipeline (M7.5)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0116921" y="1143000"/>
            <a:ext cx="1828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1">
                <a:solidFill>
                  <a:srgbClr val="C26A0A"/>
                </a:solidFill>
                <a:latin typeface="Calibri"/>
              </a:rPr>
              <a:t>Buffer review di luar TAF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365760" y="6281928"/>
            <a:ext cx="274320" cy="91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85800" y="6236208"/>
            <a:ext cx="164592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0" i="0">
                <a:solidFill>
                  <a:srgbClr val="1B2420"/>
                </a:solidFill>
                <a:latin typeface="Calibri"/>
              </a:rPr>
              <a:t>Jalur kritis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1828800" y="6281928"/>
            <a:ext cx="274320" cy="91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148840" y="6236208"/>
            <a:ext cx="164592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0" i="0">
                <a:solidFill>
                  <a:srgbClr val="1B2420"/>
                </a:solidFill>
                <a:latin typeface="Calibri"/>
              </a:rPr>
              <a:t>Ada float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3108960" y="6281928"/>
            <a:ext cx="274320" cy="91440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3429000" y="6236208"/>
            <a:ext cx="36576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0" i="0">
                <a:solidFill>
                  <a:srgbClr val="1B2420"/>
                </a:solidFill>
                <a:latin typeface="Calibri"/>
              </a:rPr>
              <a:t>Bergantung review Plan Vivo (tanggal tidak pasti)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6583680" y="6236208"/>
            <a:ext cx="52120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1" i="0">
                <a:solidFill>
                  <a:srgbClr val="1F2A44"/>
                </a:solidFill>
                <a:latin typeface="Calibri"/>
              </a:rPr>
              <a:t>STEP 2: M8 investasi 2027–28 · M9 PDD 2027–29 · M10 2029–30 · M11 2030→ · M12 ≤5 th · M13 setelah issuance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65760" y="6473952"/>
            <a:ext cx="107899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Bulan 1 = Oktober 2026; TAF berakhir bulan 12 (Sep 2027). Review PIN: awal ±6 minggu; tanggapan CAR/NIR ±4 minggu; revisi wajib ≤6 bulan, maks. 3 putaran (Procedures Manual V3.9 §2.2, §9).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91440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0E7C6B"/>
                </a:solidFill>
                <a:latin typeface="Calibri"/>
              </a:rPr>
              <a:t>OUTPUT 3 · POST-SETAPAK 4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7315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Enam milestone lanjutan, dibuka dengan mobilisasi investasi —</a:t>
            </a:r>
          </a:p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metodologi mangrove yang disetujui adalah syarat pertama PDD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9436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800" b="0" i="0">
                <a:solidFill>
                  <a:srgbClr val="5F6B65"/>
                </a:solidFill>
                <a:latin typeface="Calibri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98448"/>
            <a:ext cx="1828800" cy="502920"/>
          </a:xfrm>
          <a:prstGeom prst="rect">
            <a:avLst/>
          </a:prstGeom>
          <a:solidFill>
            <a:srgbClr val="1F2A44"/>
          </a:solidFill>
          <a:ln w="19050">
            <a:solidFill>
              <a:srgbClr val="1F2A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98448"/>
            <a:ext cx="173736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M8  </a:t>
            </a:r>
            <a:r>
              <a:rPr sz="850" b="1">
                <a:solidFill>
                  <a:srgbClr val="FFFFFF"/>
                </a:solidFill>
                <a:latin typeface="Calibri"/>
              </a:rPr>
              <a:t>Pipeline Listing &amp; Investment Mobilisation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892807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SYARAT MULAI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" y="2057400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PIN approved (M7) — status pipeline menjadi dasar kredibilitas ke investor; persiapan materi investor dapat dimulai Jul 2027 di dalam TAF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" y="2651760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DURASI INDIKATIF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2816352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3–9 bulan (paralel dengan awal PDD)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" y="3410712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PENDANAAN (INDIKATIF)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" y="3575304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± USD 10–25 rb (legal &amp; penyusunan materi investor)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" y="4169663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MITRA POTENSIAL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" y="4334255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Investor dampak, pembeli korporat, broker berintegritas, filantropi iklim, BPDLH; konsultan hukum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" y="4928616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BERGANTUNG PADA STEP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" y="5093207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Feasibility &amp; Go/No-Go (M5), prinsip benefit-sharing (M4.5), FPIC i–ii (M3.5)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" y="5687568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BATAS WAKTU STANDAR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" y="5852159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Presale: Permenhut 6/2026 Ps. 10(1) mensyaratkan kepemilikan Unit Karbon untuk perdagangan → kontrak berjangka, bukan penjualan unit; konfirmasi hukum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298448"/>
            <a:ext cx="1828800" cy="5056632"/>
          </a:xfrm>
          <a:prstGeom prst="rect">
            <a:avLst/>
          </a:prstGeom>
          <a:noFill/>
          <a:ln w="6350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91486" y="1298448"/>
            <a:ext cx="1828800" cy="502920"/>
          </a:xfrm>
          <a:prstGeom prst="rect">
            <a:avLst/>
          </a:prstGeom>
          <a:solidFill>
            <a:srgbClr val="1F2A44"/>
          </a:solidFill>
          <a:ln w="19050">
            <a:solidFill>
              <a:srgbClr val="1F2A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37206" y="1298448"/>
            <a:ext cx="173736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M9  </a:t>
            </a:r>
            <a:r>
              <a:rPr sz="850" b="1">
                <a:solidFill>
                  <a:srgbClr val="FFFFFF"/>
                </a:solidFill>
                <a:latin typeface="Calibri"/>
              </a:rPr>
              <a:t>Full Project Design &amp; PDD Development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46350" y="1892807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SYARAT MULAI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46350" y="2057400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PIN approved (M7); metodologi yang berlaku SUDAH disetujui Plan Vivo; pendanaan PDD tersedia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46350" y="2651760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DURASI INDIKATIF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46350" y="2816352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12–18 bulan (PDD screening ±6 mgg, konsultasi publik 4 mgg, PDD review ±8 mgg; belum termasuk waktu tanggapan)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46350" y="3410712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PENDANAAN (INDIKATIF)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46350" y="3575304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± USD 60–120 rb (indikatif, perlu penawaran)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46350" y="4169663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MITRA POTENSIAL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46350" y="4334255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Tenaga ahli karbon blue carbon; lembaga riset (mis. BRIN, universitas lokal) untuk plot stok karbon; donor lanjutan (TAF follow-on, filantropi iklim, BPDLH)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46350" y="4928616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BERGANTUNG PADA STEP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46350" y="5093207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Data room M1–M7, peta partisipatif &amp; KML, BA FPIC i–ii, feasibility &amp; memo metodologi, prinsip benefit-sharing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46350" y="5687568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BATAS WAKTU STANDAR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46350" y="5852159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PDD wajib diajukan ≤3 tahun sejak PIN approved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91486" y="1298448"/>
            <a:ext cx="1828800" cy="5056632"/>
          </a:xfrm>
          <a:prstGeom prst="rect">
            <a:avLst/>
          </a:prstGeom>
          <a:noFill/>
          <a:ln w="6350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17212" y="1298448"/>
            <a:ext cx="182880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A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62932" y="1298448"/>
            <a:ext cx="173736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1F2A44"/>
                </a:solidFill>
                <a:latin typeface="Calibri"/>
              </a:rPr>
              <a:t>M10  </a:t>
            </a:r>
            <a:r>
              <a:rPr sz="850" b="1">
                <a:solidFill>
                  <a:srgbClr val="1F2A44"/>
                </a:solidFill>
                <a:latin typeface="Calibri"/>
              </a:rPr>
              <a:t>Validation &amp; Project Registration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72076" y="1892807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SYARAT MULAI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2076" y="2057400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PDD review report diterima; public consultation selesai; DPP tercatat di Kemenhut; kontrak VVB/IE; fee validasi (dapat dibiayai pre-financing M8)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72076" y="2651760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DURASI INDIKATIF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72076" y="2816352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6–12 bulan (tergantung ketersediaan VVB/IE)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72076" y="3410712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PENDANAAN (INDIKATIF)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72076" y="3575304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± USD 25–60 rb (microscale cenderung lebih rendah)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72076" y="4169663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MITRA POTENSIAL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2076" y="4334255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VVB terdaftar di Plan Vivo atau Independent Expert; legal counsel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72076" y="4928616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BERGANTUNG PADA STEP 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72076" y="5093207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Kualitas FPIC, peta &amp; bukti hak dari STEP 1 diuji ulang saat site visit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72076" y="5687568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BATAS WAKTU STANDAR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72076" y="5852159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Validasi selesai ≤3 tahun sejak PDD diajukan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17212" y="1298448"/>
            <a:ext cx="1828800" cy="5056632"/>
          </a:xfrm>
          <a:prstGeom prst="rect">
            <a:avLst/>
          </a:prstGeom>
          <a:noFill/>
          <a:ln w="6350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142939" y="1298448"/>
            <a:ext cx="1828800" cy="502920"/>
          </a:xfrm>
          <a:prstGeom prst="rect">
            <a:avLst/>
          </a:prstGeom>
          <a:solidFill>
            <a:srgbClr val="1F2A44"/>
          </a:solidFill>
          <a:ln w="19050">
            <a:solidFill>
              <a:srgbClr val="1F2A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88659" y="1298448"/>
            <a:ext cx="173736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M11  </a:t>
            </a:r>
            <a:r>
              <a:rPr sz="850" b="1">
                <a:solidFill>
                  <a:srgbClr val="FFFFFF"/>
                </a:solidFill>
                <a:latin typeface="Calibri"/>
              </a:rPr>
              <a:t>Project Implementation &amp; Monitoring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97803" y="1892807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SYARAT MULAI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97803" y="2057400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Registrasi (untuk issuance); kegiatan lapangan dapat sudah berjalan sejak STEP 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97803" y="2651760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DURASI INDIKATIF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97803" y="2816352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Berkelanjutan sepanjang Project Period; laporan tiap 12 bulan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97803" y="3410712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PENDANAAN (INDIKATIF)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97803" y="3575304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± USD 40–90 rb/tahun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97803" y="4169663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MITRA POTENSIAL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97803" y="4334255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KPH/Dinas LHK, DKP, pemerintah desa, pembeli/offtaker (pre-finance)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97803" y="4928616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BERGANTUNG PADA STEP 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97803" y="5093207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SOP patroli WFD, KUPS, GRM, baseline sosial dari STEP 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97803" y="5687568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BATAS WAKTU STANDAR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97803" y="5852159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Periode laporan pertama berakhir ≤12 bulan setelah registrasi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42939" y="1298448"/>
            <a:ext cx="1828800" cy="5056632"/>
          </a:xfrm>
          <a:prstGeom prst="rect">
            <a:avLst/>
          </a:prstGeom>
          <a:noFill/>
          <a:ln w="6350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068665" y="1298448"/>
            <a:ext cx="182880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A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114385" y="1298448"/>
            <a:ext cx="173736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1F2A44"/>
                </a:solidFill>
                <a:latin typeface="Calibri"/>
              </a:rPr>
              <a:t>M12  </a:t>
            </a:r>
            <a:r>
              <a:rPr sz="850" b="1">
                <a:solidFill>
                  <a:srgbClr val="1F2A44"/>
                </a:solidFill>
                <a:latin typeface="Calibri"/>
              </a:rPr>
              <a:t>Verification &amp; Credit Issuance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123529" y="1892807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SYARAT MULAI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23529" y="2057400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Annual Report kontinu; monitoring sesuai PDD; kontrak VVB/IE; fee verifikasi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23529" y="2651760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DURASI INDIKATIF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123529" y="2816352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4–9 bulan per siklus; verifikasi pertama ≤5 tahun setelah validasi, periode berikut ≤5 tahun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23529" y="3410712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PENDANAAN (INDIKATIF)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23529" y="3575304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± USD 20–50 rb per verifikasi + issuance fee per PVC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23529" y="4169663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MITRA POTENSIAL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23529" y="4334255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VVB/IE; Kemenhut/KLH untuk pencatatan nasional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23529" y="4928616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BERGANTUNG PADA STEP 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123529" y="5093207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Konsistensi data monitoring dengan baseline &amp; peta STEP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23529" y="5687568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BATAS WAKTU STANDAR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23529" y="5852159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Gagal verifikasi &gt;2 tahun setelah akhir periode → proses suspensi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068665" y="1298448"/>
            <a:ext cx="1828800" cy="5056632"/>
          </a:xfrm>
          <a:prstGeom prst="rect">
            <a:avLst/>
          </a:prstGeom>
          <a:noFill/>
          <a:ln w="6350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994392" y="1298448"/>
            <a:ext cx="1828800" cy="502920"/>
          </a:xfrm>
          <a:prstGeom prst="rect">
            <a:avLst/>
          </a:prstGeom>
          <a:solidFill>
            <a:srgbClr val="1F2A44"/>
          </a:solidFill>
          <a:ln w="19050">
            <a:solidFill>
              <a:srgbClr val="1F2A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040112" y="1298448"/>
            <a:ext cx="173736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M13  </a:t>
            </a:r>
            <a:r>
              <a:rPr sz="850" b="1">
                <a:solidFill>
                  <a:srgbClr val="FFFFFF"/>
                </a:solidFill>
                <a:latin typeface="Calibri"/>
              </a:rPr>
              <a:t>Carbon Sales &amp; Benefit Distribution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049256" y="1892807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SYARAT MULAI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49256" y="2057400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Unit dapat dialokasikan setelah issuance; hanya vPVC yang dapat di-retire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049256" y="2651760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DURASI INDIKATIF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049256" y="2816352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Mengikuti jadwal issuance; laporan offset ke Menteri (Ps. 54)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49256" y="3410712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PENDANAAN (INDIKATIF)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049256" y="3575304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± USD 10–25 rb/tahun (marketing &amp; administrasi)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049256" y="4169663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MITRA POTENSIAL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49256" y="4334255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Pembeli korporat/broker berintegritas, IDXCarbon (bila relevan), lembaga keuangan desa/BUMDes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049256" y="4928616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BERGANTUNG PADA STEP 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049256" y="5093207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Prinsip benefit-sharing (M4.5), tata kelola LPHD (M4.6)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049256" y="5687568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BATAS WAKTU STANDAR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49256" y="5852159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Calibri"/>
              </a:rPr>
              <a:t>≥60% pendapatan PVC ke peserta &amp; pihak lokal (dapat dirata-rata sepanjang Crediting Period)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994392" y="1298448"/>
            <a:ext cx="1828800" cy="5056632"/>
          </a:xfrm>
          <a:prstGeom prst="rect">
            <a:avLst/>
          </a:prstGeom>
          <a:noFill/>
          <a:ln w="6350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65760" y="6473952"/>
            <a:ext cx="107899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Durasi review dari Procedures Manual V3.9 §9; batas 3 tahun §2.2 &amp; §4.4; verifikasi §8. Angka biaya = asumsi perencanaan, bukan tarif Plan Vivo — konfirmasi lewat penawaran VVB/IE dan dokumen Costs &amp; fees.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91440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0E7C6B"/>
                </a:solidFill>
                <a:latin typeface="Calibri"/>
              </a:rPr>
              <a:t>OUTPUT 5 · TRANSITION READINESS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7315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Delapan belas syarat memindahkan proyek dari pipeline ke investasi dan penyusunan PDD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9436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800" b="0" i="0">
                <a:solidFill>
                  <a:srgbClr val="5F6B65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Calibri"/>
              </a:rPr>
              <a:t>LEGAL &amp; HAK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600200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563624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563624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PIN approved dan proyek tercantum di Plan Vivo pipeline (bukti tertulis)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563624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M7.5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929384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92807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892807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SK Hutan Desa &amp; SK LPHD berlaku; tidak ada sengketa batas terbuka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1892807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M1.4, M5.1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2258568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221991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221991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Posisi hak karbon &amp; jalur otorisasi nasional dipetakan (Permenhut 6/2026, SRN/SRUK, MRA Plan Vivo)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2221991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M5.6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624327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Calibri"/>
              </a:rPr>
              <a:t>PERSETUJUAN MASYARAKAT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2898648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2862072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2862072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BA FPIC tahap i–ii lengkap; rencana FPIC tahap iii (implementasi) &amp; Project Agreement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2862072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M3.5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227832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3191256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191256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GRM berjalan ≥6 bulan dengan register pengaduan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191256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M3.7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593591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Calibri"/>
              </a:rPr>
              <a:t>DATA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3867911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3831335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3831335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Peta partisipatif &amp; KML batas Project Region/Area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3831335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M3.3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4197096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" y="4160520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4160520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Peta tutupan lahan historis &amp; analisis driver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37760" y="4160520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M5.2, M5.3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4562856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C26A0A"/>
                </a:solidFill>
                <a:latin typeface="Calibri"/>
              </a:rPr>
              <a:t>DATA GAP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837176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800600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800600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Inventarisasi stok karbon lapangan (plot biomassa &amp; tanah mangrove)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37760" y="4800600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→ M9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84048" y="5166360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1792" y="5129784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5129784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Baseline sosial-ekonomi rumah tangga (well-being) yang representatif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37760" y="5129784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→ M9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5495544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1792" y="5458968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458968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Baseline biodiversitas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37760" y="5458968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→ M9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72200" y="1325880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Calibri"/>
              </a:rPr>
              <a:t>METODOLOGI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90488" y="1600200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28232" y="1563624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1563624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Metodologi/modul yang dipilih sudah disetujui Plan Vivo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744200" y="1563624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M5.4 → M9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72200" y="1965960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Calibri"/>
              </a:rPr>
              <a:t>KELEMBAGAAN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90488" y="2240280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2203704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12280" y="2203704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SAMPAN dikonfirmasi sebagai Project Coordinator; tim PDD terbentuk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744200" y="2203704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M1.3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90488" y="2569464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28232" y="2532888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T13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12280" y="2532888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LPHD, KUPS, WFD aktif dengan rencana kerja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744200" y="2532888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72200" y="2935224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Calibri"/>
              </a:rPr>
              <a:t>PENDANAAN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90488" y="3209544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28232" y="3172968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T14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12280" y="3172968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Pendanaan PDD + validasi teridentifikasi (komitmen atau proposal terkirim)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44200" y="3172968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M7.6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190488" y="3538727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28232" y="3502151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T15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12280" y="3502151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Anggaran fee Plan Vivo (PDD/validasi) dan audit VVB/IE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744200" y="3502151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M7.6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72200" y="3904487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Calibri"/>
              </a:rPr>
              <a:t>WAKTU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90488" y="4178807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28232" y="4142231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12280" y="4142231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Jadwal PDD mematuhi batas 3 tahun sejak PIN approved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744200" y="4142231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M7.5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172200" y="4544568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Calibri"/>
              </a:rPr>
              <a:t>INVESTASI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90488" y="4818888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28232" y="4782312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T17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12280" y="4782312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Materi investor (teaser, estimasi, model keuangan) &amp; daftar calon investor/offtaker siap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744200" y="4782312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M5, M8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72200" y="5184648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Calibri"/>
              </a:rPr>
              <a:t>REGULASI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458968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28232" y="5422392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T18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12280" y="5422392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Status SAMPAN sebagai mitra/pendamping teregistrasi &amp; rencana pencatatan DPP (Permenhut 6/2026)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744200" y="5422392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M1.4, M8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5760" y="6473952"/>
            <a:ext cx="107899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Kolom kanan = milestone sumber bukti. Data gap (T08–T10) belum menjadi kewajiban SETAPAK 4 dan diselesaikan di M9 (PDD).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