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Penyesuaian terhadap standar PV Climate (Procedures Manual V3.9): (1) tahap 5 adalah keputusan Plan Vivo atas PIN, bukan otomatis; (2) metodologi harus sudah disetujui sebelum PDD; (3) PDD melalui screening, konsultasi publik 4 minggu dan PDD review sebelum validasi; (4) registrasi = MoU + akun PV Climate Registry setelah validasi; (5) rPVC dapat diterbitkan lewat Annual Report sebelum verifikasi, fPVC saat validasi hanya untuk intervensi serapan; vPVC setelah verifikasi dan hanya vPVC yang dapat di-retire; (6) penjualan/offtake dapat dijajaki paralel sejak tahap PDD.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Pesan utama: SETAPAK 4 selesai ketika PIN disetujui dan proyek tercantum di pipeline Plan Vivo. Itu bukan registrasi dan belum menghasilkan kredit. STEP 2 (PDD, validasi, registrasi, monitoring, verifikasi, issuance, penjualan) membutuhkan pendanaan dan mitra lanjutan. Belah ketupat = keputusan pihak luar, tanggalnya tidak bisa dijamin.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Dua tahap yang saling terhubung: SETAPAK 4 mengantar proyek ke Plan Vivo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Pipeline, tahap lanjutan mengantar ke kredit karbon dan manfaat komunitas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11457432" cy="2423160"/>
          </a:xfrm>
          <a:prstGeom prst="roundRect">
            <a:avLst>
              <a:gd name="adj" fmla="val 6000"/>
            </a:avLst>
          </a:prstGeom>
          <a:solidFill>
            <a:srgbClr val="E3F1EE"/>
          </a:solidFill>
          <a:ln w="12700">
            <a:solidFill>
              <a:srgbClr val="7FBCB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54864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Calibri"/>
              </a:rPr>
              <a:t>STEP 1 — SETAPAK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389888"/>
            <a:ext cx="1691640" cy="274320"/>
          </a:xfrm>
          <a:prstGeom prst="roundRect">
            <a:avLst/>
          </a:prstGeom>
          <a:solidFill>
            <a:srgbClr val="C9E5D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E7C6B"/>
                </a:solidFill>
                <a:latin typeface="Calibri"/>
              </a:rPr>
              <a:t>Cakupan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719072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F6B65"/>
                </a:solidFill>
                <a:latin typeface="Calibri"/>
              </a:rPr>
              <a:t>Project Preparation → PIN → Plan Vivo Pipeline   </a:t>
            </a:r>
            <a:r>
              <a:rPr sz="1000" b="0">
                <a:solidFill>
                  <a:srgbClr val="0E7C6B"/>
                </a:solidFill>
                <a:latin typeface="Calibri"/>
              </a:rPr>
              <a:t>Okt 2026 – Sep 2027 · Dukungan: TAF · Pelaksana: SAMPAN Kalimantan &amp; LPHD Pasir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7807" y="2240280"/>
            <a:ext cx="8873337" cy="0"/>
          </a:xfrm>
          <a:prstGeom prst="line">
            <a:avLst/>
          </a:prstGeom>
          <a:ln w="2540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438351" y="2020824"/>
            <a:ext cx="438912" cy="43891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Institutional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M1–M2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PKS SAMPAN–LPHD, legal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check, stakeholder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6685" y="2020824"/>
            <a:ext cx="438912" cy="43891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974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FPIC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6974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M3–M4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6974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FPIC tahap i–ii, GRM,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KUPS &amp; WFD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75020" y="2020824"/>
            <a:ext cx="438912" cy="43891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5308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Carbon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Feasibility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5308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5308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Metodologi, estimasi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indikatif, Go/No-Go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3354" y="2020824"/>
            <a:ext cx="438912" cy="43891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3643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PIN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Submission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3643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3643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Diajukan ≤ Mei 2027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(PIN Template V1.4)</a:t>
            </a:r>
          </a:p>
        </p:txBody>
      </p:sp>
      <p:sp>
        <p:nvSpPr>
          <p:cNvPr id="26" name="Diamond 25"/>
          <p:cNvSpPr/>
          <p:nvPr/>
        </p:nvSpPr>
        <p:spPr>
          <a:xfrm>
            <a:off x="10284256" y="1993392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E7C6B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1977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PIN Review →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PV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1977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1977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Target Sep 2027 — keputusan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Plan Vivo, bukan otomatis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3328416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2420"/>
                </a:solidFill>
                <a:latin typeface="Calibri"/>
              </a:rPr>
              <a:t>Target akhir: </a:t>
            </a:r>
            <a:r>
              <a:rPr sz="1050" b="0">
                <a:solidFill>
                  <a:srgbClr val="1B2420"/>
                </a:solidFill>
                <a:latin typeface="Calibri"/>
              </a:rPr>
              <a:t>PIN disetujui dan proyek tercantum dalam Project pipeline Plan Vivo (pengajuan PIN ≠ penerimaan; pipeline ≠ registrasi).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61888" y="3694176"/>
            <a:ext cx="274320" cy="384048"/>
          </a:xfrm>
          <a:prstGeom prst="downArrow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03320"/>
            <a:ext cx="553212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C26A0A"/>
                </a:solidFill>
                <a:latin typeface="Calibri"/>
              </a:rPr>
              <a:t>Transition / Project Handover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7033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1B2420"/>
                </a:solidFill>
                <a:latin typeface="Calibri"/>
              </a:rPr>
              <a:t>PIN approved · data room &amp; FPIC · data gap PDD · pendanaan lanjutan · PDD ≤3 th sejak PIN disetujui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114800"/>
            <a:ext cx="11457432" cy="2240280"/>
          </a:xfrm>
          <a:prstGeom prst="roundRect">
            <a:avLst>
              <a:gd name="adj" fmla="val 6000"/>
            </a:avLst>
          </a:prstGeom>
          <a:solidFill>
            <a:srgbClr val="E6E9EF"/>
          </a:solidFill>
          <a:ln w="12700">
            <a:solidFill>
              <a:srgbClr val="8A93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206240"/>
            <a:ext cx="54864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Calibri"/>
              </a:rPr>
              <a:t>STEP 2 — POST-SETAPAK 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92640" y="4224528"/>
            <a:ext cx="1965960" cy="274320"/>
          </a:xfrm>
          <a:prstGeom prst="roundRect">
            <a:avLst/>
          </a:prstGeom>
          <a:solidFill>
            <a:srgbClr val="D3D8E2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F2A44"/>
                </a:solidFill>
                <a:latin typeface="Calibri"/>
              </a:rPr>
              <a:t>Pengembangan lanjutan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4544568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F6B65"/>
                </a:solidFill>
                <a:latin typeface="Calibri"/>
              </a:rPr>
              <a:t>PDD → Validation → Registration → Implementation &amp; MRV → Verification → Issuance → Carbon Sales   </a:t>
            </a:r>
            <a:r>
              <a:rPr sz="1000" b="0">
                <a:solidFill>
                  <a:srgbClr val="1F2A44"/>
                </a:solidFill>
                <a:latin typeface="Calibri"/>
              </a:rPr>
              <a:t>Q4 2027 → · Dukungan: pendanaan lanjutan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40902" y="5074920"/>
            <a:ext cx="9507147" cy="0"/>
          </a:xfrm>
          <a:prstGeom prst="line">
            <a:avLst/>
          </a:prstGeom>
          <a:ln w="254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121446" y="4855464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PDD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Screening, konsultasi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publik, PDD review</a:t>
            </a:r>
          </a:p>
        </p:txBody>
      </p:sp>
      <p:sp>
        <p:nvSpPr>
          <p:cNvPr id="43" name="Diamond 42"/>
          <p:cNvSpPr/>
          <p:nvPr/>
        </p:nvSpPr>
        <p:spPr>
          <a:xfrm>
            <a:off x="2678538" y="4828031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3164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33164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33164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VVB / microscale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(Plan Vivo + IE)</a:t>
            </a:r>
          </a:p>
        </p:txBody>
      </p:sp>
      <p:sp>
        <p:nvSpPr>
          <p:cNvPr id="47" name="Diamond 46"/>
          <p:cNvSpPr/>
          <p:nvPr/>
        </p:nvSpPr>
        <p:spPr>
          <a:xfrm>
            <a:off x="4263063" y="4828031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17689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Registration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17689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17689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MoU Plan Vivo +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PV Climate Registry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75020" y="4855464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2213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Implementation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&amp; Annual Report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2213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2213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Monitoring tiap 12 bln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(rPVC bila diminta)</a:t>
            </a:r>
          </a:p>
        </p:txBody>
      </p:sp>
      <p:sp>
        <p:nvSpPr>
          <p:cNvPr id="55" name="Diamond 54"/>
          <p:cNvSpPr/>
          <p:nvPr/>
        </p:nvSpPr>
        <p:spPr>
          <a:xfrm>
            <a:off x="7432112" y="4828031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86738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Verification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86738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86738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≤5 th setelah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validasi</a:t>
            </a:r>
          </a:p>
        </p:txBody>
      </p:sp>
      <p:sp>
        <p:nvSpPr>
          <p:cNvPr id="59" name="Diamond 58"/>
          <p:cNvSpPr/>
          <p:nvPr/>
        </p:nvSpPr>
        <p:spPr>
          <a:xfrm>
            <a:off x="9016637" y="4828031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1262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Issuance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(vPVC)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71262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71262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Unit terverifikasi,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nomor seri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628593" y="4855464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5787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Carbon Sales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Benefit Sharing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5787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5787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≥60% pendapatan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ke komunitas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6419088"/>
            <a:ext cx="11430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F2A44"/>
                </a:solidFill>
                <a:latin typeface="Calibri"/>
              </a:rPr>
              <a:t>Target akhir STEP 2: </a:t>
            </a:r>
            <a:r>
              <a:rPr sz="850" b="0">
                <a:solidFill>
                  <a:srgbClr val="1B2420"/>
                </a:solidFill>
                <a:latin typeface="Calibri"/>
              </a:rPr>
              <a:t>kredit terverifikasi (vPVC) diterbitkan &amp; dijual, manfaat terukur bagi komunitas.  </a:t>
            </a:r>
            <a:r>
              <a:rPr sz="850" b="0">
                <a:solidFill>
                  <a:srgbClr val="5F6B65"/>
                </a:solidFill>
                <a:latin typeface="Calibri"/>
              </a:rPr>
              <a:t>■ internal  ◆ persetujuan eksternal (Plan Vivo / VVB)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SETAPAK 4 membawa proyek sampai gerbang Plan Vivo Pipeline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kredit karbon baru lahir di fase pengembangan berikutnya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6903720" cy="38404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298448"/>
            <a:ext cx="68122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STEP 1 · SETAPAK 4 (didukung TAF)  </a:t>
            </a:r>
            <a:r>
              <a:rPr sz="1000" b="0">
                <a:solidFill>
                  <a:srgbClr val="FFFFFF"/>
                </a:solidFill>
                <a:latin typeface="Calibri"/>
              </a:rPr>
              <a:t>Persiapan → PIN → Pipeline · SAMPAN Kalimantan &amp; LPHD Pasir · Okt 2026 – Sep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298448"/>
            <a:ext cx="4096512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9831" y="1298448"/>
            <a:ext cx="4005072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STEP 2 · POST-SETAPAK 4  </a:t>
            </a:r>
            <a:r>
              <a:rPr sz="1000" b="0">
                <a:solidFill>
                  <a:srgbClr val="FFFFFF"/>
                </a:solidFill>
                <a:latin typeface="Calibri"/>
              </a:rPr>
              <a:t>PDD → kredit → penjualan · Q4 2027+ (indikatif)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79" y="1188720"/>
            <a:ext cx="0" cy="3886200"/>
          </a:xfrm>
          <a:prstGeom prst="line">
            <a:avLst/>
          </a:prstGeom>
          <a:ln w="2857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931151" y="1783080"/>
            <a:ext cx="1133856" cy="274320"/>
          </a:xfrm>
          <a:prstGeom prst="round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TRANSITION GATE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" y="2514600"/>
            <a:ext cx="6656831" cy="0"/>
          </a:xfrm>
          <a:prstGeom prst="line">
            <a:avLst/>
          </a:prstGeom>
          <a:ln w="3810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98079" y="2514600"/>
            <a:ext cx="4160521" cy="0"/>
          </a:xfrm>
          <a:prstGeom prst="line">
            <a:avLst/>
          </a:prstGeom>
          <a:ln w="381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Okt 26–Nov 26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Inisiasi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kelembagaan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PKS SAMPAN–LPHD,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memo legal awal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Nov 26–Des 26</a:t>
            </a:r>
          </a:p>
        </p:txBody>
      </p:sp>
      <p:sp>
        <p:nvSpPr>
          <p:cNvPr id="18" name="Oval 17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Identifikasi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keterlibatan pihak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Stakeholder register,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Des 26–Apr 27</a:t>
            </a:r>
          </a:p>
        </p:txBody>
      </p:sp>
      <p:sp>
        <p:nvSpPr>
          <p:cNvPr id="22" name="Oval 21"/>
          <p:cNvSpPr/>
          <p:nvPr/>
        </p:nvSpPr>
        <p:spPr>
          <a:xfrm>
            <a:off x="2606040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3432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Kajian partisipatif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FPIC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2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BA FPIC tahap i–ii,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GRM aktif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0984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Jan 27–Jul 27</a:t>
            </a:r>
          </a:p>
        </p:txBody>
      </p:sp>
      <p:sp>
        <p:nvSpPr>
          <p:cNvPr id="26" name="Oval 25"/>
          <p:cNvSpPr/>
          <p:nvPr/>
        </p:nvSpPr>
        <p:spPr>
          <a:xfrm>
            <a:off x="3593592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0984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KUPS, WFD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livelihood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0984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ToC, prinsip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benefit-sharing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6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Des 26–Apr 27</a:t>
            </a:r>
          </a:p>
        </p:txBody>
      </p:sp>
      <p:sp>
        <p:nvSpPr>
          <p:cNvPr id="30" name="Oval 29"/>
          <p:cNvSpPr/>
          <p:nvPr/>
        </p:nvSpPr>
        <p:spPr>
          <a:xfrm>
            <a:off x="4581144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Kelayakan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karbon awal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Feasibility report,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Go/No-Go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Mar 27–Mei 27</a:t>
            </a:r>
          </a:p>
        </p:txBody>
      </p:sp>
      <p:sp>
        <p:nvSpPr>
          <p:cNvPr id="34" name="Oval 33"/>
          <p:cNvSpPr/>
          <p:nvPr/>
        </p:nvSpPr>
        <p:spPr>
          <a:xfrm>
            <a:off x="556869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608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Penyusunan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pengajuan PIN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608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terkirim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+ fee dibayar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Mei 27–Sep 27</a:t>
            </a:r>
          </a:p>
        </p:txBody>
      </p:sp>
      <p:sp>
        <p:nvSpPr>
          <p:cNvPr id="38" name="Diamond 37"/>
          <p:cNvSpPr/>
          <p:nvPr/>
        </p:nvSpPr>
        <p:spPr>
          <a:xfrm>
            <a:off x="6492240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0E7C6B"/>
                </a:solidFill>
                <a:latin typeface="Calibri"/>
              </a:rPr>
              <a:t>M7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Penerimaan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disetujui,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tercantum di pipeline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2027–2029</a:t>
            </a:r>
          </a:p>
        </p:txBody>
      </p:sp>
      <p:sp>
        <p:nvSpPr>
          <p:cNvPr id="42" name="Oval 41"/>
          <p:cNvSpPr/>
          <p:nvPr/>
        </p:nvSpPr>
        <p:spPr>
          <a:xfrm>
            <a:off x="7973567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Desain penuh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PDD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7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PDD lolos screening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&amp; review Plan Vivo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5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2029–2030</a:t>
            </a:r>
          </a:p>
        </p:txBody>
      </p:sp>
      <p:sp>
        <p:nvSpPr>
          <p:cNvPr id="46" name="Diamond 45"/>
          <p:cNvSpPr/>
          <p:nvPr/>
        </p:nvSpPr>
        <p:spPr>
          <a:xfrm>
            <a:off x="8778239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M9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5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Validasi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registrasi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5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Validation report,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MoU, registry account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2030 →</a:t>
            </a:r>
          </a:p>
        </p:txBody>
      </p:sp>
      <p:sp>
        <p:nvSpPr>
          <p:cNvPr id="50" name="Oval 49"/>
          <p:cNvSpPr/>
          <p:nvPr/>
        </p:nvSpPr>
        <p:spPr>
          <a:xfrm>
            <a:off x="971092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Implementasi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monitoring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4040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Annual Report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tiap 12 bulan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1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≤5 th pasca-validasi</a:t>
            </a:r>
          </a:p>
        </p:txBody>
      </p:sp>
      <p:sp>
        <p:nvSpPr>
          <p:cNvPr id="54" name="Diamond 53"/>
          <p:cNvSpPr/>
          <p:nvPr/>
        </p:nvSpPr>
        <p:spPr>
          <a:xfrm>
            <a:off x="10515599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M11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1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Verifikasi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issuance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1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vPVC di PV Climate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Registry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01400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paralel sejak M8</a:t>
            </a:r>
          </a:p>
        </p:txBody>
      </p:sp>
      <p:sp>
        <p:nvSpPr>
          <p:cNvPr id="58" name="Oval 57"/>
          <p:cNvSpPr/>
          <p:nvPr/>
        </p:nvSpPr>
        <p:spPr>
          <a:xfrm>
            <a:off x="1144828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Komersialisasi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bagi manfaat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01400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≥60% pendapatan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ke komunitas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3566160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Calibri"/>
              </a:rPr>
              <a:t>Lajur kerja (bulan program)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373075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3767328"/>
            <a:ext cx="865632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388620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10056" y="3922776"/>
            <a:ext cx="865632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041648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2872" y="4078224"/>
            <a:ext cx="2164079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4197096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75688" y="4233672"/>
            <a:ext cx="3029711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4352544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2872" y="4389120"/>
            <a:ext cx="2164079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0799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41320" y="4544568"/>
            <a:ext cx="1298448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466344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06952" y="4700016"/>
            <a:ext cx="2164080" cy="100584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 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01368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 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099816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 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98264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Jul 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96712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 27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71032" y="3721608"/>
            <a:ext cx="0" cy="1133856"/>
          </a:xfrm>
          <a:prstGeom prst="line">
            <a:avLst/>
          </a:prstGeom>
          <a:ln w="15875">
            <a:solidFill>
              <a:srgbClr val="C26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007608" y="3547872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C26A0A"/>
                </a:solidFill>
                <a:latin typeface="Calibri"/>
              </a:rPr>
              <a:t>Akhir TAF · Sep 27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07608" y="4526280"/>
            <a:ext cx="9144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1">
                <a:solidFill>
                  <a:srgbClr val="C26A0A"/>
                </a:solidFill>
                <a:latin typeface="Calibri"/>
              </a:rPr>
              <a:t>buffer review</a:t>
            </a:r>
          </a:p>
          <a:p>
            <a:pPr algn="l"/>
            <a:r>
              <a:rPr sz="650" b="0" i="1">
                <a:solidFill>
                  <a:srgbClr val="C26A0A"/>
                </a:solidFill>
                <a:latin typeface="Calibri"/>
              </a:rPr>
              <a:t>di luar TAF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642872" y="4046220"/>
            <a:ext cx="3462527" cy="466344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688592" y="5010912"/>
            <a:ext cx="3200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0E7C6B"/>
                </a:solidFill>
                <a:latin typeface="Calibri"/>
              </a:rPr>
              <a:t>∥ M3 · M4 · M5 berjalan paralel (bulan 3–10)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26679" y="3566160"/>
            <a:ext cx="4023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Calibri"/>
              </a:rPr>
              <a:t>Lajur kerja (tahun, indikatif)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3800" y="3730752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09307" y="3767328"/>
            <a:ext cx="869752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3886200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670340" y="3922776"/>
            <a:ext cx="543595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43800" y="4041648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59576" y="4078224"/>
            <a:ext cx="2663615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43800" y="4197096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029328" y="4233672"/>
            <a:ext cx="380516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543800" y="4352544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126745" y="4389120"/>
            <a:ext cx="3696446" cy="100584"/>
          </a:xfrm>
          <a:prstGeom prst="rect">
            <a:avLst/>
          </a:prstGeom>
          <a:solidFill>
            <a:srgbClr val="E6E9EF"/>
          </a:solidFill>
          <a:ln w="6350">
            <a:solidFill>
              <a:srgbClr val="8A93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497034" y="4233672"/>
            <a:ext cx="326157" cy="100584"/>
          </a:xfrm>
          <a:prstGeom prst="rect">
            <a:avLst/>
          </a:prstGeom>
          <a:noFill/>
          <a:ln w="9525">
            <a:solidFill>
              <a:srgbClr val="1F2A4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789426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33021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76616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20211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63806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507401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050996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26679" y="4736592"/>
            <a:ext cx="4069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1">
                <a:solidFill>
                  <a:srgbClr val="5F6B65"/>
                </a:solidFill>
                <a:latin typeface="Calibri"/>
              </a:rPr>
              <a:t>M12 dimulai paralel sejak M8 (offtake/pre-finance); transaksi unit mengikuti issuance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65760" y="5157216"/>
            <a:ext cx="11457432" cy="0"/>
          </a:xfrm>
          <a:prstGeom prst="line">
            <a:avLst/>
          </a:prstGeom>
          <a:ln w="9525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11480" y="5285231"/>
            <a:ext cx="219456" cy="219456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85800" y="527608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Milestone internal (dikendalikan tim)</a:t>
            </a:r>
          </a:p>
        </p:txBody>
      </p:sp>
      <p:sp>
        <p:nvSpPr>
          <p:cNvPr id="109" name="Diamond 108"/>
          <p:cNvSpPr/>
          <p:nvPr/>
        </p:nvSpPr>
        <p:spPr>
          <a:xfrm>
            <a:off x="393192" y="5577840"/>
            <a:ext cx="256032" cy="256032"/>
          </a:xfrm>
          <a:prstGeom prst="diamond">
            <a:avLst/>
          </a:prstGeom>
          <a:solidFill>
            <a:srgbClr val="FFFFFF"/>
          </a:solidFill>
          <a:ln w="22225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85800" y="559612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Persetujuan eksternal (Plan Vivo / VVB)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411480" y="6016752"/>
            <a:ext cx="228600" cy="0"/>
          </a:xfrm>
          <a:prstGeom prst="line">
            <a:avLst/>
          </a:prstGeom>
          <a:ln w="25400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685800" y="59161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Batas cakupan SETAPAK 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1480" y="6199631"/>
            <a:ext cx="228600" cy="91440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" y="61447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Aktivitas paralel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46120" y="5230368"/>
            <a:ext cx="40690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26A0A"/>
                </a:solidFill>
                <a:latin typeface="Calibri"/>
              </a:rPr>
              <a:t>Arti gerbang: </a:t>
            </a:r>
            <a:r>
              <a:rPr sz="800" b="0">
                <a:solidFill>
                  <a:srgbClr val="1B2420"/>
                </a:solidFill>
                <a:latin typeface="Calibri"/>
              </a:rPr>
              <a:t>PIN disetujui Plan Vivo → proyek tercantum di Project pipeline. Pengajuan PIN (M6) belum berarti diterima; review ±6 minggu + putaran CAR/NIR (±4 minggu tiap putaran).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Pipeline ≠ registrasi ≠ issuance. </a:t>
            </a:r>
            <a:r>
              <a:rPr sz="800" b="0">
                <a:solidFill>
                  <a:srgbClr val="1B2420"/>
                </a:solidFill>
                <a:latin typeface="Calibri"/>
              </a:rPr>
              <a:t>Registrasi baru setelah validasi (M9). PDD wajib diajukan ≤3 tahun setelah PIN disetujui.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589520" y="5230368"/>
            <a:ext cx="425196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Unit Plan Vivo (PVC) di STEP 2: 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fPVC </a:t>
            </a:r>
            <a:r>
              <a:rPr sz="800" b="0">
                <a:solidFill>
                  <a:srgbClr val="1B2420"/>
                </a:solidFill>
                <a:latin typeface="Calibri"/>
              </a:rPr>
              <a:t>saat validasi — hanya intervensi serapan (restorasi)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rPVC </a:t>
            </a:r>
            <a:r>
              <a:rPr sz="800" b="0">
                <a:solidFill>
                  <a:srgbClr val="1B2420"/>
                </a:solidFill>
                <a:latin typeface="Calibri"/>
              </a:rPr>
              <a:t>dari monitoring di Annual Report, belum diverifikasi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vPVC </a:t>
            </a:r>
            <a:r>
              <a:rPr sz="800" b="0">
                <a:solidFill>
                  <a:srgbClr val="1B2420"/>
                </a:solidFill>
                <a:latin typeface="Calibri"/>
              </a:rPr>
              <a:t>setelah verifikasi (≤5 th pasca-validasi) — satu-satunya unit yang dapat di-retire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Sumber: Plan Vivo PV Climate Procedures Manual V3.9 (Bab 1–9, 14); Project Requirements V5.7; Participatory Toolkit V1.0. Tanggal STEP 2 dan seluruh persetujuan eksternal bersifat indikatif.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4 · TIMELINE &amp; CRITICAL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PIN harus dikirim Mei 2027 agar keputusan Plan Vivo dapat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keluar sebelum TAF berakhir September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306324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7236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7236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1233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31233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1523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23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9227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9227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Feb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322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322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Mar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6722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722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1217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1217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Mei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3521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3521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19211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9211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Jul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3208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03208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Agu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8720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8720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Sep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71201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71201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5198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55198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239195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9195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5760" y="1755648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5760" y="174193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174193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Kick-off &amp; koordinasi LPHD–Pemdes–BPD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72384" y="1777502"/>
            <a:ext cx="565708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185120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185120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Persetujuan pendampingan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72384" y="1886772"/>
            <a:ext cx="565708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196047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M1.3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196047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Kerja sama &amp; kesiapan kelembagaan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72384" y="1996043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206974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M1.4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206974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Pemeriksaan legalitas awal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72384" y="2105314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65760" y="2192731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65760" y="217901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M2.1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217901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Stakeholder mapping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6380" y="2214585"/>
            <a:ext cx="565708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228828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228828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isu sosial &amp; lingkungan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6380" y="2323856"/>
            <a:ext cx="1149705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239755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239755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awal komunitas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6380" y="2433126"/>
            <a:ext cx="1149705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250682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" y="250682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kelompok perempuan &amp; rentan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6380" y="2542397"/>
            <a:ext cx="1149705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261609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M2.5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261609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Stakeholder Engagement Plan (SEP)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40377" y="2651668"/>
            <a:ext cx="565708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65760" y="273908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365760" y="272536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8" y="272536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Pra-FPIC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40377" y="2760939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283463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8" y="283463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Pelaksanaan participatory tools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824374" y="2870210"/>
            <a:ext cx="173370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294391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9808" y="294391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Pemetaan partisipatif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24374" y="2979480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305318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305318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E&amp;S risk screening partisipatif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08371" y="3088751"/>
            <a:ext cx="565708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316245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9808" y="316245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&amp; keputusan FPIC tahap i–ii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92367" y="3198022"/>
            <a:ext cx="565708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327172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9808" y="327172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Dokumentasi keputusan &amp; persetujuan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92367" y="3307293"/>
            <a:ext cx="1149705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5760" y="338099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9808" y="338099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Mekanisme pengaduan (GRM)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824374" y="3416564"/>
            <a:ext cx="173370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365760" y="3503980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365760" y="349026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9808" y="349026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&amp; penguatan KUPS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824374" y="3525834"/>
            <a:ext cx="348569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5760" y="359953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9808" y="359953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Pembentukan/penguatan Women Forest Defender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824374" y="3635105"/>
            <a:ext cx="2317699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5760" y="370880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9808" y="370880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potensi livelihood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8371" y="3744376"/>
            <a:ext cx="2317699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5760" y="381807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M4.4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9808" y="381807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Konsep kegiatan komunitas (intervensi &amp; ToC)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08371" y="3853647"/>
            <a:ext cx="173370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392734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9808" y="392734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Prinsip benefit-sharing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576364" y="3962918"/>
            <a:ext cx="2317699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65760" y="403661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9808" y="403661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Penguatan tata kelola LPHD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992367" y="4072188"/>
            <a:ext cx="2901696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365760" y="415960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365760" y="414588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49808" y="414588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Pemeriksaan batas &amp; status kawasan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40377" y="4181459"/>
            <a:ext cx="565708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425516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9808" y="425516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Analisis tutupan lahan &amp; ekosistem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240377" y="4290730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65760" y="436443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49808" y="436443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ancaman &amp; sumber emisi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824374" y="4400001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65760" y="447370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9808" y="447370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Kesesuaian metodologi PV Climate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08371" y="4509272"/>
            <a:ext cx="565708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5760" y="458297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9808" y="458297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Estimasi indikatif potensi kredit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08371" y="4618542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469224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808" y="469224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Risiko &amp; kelayakan awal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992367" y="4727813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365760" y="4815230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65760" y="480151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M6.1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49808" y="480151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Konsolidasi data &amp; data room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992367" y="4837084"/>
            <a:ext cx="565708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65760" y="491078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9808" y="491078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Penyusunan draft PIN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992367" y="4946355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02005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9808" y="502005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&amp; review bersama LPHD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576364" y="5055626"/>
            <a:ext cx="1149705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65760" y="512932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M6.4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9808" y="512932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Pre-submission call dengan Plan Vivo (opsional)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824374" y="5164896"/>
            <a:ext cx="173370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5760" y="523859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523859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Finalisasi PIN &amp; lampiran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0361" y="5274167"/>
            <a:ext cx="565708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65760" y="534786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9808" y="534786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Pengajuan PIN ke Plan Vivo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160361" y="5383438"/>
            <a:ext cx="565708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3" name="Connector 142"/>
          <p:cNvCxnSpPr/>
          <p:nvPr/>
        </p:nvCxnSpPr>
        <p:spPr>
          <a:xfrm>
            <a:off x="365760" y="547085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65760" y="545713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49808" y="545713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Komunikasi &amp; tracking review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160361" y="5492709"/>
            <a:ext cx="1149705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65760" y="556641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49808" y="556641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Tindak lanjut PIN review report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44358" y="5601980"/>
            <a:ext cx="173370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65760" y="567568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49808" y="567568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Revisi &amp; klarifikasi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744358" y="5711250"/>
            <a:ext cx="173370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65760" y="578495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M7.4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49808" y="578495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Pemenuhan persyaratan relevan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744358" y="5820521"/>
            <a:ext cx="173370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65760" y="589422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9808" y="589422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Konfirmasi pencantuman di pipeline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912352" y="5929792"/>
            <a:ext cx="1149705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5760" y="600349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49808" y="600349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Umpan balik ke komunitas &amp; handover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496348" y="6039063"/>
            <a:ext cx="565708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2" name="Connector 161"/>
          <p:cNvCxnSpPr/>
          <p:nvPr/>
        </p:nvCxnSpPr>
        <p:spPr>
          <a:xfrm>
            <a:off x="7735214" y="1371600"/>
            <a:ext cx="0" cy="4754880"/>
          </a:xfrm>
          <a:prstGeom prst="line">
            <a:avLst/>
          </a:prstGeom>
          <a:ln w="15875">
            <a:solidFill>
              <a:srgbClr val="0E7C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6272174" y="1143000"/>
            <a:ext cx="14173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0E7C6B"/>
                </a:solidFill>
                <a:latin typeface="Calibri"/>
              </a:rPr>
              <a:t>PIN submitted (M6.6)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10071201" y="1371600"/>
            <a:ext cx="0" cy="4754880"/>
          </a:xfrm>
          <a:prstGeom prst="line">
            <a:avLst/>
          </a:prstGeom>
          <a:ln w="19050">
            <a:solidFill>
              <a:srgbClr val="C26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/>
          <p:cNvSpPr txBox="1"/>
          <p:nvPr/>
        </p:nvSpPr>
        <p:spPr>
          <a:xfrm>
            <a:off x="7693761" y="1143000"/>
            <a:ext cx="2331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C26A0A"/>
                </a:solidFill>
                <a:latin typeface="Calibri"/>
              </a:rPr>
              <a:t>Akhir TAF · target pipeline (M7.5)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116921" y="1143000"/>
            <a:ext cx="1828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1">
                <a:solidFill>
                  <a:srgbClr val="C26A0A"/>
                </a:solidFill>
                <a:latin typeface="Calibri"/>
              </a:rPr>
              <a:t>Buffer review di luar TAF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281928"/>
            <a:ext cx="274320" cy="91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8580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Jalur kritis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828800" y="6281928"/>
            <a:ext cx="274320" cy="91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214884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Ada float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108960" y="6281928"/>
            <a:ext cx="274320" cy="91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429000" y="6236208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Bergantung review Plan Vivo (tanggal tidak pasti)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583680" y="6236208"/>
            <a:ext cx="5212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1F2A44"/>
                </a:solidFill>
                <a:latin typeface="Calibri"/>
              </a:rPr>
              <a:t>STEP 2 jangka panjang: M8 2027–29 · M9 2029–30 · M10 2030→ · M11 ≤5 th pasca-validasi · M12 paralel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Bulan 1 = Oktober 2026; TAF berakhir bulan 12 (Sep 2027). Review PIN: awal ±6 minggu; tanggapan CAR/NIR ±4 minggu; revisi wajib ≤6 bulan, maks. 3 putaran (Procedures Manual V3.9 §2.2, §9).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3 · POST-SETAPAK 4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Lima milestone lanjutan membutuhkan pendanaan baru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metodologi mangrove yang disetujui adalah syarat pertama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M8  </a:t>
            </a:r>
            <a:r>
              <a:rPr sz="900" b="1">
                <a:solidFill>
                  <a:srgbClr val="FFFFFF"/>
                </a:solidFill>
                <a:latin typeface="Calibri"/>
              </a:rPr>
              <a:t>Full Project Design &amp; PDD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approved (M7); metodologi yang berlaku SUDAH disetujui Plan Vivo; pendanaan PDD tersedia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12–18 bulan (PDD screening ±6 mgg, konsultasi publik 4 mgg, PDD review ±8 mgg; belum termasuk waktu tanggapan)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60–120 rb (indikatif, perlu penawaran)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Tenaga ahli karbon blue carbon; lembaga riset (mis. BRIN, universitas lokal) untuk plot stok karbon; donor lanjutan (TAF follow-on, filantropi iklim, BPDLH)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Data room M1–M7, peta partisipatif &amp; KML, BA FPIC i–ii, feasibility &amp; memo metodologi, prinsip benefit-sharing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PDD wajib diajukan ≤3 tahun sejak PIN approved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79191" y="1298448"/>
            <a:ext cx="2212848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24911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2A44"/>
                </a:solidFill>
                <a:latin typeface="Calibri"/>
              </a:rPr>
              <a:t>M9  </a:t>
            </a:r>
            <a:r>
              <a:rPr sz="900" b="1">
                <a:solidFill>
                  <a:srgbClr val="1F2A44"/>
                </a:solidFill>
                <a:latin typeface="Calibri"/>
              </a:rPr>
              <a:t>Validation &amp; Project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4056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PDD review report diterima; public consultation selesai; kontrak VVB/IE; fee validasi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4056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6–12 bulan (tergantung ketersediaan VVB/IE)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4056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4056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25–60 rb (microscale cenderung lebih rendah)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4056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VVB terdaftar di Plan Vivo atau Independent Expert; legal counsel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4056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4056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Kualitas FPIC, peta &amp; bukti hak dari STEP 1 diuji ulang saat site visit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4056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34056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Validasi selesai ≤3 tahun sejak PDD diajukan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79191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92624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8344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M10  </a:t>
            </a:r>
            <a:r>
              <a:rPr sz="900" b="1">
                <a:solidFill>
                  <a:srgbClr val="FFFFFF"/>
                </a:solidFill>
                <a:latin typeface="Calibri"/>
              </a:rPr>
              <a:t>Project Implementation &amp;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Registrasi (untuk issuance); kegiatan lapangan dapat sudah berjalan sejak STEP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7488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7488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Berkelanjutan sepanjang Project Period; laporan tiap 12 bulan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47488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47488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40–90 rb/tahun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7488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KPH/Dinas LHK, DKP, pemerintah desa, pembeli/offtaker (pre-finance)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47488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47488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SOP patroli WFD, KUPS, GRM, baseline sosial dari STEP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47488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47488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Periode laporan pertama berakhir ≤12 bulan setelah registrasi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92624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06056" y="1298448"/>
            <a:ext cx="2212848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51776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2A44"/>
                </a:solidFill>
                <a:latin typeface="Calibri"/>
              </a:rPr>
              <a:t>M11  </a:t>
            </a:r>
            <a:r>
              <a:rPr sz="900" b="1">
                <a:solidFill>
                  <a:srgbClr val="1F2A44"/>
                </a:solidFill>
                <a:latin typeface="Calibri"/>
              </a:rPr>
              <a:t>Verification &amp; Credit Issuance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Annual Report kontinu; monitoring sesuai PDD; kontrak VVB/IE; fee verifikasi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4–9 bulan per siklus; verifikasi pertama ≤5 tahun setelah validasi, periode berikut ≤5 tahun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0920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20–50 rb per verifikasi + issuance fee per PVC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VVB/IE; Kemenhut/KLH untuk pencatatan nasional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20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0920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Konsistensi data monitoring dengan baseline &amp; peta STEP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Gagal verifikasi &gt;2 tahun setelah akhir periode → proses suspensi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06056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19488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65208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M12  </a:t>
            </a:r>
            <a:r>
              <a:rPr sz="900" b="1">
                <a:solidFill>
                  <a:srgbClr val="FFFFFF"/>
                </a:solidFill>
                <a:latin typeface="Calibri"/>
              </a:rPr>
              <a:t>Carbon Commercialization &amp; Benefit Distribution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74352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74352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Unit dapat dialokasikan setelah issuance; hanya vPVC yang dapat di-retire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74352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74352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Paralel sejak M8; transaksi mengikuti jadwal issuance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74352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74352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10–25 rb/tahun (marketing &amp; administrasi)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74352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74352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Pembeli korporat/broker berintegritas, IDXCarbon (bila relevan), lembaga keuangan desa/BUMDes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74352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74352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Prinsip benefit-sharing (M4.5), tata kelola LPHD (M4.6)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74352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≥60% pendapatan PVC ke peserta &amp; pihak lokal (dapat dirata-rata sepanjang Crediting Period)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19488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Durasi review dari Procedures Manual V3.9 §9; batas 3 tahun §2.2 &amp; §4.4; verifikasi §8. Angka biaya = asumsi perencanaan, bukan tarif Plan Vivo — konfirmasi lewat penawaran VVB/IE dan dokumen Costs &amp; fees.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5 · TRANSITION READINESS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Enam belas syarat memindahkan proyek dari pipeline ke penyusunan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LEGAL &amp; HAK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61848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8191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8191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approved dan proyek tercantum di Plan Vivo pipeline (bukti tertulis)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8191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01168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97510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7510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SK Hutan Desa &amp; SK LPHD berlaku; tidak ada sengketa batas terbuka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7510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M1.4, M5.1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0487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36829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6829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Posisi hak karbon &amp; jalur otorisasi nasional dipetakan (Permenhut 6/2026, SRN/SRUK, MRA Plan Vivo)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36829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5292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PERSETUJUAN MASYARAKAT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14553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10896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10896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 FPIC tahap i–ii lengkap; rencana FPIC tahap iii (implementasi) &amp; Project Agreement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10896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3872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50215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0215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GRM berjalan ≥6 bulan dengan register pengaduan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0215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986784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27939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24281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24281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Peta partisipatif &amp; KML batas Project Region/Area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24281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67258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463600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63600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Peta tutupan lahan historis &amp; analisis driver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63600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M5.2, M5.3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C26A0A"/>
                </a:solidFill>
                <a:latin typeface="Calibri"/>
              </a:rPr>
              <a:t>DATA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0488" y="161848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158191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158191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Inventarisasi stok karbon lapangan (plot biomassa &amp; tanah mangrove)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44200" y="158191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0488" y="201168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197510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197510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Baseline sosial-ekonomi rumah tangga (well-being) yang representatif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44200" y="197510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0488" y="240487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236829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2280" y="236829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Baseline biodiversitas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44200" y="236829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285292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METODOLOGI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90488" y="314553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28232" y="310896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10896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Metodologi/modul yang dipilih sudah disetujui Plan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44200" y="310896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M5.4 → M8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3593592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KELEMBAGAAN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90488" y="388620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384962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80" y="384962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SAMPAN dikonfirmasi sebagai Project Coordinator; tim PDD terbentuk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384962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0488" y="427939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24281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424281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LPHD, KUPS, WFD aktif dengan rencana kerja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424281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72200" y="472744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PENDANAAN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90488" y="502005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28232" y="498348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498348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Pendanaan PDD + validasi teridentifikasi (komitmen atau proposal terkirim)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44200" y="498348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0488" y="541324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8232" y="537667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537667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Anggaran fee Plan Vivo (PDD/validasi) dan audit VVB/IE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744200" y="537667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5861303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WAKTU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90488" y="615391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28232" y="611733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12280" y="611733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Jadwal PDD mematuhi batas 3 tahun sejak PIN approved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44200" y="611733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Kolom kanan = milestone sumber bukti. Data gap (T08–T10) belum menjadi kewajiban SETAPAK 4 dan diselesaikan di M8.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