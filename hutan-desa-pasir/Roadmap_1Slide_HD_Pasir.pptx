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Alur: Tahap 1–3 adalah cakupan program SETAPAK 4 yang didanai TAF sampai September 2027. Output utamanya Tahap 3: PIN disetujui dan proyek masuk pipeline Plan Vivo. Pipeline belum berarti registrasi atau kredit. Garis gerbang setelah Tahap 3 menandai akhir SETAPAK 4. Dengan status pipeline, proyek mencari investor atau pembeli untuk pre-financing/offtake berjangka yang membiayai PDD dan validasi (Tahap 4 dst.). Kredit baru muncul setelah registrasi (fPVC untuk restorasi, rPVC dari Annual Report) dan yang dapat di-retire hanya vPVC setelah verifikasi. Minimal 60% pendapatan dari penjualan untuk peserta dan pihak lokal.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Open Sauce Sans"/>
              </a:rPr>
              <a:t>COMMUNITY CARBON HUTAN DESA PASIR · MEMPAWAH, KALIMANTAN BARAT · PLAN VIVO PV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0" i="0">
                <a:solidFill>
                  <a:srgbClr val="1B2420"/>
                </a:solidFill>
                <a:latin typeface="Open Sauce Sans"/>
              </a:rPr>
              <a:t>SETAPAK 4 berakhir dengan proyek masuk Pipeline Plan Vivo — status ini</a:t>
            </a:r>
          </a:p>
          <a:p>
            <a:pPr algn="l"/>
            <a:r>
              <a:rPr sz="2100" b="0" i="0">
                <a:solidFill>
                  <a:srgbClr val="1B2420"/>
                </a:solidFill>
                <a:latin typeface="Open Sauce Sans"/>
              </a:rPr>
              <a:t>membuka investasi untuk PDD, validasi, hingga penjualan kredit karbon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481328"/>
            <a:ext cx="3953637" cy="292608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Open Sauce Sans"/>
              </a:rPr>
              <a:t>STEP 1 · PROGRAM SETAPAK 4 (TAF) · Okt 2026 – Sep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7221" y="1481328"/>
            <a:ext cx="6625971" cy="2926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Open Sauce Sans"/>
              </a:rPr>
              <a:t>STEP 2 · PENGEMBANGAN LANJUTAN (PASCA-SETAPAK 4) · Okt 2027 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9371" y="2103120"/>
            <a:ext cx="3340418" cy="0"/>
          </a:xfrm>
          <a:prstGeom prst="line">
            <a:avLst/>
          </a:prstGeom>
          <a:ln w="3175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69789" y="2103120"/>
            <a:ext cx="6012751" cy="0"/>
          </a:xfrm>
          <a:prstGeom prst="line">
            <a:avLst/>
          </a:prstGeom>
          <a:ln w="3175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993391"/>
            <a:ext cx="777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Open Sauce Sans"/>
              </a:rPr>
              <a:t>TAHAP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69789" y="1426464"/>
            <a:ext cx="0" cy="4059936"/>
          </a:xfrm>
          <a:prstGeom prst="line">
            <a:avLst/>
          </a:prstGeom>
          <a:ln w="22225">
            <a:solidFill>
              <a:srgbClr val="C26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6748" y="1234440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1" i="0">
                <a:solidFill>
                  <a:srgbClr val="C26A0A"/>
                </a:solidFill>
                <a:latin typeface="Open Sauce Sans"/>
              </a:rPr>
              <a:t>▼ GERBANG PIPELINE · AKHIR SETAPAK 4</a:t>
            </a:r>
          </a:p>
        </p:txBody>
      </p:sp>
      <p:sp>
        <p:nvSpPr>
          <p:cNvPr id="12" name="Oval 11"/>
          <p:cNvSpPr/>
          <p:nvPr/>
        </p:nvSpPr>
        <p:spPr>
          <a:xfrm>
            <a:off x="1609915" y="1883663"/>
            <a:ext cx="438912" cy="438912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San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450592"/>
            <a:ext cx="1281303" cy="457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Persiapan Pendaftaran 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Open Sauce Sans"/>
              </a:rPr>
              <a:t>Okt 26–Apr 27 · M1–M5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Safeguard: FPIC, GRM, E&amp;S, GESI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Kebutuhan &amp; progres berjalan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Baseline (PV tools) → project scenario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1872" y="4261104"/>
            <a:ext cx="1134999" cy="292608"/>
          </a:xfrm>
          <a:prstGeom prst="round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E7C6B"/>
                </a:solidFill>
                <a:latin typeface="Open Sauce Sans"/>
              </a:rPr>
              <a:t>→ Bahan PIN lengkap</a:t>
            </a:r>
          </a:p>
        </p:txBody>
      </p:sp>
      <p:sp>
        <p:nvSpPr>
          <p:cNvPr id="19" name="Diamond 18"/>
          <p:cNvSpPr/>
          <p:nvPr/>
        </p:nvSpPr>
        <p:spPr>
          <a:xfrm>
            <a:off x="2918650" y="1856231"/>
            <a:ext cx="493776" cy="493776"/>
          </a:xfrm>
          <a:prstGeom prst="diamond">
            <a:avLst/>
          </a:prstGeom>
          <a:solidFill>
            <a:srgbClr val="FFFFFF"/>
          </a:solidFill>
          <a:ln w="28575">
            <a:solidFill>
              <a:srgbClr val="0E7C6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E7C6B"/>
                </a:solidFill>
                <a:latin typeface="Open Sauce San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4887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24887" y="2450592"/>
            <a:ext cx="1281303" cy="457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8039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Submit PIN hingga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8039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Open Sauce Sans"/>
              </a:rPr>
              <a:t>Mar–Sep 27 · M6–M7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1463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PIN Template V1.4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Submit ≤ Mei 2027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Review CAR/NIR, maks. 3 putaran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8039" y="4261104"/>
            <a:ext cx="1134999" cy="292608"/>
          </a:xfrm>
          <a:prstGeom prst="round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E7C6B"/>
                </a:solidFill>
                <a:latin typeface="Open Sauce Sans"/>
              </a:rPr>
              <a:t>→ PIN disetujui</a:t>
            </a:r>
          </a:p>
        </p:txBody>
      </p:sp>
      <p:sp>
        <p:nvSpPr>
          <p:cNvPr id="26" name="Oval 25"/>
          <p:cNvSpPr/>
          <p:nvPr/>
        </p:nvSpPr>
        <p:spPr>
          <a:xfrm>
            <a:off x="4190809" y="1792223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63961" y="1865376"/>
            <a:ext cx="475488" cy="475488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Open Sauce San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61054" y="2450592"/>
            <a:ext cx="1281303" cy="2194560"/>
          </a:xfrm>
          <a:prstGeom prst="rect">
            <a:avLst/>
          </a:prstGeom>
          <a:solidFill>
            <a:srgbClr val="E3F1EE"/>
          </a:solidFill>
          <a:ln w="22225">
            <a:solidFill>
              <a:srgbClr val="0E7C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61054" y="2450592"/>
            <a:ext cx="1281303" cy="457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70782" y="2331720"/>
            <a:ext cx="1061847" cy="219456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Open Sauce Sans"/>
              </a:rPr>
              <a:t>★ OUTPUT UTAMA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4206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Masuk</a:t>
            </a:r>
          </a:p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Pipeline PV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4206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0E7C6B"/>
                </a:solidFill>
                <a:latin typeface="Open Sauce Sans"/>
              </a:rPr>
              <a:t>Sep 2027 · M7.5 · M8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97630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PIN tayang di pipeline Plan Vivo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Profil proyek &amp; penjajakan investor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0E7C6B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Pendamping teregistrasi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4206" y="4261104"/>
            <a:ext cx="1134999" cy="292608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→ Proyek di Pipeline</a:t>
            </a:r>
          </a:p>
        </p:txBody>
      </p:sp>
      <p:sp>
        <p:nvSpPr>
          <p:cNvPr id="35" name="Oval 34"/>
          <p:cNvSpPr/>
          <p:nvPr/>
        </p:nvSpPr>
        <p:spPr>
          <a:xfrm>
            <a:off x="5618416" y="1883663"/>
            <a:ext cx="438912" cy="438912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Sans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7221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97221" y="2450592"/>
            <a:ext cx="1281303" cy="45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70373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Penyusunan PDD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0373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1F2A44"/>
                </a:solidFill>
                <a:latin typeface="Open Sauce Sans"/>
              </a:rPr>
              <a:t>2027 – 2029 · M9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3797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Pre-financing investor / offtaker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Metodologi disetujui Plan Vivo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Stok karbon, baseline, PDD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70373" y="4261104"/>
            <a:ext cx="1134999" cy="292608"/>
          </a:xfrm>
          <a:prstGeom prst="round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2A44"/>
                </a:solidFill>
                <a:latin typeface="Open Sauce Sans"/>
              </a:rPr>
              <a:t>→ PDD lolos review</a:t>
            </a:r>
          </a:p>
        </p:txBody>
      </p:sp>
      <p:sp>
        <p:nvSpPr>
          <p:cNvPr id="42" name="Diamond 41"/>
          <p:cNvSpPr/>
          <p:nvPr/>
        </p:nvSpPr>
        <p:spPr>
          <a:xfrm>
            <a:off x="6927151" y="1856231"/>
            <a:ext cx="493776" cy="493776"/>
          </a:xfrm>
          <a:prstGeom prst="diamond">
            <a:avLst/>
          </a:prstGeom>
          <a:solidFill>
            <a:srgbClr val="FFFFFF"/>
          </a:solidFill>
          <a:ln w="28575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44"/>
                </a:solidFill>
                <a:latin typeface="Open Sauce San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3388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33388" y="2450592"/>
            <a:ext cx="1281303" cy="45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6540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Validasi &amp; Registrasi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6540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1F2A44"/>
                </a:solidFill>
                <a:latin typeface="Open Sauce Sans"/>
              </a:rPr>
              <a:t>2029 – 2030 · M10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9964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DPP tercatat di Kemenhut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Audit VVB / microscale IE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MoU &amp; PV Climate Registry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06540" y="4261104"/>
            <a:ext cx="1134999" cy="292608"/>
          </a:xfrm>
          <a:prstGeom prst="round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2A44"/>
                </a:solidFill>
                <a:latin typeface="Open Sauce Sans"/>
              </a:rPr>
              <a:t>→ Proyek terdaftar</a:t>
            </a:r>
          </a:p>
        </p:txBody>
      </p:sp>
      <p:sp>
        <p:nvSpPr>
          <p:cNvPr id="49" name="Oval 48"/>
          <p:cNvSpPr/>
          <p:nvPr/>
        </p:nvSpPr>
        <p:spPr>
          <a:xfrm>
            <a:off x="8290750" y="1883663"/>
            <a:ext cx="438912" cy="438912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Sans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9554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69554" y="2450592"/>
            <a:ext cx="1281303" cy="45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42706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Implementasi &amp;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42706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1F2A44"/>
                </a:solidFill>
                <a:latin typeface="Open Sauce Sans"/>
              </a:rPr>
              <a:t>2030 → · M11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6130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Perlindungan &amp; restorasi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Livelihood KUPS &amp; WFD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Annual Report tiap 12 bln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42706" y="4261104"/>
            <a:ext cx="1134999" cy="292608"/>
          </a:xfrm>
          <a:prstGeom prst="round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2A44"/>
                </a:solidFill>
                <a:latin typeface="Open Sauce Sans"/>
              </a:rPr>
              <a:t>→ Data monitoring</a:t>
            </a:r>
          </a:p>
        </p:txBody>
      </p:sp>
      <p:sp>
        <p:nvSpPr>
          <p:cNvPr id="56" name="Diamond 55"/>
          <p:cNvSpPr/>
          <p:nvPr/>
        </p:nvSpPr>
        <p:spPr>
          <a:xfrm>
            <a:off x="9599485" y="1856231"/>
            <a:ext cx="493776" cy="493776"/>
          </a:xfrm>
          <a:prstGeom prst="diamond">
            <a:avLst/>
          </a:prstGeom>
          <a:solidFill>
            <a:srgbClr val="FFFFFF"/>
          </a:solidFill>
          <a:ln w="28575">
            <a:solidFill>
              <a:srgbClr val="1F2A44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44"/>
                </a:solidFill>
                <a:latin typeface="Open Sauce Sans"/>
              </a:rP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05722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5722" y="2450592"/>
            <a:ext cx="1281303" cy="45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8874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Verifikasi &amp; Issuance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78874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1F2A44"/>
                </a:solidFill>
                <a:latin typeface="Open Sauce Sans"/>
              </a:rPr>
              <a:t>≤5 th pasca-validasi · M12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2298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Audit verifikasi ≤5 th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Persetujuan Menteri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vPVC terbit, nomor seri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78874" y="4261104"/>
            <a:ext cx="1134999" cy="292608"/>
          </a:xfrm>
          <a:prstGeom prst="round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2A44"/>
                </a:solidFill>
                <a:latin typeface="Open Sauce Sans"/>
              </a:rPr>
              <a:t>→ vPVC di registry</a:t>
            </a:r>
          </a:p>
        </p:txBody>
      </p:sp>
      <p:sp>
        <p:nvSpPr>
          <p:cNvPr id="63" name="Oval 62"/>
          <p:cNvSpPr/>
          <p:nvPr/>
        </p:nvSpPr>
        <p:spPr>
          <a:xfrm>
            <a:off x="10963084" y="1883663"/>
            <a:ext cx="438912" cy="438912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Sans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41889" y="2450592"/>
            <a:ext cx="128130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541889" y="2450592"/>
            <a:ext cx="1281303" cy="45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15041" y="2542032"/>
            <a:ext cx="113499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1B2420"/>
                </a:solidFill>
                <a:latin typeface="Open Sauce Sans"/>
              </a:rPr>
              <a:t>Penjualan &amp; Benefit Sharing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15041" y="2962656"/>
            <a:ext cx="1134999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650" b="1" i="0">
                <a:solidFill>
                  <a:srgbClr val="1F2A44"/>
                </a:solidFill>
                <a:latin typeface="Open Sauce Sans"/>
              </a:rPr>
              <a:t>setelah issuance · M13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78465" y="3182112"/>
            <a:ext cx="118986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Realisasi offtake &amp; penjualan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Otorisasi/CA bila ekspor; PNBP</a:t>
            </a:r>
          </a:p>
          <a:p>
            <a:pPr algn="l">
              <a:spcAft>
                <a:spcPts val="200"/>
              </a:spcAft>
            </a:pPr>
            <a:r>
              <a:rPr sz="750" b="1">
                <a:solidFill>
                  <a:srgbClr val="1F2A44"/>
                </a:solidFill>
                <a:latin typeface="Open Sauce Sans"/>
              </a:rPr>
              <a:t>•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≥60% pendapatan ke komunitas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15041" y="4261104"/>
            <a:ext cx="1134999" cy="292608"/>
          </a:xfrm>
          <a:prstGeom prst="round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1F2A44"/>
                </a:solidFill>
                <a:latin typeface="Open Sauce Sans"/>
              </a:rPr>
              <a:t>→ Pendapatan &amp; manfaat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4809744"/>
            <a:ext cx="777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Open Sauce Sans"/>
              </a:rPr>
              <a:t>DUKUNGAN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88720" y="4773168"/>
            <a:ext cx="3953637" cy="292608"/>
          </a:xfrm>
          <a:prstGeom prst="rect">
            <a:avLst/>
          </a:prstGeom>
          <a:solidFill>
            <a:srgbClr val="E3F1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6B"/>
                </a:solidFill>
                <a:latin typeface="Open Sauce Sans"/>
              </a:rPr>
              <a:t>TAF · SETAPAK 4 — SAMPAN Kalimantan &amp; LPHD Pasir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97221" y="4773168"/>
            <a:ext cx="6625971" cy="29260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F2A44"/>
                </a:solidFill>
                <a:latin typeface="Open Sauce Sans"/>
              </a:rPr>
              <a:t>Investor / offtaker (pre-financing, presale berjangka) + pendanaan lanjutan  →  pendapatan karbon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175504"/>
            <a:ext cx="777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5F6B65"/>
                </a:solidFill>
                <a:latin typeface="Open Sauce Sans"/>
              </a:rPr>
              <a:t>UNIT KARBON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720" y="5138928"/>
            <a:ext cx="5289804" cy="292608"/>
          </a:xfrm>
          <a:prstGeom prst="rect">
            <a:avLst/>
          </a:prstGeom>
          <a:solidFill>
            <a:srgbClr val="EEEFE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5F6B65"/>
                </a:solidFill>
                <a:latin typeface="Open Sauce Sans"/>
              </a:rPr>
              <a:t>Belum ada kredit — pipeline ≠ registrasi ≠ issuance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3388" y="5138928"/>
            <a:ext cx="1281303" cy="29260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1F2A44"/>
                </a:solidFill>
                <a:latin typeface="Open Sauce Sans"/>
              </a:rPr>
              <a:t>fPVC (restorasi)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9554" y="5138928"/>
            <a:ext cx="1281303" cy="29260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1F2A44"/>
                </a:solidFill>
                <a:latin typeface="Open Sauce Sans"/>
              </a:rPr>
              <a:t>rPVC (Annual Report)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05722" y="5138928"/>
            <a:ext cx="1281303" cy="2926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Open Sauce Sans"/>
              </a:rPr>
              <a:t>vPVC ✓ dapat di-retire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1889" y="5138928"/>
            <a:ext cx="1281303" cy="2926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Open Sauce Sans"/>
              </a:rPr>
              <a:t>Dijual / diserahkan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11480" y="5596128"/>
            <a:ext cx="11384280" cy="0"/>
          </a:xfrm>
          <a:prstGeom prst="line">
            <a:avLst/>
          </a:prstGeom>
          <a:ln w="9525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11480" y="5669280"/>
            <a:ext cx="2331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0E7C6B"/>
                </a:solidFill>
                <a:latin typeface="Open Sauce Sans"/>
              </a:rPr>
              <a:t>Mei 2027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6080760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PIN diajukan ke Plan Vivo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5669280"/>
            <a:ext cx="2331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0E7C6B"/>
                </a:solidFill>
                <a:latin typeface="Open Sauce Sans"/>
              </a:rPr>
              <a:t>Sep 2027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52928" y="6080760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Masuk Pipeline PV · output utama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94376" y="5669280"/>
            <a:ext cx="2331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Open Sauce Sans"/>
              </a:rPr>
              <a:t>≤ 3 tahun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94376" y="6080760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PDD wajib diajukan sejak PIN disetujui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35823" y="5669280"/>
            <a:ext cx="2331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Open Sauce Sans"/>
              </a:rPr>
              <a:t>≥ 60%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35823" y="6080760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pendapatan PVC untuk komunitas</a:t>
            </a:r>
          </a:p>
        </p:txBody>
      </p:sp>
      <p:sp>
        <p:nvSpPr>
          <p:cNvPr id="88" name="Oval 87"/>
          <p:cNvSpPr/>
          <p:nvPr/>
        </p:nvSpPr>
        <p:spPr>
          <a:xfrm>
            <a:off x="10241280" y="5715000"/>
            <a:ext cx="182880" cy="182880"/>
          </a:xfrm>
          <a:prstGeom prst="ellipse">
            <a:avLst/>
          </a:prstGeom>
          <a:solidFill>
            <a:srgbClr val="5F6B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88167" y="5687568"/>
            <a:ext cx="1371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Dikerjakan tim</a:t>
            </a:r>
          </a:p>
        </p:txBody>
      </p:sp>
      <p:sp>
        <p:nvSpPr>
          <p:cNvPr id="90" name="Diamond 89"/>
          <p:cNvSpPr/>
          <p:nvPr/>
        </p:nvSpPr>
        <p:spPr>
          <a:xfrm>
            <a:off x="10222992" y="5998464"/>
            <a:ext cx="219456" cy="21945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F6B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88167" y="5989320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Keputusan pihak luar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222992" y="6382512"/>
            <a:ext cx="219456" cy="0"/>
          </a:xfrm>
          <a:prstGeom prst="line">
            <a:avLst/>
          </a:prstGeom>
          <a:ln w="22225">
            <a:solidFill>
              <a:srgbClr val="C26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488167" y="6272784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Batas SETAPAK 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6556248"/>
            <a:ext cx="11338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Open Sauce Sans"/>
              </a:rPr>
              <a:t>Sumber: Plan Vivo PV Climate Procedures Manual V3.9 &amp; Project Requirements V5.7; Permenhut 6/2026. Tanggal keputusan Plan Vivo, VVB dan Menteri bersifat indikatif. Presale = kontrak berjangka; unit diserahkan setelah terbit.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