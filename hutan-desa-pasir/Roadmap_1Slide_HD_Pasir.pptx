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Alur: Tahap 1–2 adalah cakupan SETAPAK 4 yang didanai TAF sampai September 2027. Targetnya PIN disetujui dan proyek masuk pipeline Plan Vivo. Pipeline belum berarti registrasi atau kredit. Tahap 3 adalah gerbang: dengan status pipeline, proyek mencari investor atau pembeli untuk pre-financing/offtake berjangka yang membiayai PDD dan validasi. Kredit baru muncul setelah registrasi (fPVC untuk restorasi, rPVC dari Annual Report) dan yang dapat di-retire hanya vPVC setelah verifikasi. Minimal 60% pendapatan dari penjualan untuk peserta dan pihak lokal.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10058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COMMUNITY CARBON HUTAN DESA PASIR · MEMPAWAH, KALIMANTAN BARAT · PLAN VIVO PV CLIMATE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11338560" cy="7772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Delapan tahap menuju kredit karbon komunitas — SETAPAK 4 menuntaskan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persiapan dan persetujuan PIN; investasi membuka jalan ke PDD hingga penjualan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1261872" y="1481328"/>
            <a:ext cx="2585465" cy="29260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STEP 1 · SETAPAK 4 (TAF) · Okt 2026 – Sep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3911346" y="1481328"/>
            <a:ext cx="1260729" cy="292608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GERBANG ·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6082" y="1481328"/>
            <a:ext cx="6559676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STEP 2 · PENGEMBANGAN LANJUTAN · 2027 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236" y="2103120"/>
            <a:ext cx="2649474" cy="0"/>
          </a:xfrm>
          <a:prstGeom prst="line">
            <a:avLst/>
          </a:prstGeom>
          <a:ln w="3175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41710" y="2103120"/>
            <a:ext cx="6623685" cy="0"/>
          </a:xfrm>
          <a:prstGeom prst="line">
            <a:avLst/>
          </a:prstGeom>
          <a:ln w="3175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1993391"/>
            <a:ext cx="7772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TAHAP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79341" y="1435608"/>
            <a:ext cx="0" cy="4050792"/>
          </a:xfrm>
          <a:prstGeom prst="line">
            <a:avLst/>
          </a:prstGeom>
          <a:ln w="2222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72780" y="1883663"/>
            <a:ext cx="438912" cy="438912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61872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61872" y="2450592"/>
            <a:ext cx="1260729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5024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Persiapan Pendaftaran PIN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0E7C6B"/>
                </a:solidFill>
                <a:latin typeface="Calibri"/>
              </a:rPr>
              <a:t>Okt 26 – Apr 27 · M1–M5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Safeguard: FPIC i–ii, GRM, E&amp;S, GESI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Kebutuhan &amp; progres yang sudah berjalan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Baseline via PV tools → project scenario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5024" y="4261104"/>
            <a:ext cx="1114425" cy="292608"/>
          </a:xfrm>
          <a:prstGeom prst="round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0E7C6B"/>
                </a:solidFill>
                <a:latin typeface="Calibri"/>
              </a:rPr>
              <a:t>→ Bahan PIN lengkap</a:t>
            </a:r>
          </a:p>
        </p:txBody>
      </p:sp>
      <p:sp>
        <p:nvSpPr>
          <p:cNvPr id="19" name="Diamond 18"/>
          <p:cNvSpPr/>
          <p:nvPr/>
        </p:nvSpPr>
        <p:spPr>
          <a:xfrm>
            <a:off x="2970085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E7C6B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6609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86609" y="2450592"/>
            <a:ext cx="1260729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9761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Submit PIN hingga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9761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0E7C6B"/>
                </a:solidFill>
                <a:latin typeface="Calibri"/>
              </a:rPr>
              <a:t>Mar – Sep 27 · M6–M7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3185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PIN Template V1.4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Submit ≤ Mei 2027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Review CAR/NIR, maks. 3 putaran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9761" y="4261104"/>
            <a:ext cx="1114425" cy="292608"/>
          </a:xfrm>
          <a:prstGeom prst="round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0E7C6B"/>
                </a:solidFill>
                <a:latin typeface="Calibri"/>
              </a:rPr>
              <a:t>→ PIN disetujui</a:t>
            </a:r>
          </a:p>
        </p:txBody>
      </p:sp>
      <p:sp>
        <p:nvSpPr>
          <p:cNvPr id="26" name="Oval 25"/>
          <p:cNvSpPr/>
          <p:nvPr/>
        </p:nvSpPr>
        <p:spPr>
          <a:xfrm>
            <a:off x="4322254" y="1883663"/>
            <a:ext cx="438912" cy="438912"/>
          </a:xfrm>
          <a:prstGeom prst="ellipse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11346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11346" y="2450592"/>
            <a:ext cx="1260729" cy="4572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84498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Pipeline PV &amp;</a:t>
            </a:r>
          </a:p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Investasi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4498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C26A0A"/>
                </a:solidFill>
                <a:latin typeface="Calibri"/>
              </a:rPr>
              <a:t>Sep 27 – 2028 · M8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47922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Listing di pipeline Plan Vivo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Pre-financing / offtake berjangka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Pendamping teregistrasi, DPP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84498" y="4261104"/>
            <a:ext cx="1114425" cy="292608"/>
          </a:xfrm>
          <a:prstGeom prst="roundRect">
            <a:avLst/>
          </a:prstGeom>
          <a:solidFill>
            <a:srgbClr val="FBF1E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C26A0A"/>
                </a:solidFill>
                <a:latin typeface="Calibri"/>
              </a:rPr>
              <a:t>→ LoI / term sheet investor</a:t>
            </a:r>
          </a:p>
        </p:txBody>
      </p:sp>
      <p:sp>
        <p:nvSpPr>
          <p:cNvPr id="33" name="Oval 32"/>
          <p:cNvSpPr/>
          <p:nvPr/>
        </p:nvSpPr>
        <p:spPr>
          <a:xfrm>
            <a:off x="5646991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36082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36082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9234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Penyusunan PDD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9234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2027 – 2029 · M9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2658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Metodologi disetujui Plan Vivo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Stok karbon &amp; baseline penuh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Konsultasi publik + PDD review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9234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PDD lolos review</a:t>
            </a:r>
          </a:p>
        </p:txBody>
      </p:sp>
      <p:sp>
        <p:nvSpPr>
          <p:cNvPr id="40" name="Diamond 39"/>
          <p:cNvSpPr/>
          <p:nvPr/>
        </p:nvSpPr>
        <p:spPr>
          <a:xfrm>
            <a:off x="6944296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2A44"/>
                </a:solidFill>
                <a:latin typeface="Calibri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60820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60820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33972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Validasi &amp; Registrasi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3972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2029 – 2030 · M10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97396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DPP tercatat di Kemenhut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Audit VVB / microscale IE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MoU &amp; PV Climate Registry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33972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Proyek terdaftar</a:t>
            </a:r>
          </a:p>
        </p:txBody>
      </p:sp>
      <p:sp>
        <p:nvSpPr>
          <p:cNvPr id="47" name="Oval 46"/>
          <p:cNvSpPr/>
          <p:nvPr/>
        </p:nvSpPr>
        <p:spPr>
          <a:xfrm>
            <a:off x="8296465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85557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85557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8709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Implementasi &amp; Monitoring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8709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2030 → · M11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2133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Perlindungan &amp; restorasi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Livelihood KUPS &amp; WFD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Annual Report tiap 12 bln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58709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Data monitoring</a:t>
            </a:r>
          </a:p>
        </p:txBody>
      </p:sp>
      <p:sp>
        <p:nvSpPr>
          <p:cNvPr id="54" name="Diamond 53"/>
          <p:cNvSpPr/>
          <p:nvPr/>
        </p:nvSpPr>
        <p:spPr>
          <a:xfrm>
            <a:off x="9593770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2A44"/>
                </a:solidFill>
                <a:latin typeface="Calibri"/>
              </a:rP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10293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10293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83445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Verifikasi &amp; Issuance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83445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≤5 th pasca-validasi · M12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46869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Audit verifikasi ≤5 th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Persetujuan Menteri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vPVC terbit, nomor seri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83445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vPVC di registry</a:t>
            </a:r>
          </a:p>
        </p:txBody>
      </p:sp>
      <p:sp>
        <p:nvSpPr>
          <p:cNvPr id="61" name="Oval 60"/>
          <p:cNvSpPr/>
          <p:nvPr/>
        </p:nvSpPr>
        <p:spPr>
          <a:xfrm>
            <a:off x="10945939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35030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535030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08182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Penjualan &amp; Benefit Sharing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8182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setelah issuance · M13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71606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Realisasi offtake &amp; penjualan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Otorisasi/CA bila ekspor; PNBP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≥60% pendapatan ke komunitas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608182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Pendapatan &amp; manfaat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4809744"/>
            <a:ext cx="777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DUKUNGAN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61872" y="4773168"/>
            <a:ext cx="2585465" cy="292608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0E7C6B"/>
                </a:solidFill>
                <a:latin typeface="Calibri"/>
              </a:rPr>
              <a:t>TAF · SETAPAK 4 — SAMPAN &amp; LPHD Pasir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11346" y="4773168"/>
            <a:ext cx="1260729" cy="292608"/>
          </a:xfrm>
          <a:prstGeom prst="rect">
            <a:avLst/>
          </a:prstGeom>
          <a:solidFill>
            <a:srgbClr val="FBF1E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C26A0A"/>
                </a:solidFill>
                <a:latin typeface="Calibri"/>
              </a:rPr>
              <a:t>Investor / offtaker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36082" y="4773168"/>
            <a:ext cx="6559676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F2A44"/>
                </a:solidFill>
                <a:latin typeface="Calibri"/>
              </a:rPr>
              <a:t>Pre-financing + pendanaan lanjutan  →  pendapatan karbon membiayai operasi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5175504"/>
            <a:ext cx="777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UNIT KARBON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261872" y="5138928"/>
            <a:ext cx="5234940" cy="292608"/>
          </a:xfrm>
          <a:prstGeom prst="rect">
            <a:avLst/>
          </a:prstGeom>
          <a:solidFill>
            <a:srgbClr val="EEEFE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0">
                <a:solidFill>
                  <a:srgbClr val="5F6B65"/>
                </a:solidFill>
                <a:latin typeface="Calibri"/>
              </a:rPr>
              <a:t>Belum ada kredit — pipeline ≠ registrasi ≠ issuance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60820" y="5138928"/>
            <a:ext cx="1260729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fPVC (restorasi)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885557" y="5138928"/>
            <a:ext cx="1260729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rPVC (Annual Report)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10293" y="5138928"/>
            <a:ext cx="1260729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vPVC ✓ dapat di-retire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535030" y="5138928"/>
            <a:ext cx="1260729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Dijual / diserahkan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11480" y="5596128"/>
            <a:ext cx="11384280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11480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0E7C6B"/>
                </a:solidFill>
                <a:latin typeface="Cambria"/>
              </a:rPr>
              <a:t>Mei 2027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diajukan ke Plan Vivo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52928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C26A0A"/>
                </a:solidFill>
                <a:latin typeface="Cambria"/>
              </a:rPr>
              <a:t>Sep 2027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52928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Target masuk pipeline · akhir TAF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94376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mbria"/>
              </a:rPr>
              <a:t>≤ 3 tahun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94376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wajib diajukan sejak PIN disetujui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35823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mbria"/>
              </a:rPr>
              <a:t>≥ 60%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35823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pendapatan PVC untuk komunitas</a:t>
            </a:r>
          </a:p>
        </p:txBody>
      </p:sp>
      <p:sp>
        <p:nvSpPr>
          <p:cNvPr id="87" name="Oval 86"/>
          <p:cNvSpPr/>
          <p:nvPr/>
        </p:nvSpPr>
        <p:spPr>
          <a:xfrm>
            <a:off x="10241280" y="5715000"/>
            <a:ext cx="182880" cy="182880"/>
          </a:xfrm>
          <a:prstGeom prst="ellipse">
            <a:avLst/>
          </a:prstGeom>
          <a:solidFill>
            <a:srgbClr val="5F6B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88167" y="5687568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Calibri"/>
              </a:rPr>
              <a:t>Dikerjakan tim</a:t>
            </a:r>
          </a:p>
        </p:txBody>
      </p:sp>
      <p:sp>
        <p:nvSpPr>
          <p:cNvPr id="89" name="Diamond 88"/>
          <p:cNvSpPr/>
          <p:nvPr/>
        </p:nvSpPr>
        <p:spPr>
          <a:xfrm>
            <a:off x="10222992" y="5998464"/>
            <a:ext cx="219456" cy="21945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488167" y="5989320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Calibri"/>
              </a:rPr>
              <a:t>Keputusan pihak luar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0222992" y="6382512"/>
            <a:ext cx="219456" cy="0"/>
          </a:xfrm>
          <a:prstGeom prst="line">
            <a:avLst/>
          </a:prstGeom>
          <a:ln w="2222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0488167" y="6272784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Calibri"/>
              </a:rPr>
              <a:t>Batas SETAPAK 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6556248"/>
            <a:ext cx="113385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Sumber: Plan Vivo PV Climate Procedures Manual V3.9 &amp; Project Requirements V5.7; Permenhut 6/2026. Tanggal keputusan Plan Vivo, VVB dan Menteri bersifat indikatif. Presale = kontrak berjangka; unit diserahkan setelah terbit.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