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Alur: Tahap 1–3 adalah cakupan program SETAPAK 4 yang didanai TAF sampai September 2027. Output utamanya Tahap 3: PIN disetujui dan proyek masuk pipeline Plan Vivo. Pipeline belum berarti registrasi atau kredit. Garis gerbang setelah Tahap 3 menandai akhir SETAPAK 4. Dengan status pipeline, proyek mencari investor atau pembeli untuk pre-financing/offtake berjangka yang membiayai PDD dan validasi (Tahap 4 dst.). Kredit baru muncul setelah registrasi (fPVC untuk restorasi, rPVC dari Annual Report) dan yang dapat di-retire hanya vPVC setelah verifikasi. Minimal 60% pendapatan dari penjualan untuk peserta dan pihak lokal.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100584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0E7C6B"/>
                </a:solidFill>
                <a:latin typeface="Calibri"/>
              </a:rPr>
              <a:t>COMMUNITY CARBON HUTAN DESA PASIR · MEMPAWAH, KALIMANTAN BARAT · PLAN VIVO PV CLIMATE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11338560" cy="7772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SETAPAK 4 berakhir dengan proyek masuk Pipeline Plan Vivo — status ini</a:t>
            </a:r>
          </a:p>
          <a:p>
            <a:pPr algn="l"/>
            <a:r>
              <a:rPr sz="2100" b="0" i="0">
                <a:solidFill>
                  <a:srgbClr val="1B2420"/>
                </a:solidFill>
                <a:latin typeface="Cambria"/>
              </a:rPr>
              <a:t>membuka investasi untuk PDD, validasi, hingga penjualan kredit karbon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261872" y="1481328"/>
            <a:ext cx="3910203" cy="292608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STEP 1 · PROGRAM SETAPAK 4 (TAF) · Okt 2026 – Sep 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6082" y="1481328"/>
            <a:ext cx="6559676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STEP 2 · PENGEMBANGAN LANJUTAN (PASCA-SETAPAK 4) · Okt 2027 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92236" y="2103120"/>
            <a:ext cx="3311842" cy="0"/>
          </a:xfrm>
          <a:prstGeom prst="line">
            <a:avLst/>
          </a:prstGeom>
          <a:ln w="31750">
            <a:solidFill>
              <a:srgbClr val="0E7C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204078" y="2103120"/>
            <a:ext cx="5961317" cy="0"/>
          </a:xfrm>
          <a:prstGeom prst="line">
            <a:avLst/>
          </a:prstGeom>
          <a:ln w="31750">
            <a:solidFill>
              <a:srgbClr val="1F2A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11480" y="1993391"/>
            <a:ext cx="7772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TAHAP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04078" y="1426464"/>
            <a:ext cx="0" cy="4059936"/>
          </a:xfrm>
          <a:prstGeom prst="line">
            <a:avLst/>
          </a:prstGeom>
          <a:ln w="2222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741038" y="1234440"/>
            <a:ext cx="29260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/>
            <a:r>
              <a:rPr sz="750" b="1" i="0">
                <a:solidFill>
                  <a:srgbClr val="C26A0A"/>
                </a:solidFill>
                <a:latin typeface="Calibri"/>
              </a:rPr>
              <a:t>▼ GERBANG PIPELINE · AKHIR SETAPAK 4</a:t>
            </a:r>
          </a:p>
        </p:txBody>
      </p:sp>
      <p:sp>
        <p:nvSpPr>
          <p:cNvPr id="12" name="Oval 11"/>
          <p:cNvSpPr/>
          <p:nvPr/>
        </p:nvSpPr>
        <p:spPr>
          <a:xfrm>
            <a:off x="1672780" y="1883663"/>
            <a:ext cx="438912" cy="438912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61872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61872" y="2450592"/>
            <a:ext cx="1260729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5024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Persiapan Pendaftaran PIN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0E7C6B"/>
                </a:solidFill>
                <a:latin typeface="Calibri"/>
              </a:rPr>
              <a:t>Okt 26 – Apr 27 · M1–M5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Safeguard: FPIC i–ii, GRM, E&amp;S, GESI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Kebutuhan &amp; progres yang sudah berjalan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Baseline via PV tools → project scenario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5024" y="4261104"/>
            <a:ext cx="1114425" cy="292608"/>
          </a:xfrm>
          <a:prstGeom prst="round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0E7C6B"/>
                </a:solidFill>
                <a:latin typeface="Calibri"/>
              </a:rPr>
              <a:t>→ Bahan PIN lengkap</a:t>
            </a:r>
          </a:p>
        </p:txBody>
      </p:sp>
      <p:sp>
        <p:nvSpPr>
          <p:cNvPr id="19" name="Diamond 18"/>
          <p:cNvSpPr/>
          <p:nvPr/>
        </p:nvSpPr>
        <p:spPr>
          <a:xfrm>
            <a:off x="2970085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0E7C6B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E7C6B"/>
                </a:solidFill>
                <a:latin typeface="Calibr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6609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86609" y="2450592"/>
            <a:ext cx="1260729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9761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Submit PIN hingga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9761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0E7C6B"/>
                </a:solidFill>
                <a:latin typeface="Calibri"/>
              </a:rPr>
              <a:t>Mar – Sep 27 · M6–M7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23185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PIN Template V1.4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Submit ≤ Mei 2027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Review CAR/NIR, maks. 3 putaran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9761" y="4261104"/>
            <a:ext cx="1114425" cy="292608"/>
          </a:xfrm>
          <a:prstGeom prst="round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0E7C6B"/>
                </a:solidFill>
                <a:latin typeface="Calibri"/>
              </a:rPr>
              <a:t>→ PIN disetujui</a:t>
            </a:r>
          </a:p>
        </p:txBody>
      </p:sp>
      <p:sp>
        <p:nvSpPr>
          <p:cNvPr id="26" name="Oval 25"/>
          <p:cNvSpPr/>
          <p:nvPr/>
        </p:nvSpPr>
        <p:spPr>
          <a:xfrm>
            <a:off x="4230814" y="1792223"/>
            <a:ext cx="621792" cy="6217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03966" y="1865376"/>
            <a:ext cx="475488" cy="475488"/>
          </a:xfrm>
          <a:prstGeom prst="ellipse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11346" y="2450592"/>
            <a:ext cx="1260729" cy="2194560"/>
          </a:xfrm>
          <a:prstGeom prst="rect">
            <a:avLst/>
          </a:prstGeom>
          <a:solidFill>
            <a:srgbClr val="E3F1EE"/>
          </a:solidFill>
          <a:ln w="22225">
            <a:solidFill>
              <a:srgbClr val="0E7C6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11346" y="2450592"/>
            <a:ext cx="1260729" cy="45720"/>
          </a:xfrm>
          <a:prstGeom prst="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021074" y="2331720"/>
            <a:ext cx="1041272" cy="219456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★ OUTPUT UTAMA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498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Masuk</a:t>
            </a:r>
          </a:p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Pipeline PV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4498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0E7C6B"/>
                </a:solidFill>
                <a:latin typeface="Calibri"/>
              </a:rPr>
              <a:t>Sep 2027 · M7.5 · M8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47922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PIN dipublikasikan di pipeline Plan Vivo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Profil proyek &amp; penjajakan investor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0E7C6B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Pendamping teregistrasi (Permenhut 6/2026)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84498" y="4261104"/>
            <a:ext cx="1114425" cy="292608"/>
          </a:xfrm>
          <a:prstGeom prst="roundRect">
            <a:avLst/>
          </a:prstGeom>
          <a:solidFill>
            <a:srgbClr val="0E7C6B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→ Proyek di Pipeline PV</a:t>
            </a:r>
          </a:p>
        </p:txBody>
      </p:sp>
      <p:sp>
        <p:nvSpPr>
          <p:cNvPr id="35" name="Oval 34"/>
          <p:cNvSpPr/>
          <p:nvPr/>
        </p:nvSpPr>
        <p:spPr>
          <a:xfrm>
            <a:off x="5646991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36082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36082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9234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Penyusunan PDD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9234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2027 – 2029 · M9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2658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Pre-financing investor / offtaker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Metodologi disetujui Plan Vivo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Stok karbon, baseline, PDD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09234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PDD lolos review</a:t>
            </a:r>
          </a:p>
        </p:txBody>
      </p:sp>
      <p:sp>
        <p:nvSpPr>
          <p:cNvPr id="42" name="Diamond 41"/>
          <p:cNvSpPr/>
          <p:nvPr/>
        </p:nvSpPr>
        <p:spPr>
          <a:xfrm>
            <a:off x="6944296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2A44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60820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60820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33972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Validasi &amp; Registrasi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33972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2029 – 2030 · M10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97396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DPP tercatat di Kemenhut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Audit VVB / microscale IE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MoU &amp; PV Climate Registry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633972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Proyek terdaftar</a:t>
            </a:r>
          </a:p>
        </p:txBody>
      </p:sp>
      <p:sp>
        <p:nvSpPr>
          <p:cNvPr id="49" name="Oval 48"/>
          <p:cNvSpPr/>
          <p:nvPr/>
        </p:nvSpPr>
        <p:spPr>
          <a:xfrm>
            <a:off x="8296465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85557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85557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8709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Implementasi &amp; Monitoring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8709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2030 → · M11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22133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Perlindungan &amp; restorasi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Livelihood KUPS &amp; WFD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Annual Report tiap 12 bln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58709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Data monitoring</a:t>
            </a:r>
          </a:p>
        </p:txBody>
      </p:sp>
      <p:sp>
        <p:nvSpPr>
          <p:cNvPr id="56" name="Diamond 55"/>
          <p:cNvSpPr/>
          <p:nvPr/>
        </p:nvSpPr>
        <p:spPr>
          <a:xfrm>
            <a:off x="9593770" y="1856231"/>
            <a:ext cx="493776" cy="493776"/>
          </a:xfrm>
          <a:prstGeom prst="diamond">
            <a:avLst/>
          </a:prstGeom>
          <a:solidFill>
            <a:srgbClr val="FFFFFF"/>
          </a:solidFill>
          <a:ln w="28575">
            <a:solidFill>
              <a:srgbClr val="1F2A44"/>
            </a:solidFill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1F2A44"/>
                </a:solidFill>
                <a:latin typeface="Calibri"/>
              </a:rPr>
              <a:t>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10293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10293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83445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Verifikasi &amp; Issuance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3445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≤5 th pasca-validasi · M12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46869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Audit verifikasi ≤5 th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Persetujuan Menteri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vPVC terbit, nomor seri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283445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vPVC di registry</a:t>
            </a:r>
          </a:p>
        </p:txBody>
      </p:sp>
      <p:sp>
        <p:nvSpPr>
          <p:cNvPr id="63" name="Oval 62"/>
          <p:cNvSpPr/>
          <p:nvPr/>
        </p:nvSpPr>
        <p:spPr>
          <a:xfrm>
            <a:off x="10945939" y="1883663"/>
            <a:ext cx="438912" cy="438912"/>
          </a:xfrm>
          <a:prstGeom prst="ellipse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535030" y="2450592"/>
            <a:ext cx="1260729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535030" y="2450592"/>
            <a:ext cx="1260729" cy="45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608182" y="2542032"/>
            <a:ext cx="1114425" cy="4114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2420"/>
                </a:solidFill>
                <a:latin typeface="Calibri"/>
              </a:rPr>
              <a:t>Penjualan &amp; Benefit Sharing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8182" y="2962656"/>
            <a:ext cx="1114425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1" i="0">
                <a:solidFill>
                  <a:srgbClr val="1F2A44"/>
                </a:solidFill>
                <a:latin typeface="Calibri"/>
              </a:rPr>
              <a:t>setelah issuance · M13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71606" y="3182112"/>
            <a:ext cx="1169288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Realisasi offtake &amp; penjualan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Otorisasi/CA bila ekspor; PNBP</a:t>
            </a:r>
          </a:p>
          <a:p>
            <a:pPr algn="l">
              <a:spcAft>
                <a:spcPts val="200"/>
              </a:spcAft>
            </a:pPr>
            <a:r>
              <a:rPr sz="800" b="1">
                <a:solidFill>
                  <a:srgbClr val="1F2A44"/>
                </a:solidFill>
                <a:latin typeface="Calibri"/>
              </a:rPr>
              <a:t>▪ </a:t>
            </a:r>
            <a:r>
              <a:rPr sz="800" b="0">
                <a:solidFill>
                  <a:srgbClr val="1B2420"/>
                </a:solidFill>
                <a:latin typeface="Calibri"/>
              </a:rPr>
              <a:t>≥60% pendapatan ke komunitas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608182" y="4261104"/>
            <a:ext cx="1114425" cy="292608"/>
          </a:xfrm>
          <a:prstGeom prst="round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→ Pendapatan &amp; manfaat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4809744"/>
            <a:ext cx="777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DUKUNGAN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61872" y="4773168"/>
            <a:ext cx="3910203" cy="292608"/>
          </a:xfrm>
          <a:prstGeom prst="rect">
            <a:avLst/>
          </a:prstGeom>
          <a:solidFill>
            <a:srgbClr val="E3F1EE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0E7C6B"/>
                </a:solidFill>
                <a:latin typeface="Calibri"/>
              </a:rPr>
              <a:t>TAF · SETAPAK 4 — SAMPAN Kalimantan &amp; LPHD Pasir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36082" y="4773168"/>
            <a:ext cx="6559676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1F2A44"/>
                </a:solidFill>
                <a:latin typeface="Calibri"/>
              </a:rPr>
              <a:t>Investor / offtaker (pre-financing, presale berjangka) + pendanaan lanjutan  →  pendapatan karbon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" y="5175504"/>
            <a:ext cx="7772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1" i="0">
                <a:solidFill>
                  <a:srgbClr val="5F6B65"/>
                </a:solidFill>
                <a:latin typeface="Calibri"/>
              </a:rPr>
              <a:t>UNIT KARBON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61872" y="5138928"/>
            <a:ext cx="5234940" cy="292608"/>
          </a:xfrm>
          <a:prstGeom prst="rect">
            <a:avLst/>
          </a:prstGeom>
          <a:solidFill>
            <a:srgbClr val="EEEFE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800" b="0">
                <a:solidFill>
                  <a:srgbClr val="5F6B65"/>
                </a:solidFill>
                <a:latin typeface="Calibri"/>
              </a:rPr>
              <a:t>Belum ada kredit — pipeline ≠ registrasi ≠ issuance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60820" y="5138928"/>
            <a:ext cx="1260729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fPVC (restorasi)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85557" y="5138928"/>
            <a:ext cx="1260729" cy="292608"/>
          </a:xfrm>
          <a:prstGeom prst="rect">
            <a:avLst/>
          </a:prstGeom>
          <a:solidFill>
            <a:srgbClr val="E6E9E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1F2A44"/>
                </a:solidFill>
                <a:latin typeface="Calibri"/>
              </a:rPr>
              <a:t>rPVC (Annual Report)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10293" y="5138928"/>
            <a:ext cx="1260729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vPVC ✓ dapat di-retire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35030" y="5138928"/>
            <a:ext cx="1260729" cy="2926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Dijual / diserahkan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11480" y="5596128"/>
            <a:ext cx="11384280" cy="0"/>
          </a:xfrm>
          <a:prstGeom prst="line">
            <a:avLst/>
          </a:prstGeom>
          <a:ln w="9525">
            <a:solidFill>
              <a:srgbClr val="D5D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411480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0E7C6B"/>
                </a:solidFill>
                <a:latin typeface="Cambria"/>
              </a:rPr>
              <a:t>Mei 2027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PIN diajukan ke Plan Vivo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52928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0E7C6B"/>
                </a:solidFill>
                <a:latin typeface="Cambria"/>
              </a:rPr>
              <a:t>Sep 2027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52928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Masuk Pipeline PV — output utama SETAPAK 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94376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mbria"/>
              </a:rPr>
              <a:t>≤ 3 tahun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94376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PDD wajib diajukan sejak PIN disetujui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35823" y="5669280"/>
            <a:ext cx="2331720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2000" b="1" i="0">
                <a:solidFill>
                  <a:srgbClr val="1F2A44"/>
                </a:solidFill>
                <a:latin typeface="Cambria"/>
              </a:rPr>
              <a:t>≥ 60%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35823" y="6080760"/>
            <a:ext cx="23317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50" b="0" i="0">
                <a:solidFill>
                  <a:srgbClr val="1B2420"/>
                </a:solidFill>
                <a:latin typeface="Calibri"/>
              </a:rPr>
              <a:t>pendapatan PVC untuk komunitas</a:t>
            </a:r>
          </a:p>
        </p:txBody>
      </p:sp>
      <p:sp>
        <p:nvSpPr>
          <p:cNvPr id="88" name="Oval 87"/>
          <p:cNvSpPr/>
          <p:nvPr/>
        </p:nvSpPr>
        <p:spPr>
          <a:xfrm>
            <a:off x="10241280" y="5715000"/>
            <a:ext cx="182880" cy="182880"/>
          </a:xfrm>
          <a:prstGeom prst="ellipse">
            <a:avLst/>
          </a:prstGeom>
          <a:solidFill>
            <a:srgbClr val="5F6B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488167" y="5687568"/>
            <a:ext cx="137160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Calibri"/>
              </a:rPr>
              <a:t>Dikerjakan tim</a:t>
            </a:r>
          </a:p>
        </p:txBody>
      </p:sp>
      <p:sp>
        <p:nvSpPr>
          <p:cNvPr id="90" name="Diamond 89"/>
          <p:cNvSpPr/>
          <p:nvPr/>
        </p:nvSpPr>
        <p:spPr>
          <a:xfrm>
            <a:off x="10222992" y="5998464"/>
            <a:ext cx="219456" cy="21945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F6B6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88167" y="5989320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Calibri"/>
              </a:rPr>
              <a:t>Keputusan pihak luar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0222992" y="6382512"/>
            <a:ext cx="219456" cy="0"/>
          </a:xfrm>
          <a:prstGeom prst="line">
            <a:avLst/>
          </a:prstGeom>
          <a:ln w="22225">
            <a:solidFill>
              <a:srgbClr val="C26A0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10488167" y="6272784"/>
            <a:ext cx="146304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F6B65"/>
                </a:solidFill>
                <a:latin typeface="Calibri"/>
              </a:rPr>
              <a:t>Batas SETAPAK 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556248"/>
            <a:ext cx="1133856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5F6B65"/>
                </a:solidFill>
                <a:latin typeface="Calibri"/>
              </a:rPr>
              <a:t>Sumber: Plan Vivo PV Climate Procedures Manual V3.9 &amp; Project Requirements V5.7; Permenhut 6/2026. Tanggal keputusan Plan Vivo, VVB dan Menteri bersifat indikatif. Presale = kontrak berjangka; unit diserahkan setelah terbit.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