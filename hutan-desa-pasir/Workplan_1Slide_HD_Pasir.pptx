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berjalan mingguan dari 26 Oktober sampai akhir Desember 2026, dengan PIN terkirim 4 Desember. Keputusan Plan Vivo atas PIN diperkirakan Januari–Februari 2027. STEP 2 sepanjang 2027 fokus pada penyusunan PDD: metodologi dikunci Februari, data lapangan Februari–Juni, perhitungan karbon dan monitoring plan Juni–Agustus, benefit-sharing dan FPIC tahap iii sampai September, PDD diajukan Oktober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E7C6B"/>
                </a:solidFill>
                <a:latin typeface="Open Sauce Sans"/>
              </a:rPr>
              <a:t>WORKPLAN · COMMUNITY CARBON HUTAN DESA PASIR · PLAN VIVO PV 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0" i="0">
                <a:solidFill>
                  <a:srgbClr val="1B2420"/>
                </a:solidFill>
                <a:latin typeface="Open Sauce Sans"/>
              </a:rPr>
              <a:t>PIN terkirim awal Desember 2026; sepanjang 2027 tim menyusun PDD</a:t>
            </a:r>
          </a:p>
          <a:p>
            <a:pPr algn="l"/>
            <a:r>
              <a:rPr sz="2000" b="0" i="0">
                <a:solidFill>
                  <a:srgbClr val="1B2420"/>
                </a:solidFill>
                <a:latin typeface="Open Sauce Sans"/>
              </a:rPr>
              <a:t>hingga diajukan ke Plan Vivo pada Oktober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481328"/>
            <a:ext cx="3017520" cy="27432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Open Sauce Sans"/>
              </a:rPr>
              <a:t>STEP 1 · Okt – Des 2026 (mingguan)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6248" y="1481328"/>
            <a:ext cx="5266943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Open Sauce Sans"/>
              </a:rPr>
              <a:t>STEP 2 · Penyusunan PDD 2027 (bulanan)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26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Okt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2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9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16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Nov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23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Nov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30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Nov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7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14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3016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21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783080"/>
            <a:ext cx="3017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28</a:t>
            </a:r>
          </a:p>
          <a:p>
            <a:pPr algn="ctr"/>
            <a:r>
              <a:rPr sz="600" b="0" i="0">
                <a:solidFill>
                  <a:srgbClr val="5F6B65"/>
                </a:solidFill>
                <a:latin typeface="Open Sauce Sans"/>
              </a:rPr>
              <a:t>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Jan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Feb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4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Mei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Jun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Jul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Agu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67544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Sep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06456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Okt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45367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Nov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1810512"/>
            <a:ext cx="438911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0" i="0">
                <a:solidFill>
                  <a:srgbClr val="5F6B65"/>
                </a:solidFill>
                <a:latin typeface="Open Sauce Sans"/>
              </a:rPr>
              <a:t>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084832"/>
            <a:ext cx="11411712" cy="259297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2131505"/>
            <a:ext cx="384048" cy="165950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084832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Inventarisasi progres, legal &amp; gap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47288" y="2157435"/>
            <a:ext cx="566928" cy="11409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2390803"/>
            <a:ext cx="384048" cy="165950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344129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Baseline dengan PV tools &amp; analisis citra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2416733"/>
            <a:ext cx="868680" cy="11409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2603427"/>
            <a:ext cx="11411712" cy="259297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2650101"/>
            <a:ext cx="384048" cy="165950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2603427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Safeguard: E&amp;S screening, GRM, FPIC i–ii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0791" y="2676030"/>
            <a:ext cx="868680" cy="11409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2909398"/>
            <a:ext cx="384048" cy="165950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2862725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Baseline &amp; project scenario, metodologi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50791" y="2935328"/>
            <a:ext cx="868680" cy="11409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3122022"/>
            <a:ext cx="11411712" cy="259297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3168696"/>
            <a:ext cx="384048" cy="165950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122022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Draft PIN → review LPHD → submit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52544" y="3194626"/>
            <a:ext cx="868680" cy="11409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Diamond 46"/>
          <p:cNvSpPr/>
          <p:nvPr/>
        </p:nvSpPr>
        <p:spPr>
          <a:xfrm>
            <a:off x="5078577" y="3151087"/>
            <a:ext cx="201168" cy="201168"/>
          </a:xfrm>
          <a:prstGeom prst="diamond">
            <a:avLst/>
          </a:prstGeom>
          <a:solidFill>
            <a:srgbClr val="0E7C6B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3427994"/>
            <a:ext cx="384048" cy="165950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381320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Review Plan Vivo → CAR/NIR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3453923"/>
            <a:ext cx="1170432" cy="11409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74536" y="3453923"/>
            <a:ext cx="841247" cy="11409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3640618"/>
            <a:ext cx="11411712" cy="259297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57200" y="3687291"/>
            <a:ext cx="384048" cy="165950"/>
          </a:xfrm>
          <a:prstGeom prst="roundRect">
            <a:avLst/>
          </a:prstGeom>
          <a:solidFill>
            <a:srgbClr val="0E7C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640618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Masuk pipeline · teaser investor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7800" y="3713221"/>
            <a:ext cx="1170432" cy="114090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13448" y="3713221"/>
            <a:ext cx="402335" cy="11409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7200" y="3946589"/>
            <a:ext cx="384048" cy="16595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3899915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Tim PDD &amp; keputusan metodologi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74536" y="3972519"/>
            <a:ext cx="841247" cy="11409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Diamond 59"/>
          <p:cNvSpPr/>
          <p:nvPr/>
        </p:nvSpPr>
        <p:spPr>
          <a:xfrm>
            <a:off x="7114032" y="3928980"/>
            <a:ext cx="201168" cy="201168"/>
          </a:xfrm>
          <a:prstGeom prst="diamond">
            <a:avLst/>
          </a:prstGeom>
          <a:solidFill>
            <a:srgbClr val="1F2A44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480" y="4159213"/>
            <a:ext cx="11411712" cy="259297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57200" y="4205887"/>
            <a:ext cx="384048" cy="16595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159213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Data lapangan: karbon, sosial, biodiversitas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13448" y="4231817"/>
            <a:ext cx="2157983" cy="11409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7200" y="4465185"/>
            <a:ext cx="384048" cy="16595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4418511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Carbon accounting &amp; monitoring plan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69096" y="4491114"/>
            <a:ext cx="1280159" cy="11409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1480" y="4677809"/>
            <a:ext cx="11411712" cy="259297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7200" y="4724482"/>
            <a:ext cx="384048" cy="16595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4677809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Benefit-sharing &amp; FPIC iii, Project Agreement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30183" y="4750412"/>
            <a:ext cx="2157983" cy="11409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10186416" y="4706874"/>
            <a:ext cx="201168" cy="201168"/>
          </a:xfrm>
          <a:prstGeom prst="diamond">
            <a:avLst/>
          </a:prstGeom>
          <a:solidFill>
            <a:srgbClr val="1F2A44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57200" y="4983780"/>
            <a:ext cx="384048" cy="16595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4937106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Drafting, QA &amp; review LPHD → submit PDD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30183" y="5009710"/>
            <a:ext cx="2596895" cy="114090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Diamond 75"/>
          <p:cNvSpPr/>
          <p:nvPr/>
        </p:nvSpPr>
        <p:spPr>
          <a:xfrm>
            <a:off x="10625328" y="4966171"/>
            <a:ext cx="201168" cy="201168"/>
          </a:xfrm>
          <a:prstGeom prst="diamond">
            <a:avLst/>
          </a:prstGeom>
          <a:solidFill>
            <a:srgbClr val="1F2A44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5196404"/>
            <a:ext cx="11411712" cy="259297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57200" y="5243078"/>
            <a:ext cx="384048" cy="16595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T4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5196404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Screening &amp; konsultasi publik Plan Vivo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963655" y="5269007"/>
            <a:ext cx="841247" cy="114090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57200" y="5502375"/>
            <a:ext cx="384048" cy="165950"/>
          </a:xfrm>
          <a:prstGeom prst="roundRect">
            <a:avLst/>
          </a:prstGeom>
          <a:solidFill>
            <a:srgbClr val="5F6B6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Open Sauce Sans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455702"/>
            <a:ext cx="2468879" cy="25929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00" b="0" i="0">
                <a:solidFill>
                  <a:srgbClr val="1B2420"/>
                </a:solidFill>
                <a:latin typeface="Open Sauce Sans"/>
              </a:rPr>
              <a:t>Paralel: pendamping teregistrasi, investor, DPP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74536" y="5528305"/>
            <a:ext cx="5230367" cy="114090"/>
          </a:xfrm>
          <a:prstGeom prst="rect">
            <a:avLst/>
          </a:prstGeom>
          <a:solidFill>
            <a:srgbClr val="E6E9EF"/>
          </a:solidFill>
          <a:ln w="6350">
            <a:solidFill>
              <a:srgbClr val="8A93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179161" y="2066544"/>
            <a:ext cx="0" cy="3648456"/>
          </a:xfrm>
          <a:prstGeom prst="line">
            <a:avLst/>
          </a:prstGeom>
          <a:ln w="15875">
            <a:solidFill>
              <a:srgbClr val="0E7C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356201" y="5733288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00" b="1" i="0">
                <a:solidFill>
                  <a:srgbClr val="0E7C6B"/>
                </a:solidFill>
                <a:latin typeface="Open Sauce Sans"/>
              </a:rPr>
              <a:t>PIN submit · 4 Des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501384" y="1481328"/>
            <a:ext cx="0" cy="4233672"/>
          </a:xfrm>
          <a:prstGeom prst="line">
            <a:avLst/>
          </a:prstGeom>
          <a:ln w="12700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506456" y="2066544"/>
            <a:ext cx="0" cy="3648456"/>
          </a:xfrm>
          <a:prstGeom prst="line">
            <a:avLst/>
          </a:prstGeom>
          <a:ln w="15875">
            <a:solidFill>
              <a:srgbClr val="C26A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814816" y="5733288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1" i="0">
                <a:solidFill>
                  <a:srgbClr val="C26A0A"/>
                </a:solidFill>
                <a:latin typeface="Open Sauce Sans"/>
              </a:rPr>
              <a:t>Akhir TAF · Sep 2027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52176" y="573328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1" i="0">
                <a:solidFill>
                  <a:srgbClr val="1F2A44"/>
                </a:solidFill>
                <a:latin typeface="Open Sauce Sans"/>
              </a:rPr>
              <a:t>PDD submit · Okt 2027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11480" y="5980176"/>
            <a:ext cx="11411712" cy="0"/>
          </a:xfrm>
          <a:prstGeom prst="line">
            <a:avLst/>
          </a:prstGeom>
          <a:ln w="9525">
            <a:solidFill>
              <a:srgbClr val="D5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411480" y="6099048"/>
            <a:ext cx="274320" cy="109728"/>
          </a:xfrm>
          <a:prstGeom prst="rect">
            <a:avLst/>
          </a:prstGeom>
          <a:solidFill>
            <a:srgbClr val="7FB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035040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F6B65"/>
                </a:solidFill>
                <a:latin typeface="Open Sauce Sans"/>
              </a:rPr>
              <a:t>Kegiatan STEP 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83080" y="6099048"/>
            <a:ext cx="274320" cy="109728"/>
          </a:xfrm>
          <a:prstGeom prst="rect">
            <a:avLst/>
          </a:prstGeom>
          <a:solidFill>
            <a:srgbClr val="8A9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03120" y="6035040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F6B65"/>
                </a:solidFill>
                <a:latin typeface="Open Sauce Sans"/>
              </a:rPr>
              <a:t>Kegiatan STEP 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154680" y="6099048"/>
            <a:ext cx="274320" cy="109728"/>
          </a:xfrm>
          <a:prstGeom prst="rect">
            <a:avLst/>
          </a:prstGeom>
          <a:solidFill>
            <a:srgbClr val="C26A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474720" y="6035040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F6B65"/>
                </a:solidFill>
                <a:latin typeface="Open Sauce Sans"/>
              </a:rPr>
              <a:t>Keputusan Plan Vivo (indikatif)</a:t>
            </a:r>
          </a:p>
        </p:txBody>
      </p:sp>
      <p:sp>
        <p:nvSpPr>
          <p:cNvPr id="97" name="Diamond 96"/>
          <p:cNvSpPr/>
          <p:nvPr/>
        </p:nvSpPr>
        <p:spPr>
          <a:xfrm>
            <a:off x="5257800" y="6053327"/>
            <a:ext cx="182880" cy="182880"/>
          </a:xfrm>
          <a:prstGeom prst="diamond">
            <a:avLst/>
          </a:prstGeom>
          <a:solidFill>
            <a:srgbClr val="5F6B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04688" y="6035040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5F6B65"/>
                </a:solidFill>
                <a:latin typeface="Open Sauce Sans"/>
              </a:rPr>
              <a:t>Milestone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37960" y="6007607"/>
            <a:ext cx="5303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26A0A"/>
                </a:solidFill>
                <a:latin typeface="Open Sauce Sans"/>
              </a:rPr>
              <a:t>Catatan: </a:t>
            </a:r>
            <a:r>
              <a:rPr sz="750" b="0">
                <a:solidFill>
                  <a:srgbClr val="1B2420"/>
                </a:solidFill>
                <a:latin typeface="Open Sauce Sans"/>
              </a:rPr>
              <a:t>review PIN ±6 minggu → keputusan pipeline indikatif Jan–Feb 2027. PDD hanya dapat diajukan setelah proyek di pipeline dan memakai metodologi yang sudah disetujui.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 i="0">
                <a:solidFill>
                  <a:srgbClr val="5F6B65"/>
                </a:solidFill>
                <a:latin typeface="Open Sauce Sans"/>
              </a:rPr>
              <a:t>Sumber: Plan Vivo PV Climate Procedures Manual V3.9 (§2.2, §4, §9); Project Requirements V5.7; Permenhut 6/2026.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