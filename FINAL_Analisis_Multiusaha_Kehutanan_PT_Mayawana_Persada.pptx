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3.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003c1dc2-69d2-a692-a88c-e30ac876ce1b}">
          <p14:sldIdLst>
            <p14:sldId id="256"/>
            <p14:sldId id="257"/>
            <p14:sldId id="258"/>
            <p14:sldId id="259"/>
          </p14:sldIdLst>
        </p14:section>
        <p14:section name="Gate 1 · Legal" id="{f8eb8332-8494-c4ae-f326-0022d9e99fd3}">
          <p14:sldIdLst>
            <p14:sldId id="260"/>
            <p14:sldId id="261"/>
            <p14:sldId id="262"/>
            <p14:sldId id="263"/>
          </p14:sldIdLst>
        </p14:section>
        <p14:section name="Gate 2 · Karbon" id="{8c862f3b-dc3a-19c5-35e0-7ab7f18d60a2}">
          <p14:sldIdLst>
            <p14:sldId id="264"/>
            <p14:sldId id="265"/>
            <p14:sldId id="266"/>
            <p14:sldId id="267"/>
            <p14:sldId id="268"/>
          </p14:sldIdLst>
        </p14:section>
        <p14:section name="Gate 3 · Bisnis" id="{0d7aa6f3-6574-ce37-57d9-bc308f70d098}">
          <p14:sldIdLst>
            <p14:sldId id="269"/>
            <p14:sldId id="270"/>
            <p14:sldId id="271"/>
            <p14:sldId id="272"/>
            <p14:sldId id="273"/>
          </p14:sldIdLst>
        </p14:section>
        <p14:section name="Jalan ke depan" id="{d1208356-b9f4-2e74-3724-b806cd768617}">
          <p14:sldIdLst>
            <p14:sldId id="274"/>
            <p14:sldId id="275"/>
            <p14:sldId id="276"/>
          </p14:sldIdLst>
        </p14:section>
        <p14:section name="Lampiran" id="{8f51c457-6a15-1af7-43f1-7a3d52c54c64}">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F6B65"/>
                </a:solidFill>
                <a:latin typeface="+mn-lt"/>
              </a:defRPr>
            </a:pPr>
            <a:r>
              <a:rPr sz="1200" b="0" i="0" u="none" strike="noStrike">
                <a:solidFill>
                  <a:srgbClr val="5F6B65"/>
                </a:solidFill>
                <a:latin typeface="+mn-lt"/>
              </a:rPr>
              <a:t>Stok karbon setara CO₂, juta tCO₂e (2026)</a:t>
            </a:r>
          </a:p>
        </c:rich>
      </c:tx>
      <c:layout/>
      <c:overlay val="0"/>
    </c:title>
    <c:autoTitleDeleted val="0"/>
    <c:plotArea>
      <c:layout/>
      <c:barChart>
        <c:barDir val="bar"/>
        <c:grouping val="clustered"/>
        <c:varyColors val="0"/>
        <c:ser>
          <c:idx val="0"/>
          <c:order val="0"/>
          <c:tx>
            <c:strRef>
              <c:f>Sheet1!$B$1</c:f>
              <c:strCache>
                <c:ptCount val="1"/>
                <c:pt idx="0">
                  <c:v>Setara CO₂ (×100 ribu tCO₂e)</c:v>
                </c:pt>
              </c:strCache>
            </c:strRef>
          </c:tx>
          <c:spPr>
            <a:solidFill>
              <a:srgbClr val="9C967F"/>
            </a:solidFill>
            <a:effectLst/>
          </c:spPr>
          <c:invertIfNegative val="0"/>
          <c:dLbls>
            <c:numFmt formatCode="0\,0" sourceLinked="0"/>
            <c:txPr>
              <a:bodyPr/>
              <a:lstStyle/>
              <a:p>
                <a:pPr>
                  <a:defRPr b="0" i="0" strike="noStrike" sz="1300" u="none">
                    <a:solidFill>
                      <a:srgbClr val="1B2420"/>
                    </a:solidFill>
                    <a:latin typeface="+mn-lt"/>
                  </a:defRPr>
                </a:pPr>
              </a:p>
            </c:txPr>
            <c:showLegendKey val="0"/>
            <c:showVal val="1"/>
            <c:showCatName val="0"/>
            <c:showSerName val="0"/>
            <c:showPercent val="0"/>
            <c:showBubbleSize val="0"/>
            <c:showLeaderLines val="0"/>
          </c:dLbls>
          <c:dPt>
            <c:idx val="0"/>
            <c:invertIfNegative val="0"/>
            <c:bubble3D val="0"/>
            <c:spPr>
              <a:solidFill>
                <a:srgbClr val="9C967F"/>
              </a:solidFill>
              <a:effectLst/>
            </c:spPr>
          </c:dPt>
          <c:dPt>
            <c:idx val="1"/>
            <c:invertIfNegative val="0"/>
            <c:bubble3D val="0"/>
            <c:spPr>
              <a:solidFill>
                <a:srgbClr val="1F5A45"/>
              </a:solidFill>
              <a:effectLst/>
            </c:spPr>
          </c:dPt>
          <c:cat>
            <c:multiLvlStrRef>
              <c:f>Sheet1!$A$2:$A$3</c:f>
              <c:multiLvlStrCache>
                <c:ptCount val="2"/>
                <c:lvl>
                  <c:pt idx="0">
                    <c:v>Kawasan budidaya</c:v>
                  </c:pt>
                  <c:pt idx="1">
                    <c:v>Kawasan lindung</c:v>
                  </c:pt>
                </c:lvl>
              </c:multiLvlStrCache>
            </c:multiLvlStrRef>
          </c:cat>
          <c:val>
            <c:numRef>
              <c:f>Sheet1!$B$2:$B$3</c:f>
              <c:numCache>
                <c:formatCode>General</c:formatCode>
                <c:ptCount val="2"/>
                <c:pt idx="0">
                  <c:v>146</c:v>
                </c:pt>
                <c:pt idx="1">
                  <c:v>703</c:v>
                </c:pt>
              </c:numCache>
            </c:numRef>
          </c:val>
        </c:ser>
        <c:dLbls>
          <c:numFmt formatCode="0\,0" sourceLinked="0"/>
          <c:txPr>
            <a:bodyPr/>
            <a:lstStyle/>
            <a:p>
              <a:pPr>
                <a:defRPr b="0" i="0" strike="noStrike" sz="1300" u="none">
                  <a:solidFill>
                    <a:srgbClr val="1B242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5F6B65"/>
                </a:solidFill>
                <a:latin typeface="+mn-lt"/>
              </a:defRPr>
            </a:pPr>
            <a:endParaRPr lang="en-US"/>
          </a:p>
        </c:txPr>
        <c:crossAx val="2094734552"/>
        <c:crosses val="autoZero"/>
        <c:auto val="1"/>
        <c:lblAlgn val="ctr"/>
        <c:noMultiLvlLbl val="1"/>
      </c:catAx>
      <c:valAx>
        <c:axId val="2094734552"/>
        <c:scaling>
          <c:orientation val="minMax"/>
          <c:max val="8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F6B6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F6B65"/>
                </a:solidFill>
                <a:latin typeface="+mn-lt"/>
              </a:defRPr>
            </a:pPr>
            <a:r>
              <a:rPr sz="1200" b="0" i="0" u="none" strike="noStrike">
                <a:solidFill>
                  <a:srgbClr val="5F6B65"/>
                </a:solidFill>
                <a:latin typeface="+mn-lt"/>
              </a:rPr>
              <a:t>Emisi CO₂ kumulatif s.d. 2026 per tahun pembukaan, juta tCO₂</a:t>
            </a:r>
          </a:p>
        </c:rich>
      </c:tx>
      <c:layout/>
      <c:overlay val="0"/>
    </c:title>
    <c:autoTitleDeleted val="0"/>
    <c:plotArea>
      <c:layout/>
      <c:barChart>
        <c:barDir val="col"/>
        <c:grouping val="clustered"/>
        <c:varyColors val="0"/>
        <c:ser>
          <c:idx val="0"/>
          <c:order val="0"/>
          <c:tx>
            <c:strRef>
              <c:f>Sheet1!$B$1</c:f>
              <c:strCache>
                <c:ptCount val="1"/>
                <c:pt idx="0">
                  <c:v>Emisi CO₂ kumulatif (×100 ribu tCO₂)</c:v>
                </c:pt>
              </c:strCache>
            </c:strRef>
          </c:tx>
          <c:spPr>
            <a:solidFill>
              <a:srgbClr val="9C967F"/>
            </a:solidFill>
            <a:effectLst/>
          </c:spPr>
          <c:invertIfNegative val="0"/>
          <c:dLbls>
            <c:numFmt formatCode="0\,0" sourceLinked="0"/>
            <c:txPr>
              <a:bodyPr/>
              <a:lstStyle/>
              <a:p>
                <a:pPr>
                  <a:defRPr b="0" i="0" strike="noStrike" sz="1300" u="none">
                    <a:solidFill>
                      <a:srgbClr val="1B2420"/>
                    </a:solidFill>
                    <a:latin typeface="+mn-lt"/>
                  </a:defRPr>
                </a:pPr>
              </a:p>
            </c:txPr>
            <c:showLegendKey val="0"/>
            <c:showVal val="1"/>
            <c:showCatName val="0"/>
            <c:showSerName val="0"/>
            <c:showPercent val="0"/>
            <c:showBubbleSize val="0"/>
            <c:showLeaderLines val="0"/>
          </c:dLbls>
          <c:dPt>
            <c:idx val="0"/>
            <c:invertIfNegative val="0"/>
            <c:bubble3D val="0"/>
            <c:spPr>
              <a:solidFill>
                <a:srgbClr val="9C967F"/>
              </a:solidFill>
              <a:effectLst/>
            </c:spPr>
          </c:dPt>
          <c:dPt>
            <c:idx val="1"/>
            <c:invertIfNegative val="0"/>
            <c:bubble3D val="0"/>
            <c:spPr>
              <a:solidFill>
                <a:srgbClr val="9C967F"/>
              </a:solidFill>
              <a:effectLst/>
            </c:spPr>
          </c:dPt>
          <c:dPt>
            <c:idx val="2"/>
            <c:invertIfNegative val="0"/>
            <c:bubble3D val="0"/>
            <c:spPr>
              <a:solidFill>
                <a:srgbClr val="B5551F"/>
              </a:solidFill>
              <a:effectLst/>
            </c:spPr>
          </c:dPt>
          <c:dPt>
            <c:idx val="3"/>
            <c:invertIfNegative val="0"/>
            <c:bubble3D val="0"/>
            <c:spPr>
              <a:solidFill>
                <a:srgbClr val="9C967F"/>
              </a:solidFill>
              <a:effectLst/>
            </c:spPr>
          </c:dPt>
          <c:dPt>
            <c:idx val="4"/>
            <c:invertIfNegative val="0"/>
            <c:bubble3D val="0"/>
            <c:spPr>
              <a:solidFill>
                <a:srgbClr val="9C967F"/>
              </a:solidFill>
              <a:effectLst/>
            </c:spPr>
          </c:dPt>
          <c:dPt>
            <c:idx val="5"/>
            <c:invertIfNegative val="0"/>
            <c:bubble3D val="0"/>
            <c:spPr>
              <a:solidFill>
                <a:srgbClr val="9C967F"/>
              </a:solidFill>
              <a:effectLst/>
            </c:spPr>
          </c:dPt>
          <c:cat>
            <c:multiLvlStrRef>
              <c:f>Sheet1!$A$2:$A$7</c:f>
              <c:multiLvlStrCache>
                <c:ptCount val="6"/>
                <c:lvl>
                  <c:pt idx="0">
                    <c:v>2021</c:v>
                  </c:pt>
                  <c:pt idx="1">
                    <c:v>2022</c:v>
                  </c:pt>
                  <c:pt idx="2">
                    <c:v>2023</c:v>
                  </c:pt>
                  <c:pt idx="3">
                    <c:v>2024</c:v>
                  </c:pt>
                  <c:pt idx="4">
                    <c:v>2025</c:v>
                  </c:pt>
                  <c:pt idx="5">
                    <c:v>2026</c:v>
                  </c:pt>
                </c:lvl>
              </c:multiLvlStrCache>
            </c:multiLvlStrRef>
          </c:cat>
          <c:val>
            <c:numRef>
              <c:f>Sheet1!$B$2:$B$7</c:f>
              <c:numCache>
                <c:formatCode>General</c:formatCode>
                <c:ptCount val="6"/>
                <c:pt idx="0">
                  <c:v>21</c:v>
                </c:pt>
                <c:pt idx="1">
                  <c:v>30</c:v>
                </c:pt>
                <c:pt idx="2">
                  <c:v>56</c:v>
                </c:pt>
                <c:pt idx="3">
                  <c:v>3</c:v>
                </c:pt>
                <c:pt idx="4">
                  <c:v>3</c:v>
                </c:pt>
                <c:pt idx="5">
                  <c:v>8</c:v>
                </c:pt>
              </c:numCache>
            </c:numRef>
          </c:val>
        </c:ser>
        <c:dLbls>
          <c:numFmt formatCode="0\,0" sourceLinked="0"/>
          <c:txPr>
            <a:bodyPr/>
            <a:lstStyle/>
            <a:p>
              <a:pPr>
                <a:defRPr b="0" i="0" strike="noStrike" sz="1300" u="none">
                  <a:solidFill>
                    <a:srgbClr val="1B242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F6B65"/>
                </a:solidFill>
                <a:latin typeface="+mn-lt"/>
              </a:defRPr>
            </a:pPr>
            <a:endParaRPr lang="en-US"/>
          </a:p>
        </c:txPr>
        <c:crossAx val="2094734552"/>
        <c:crosses val="autoZero"/>
        <c:auto val="1"/>
        <c:lblAlgn val="ctr"/>
        <c:noMultiLvlLbl val="1"/>
      </c:catAx>
      <c:valAx>
        <c:axId val="2094734552"/>
        <c:scaling>
          <c:orientation val="minMax"/>
          <c:max val="6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F6B6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F6B65"/>
                </a:solidFill>
                <a:latin typeface="+mn-lt"/>
              </a:defRPr>
            </a:pPr>
            <a:r>
              <a:rPr sz="1200" b="0" i="0" u="none" strike="noStrike">
                <a:solidFill>
                  <a:srgbClr val="5F6B65"/>
                </a:solidFill>
                <a:latin typeface="+mn-lt"/>
              </a:rPr>
              <a:t>US$ juta, 6 tahun, sebelum biaya MRV, restorasi &amp; buffer</a:t>
            </a:r>
          </a:p>
        </c:rich>
      </c:tx>
      <c:layout/>
      <c:overlay val="0"/>
    </c:title>
    <c:autoTitleDeleted val="0"/>
    <c:plotArea>
      <c:layout/>
      <c:barChart>
        <c:barDir val="col"/>
        <c:grouping val="clustered"/>
        <c:varyColors val="0"/>
        <c:ser>
          <c:idx val="0"/>
          <c:order val="0"/>
          <c:tx>
            <c:strRef>
              <c:f>Sheet1!$B$1</c:f>
              <c:strCache>
                <c:ptCount val="1"/>
                <c:pt idx="0">
                  <c:v>Pendapatan karbon bersih</c:v>
                </c:pt>
              </c:strCache>
            </c:strRef>
          </c:tx>
          <c:spPr>
            <a:solidFill>
              <a:srgbClr val="1F5A45"/>
            </a:solidFill>
            <a:effectLst/>
          </c:spPr>
          <c:invertIfNegative val="0"/>
          <c:dLbls>
            <c:numFmt formatCode="0\,0" sourceLinked="0"/>
            <c:txPr>
              <a:bodyPr/>
              <a:lstStyle/>
              <a:p>
                <a:pPr>
                  <a:defRPr b="0" i="0" strike="noStrike" sz="1300" u="none">
                    <a:solidFill>
                      <a:srgbClr val="1B2420"/>
                    </a:solidFill>
                    <a:latin typeface="+mn-lt"/>
                  </a:defRPr>
                </a:pPr>
              </a:p>
            </c:txPr>
            <c:showLegendKey val="0"/>
            <c:showVal val="1"/>
            <c:showCatName val="0"/>
            <c:showSerName val="0"/>
            <c:showPercent val="0"/>
            <c:showBubbleSize val="0"/>
            <c:showLeaderLines val="0"/>
          </c:dLbls>
          <c:cat>
            <c:multiLvlStrRef>
              <c:f>Sheet1!$A$2:$A$4</c:f>
              <c:multiLvlStrCache>
                <c:ptCount val="3"/>
                <c:lvl>
                  <c:pt idx="0">
                    <c:v>Konservatif</c:v>
                  </c:pt>
                  <c:pt idx="1">
                    <c:v>Base</c:v>
                  </c:pt>
                  <c:pt idx="2">
                    <c:v>Upside</c:v>
                  </c:pt>
                </c:lvl>
              </c:multiLvlStrCache>
            </c:multiLvlStrRef>
          </c:cat>
          <c:val>
            <c:numRef>
              <c:f>Sheet1!$B$2:$B$4</c:f>
              <c:numCache>
                <c:formatCode>General</c:formatCode>
                <c:ptCount val="3"/>
                <c:pt idx="0">
                  <c:v>295</c:v>
                </c:pt>
                <c:pt idx="1">
                  <c:v>960</c:v>
                </c:pt>
                <c:pt idx="2">
                  <c:v>2650</c:v>
                </c:pt>
              </c:numCache>
            </c:numRef>
          </c:val>
        </c:ser>
        <c:ser>
          <c:idx val="1"/>
          <c:order val="1"/>
          <c:tx>
            <c:strRef>
              <c:f>Sheet1!$C$1</c:f>
              <c:strCache>
                <c:ptCount val="1"/>
                <c:pt idx="0">
                  <c:v>Opportunity cost HTI</c:v>
                </c:pt>
              </c:strCache>
            </c:strRef>
          </c:tx>
          <c:spPr>
            <a:solidFill>
              <a:srgbClr val="9C967F"/>
            </a:solidFill>
            <a:effectLst/>
          </c:spPr>
          <c:invertIfNegative val="0"/>
          <c:dLbls>
            <c:numFmt formatCode="0\,0" sourceLinked="0"/>
            <c:txPr>
              <a:bodyPr/>
              <a:lstStyle/>
              <a:p>
                <a:pPr>
                  <a:defRPr b="0" i="0" strike="noStrike" sz="1300" u="none">
                    <a:solidFill>
                      <a:srgbClr val="1B2420"/>
                    </a:solidFill>
                    <a:latin typeface="+mn-lt"/>
                  </a:defRPr>
                </a:pPr>
              </a:p>
            </c:txPr>
            <c:showLegendKey val="0"/>
            <c:showVal val="1"/>
            <c:showCatName val="0"/>
            <c:showSerName val="0"/>
            <c:showPercent val="0"/>
            <c:showBubbleSize val="0"/>
            <c:showLeaderLines val="0"/>
          </c:dLbls>
          <c:cat>
            <c:multiLvlStrRef>
              <c:f>Sheet1!$A$2:$A$4</c:f>
              <c:multiLvlStrCache>
                <c:ptCount val="3"/>
                <c:lvl>
                  <c:pt idx="0">
                    <c:v>Konservatif</c:v>
                  </c:pt>
                  <c:pt idx="1">
                    <c:v>Base</c:v>
                  </c:pt>
                  <c:pt idx="2">
                    <c:v>Upside</c:v>
                  </c:pt>
                </c:lvl>
              </c:multiLvlStrCache>
            </c:multiLvlStrRef>
          </c:cat>
          <c:val>
            <c:numRef>
              <c:f>Sheet1!$C$2:$C$4</c:f>
              <c:numCache>
                <c:formatCode>General</c:formatCode>
                <c:ptCount val="3"/>
                <c:pt idx="0">
                  <c:v>230</c:v>
                </c:pt>
                <c:pt idx="1">
                  <c:v>370</c:v>
                </c:pt>
                <c:pt idx="2">
                  <c:v>510</c:v>
                </c:pt>
              </c:numCache>
            </c:numRef>
          </c:val>
        </c:ser>
        <c:dLbls>
          <c:numFmt formatCode="0\,0" sourceLinked="0"/>
          <c:txPr>
            <a:bodyPr/>
            <a:lstStyle/>
            <a:p>
              <a:pPr>
                <a:defRPr b="0" i="0" strike="noStrike" sz="1300" u="none">
                  <a:solidFill>
                    <a:srgbClr val="1B242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F6B65"/>
                </a:solidFill>
                <a:latin typeface="+mn-lt"/>
              </a:defRPr>
            </a:pPr>
            <a:endParaRPr lang="en-US"/>
          </a:p>
        </c:txPr>
        <c:crossAx val="2094734552"/>
        <c:crosses val="autoZero"/>
        <c:auto val="1"/>
        <c:lblAlgn val="ctr"/>
        <c:noMultiLvlLbl val="1"/>
      </c:catAx>
      <c:valAx>
        <c:axId val="2094734552"/>
        <c:scaling>
          <c:orientation val="minMax"/>
          <c:max val="30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F6B6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5F6B6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ini menganalisis kelayakan Multiusaha Kehutanan (MUK) di PBPH PT Mayawana Persada: mempertahankan HTI akasia pada kawasan budidaya dan mengembangkan Pemanfaatan Jasa Lingkungan (PJL) karbon pada kawasan lindung. Kerangka analisis: legal feasibility, carbon integrity, business feasibility, decision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Hukum: PBPH pada Hutan Produksi dapat menjalankan Multiusaha Kehutanan, termasuk Pemanfaatan Jasa Lingkungan (PP 23/2021 Ps. 149). Kegiatan MUK harus dituangkan dalam RKUPH (Permen LHK 8/2021 Ps. 155).
Karbon: penghentian land clearing, drainase/kanalisasi baru, perlindungan hutan, rewetting dan restorasi dapat menjadi sumber mitigasi — sepanjang legal, additional, dan metodologinya eligible.
Bisnis: skala kandidat ±72.000 ha menarik, tetapi keputusan investasi harus berbasis tCO2e eligible serta NPV karbon vs NPV HTI, bukan luas areal semata.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RKU/RKUPH telah mengarahkan pengusahaan HTI akasia; kini dipertimbangkan transformasi sebagian areal. Rantai kegiatan HTI — dari vegetasi existing, land clearing, pembangunan kanal &amp; drainase, penanaman akasia, sampai panen dan rotasi — memunculkan empat sumber emisi yang perlu dipetakan sebagai baseline: kehilangan biomassa, emisi tanah gambut, kebakaran, dan emisi operasional.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ini bukan melepas PBPH, tetapi mengubah portofolio kegiatan melalui Multiusaha Kehutanan.
Kawasan budidaya: kegiatan produksi tetap berjalan pada areal yang dipertahankan sebagai basis usaha kayu.
Kawasan lindung: kandidat perlindungan stok karbon, avoided conversion, restorasi/rewetting, pengendalian kebakaran dan peningkatan serapan — setelah screening.
Catatan: pembagian ini adalah skenario analisis, bukan penetapan final; angka final mengikuti penataan ulang RKUPH.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 23/2021 Ps. 149: PBPH pada Hutan Produksi dilakukan dengan Multiusaha Kehutanan, termasuk Pemanfaatan Jasa Lingkungan.
Permen LHK 8/2021 Ps. 155: kegiatan Multiusaha Kehutanan dituangkan dalam RKUPH.
Permen LHK 8/2021 Ps. 157: Pemanfaatan Jasa Lingkungan mencakup penyerapan dan/atau penyimpanan karbon.
Permenhut 6/2026 Ps. 6: pemegang PBPH termasuk Pelaku Usaha dalam perdagangan karbon sektor kehutanan.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Tidak semua emisi yang 'dihindari' boleh diklaim sebagai additional. Contoh uji pada kawasan lindung ±72.000 ha (jawaban awal perusahaan):
1) Penetapan pada blok tersebut legal karena merupakan kawasan lindung yang diperuntukkan untuk multiusaha kehutanan, berdasarkan SK PBPH.
2) RKU/RKT secara realisasi menjadi realistis untuk BAU-nya, dan membutuhkan waktu 5–10 tahun sejak berdirinya PBPH.
3) Areal yang diperuntukkan untuk analisis multiusaha kehutanan adalah kawasan lindung; fungsi sebagai areal konservasi tetap terjaga sekaligus untuk Project Carbon. Catatan analis: bila areal sejak awal wajib dilindungi, additionality-nya paling rentan.
4) Kegiatan produksi dalam PBPH tidak berhenti; yang bertambah adalah multiusaha pada kawasan lindung, terutama Project Carbon.
5) Metodologi karbon yang akan digunakan nantinya sesuai dengan SRUK.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screening: memisahkan area yang potensial dikreditkan dari area kewajiban atau berisiko.
A · Prioritas tinggi: areal yang secara legal &amp; kredibel masih dapat dikelola untuk produksi/HTI, memiliki stok karbon signifikan, dan penghindaran konversinya dapat dibuktikan additional → fokus feasibility.
B · Restorasi: areal terdegradasi/drained dengan peluang rewetting, revegetasi, peningkatan stok karbon atau pengurangan risiko kebakaran → uji metodologi &amp; biaya.
C · Kewajiban: kawasan lindung, sempadan, puncak kubah gambut/habitat tertentu atau area lain yang memang wajib dilindungi → konservasi tetap penting, tetapi additionality kredit perlu diuji ketat.
Proporsi A/B/C belum diketahui; ditentukan oleh hasil screening spasial.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 BAU: RKU HTI dijalankan — pembukaan vegetasi yang legal, pembangunan/drainase kanal yang legal, rotasi tanaman, risiko emisi gambut/kebakaran → proyeksi emisi tanpa intervensi.
Project scenario: MUK karbon dijalankan — perlindungan hutan, menghindari konversi yang eligible, rewetting/restorasi, pengendalian kebakaran, peningkatan stok karbon → emisi lebih rendah / serapan lebih tinggi.
Potensi unit karbon = kinerja mitigasi yang terukur, additional, tervalidasi dan terverifikasi. Permenhut 6/2026 menempatkan baseline dan additionality sebagai elemen penting dalam aksi mitigasi/perdagangan karbon.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Kawasan budidaya (produksi): 66.908,4 ha × 59,5 tC/ha = 3.981.049,8 tC, setara 14.597.182,6 tCO2e.
Kawasan lindung: 71.349,644 ha × 268,6 tC/ha = 19.164.514,4 tC, setara 70.269.886,1 tCO2e.
Kandungan karbon per hektar kawasan lindung 4,5 kali kawasan budidaya. Stok ini juga menjadi eksposur risiko permanence/kebakaran.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Faktor emisi 20 tC/ha/th diterapkan pada luas yang dibuka per tahun, diakumulasi hingga 2026:
2021: 4.884 ha → 2.148.960 tCO2
2022: 8.162 ha → 2.992.733 tCO2
2023: 19.221 ha → 5.638.160 tCO2
2024: 1.571 ha → 345.620 tCO2
2025: 1.890 ha → 277.200 tCO2
2026: 10.920 ha → 800.800 tCO2
Total 46.648 ha; 3.420.853 tCO2/th; kumulatif 12.203.473 tCO2. Data ini adalah bukti BAU di kawasan budidaya, dan menjadi pembanding untuk baseline kawasan lindung.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Kanal dapat meningkatkan potensi mitigasi, sekaligus memperketat legal due diligence. Potensi pengurangan emisi bisa berasal dari beberapa sumber, tetapi tidak boleh double counting.
Constraint: fungsi ekosistem gambut, kewajiban perlindungan, status kanal existing, legalitas baseline, permanence/reversal dan kebakaran harus masuk desain proyek.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Skenario A · Lanjut HTI — Pendapatan: penjualan kayu akasia. Biaya &amp; risiko: land clearing &amp; pembangunan kanal; nursery, planting, silvikultur; harvesting &amp; transport; kebakaran &amp; gangguan; kewajiban lingkungan → NPV HTI.
Skenario B · MUK Karbon — Pendapatan: unit karbon eligible; potensi PJL/HHBK lain. Biaya &amp; risiko: opportunity cost kayu; proteksi/restorasi/rewetting; MRV, validasi &amp; verifikasi; registrasi/developer/buffer; community &amp; safeguard → NPV Karbon.
GO jika risk-adjusted NPV Karbon &gt; alternatif HTI + strategic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Eligible area: berapa ha lolos legal &amp; methodological screening? Data: kawasan lindung 71.349,6 ha (kandidat ±72.000 ha); kawasan budidaya 66.000 ha.
Net tCO2e: konservatif 7,4 juta; base 12,0 juta; upside 16,6 juta tCO2e.
Net carbon price: harga jual dikurangi fee, pajak/PNBP &amp; transaction cost — konservatif US$4,0; base US$8,0; upside US$16,0 per tCO2e.
Opportunity cost: margin HTI yang dilepas + biaya transisi/restorasi — konservatif ±US$23 juta; base ±US$37 juta; upside ±US$51 juta.
Jangan membuat proyeksi revenue sebelum keempat variabel ini memiliki rentang konservatif–base–upside.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Pendapatan bersih = net tCO2e × net carbon price (6 tahun): konservatif 7,4 juta × US$4 ≈ US$29,5 juta; base 12,0 juta × US$8 = US$96 juta; upside 16,6 juta × US$16 ≈ US$265 juta.
Opportunity cost: US$23 / 37 / 51 juta.
Selisih: ±US$6,5 juta (konservatif), ±US$59 juta (base), ±US$214 juta (upside) — sebelum biaya MRV, validasi, registrasi, restorasi dan buffer. Pada skenario konservatif, biaya-biaya ini berpotensi menghabiskan seluruh selisih.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Tinggi — Legal baseline: BAU ternyata tidak legal / area wajib dilindungi → baseline 7,4–16,6 juta tCO2e hilang. Additionality: BAU lindung diuji lewat RKU/RKT, peta rencana, dan rekam jejak. Permanence/fire: kebakaran, reversal stok 70,27 juta tCO2e; persentase buffer belum ada.
Sedang — RKUPH transition: perubahan RKUPH belum disetujui → proyek tertunda. Market/price: proyeksi net price US$4/8 per tCO2e; acuan pasar US$7–10. Social safeguard: konflik tenurial &amp; benefit sharing → biaya naik, registrasi tertunda.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Urutan kerja yang mengurangi risiko sunk cost: 01 Legal &amp; spatial due diligence; 02 Carbon feasibility &amp; methodology; 03 Business case NPV HTI vs karbon; [gate keputusan] 04 Perubahan/penyesuaian RKUPH; 05 DRAM/registrasi &amp; validasi; 06 Implementasi, MRV &amp; verifikasi; 07 Unit karbon &amp; transaksi.
Gate keputusan utama berada setelah tahap 03: hanya lanjut perubahan RKUPH jika legal eligibility dan economics telah terbukti.
Permenhut 6/2026 mengatur jalur perdagangan karbon oleh Pelaku Usaha, termasuk pemegang PBPH.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Dokumen existing menjadi aset utama untuk membuktikan baseline dan menyaring eligibility. Output: legal eligible area → carbon eligible area → tCO2e → economics → GO / NO-GO.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1 · Legal: apakah BAU legal dan area benar-benar eligible? Blok lindung 71.349,6 ha berada dalam SK PBPH. Berikutnya: verifikasi SK PBPH, RKUPH &amp; peta.
Gate 2 · Karbon: apakah additionality &amp; metodologi dapat dipertahankan? Estimasi 7,4–16,6 juta tCO2e (6 th). Berikutnya: uji additionality &amp; metodologi SRUK.
Gate 3 · Bisnis: apakah risk-adjusted NPV mengalahkan alternatif HTI? Proyeksi pendapatan bersih US$29,5–265 juta vs opportunity cost US$23–51 juta (6 th), sebelum biaya MRV, restorasi &amp; buffer.
Jika ketiga gate lolos → perubahan RKUPH + pengembangan MUK karbon ±72.000 ha layak dilanjutkan.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Skema kerja sama Multiusaha Kehutanan pada PBPH: integrasi usaha awal HTI (akasia) dan pengembangan usaha karbon melalui perusahaan karbon sebagai proponen lain, dengan dukungan Carbon Developer. Mencakup dasar hukum, lingkup tiap pihak, Joint Project Committee, alur pelaksanaan proyek karbon (8 tahap), skema pembagian pendapatan (ilustrasi), serta hasil dan 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Sumber data: tabel stok karbon kawasan budidaya &amp; lindung (2026) serta emisi karbon kawasan budidaya per tahun pembukaan 2021–2026, faktor emisi 20 tC/ha/th.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840480" y="2331720"/>
            <a:ext cx="7680960" cy="320040"/>
          </a:xfrm>
          <a:prstGeom prst="rect">
            <a:avLst/>
          </a:prstGeom>
          <a:noFill/>
          <a:ln/>
        </p:spPr>
        <p:txBody>
          <a:bodyPr wrap="square" rtlCol="0"/>
          <a:lstStyle>
            <a:lvl1pPr indent="0" marL="0">
              <a:buNone/>
              <a:defRPr lang="en-US" sz="1400" b="1" spc="300" kern="0" dirty="0">
                <a:solidFill>
                  <a:schemeClr val="accent6"/>
                </a:solidFill>
              </a:defRPr>
            </a:lvl1pPr>
          </a:lstStyle>
          <a:p>
            <a:pPr indent="0" marL="0">
              <a:buNone/>
            </a:pPr>
            <a:endParaRPr lang="en-US" sz="1400" dirty="0"/>
          </a:p>
        </p:txBody>
      </p:sp>
      <p:sp>
        <p:nvSpPr>
          <p:cNvPr id="3" name="Text 0"/>
          <p:cNvSpPr/>
          <p:nvPr>
            <p:ph idx="101" type="title" hasCustomPrompt="1"/>
          </p:nvPr>
        </p:nvSpPr>
        <p:spPr>
          <a:xfrm>
            <a:off x="3840480" y="2743200"/>
            <a:ext cx="7680960" cy="146304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11094415" cy="320040"/>
          </a:xfrm>
          <a:prstGeom prst="rect">
            <a:avLst/>
          </a:prstGeom>
          <a:noFill/>
          <a:ln/>
        </p:spPr>
        <p:txBody>
          <a:bodyPr wrap="square" rtlCol="0"/>
          <a:lstStyle>
            <a:lvl1pPr indent="0" marL="0">
              <a:buNone/>
              <a:defRPr lang="en-US" sz="1400" b="1" spc="300" kern="0" dirty="0">
                <a:solidFill>
                  <a:schemeClr val="accent6"/>
                </a:solidFill>
              </a:defRPr>
            </a:lvl1pPr>
          </a:lstStyle>
          <a:p>
            <a:pPr indent="0" marL="0">
              <a:buNone/>
            </a:pPr>
            <a:endParaRPr lang="en-US" sz="1400" dirty="0"/>
          </a:p>
        </p:txBody>
      </p:sp>
      <p:sp>
        <p:nvSpPr>
          <p:cNvPr id="3" name="Text 0"/>
          <p:cNvSpPr/>
          <p:nvPr>
            <p:ph idx="101" type="title" hasCustomPrompt="1"/>
          </p:nvPr>
        </p:nvSpPr>
        <p:spPr>
          <a:xfrm>
            <a:off x="548640" y="1280160"/>
            <a:ext cx="9601200" cy="15544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11094415" cy="320040"/>
          </a:xfrm>
          <a:prstGeom prst="rect">
            <a:avLst/>
          </a:prstGeom>
          <a:noFill/>
          <a:ln/>
        </p:spPr>
        <p:txBody>
          <a:bodyPr wrap="square" lIns="0" tIns="0" rIns="0" bIns="0" rtlCol="0"/>
          <a:lstStyle/>
          <a:p>
            <a:pPr indent="0" marL="0">
              <a:buNone/>
            </a:pPr>
            <a:r>
              <a:rPr lang="en-US" sz="1400" b="1" spc="300" kern="0" dirty="0">
                <a:solidFill>
                  <a:schemeClr val="accent6"/>
                </a:solidFill>
              </a:rPr>
              <a:t>ANALISIS STRATEGIS  ·  PT MAYAWANA PERSADA</a:t>
            </a:r>
            <a:endParaRPr lang="en-US" sz="1400" dirty="0"/>
          </a:p>
        </p:txBody>
      </p:sp>
      <p:sp>
        <p:nvSpPr>
          <p:cNvPr id="3" name="Text 0"/>
          <p:cNvSpPr/>
          <p:nvPr>
            <p:ph idx="101" type="title" hasCustomPrompt="1"/>
          </p:nvPr>
        </p:nvSpPr>
        <p:spPr>
          <a:xfrm>
            <a:off x="548640" y="1280160"/>
            <a:ext cx="9601200" cy="155448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Satu izin, dua portofolio: kayu dan karbon di PBPH ±138.258 ha</a:t>
            </a:r>
            <a:endParaRPr lang="en-US" sz="4000" dirty="0"/>
          </a:p>
        </p:txBody>
      </p:sp>
      <p:sp>
        <p:nvSpPr>
          <p:cNvPr id="5" name="Text 2"/>
          <p:cNvSpPr txBox="1"/>
          <p:nvPr/>
        </p:nvSpPr>
        <p:spPr>
          <a:xfrm>
            <a:off x="548640" y="2880360"/>
            <a:ext cx="8778240" cy="731520"/>
          </a:xfrm>
          <a:prstGeom prst="rect">
            <a:avLst/>
          </a:prstGeom>
          <a:noFill/>
          <a:ln/>
        </p:spPr>
        <p:txBody>
          <a:bodyPr wrap="square" lIns="0" tIns="0" rIns="0" bIns="0" rtlCol="0" anchor="t"/>
          <a:lstStyle/>
          <a:p>
            <a:pPr indent="0" marL="0">
              <a:buNone/>
            </a:pPr>
            <a:r>
              <a:rPr lang="en-US" sz="1600" dirty="0">
                <a:solidFill>
                  <a:srgbClr val="C8D6CD"/>
                </a:solidFill>
              </a:rPr>
              <a:t>Analisis kelayakan Multiusaha Kehutanan — mengembangkan kawasan lindung menjadi Pemanfaatan Jasa Lingkungan karbon, tanpa menghentikan HTI akasia</a:t>
            </a:r>
            <a:endParaRPr lang="en-US" sz="1600" dirty="0"/>
          </a:p>
        </p:txBody>
      </p:sp>
      <p:sp>
        <p:nvSpPr>
          <p:cNvPr id="6" name="rasio-budidaya"/>
          <p:cNvSpPr/>
          <p:nvPr/>
        </p:nvSpPr>
        <p:spPr>
          <a:xfrm>
            <a:off x="548640" y="4343400"/>
            <a:ext cx="5335734" cy="566928"/>
          </a:xfrm>
          <a:prstGeom prst="rect">
            <a:avLst/>
          </a:prstGeom>
          <a:solidFill>
            <a:schemeClr val="accent2"/>
          </a:solidFill>
          <a:ln/>
        </p:spPr>
      </p:sp>
      <p:sp>
        <p:nvSpPr>
          <p:cNvPr id="7" name="rasio-lindung"/>
          <p:cNvSpPr/>
          <p:nvPr/>
        </p:nvSpPr>
        <p:spPr>
          <a:xfrm>
            <a:off x="5950940" y="4343400"/>
            <a:ext cx="5692115" cy="566928"/>
          </a:xfrm>
          <a:prstGeom prst="rect">
            <a:avLst/>
          </a:prstGeom>
          <a:solidFill>
            <a:schemeClr val="accent6"/>
          </a:solidFill>
          <a:ln/>
        </p:spPr>
      </p:sp>
      <p:sp>
        <p:nvSpPr>
          <p:cNvPr id="8" name="Text 5"/>
          <p:cNvSpPr txBox="1"/>
          <p:nvPr/>
        </p:nvSpPr>
        <p:spPr>
          <a:xfrm>
            <a:off x="548640" y="5074920"/>
            <a:ext cx="5335734" cy="73152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66.908 ha</a:t>
            </a:r>
            <a:endParaRPr lang="en-US" sz="1400" dirty="0"/>
          </a:p>
          <a:p>
            <a:pPr indent="0" marL="0">
              <a:buNone/>
            </a:pPr>
            <a:r>
              <a:rPr lang="en-US" sz="1300" dirty="0">
                <a:solidFill>
                  <a:srgbClr val="C8D6CD"/>
                </a:solidFill>
              </a:rPr>
              <a:t>Kawasan budidaya · HTI akasia</a:t>
            </a:r>
            <a:endParaRPr lang="en-US" sz="1400" dirty="0"/>
          </a:p>
        </p:txBody>
      </p:sp>
      <p:sp>
        <p:nvSpPr>
          <p:cNvPr id="9" name="Text 6"/>
          <p:cNvSpPr txBox="1"/>
          <p:nvPr/>
        </p:nvSpPr>
        <p:spPr>
          <a:xfrm>
            <a:off x="5975814" y="5074920"/>
            <a:ext cx="5667241" cy="73152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71.350 ha</a:t>
            </a:r>
            <a:endParaRPr lang="en-US" sz="1400" dirty="0"/>
          </a:p>
          <a:p>
            <a:pPr indent="0" marL="0">
              <a:buNone/>
            </a:pPr>
            <a:r>
              <a:rPr lang="en-US" sz="1300" dirty="0">
                <a:solidFill>
                  <a:srgbClr val="C8D6CD"/>
                </a:solidFill>
              </a:rPr>
              <a:t>Kawasan lindung · kandidat karbon</a:t>
            </a:r>
            <a:endParaRPr lang="en-US" sz="1400" dirty="0"/>
          </a:p>
        </p:txBody>
      </p:sp>
      <p:sp>
        <p:nvSpPr>
          <p:cNvPr id="10" name="Text 7"/>
          <p:cNvSpPr txBox="1"/>
          <p:nvPr/>
        </p:nvSpPr>
        <p:spPr>
          <a:xfrm>
            <a:off x="8899855" y="822960"/>
            <a:ext cx="2743200" cy="320040"/>
          </a:xfrm>
          <a:prstGeom prst="rect">
            <a:avLst/>
          </a:prstGeom>
          <a:noFill/>
          <a:ln/>
        </p:spPr>
        <p:txBody>
          <a:bodyPr wrap="square" lIns="0" tIns="0" rIns="0" bIns="0" rtlCol="0" anchor="t"/>
          <a:lstStyle/>
          <a:p>
            <a:pPr algn="r" indent="0" marL="0">
              <a:buNone/>
            </a:pPr>
            <a:r>
              <a:rPr lang="en-US" sz="1400" b="1" spc="300" kern="0" dirty="0">
                <a:solidFill>
                  <a:schemeClr val="accent6"/>
                </a:solidFill>
              </a:rPr>
              <a:t>OKTOBER 2026</a:t>
            </a:r>
            <a:endParaRPr lang="en-US" sz="1400" dirty="0"/>
          </a:p>
        </p:txBody>
      </p:sp>
      <p:sp>
        <p:nvSpPr>
          <p:cNvPr id="11" name="Text 8"/>
          <p:cNvSpPr txBox="1"/>
          <p:nvPr/>
        </p:nvSpPr>
        <p:spPr>
          <a:xfrm>
            <a:off x="548640" y="6309360"/>
            <a:ext cx="7315200" cy="228600"/>
          </a:xfrm>
          <a:prstGeom prst="rect">
            <a:avLst/>
          </a:prstGeom>
          <a:noFill/>
          <a:ln/>
        </p:spPr>
        <p:txBody>
          <a:bodyPr wrap="square" lIns="0" tIns="0" rIns="0" bIns="0" rtlCol="0" anchor="t"/>
          <a:lstStyle/>
          <a:p>
            <a:pPr indent="0" marL="0">
              <a:buNone/>
            </a:pPr>
            <a:r>
              <a:rPr lang="en-US" sz="1000" i="1" dirty="0">
                <a:solidFill>
                  <a:schemeClr val="accent6"/>
                </a:solidFill>
              </a:rPr>
              <a:t>Analisis awal — perlu dikonfirmasi dengan dokumen PBPH/RKUPH dan data spasial aktual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KESIMPULAN EKSEKUTIF</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Peluang kuat, tetapi nilainya baru nyata setelah lolos tiga gate</a:t>
            </a:r>
            <a:endParaRPr lang="en-US" sz="2800" dirty="0"/>
          </a:p>
        </p:txBody>
      </p:sp>
      <p:sp>
        <p:nvSpPr>
          <p:cNvPr id="5" name="Text 2"/>
          <p:cNvSpPr txBox="1"/>
          <p:nvPr/>
        </p:nvSpPr>
        <p:spPr>
          <a:xfrm>
            <a:off x="548640" y="1965960"/>
            <a:ext cx="54864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a:t>
            </a:r>
            <a:endParaRPr lang="en-US" sz="4000" dirty="0"/>
          </a:p>
        </p:txBody>
      </p:sp>
      <p:sp>
        <p:nvSpPr>
          <p:cNvPr id="6" name="Text 3"/>
          <p:cNvSpPr txBox="1"/>
          <p:nvPr/>
        </p:nvSpPr>
        <p:spPr>
          <a:xfrm>
            <a:off x="1280160" y="2011680"/>
            <a:ext cx="137160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HUKUM</a:t>
            </a:r>
            <a:endParaRPr lang="en-US" sz="1200" dirty="0"/>
          </a:p>
        </p:txBody>
      </p:sp>
      <p:sp>
        <p:nvSpPr>
          <p:cNvPr id="7" name="Text 4"/>
          <p:cNvSpPr txBox="1"/>
          <p:nvPr/>
        </p:nvSpPr>
        <p:spPr>
          <a:xfrm>
            <a:off x="1280160" y="2304288"/>
            <a:ext cx="6492240" cy="731520"/>
          </a:xfrm>
          <a:prstGeom prst="rect">
            <a:avLst/>
          </a:prstGeom>
          <a:noFill/>
          <a:ln/>
        </p:spPr>
        <p:txBody>
          <a:bodyPr wrap="square" lIns="0" tIns="0" rIns="0" bIns="0" rtlCol="0" anchor="t"/>
          <a:lstStyle/>
          <a:p>
            <a:pPr indent="0" marL="0">
              <a:buNone/>
            </a:pPr>
            <a:r>
              <a:rPr lang="en-US" sz="1500" b="1" dirty="0">
                <a:solidFill>
                  <a:schemeClr val="tx1"/>
                </a:solidFill>
              </a:rPr>
              <a:t>Diizinkan. </a:t>
            </a:r>
            <a:pPr indent="0" marL="0">
              <a:buNone/>
            </a:pPr>
            <a:r>
              <a:rPr lang="en-US" sz="1500" dirty="0">
                <a:solidFill>
                  <a:schemeClr val="tx1"/>
                </a:solidFill>
              </a:rPr>
              <a:t>PBPH di Hutan Produksi boleh menjalankan Multiusaha Kehutanan termasuk jasa lingkungan; wajib dituangkan dalam RKUPH.</a:t>
            </a:r>
            <a:endParaRPr lang="en-US" sz="1500" dirty="0"/>
          </a:p>
        </p:txBody>
      </p:sp>
      <p:sp>
        <p:nvSpPr>
          <p:cNvPr id="8" name="Shape 5"/>
          <p:cNvSpPr/>
          <p:nvPr/>
        </p:nvSpPr>
        <p:spPr>
          <a:xfrm>
            <a:off x="548640" y="3063240"/>
            <a:ext cx="7223760" cy="0"/>
          </a:xfrm>
          <a:prstGeom prst="line">
            <a:avLst/>
          </a:prstGeom>
          <a:noFill/>
          <a:ln w="9525">
            <a:solidFill>
              <a:schemeClr val="accent5"/>
            </a:solidFill>
            <a:prstDash val="solid"/>
          </a:ln>
        </p:spPr>
      </p:sp>
      <p:sp>
        <p:nvSpPr>
          <p:cNvPr id="9" name="Text 6"/>
          <p:cNvSpPr txBox="1"/>
          <p:nvPr/>
        </p:nvSpPr>
        <p:spPr>
          <a:xfrm>
            <a:off x="548640" y="3154680"/>
            <a:ext cx="54864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2</a:t>
            </a:r>
            <a:endParaRPr lang="en-US" sz="4000" dirty="0"/>
          </a:p>
        </p:txBody>
      </p:sp>
      <p:sp>
        <p:nvSpPr>
          <p:cNvPr id="10" name="Text 7"/>
          <p:cNvSpPr txBox="1"/>
          <p:nvPr/>
        </p:nvSpPr>
        <p:spPr>
          <a:xfrm>
            <a:off x="1280160" y="3200400"/>
            <a:ext cx="137160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KARBON</a:t>
            </a:r>
            <a:endParaRPr lang="en-US" sz="1200" dirty="0"/>
          </a:p>
        </p:txBody>
      </p:sp>
      <p:sp>
        <p:nvSpPr>
          <p:cNvPr id="11" name="Text 8"/>
          <p:cNvSpPr txBox="1"/>
          <p:nvPr/>
        </p:nvSpPr>
        <p:spPr>
          <a:xfrm>
            <a:off x="1280160" y="3493008"/>
            <a:ext cx="6492240" cy="731520"/>
          </a:xfrm>
          <a:prstGeom prst="rect">
            <a:avLst/>
          </a:prstGeom>
          <a:noFill/>
          <a:ln/>
        </p:spPr>
        <p:txBody>
          <a:bodyPr wrap="square" lIns="0" tIns="0" rIns="0" bIns="0" rtlCol="0" anchor="t"/>
          <a:lstStyle/>
          <a:p>
            <a:pPr indent="0" marL="0">
              <a:buNone/>
            </a:pPr>
            <a:r>
              <a:rPr lang="en-US" sz="1500" b="1" dirty="0">
                <a:solidFill>
                  <a:schemeClr val="tx1"/>
                </a:solidFill>
              </a:rPr>
              <a:t>Bersyarat. </a:t>
            </a:r>
            <a:pPr indent="0" marL="0">
              <a:buNone/>
            </a:pPr>
            <a:r>
              <a:rPr lang="en-US" sz="1500" dirty="0">
                <a:solidFill>
                  <a:schemeClr val="tx1"/>
                </a:solidFill>
              </a:rPr>
              <a:t>Perlindungan, rewetting, restorasi dan pengendalian kebakaran dapat dikreditkan — jika legal, additional dan metodologinya eligible.</a:t>
            </a:r>
            <a:endParaRPr lang="en-US" sz="1500" dirty="0"/>
          </a:p>
        </p:txBody>
      </p:sp>
      <p:sp>
        <p:nvSpPr>
          <p:cNvPr id="12" name="Shape 9"/>
          <p:cNvSpPr/>
          <p:nvPr/>
        </p:nvSpPr>
        <p:spPr>
          <a:xfrm>
            <a:off x="548640" y="4251960"/>
            <a:ext cx="7223760" cy="0"/>
          </a:xfrm>
          <a:prstGeom prst="line">
            <a:avLst/>
          </a:prstGeom>
          <a:noFill/>
          <a:ln w="9525">
            <a:solidFill>
              <a:schemeClr val="accent5"/>
            </a:solidFill>
            <a:prstDash val="solid"/>
          </a:ln>
        </p:spPr>
      </p:sp>
      <p:sp>
        <p:nvSpPr>
          <p:cNvPr id="13" name="Text 10"/>
          <p:cNvSpPr txBox="1"/>
          <p:nvPr/>
        </p:nvSpPr>
        <p:spPr>
          <a:xfrm>
            <a:off x="548640" y="4343400"/>
            <a:ext cx="54864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3</a:t>
            </a:r>
            <a:endParaRPr lang="en-US" sz="4000" dirty="0"/>
          </a:p>
        </p:txBody>
      </p:sp>
      <p:sp>
        <p:nvSpPr>
          <p:cNvPr id="14" name="Text 11"/>
          <p:cNvSpPr txBox="1"/>
          <p:nvPr/>
        </p:nvSpPr>
        <p:spPr>
          <a:xfrm>
            <a:off x="1280160" y="4389120"/>
            <a:ext cx="137160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BISNIS</a:t>
            </a:r>
            <a:endParaRPr lang="en-US" sz="1200" dirty="0"/>
          </a:p>
        </p:txBody>
      </p:sp>
      <p:sp>
        <p:nvSpPr>
          <p:cNvPr id="15" name="Text 12"/>
          <p:cNvSpPr txBox="1"/>
          <p:nvPr/>
        </p:nvSpPr>
        <p:spPr>
          <a:xfrm>
            <a:off x="1280160" y="4681728"/>
            <a:ext cx="6492240" cy="731520"/>
          </a:xfrm>
          <a:prstGeom prst="rect">
            <a:avLst/>
          </a:prstGeom>
          <a:noFill/>
          <a:ln/>
        </p:spPr>
        <p:txBody>
          <a:bodyPr wrap="square" lIns="0" tIns="0" rIns="0" bIns="0" rtlCol="0" anchor="t"/>
          <a:lstStyle/>
          <a:p>
            <a:pPr indent="0" marL="0">
              <a:buNone/>
            </a:pPr>
            <a:r>
              <a:rPr lang="en-US" sz="1500" b="1" dirty="0">
                <a:solidFill>
                  <a:schemeClr val="tx1"/>
                </a:solidFill>
              </a:rPr>
              <a:t>Belum terbukti. </a:t>
            </a:r>
            <a:pPr indent="0" marL="0">
              <a:buNone/>
            </a:pPr>
            <a:r>
              <a:rPr lang="en-US" sz="1500" dirty="0">
                <a:solidFill>
                  <a:schemeClr val="tx1"/>
                </a:solidFill>
              </a:rPr>
              <a:t>Skala 71.350 ha menarik, tetapi keputusan harus berbasis tCO₂e eligible dan NPV karbon vs NPV HTI.</a:t>
            </a:r>
            <a:endParaRPr lang="en-US" sz="1500" dirty="0"/>
          </a:p>
        </p:txBody>
      </p:sp>
      <p:sp>
        <p:nvSpPr>
          <p:cNvPr id="16" name="panel-rekomendasi"/>
          <p:cNvSpPr/>
          <p:nvPr/>
        </p:nvSpPr>
        <p:spPr>
          <a:xfrm>
            <a:off x="8229600" y="1874520"/>
            <a:ext cx="3413455" cy="3566160"/>
          </a:xfrm>
          <a:prstGeom prst="rect">
            <a:avLst/>
          </a:prstGeom>
          <a:solidFill>
            <a:schemeClr val="tx2"/>
          </a:solidFill>
          <a:ln/>
        </p:spPr>
      </p:sp>
      <p:sp>
        <p:nvSpPr>
          <p:cNvPr id="17" name="Text 14"/>
          <p:cNvSpPr txBox="1"/>
          <p:nvPr/>
        </p:nvSpPr>
        <p:spPr>
          <a:xfrm>
            <a:off x="8549640" y="2194560"/>
            <a:ext cx="2773375"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REKOMENDASI</a:t>
            </a:r>
            <a:endParaRPr lang="en-US" sz="1200" dirty="0"/>
          </a:p>
        </p:txBody>
      </p:sp>
      <p:sp>
        <p:nvSpPr>
          <p:cNvPr id="18" name="Text 15"/>
          <p:cNvSpPr txBox="1"/>
          <p:nvPr/>
        </p:nvSpPr>
        <p:spPr>
          <a:xfrm>
            <a:off x="8549640" y="2560320"/>
            <a:ext cx="2773375" cy="2651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Jalankan Legal–Carbon Feasibility Screening sebelum mengubah RKUPH dan sebelum menetapkan valuasi proyek.</a:t>
            </a:r>
            <a:endParaRPr lang="en-US" sz="2000" dirty="0"/>
          </a:p>
        </p:txBody>
      </p:sp>
      <p:sp>
        <p:nvSpPr>
          <p:cNvPr id="19" name="Text 16"/>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chemeClr val="accent4"/>
                </a:solidFill>
              </a:rPr>
              <a:t>Dasar: PP 23/2021 Ps. 149; Permen LHK 8/2021 Ps. 155; Permenhut 6/2026 Ps. 6.</a:t>
            </a:r>
            <a:endParaRPr lang="en-US" sz="1000" dirty="0"/>
          </a:p>
        </p:txBody>
      </p:sp>
      <p:sp>
        <p:nvSpPr>
          <p:cNvPr id="20" name="rasio-budidaya"/>
          <p:cNvSpPr/>
          <p:nvPr/>
        </p:nvSpPr>
        <p:spPr>
          <a:xfrm>
            <a:off x="548640" y="6400800"/>
            <a:ext cx="694306" cy="91440"/>
          </a:xfrm>
          <a:prstGeom prst="rect">
            <a:avLst/>
          </a:prstGeom>
          <a:solidFill>
            <a:schemeClr val="accent2"/>
          </a:solidFill>
          <a:ln/>
        </p:spPr>
      </p:sp>
      <p:sp>
        <p:nvSpPr>
          <p:cNvPr id="21" name="rasio-lindung"/>
          <p:cNvSpPr/>
          <p:nvPr/>
        </p:nvSpPr>
        <p:spPr>
          <a:xfrm>
            <a:off x="1270378" y="6400800"/>
            <a:ext cx="741302" cy="91440"/>
          </a:xfrm>
          <a:prstGeom prst="rect">
            <a:avLst/>
          </a:prstGeom>
          <a:solidFill>
            <a:schemeClr val="accent1"/>
          </a:solidFill>
          <a:ln/>
        </p:spPr>
      </p:sp>
      <p:sp>
        <p:nvSpPr>
          <p:cNvPr id="22" name="Text 19"/>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PBPH 138.258 ha  ·  budidaya 66.908  |  lindung 71.350</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KONDISI EXISTING</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Siklus HTI akasia saat ini menciptakan empat sumber emisi yang wajib dipetakan</a:t>
            </a:r>
            <a:endParaRPr lang="en-US" sz="2800" dirty="0"/>
          </a:p>
        </p:txBody>
      </p:sp>
      <p:sp>
        <p:nvSpPr>
          <p:cNvPr id="5" name="Shape 2"/>
          <p:cNvSpPr/>
          <p:nvPr/>
        </p:nvSpPr>
        <p:spPr>
          <a:xfrm>
            <a:off x="1658082" y="2514600"/>
            <a:ext cx="8875532" cy="0"/>
          </a:xfrm>
          <a:prstGeom prst="line">
            <a:avLst/>
          </a:prstGeom>
          <a:noFill/>
          <a:ln w="25400">
            <a:solidFill>
              <a:schemeClr val="accent2"/>
            </a:solidFill>
            <a:prstDash val="solid"/>
          </a:ln>
        </p:spPr>
      </p:sp>
      <p:sp>
        <p:nvSpPr>
          <p:cNvPr id="6" name="Shape 3"/>
          <p:cNvSpPr/>
          <p:nvPr/>
        </p:nvSpPr>
        <p:spPr>
          <a:xfrm>
            <a:off x="1502634" y="2359152"/>
            <a:ext cx="310896" cy="310896"/>
          </a:xfrm>
          <a:prstGeom prst="ellipse">
            <a:avLst/>
          </a:prstGeom>
          <a:solidFill>
            <a:schemeClr val="accent1"/>
          </a:solidFill>
          <a:ln w="25400">
            <a:solidFill>
              <a:schemeClr val="bg1"/>
            </a:solidFill>
            <a:prstDash val="solid"/>
          </a:ln>
        </p:spPr>
      </p:sp>
      <p:sp>
        <p:nvSpPr>
          <p:cNvPr id="7" name="Text 4"/>
          <p:cNvSpPr txBox="1"/>
          <p:nvPr/>
        </p:nvSpPr>
        <p:spPr>
          <a:xfrm>
            <a:off x="743682" y="1965960"/>
            <a:ext cx="1828800" cy="274320"/>
          </a:xfrm>
          <a:prstGeom prst="rect">
            <a:avLst/>
          </a:prstGeom>
          <a:noFill/>
          <a:ln/>
        </p:spPr>
        <p:txBody>
          <a:bodyPr wrap="square" lIns="0" tIns="0" rIns="0" bIns="0" rtlCol="0" anchor="t"/>
          <a:lstStyle/>
          <a:p>
            <a:pPr algn="ctr" indent="0" marL="0">
              <a:buNone/>
            </a:pPr>
            <a:r>
              <a:rPr lang="en-US" sz="1100" b="1" dirty="0">
                <a:solidFill>
                  <a:schemeClr val="accent4"/>
                </a:solidFill>
              </a:rPr>
              <a:t>01</a:t>
            </a:r>
            <a:endParaRPr lang="en-US" sz="1100" dirty="0"/>
          </a:p>
        </p:txBody>
      </p:sp>
      <p:sp>
        <p:nvSpPr>
          <p:cNvPr id="8" name="Text 5"/>
          <p:cNvSpPr txBox="1"/>
          <p:nvPr/>
        </p:nvSpPr>
        <p:spPr>
          <a:xfrm>
            <a:off x="652242" y="2807208"/>
            <a:ext cx="2011680" cy="548640"/>
          </a:xfrm>
          <a:prstGeom prst="rect">
            <a:avLst/>
          </a:prstGeom>
          <a:noFill/>
          <a:ln/>
        </p:spPr>
        <p:txBody>
          <a:bodyPr wrap="square" lIns="0" tIns="0" rIns="0" bIns="0" rtlCol="0" anchor="t"/>
          <a:lstStyle/>
          <a:p>
            <a:pPr algn="ctr" indent="0" marL="0">
              <a:buNone/>
            </a:pPr>
            <a:r>
              <a:rPr lang="en-US" sz="1500" b="1" dirty="0">
                <a:solidFill>
                  <a:schemeClr val="tx1"/>
                </a:solidFill>
              </a:rPr>
              <a:t>Hutan / vegetasi existing</a:t>
            </a:r>
            <a:endParaRPr lang="en-US" sz="1500" dirty="0"/>
          </a:p>
        </p:txBody>
      </p:sp>
      <p:sp>
        <p:nvSpPr>
          <p:cNvPr id="9" name="Shape 6"/>
          <p:cNvSpPr/>
          <p:nvPr/>
        </p:nvSpPr>
        <p:spPr>
          <a:xfrm>
            <a:off x="3721517" y="2359152"/>
            <a:ext cx="310896" cy="310896"/>
          </a:xfrm>
          <a:prstGeom prst="ellipse">
            <a:avLst/>
          </a:prstGeom>
          <a:solidFill>
            <a:schemeClr val="accent2"/>
          </a:solidFill>
          <a:ln w="25400">
            <a:solidFill>
              <a:schemeClr val="bg1"/>
            </a:solidFill>
            <a:prstDash val="solid"/>
          </a:ln>
        </p:spPr>
      </p:sp>
      <p:sp>
        <p:nvSpPr>
          <p:cNvPr id="10" name="Text 7"/>
          <p:cNvSpPr txBox="1"/>
          <p:nvPr/>
        </p:nvSpPr>
        <p:spPr>
          <a:xfrm>
            <a:off x="2962565" y="1965960"/>
            <a:ext cx="1828800" cy="274320"/>
          </a:xfrm>
          <a:prstGeom prst="rect">
            <a:avLst/>
          </a:prstGeom>
          <a:noFill/>
          <a:ln/>
        </p:spPr>
        <p:txBody>
          <a:bodyPr wrap="square" lIns="0" tIns="0" rIns="0" bIns="0" rtlCol="0" anchor="t"/>
          <a:lstStyle/>
          <a:p>
            <a:pPr algn="ctr" indent="0" marL="0">
              <a:buNone/>
            </a:pPr>
            <a:r>
              <a:rPr lang="en-US" sz="1100" b="1" dirty="0">
                <a:solidFill>
                  <a:schemeClr val="accent4"/>
                </a:solidFill>
              </a:rPr>
              <a:t>02</a:t>
            </a:r>
            <a:endParaRPr lang="en-US" sz="1100" dirty="0"/>
          </a:p>
        </p:txBody>
      </p:sp>
      <p:sp>
        <p:nvSpPr>
          <p:cNvPr id="11" name="Text 8"/>
          <p:cNvSpPr txBox="1"/>
          <p:nvPr/>
        </p:nvSpPr>
        <p:spPr>
          <a:xfrm>
            <a:off x="2871125" y="2807208"/>
            <a:ext cx="2011680" cy="548640"/>
          </a:xfrm>
          <a:prstGeom prst="rect">
            <a:avLst/>
          </a:prstGeom>
          <a:noFill/>
          <a:ln/>
        </p:spPr>
        <p:txBody>
          <a:bodyPr wrap="square" lIns="0" tIns="0" rIns="0" bIns="0" rtlCol="0" anchor="t"/>
          <a:lstStyle/>
          <a:p>
            <a:pPr algn="ctr" indent="0" marL="0">
              <a:buNone/>
            </a:pPr>
            <a:r>
              <a:rPr lang="en-US" sz="1500" b="1" dirty="0">
                <a:solidFill>
                  <a:schemeClr val="tx1"/>
                </a:solidFill>
              </a:rPr>
              <a:t>Land clearing</a:t>
            </a:r>
            <a:endParaRPr lang="en-US" sz="1500" dirty="0"/>
          </a:p>
        </p:txBody>
      </p:sp>
      <p:sp>
        <p:nvSpPr>
          <p:cNvPr id="12" name="Shape 9"/>
          <p:cNvSpPr/>
          <p:nvPr/>
        </p:nvSpPr>
        <p:spPr>
          <a:xfrm>
            <a:off x="5940400" y="2359152"/>
            <a:ext cx="310896" cy="310896"/>
          </a:xfrm>
          <a:prstGeom prst="ellipse">
            <a:avLst/>
          </a:prstGeom>
          <a:solidFill>
            <a:schemeClr val="accent2"/>
          </a:solidFill>
          <a:ln w="25400">
            <a:solidFill>
              <a:schemeClr val="bg1"/>
            </a:solidFill>
            <a:prstDash val="solid"/>
          </a:ln>
        </p:spPr>
      </p:sp>
      <p:sp>
        <p:nvSpPr>
          <p:cNvPr id="13" name="Text 10"/>
          <p:cNvSpPr txBox="1"/>
          <p:nvPr/>
        </p:nvSpPr>
        <p:spPr>
          <a:xfrm>
            <a:off x="5181448" y="1965960"/>
            <a:ext cx="1828800" cy="274320"/>
          </a:xfrm>
          <a:prstGeom prst="rect">
            <a:avLst/>
          </a:prstGeom>
          <a:noFill/>
          <a:ln/>
        </p:spPr>
        <p:txBody>
          <a:bodyPr wrap="square" lIns="0" tIns="0" rIns="0" bIns="0" rtlCol="0" anchor="t"/>
          <a:lstStyle/>
          <a:p>
            <a:pPr algn="ctr" indent="0" marL="0">
              <a:buNone/>
            </a:pPr>
            <a:r>
              <a:rPr lang="en-US" sz="1100" b="1" dirty="0">
                <a:solidFill>
                  <a:schemeClr val="accent4"/>
                </a:solidFill>
              </a:rPr>
              <a:t>03</a:t>
            </a:r>
            <a:endParaRPr lang="en-US" sz="1100" dirty="0"/>
          </a:p>
        </p:txBody>
      </p:sp>
      <p:sp>
        <p:nvSpPr>
          <p:cNvPr id="14" name="Text 11"/>
          <p:cNvSpPr txBox="1"/>
          <p:nvPr/>
        </p:nvSpPr>
        <p:spPr>
          <a:xfrm>
            <a:off x="5090008" y="2807208"/>
            <a:ext cx="2011680" cy="548640"/>
          </a:xfrm>
          <a:prstGeom prst="rect">
            <a:avLst/>
          </a:prstGeom>
          <a:noFill/>
          <a:ln/>
        </p:spPr>
        <p:txBody>
          <a:bodyPr wrap="square" lIns="0" tIns="0" rIns="0" bIns="0" rtlCol="0" anchor="t"/>
          <a:lstStyle/>
          <a:p>
            <a:pPr algn="ctr" indent="0" marL="0">
              <a:buNone/>
            </a:pPr>
            <a:r>
              <a:rPr lang="en-US" sz="1500" b="1" dirty="0">
                <a:solidFill>
                  <a:schemeClr val="tx1"/>
                </a:solidFill>
              </a:rPr>
              <a:t>Kanal &amp; drainase</a:t>
            </a:r>
            <a:endParaRPr lang="en-US" sz="1500" dirty="0"/>
          </a:p>
        </p:txBody>
      </p:sp>
      <p:sp>
        <p:nvSpPr>
          <p:cNvPr id="15" name="Shape 12"/>
          <p:cNvSpPr/>
          <p:nvPr/>
        </p:nvSpPr>
        <p:spPr>
          <a:xfrm>
            <a:off x="8159283" y="2359152"/>
            <a:ext cx="310896" cy="310896"/>
          </a:xfrm>
          <a:prstGeom prst="ellipse">
            <a:avLst/>
          </a:prstGeom>
          <a:solidFill>
            <a:schemeClr val="accent2"/>
          </a:solidFill>
          <a:ln w="25400">
            <a:solidFill>
              <a:schemeClr val="bg1"/>
            </a:solidFill>
            <a:prstDash val="solid"/>
          </a:ln>
        </p:spPr>
      </p:sp>
      <p:sp>
        <p:nvSpPr>
          <p:cNvPr id="16" name="Text 13"/>
          <p:cNvSpPr txBox="1"/>
          <p:nvPr/>
        </p:nvSpPr>
        <p:spPr>
          <a:xfrm>
            <a:off x="7400331" y="1965960"/>
            <a:ext cx="1828800" cy="274320"/>
          </a:xfrm>
          <a:prstGeom prst="rect">
            <a:avLst/>
          </a:prstGeom>
          <a:noFill/>
          <a:ln/>
        </p:spPr>
        <p:txBody>
          <a:bodyPr wrap="square" lIns="0" tIns="0" rIns="0" bIns="0" rtlCol="0" anchor="t"/>
          <a:lstStyle/>
          <a:p>
            <a:pPr algn="ctr" indent="0" marL="0">
              <a:buNone/>
            </a:pPr>
            <a:r>
              <a:rPr lang="en-US" sz="1100" b="1" dirty="0">
                <a:solidFill>
                  <a:schemeClr val="accent4"/>
                </a:solidFill>
              </a:rPr>
              <a:t>04</a:t>
            </a:r>
            <a:endParaRPr lang="en-US" sz="1100" dirty="0"/>
          </a:p>
        </p:txBody>
      </p:sp>
      <p:sp>
        <p:nvSpPr>
          <p:cNvPr id="17" name="Text 14"/>
          <p:cNvSpPr txBox="1"/>
          <p:nvPr/>
        </p:nvSpPr>
        <p:spPr>
          <a:xfrm>
            <a:off x="7308891" y="2807208"/>
            <a:ext cx="2011680" cy="548640"/>
          </a:xfrm>
          <a:prstGeom prst="rect">
            <a:avLst/>
          </a:prstGeom>
          <a:noFill/>
          <a:ln/>
        </p:spPr>
        <p:txBody>
          <a:bodyPr wrap="square" lIns="0" tIns="0" rIns="0" bIns="0" rtlCol="0" anchor="t"/>
          <a:lstStyle/>
          <a:p>
            <a:pPr algn="ctr" indent="0" marL="0">
              <a:buNone/>
            </a:pPr>
            <a:r>
              <a:rPr lang="en-US" sz="1500" b="1" dirty="0">
                <a:solidFill>
                  <a:schemeClr val="tx1"/>
                </a:solidFill>
              </a:rPr>
              <a:t>HTI akasia</a:t>
            </a:r>
            <a:endParaRPr lang="en-US" sz="1500" dirty="0"/>
          </a:p>
        </p:txBody>
      </p:sp>
      <p:sp>
        <p:nvSpPr>
          <p:cNvPr id="18" name="Shape 15"/>
          <p:cNvSpPr/>
          <p:nvPr/>
        </p:nvSpPr>
        <p:spPr>
          <a:xfrm>
            <a:off x="10378166" y="2359152"/>
            <a:ext cx="310896" cy="310896"/>
          </a:xfrm>
          <a:prstGeom prst="ellipse">
            <a:avLst/>
          </a:prstGeom>
          <a:solidFill>
            <a:schemeClr val="accent2"/>
          </a:solidFill>
          <a:ln w="25400">
            <a:solidFill>
              <a:schemeClr val="bg1"/>
            </a:solidFill>
            <a:prstDash val="solid"/>
          </a:ln>
        </p:spPr>
      </p:sp>
      <p:sp>
        <p:nvSpPr>
          <p:cNvPr id="19" name="Text 16"/>
          <p:cNvSpPr txBox="1"/>
          <p:nvPr/>
        </p:nvSpPr>
        <p:spPr>
          <a:xfrm>
            <a:off x="9619214" y="1965960"/>
            <a:ext cx="1828800" cy="274320"/>
          </a:xfrm>
          <a:prstGeom prst="rect">
            <a:avLst/>
          </a:prstGeom>
          <a:noFill/>
          <a:ln/>
        </p:spPr>
        <p:txBody>
          <a:bodyPr wrap="square" lIns="0" tIns="0" rIns="0" bIns="0" rtlCol="0" anchor="t"/>
          <a:lstStyle/>
          <a:p>
            <a:pPr algn="ctr" indent="0" marL="0">
              <a:buNone/>
            </a:pPr>
            <a:r>
              <a:rPr lang="en-US" sz="1100" b="1" dirty="0">
                <a:solidFill>
                  <a:schemeClr val="accent4"/>
                </a:solidFill>
              </a:rPr>
              <a:t>05</a:t>
            </a:r>
            <a:endParaRPr lang="en-US" sz="1100" dirty="0"/>
          </a:p>
        </p:txBody>
      </p:sp>
      <p:sp>
        <p:nvSpPr>
          <p:cNvPr id="20" name="Text 17"/>
          <p:cNvSpPr txBox="1"/>
          <p:nvPr/>
        </p:nvSpPr>
        <p:spPr>
          <a:xfrm>
            <a:off x="9527774" y="2807208"/>
            <a:ext cx="2011680" cy="548640"/>
          </a:xfrm>
          <a:prstGeom prst="rect">
            <a:avLst/>
          </a:prstGeom>
          <a:noFill/>
          <a:ln/>
        </p:spPr>
        <p:txBody>
          <a:bodyPr wrap="square" lIns="0" tIns="0" rIns="0" bIns="0" rtlCol="0" anchor="t"/>
          <a:lstStyle/>
          <a:p>
            <a:pPr algn="ctr" indent="0" marL="0">
              <a:buNone/>
            </a:pPr>
            <a:r>
              <a:rPr lang="en-US" sz="1500" b="1" dirty="0">
                <a:solidFill>
                  <a:schemeClr val="tx1"/>
                </a:solidFill>
              </a:rPr>
              <a:t>Panen &amp; rotasi</a:t>
            </a:r>
            <a:endParaRPr lang="en-US" sz="1500" dirty="0"/>
          </a:p>
        </p:txBody>
      </p:sp>
      <p:sp>
        <p:nvSpPr>
          <p:cNvPr id="21" name="Shape 18"/>
          <p:cNvSpPr/>
          <p:nvPr/>
        </p:nvSpPr>
        <p:spPr>
          <a:xfrm>
            <a:off x="3876965" y="3383280"/>
            <a:ext cx="0" cy="704088"/>
          </a:xfrm>
          <a:prstGeom prst="line">
            <a:avLst/>
          </a:prstGeom>
          <a:noFill/>
          <a:ln w="19050">
            <a:solidFill>
              <a:schemeClr val="accent3"/>
            </a:solidFill>
            <a:prstDash val="solid"/>
            <a:tailEnd type="triangle"/>
          </a:ln>
        </p:spPr>
      </p:sp>
      <p:sp>
        <p:nvSpPr>
          <p:cNvPr id="22" name="Text 19"/>
          <p:cNvSpPr txBox="1"/>
          <p:nvPr/>
        </p:nvSpPr>
        <p:spPr>
          <a:xfrm>
            <a:off x="2871125" y="4160520"/>
            <a:ext cx="2011680" cy="822960"/>
          </a:xfrm>
          <a:prstGeom prst="rect">
            <a:avLst/>
          </a:prstGeom>
          <a:noFill/>
          <a:ln/>
        </p:spPr>
        <p:txBody>
          <a:bodyPr wrap="square" lIns="0" tIns="0" rIns="0" bIns="0" rtlCol="0" anchor="t"/>
          <a:lstStyle/>
          <a:p>
            <a:pPr algn="ctr" indent="0" marL="0">
              <a:buNone/>
            </a:pPr>
            <a:r>
              <a:rPr lang="en-US" sz="1500" b="1" dirty="0">
                <a:solidFill>
                  <a:schemeClr val="accent3"/>
                </a:solidFill>
              </a:rPr>
              <a:t>Kehilangan biomassa</a:t>
            </a:r>
            <a:endParaRPr lang="en-US" sz="1500" dirty="0"/>
          </a:p>
          <a:p>
            <a:pPr algn="ctr" indent="0" marL="0">
              <a:buNone/>
            </a:pPr>
            <a:r>
              <a:rPr lang="en-US" sz="1300" dirty="0">
                <a:solidFill>
                  <a:schemeClr val="accent4"/>
                </a:solidFill>
              </a:rPr>
              <a:t>Vegetasi dibuka untuk penanaman</a:t>
            </a:r>
            <a:endParaRPr lang="en-US" sz="1500" dirty="0"/>
          </a:p>
        </p:txBody>
      </p:sp>
      <p:sp>
        <p:nvSpPr>
          <p:cNvPr id="23" name="Shape 20"/>
          <p:cNvSpPr/>
          <p:nvPr/>
        </p:nvSpPr>
        <p:spPr>
          <a:xfrm>
            <a:off x="6095848" y="3383280"/>
            <a:ext cx="0" cy="704088"/>
          </a:xfrm>
          <a:prstGeom prst="line">
            <a:avLst/>
          </a:prstGeom>
          <a:noFill/>
          <a:ln w="19050">
            <a:solidFill>
              <a:schemeClr val="accent3"/>
            </a:solidFill>
            <a:prstDash val="solid"/>
            <a:tailEnd type="triangle"/>
          </a:ln>
        </p:spPr>
      </p:sp>
      <p:sp>
        <p:nvSpPr>
          <p:cNvPr id="24" name="Text 21"/>
          <p:cNvSpPr txBox="1"/>
          <p:nvPr/>
        </p:nvSpPr>
        <p:spPr>
          <a:xfrm>
            <a:off x="5090008" y="4160520"/>
            <a:ext cx="2011680" cy="822960"/>
          </a:xfrm>
          <a:prstGeom prst="rect">
            <a:avLst/>
          </a:prstGeom>
          <a:noFill/>
          <a:ln/>
        </p:spPr>
        <p:txBody>
          <a:bodyPr wrap="square" lIns="0" tIns="0" rIns="0" bIns="0" rtlCol="0" anchor="t"/>
          <a:lstStyle/>
          <a:p>
            <a:pPr algn="ctr" indent="0" marL="0">
              <a:buNone/>
            </a:pPr>
            <a:r>
              <a:rPr lang="en-US" sz="1500" b="1" dirty="0">
                <a:solidFill>
                  <a:schemeClr val="accent3"/>
                </a:solidFill>
              </a:rPr>
              <a:t>Emisi tanah gambut</a:t>
            </a:r>
            <a:endParaRPr lang="en-US" sz="1500" dirty="0"/>
          </a:p>
          <a:p>
            <a:pPr algn="ctr" indent="0" marL="0">
              <a:buNone/>
            </a:pPr>
            <a:r>
              <a:rPr lang="en-US" sz="1300" dirty="0">
                <a:solidFill>
                  <a:schemeClr val="accent4"/>
                </a:solidFill>
              </a:rPr>
              <a:t>Muka air turun akibat drainase</a:t>
            </a:r>
            <a:endParaRPr lang="en-US" sz="1500" dirty="0"/>
          </a:p>
        </p:txBody>
      </p:sp>
      <p:sp>
        <p:nvSpPr>
          <p:cNvPr id="25" name="Shape 22"/>
          <p:cNvSpPr/>
          <p:nvPr/>
        </p:nvSpPr>
        <p:spPr>
          <a:xfrm>
            <a:off x="8314731" y="3383280"/>
            <a:ext cx="0" cy="704088"/>
          </a:xfrm>
          <a:prstGeom prst="line">
            <a:avLst/>
          </a:prstGeom>
          <a:noFill/>
          <a:ln w="19050">
            <a:solidFill>
              <a:schemeClr val="accent3"/>
            </a:solidFill>
            <a:prstDash val="solid"/>
            <a:tailEnd type="triangle"/>
          </a:ln>
        </p:spPr>
      </p:sp>
      <p:sp>
        <p:nvSpPr>
          <p:cNvPr id="26" name="Text 23"/>
          <p:cNvSpPr txBox="1"/>
          <p:nvPr/>
        </p:nvSpPr>
        <p:spPr>
          <a:xfrm>
            <a:off x="7308891" y="4160520"/>
            <a:ext cx="2011680" cy="822960"/>
          </a:xfrm>
          <a:prstGeom prst="rect">
            <a:avLst/>
          </a:prstGeom>
          <a:noFill/>
          <a:ln/>
        </p:spPr>
        <p:txBody>
          <a:bodyPr wrap="square" lIns="0" tIns="0" rIns="0" bIns="0" rtlCol="0" anchor="t"/>
          <a:lstStyle/>
          <a:p>
            <a:pPr algn="ctr" indent="0" marL="0">
              <a:buNone/>
            </a:pPr>
            <a:r>
              <a:rPr lang="en-US" sz="1500" b="1" dirty="0">
                <a:solidFill>
                  <a:schemeClr val="accent3"/>
                </a:solidFill>
              </a:rPr>
              <a:t>Kebakaran</a:t>
            </a:r>
            <a:endParaRPr lang="en-US" sz="1500" dirty="0"/>
          </a:p>
          <a:p>
            <a:pPr algn="ctr" indent="0" marL="0">
              <a:buNone/>
            </a:pPr>
            <a:r>
              <a:rPr lang="en-US" sz="1300" dirty="0">
                <a:solidFill>
                  <a:schemeClr val="accent4"/>
                </a:solidFill>
              </a:rPr>
              <a:t>Lahan kering lebih mudah terbakar</a:t>
            </a:r>
            <a:endParaRPr lang="en-US" sz="1500" dirty="0"/>
          </a:p>
        </p:txBody>
      </p:sp>
      <p:sp>
        <p:nvSpPr>
          <p:cNvPr id="27" name="Shape 24"/>
          <p:cNvSpPr/>
          <p:nvPr/>
        </p:nvSpPr>
        <p:spPr>
          <a:xfrm>
            <a:off x="10533614" y="3383280"/>
            <a:ext cx="0" cy="704088"/>
          </a:xfrm>
          <a:prstGeom prst="line">
            <a:avLst/>
          </a:prstGeom>
          <a:noFill/>
          <a:ln w="19050">
            <a:solidFill>
              <a:schemeClr val="accent3"/>
            </a:solidFill>
            <a:prstDash val="solid"/>
            <a:tailEnd type="triangle"/>
          </a:ln>
        </p:spPr>
      </p:sp>
      <p:sp>
        <p:nvSpPr>
          <p:cNvPr id="28" name="Text 25"/>
          <p:cNvSpPr txBox="1"/>
          <p:nvPr/>
        </p:nvSpPr>
        <p:spPr>
          <a:xfrm>
            <a:off x="9527774" y="4160520"/>
            <a:ext cx="2011680" cy="822960"/>
          </a:xfrm>
          <a:prstGeom prst="rect">
            <a:avLst/>
          </a:prstGeom>
          <a:noFill/>
          <a:ln/>
        </p:spPr>
        <p:txBody>
          <a:bodyPr wrap="square" lIns="0" tIns="0" rIns="0" bIns="0" rtlCol="0" anchor="t"/>
          <a:lstStyle/>
          <a:p>
            <a:pPr algn="ctr" indent="0" marL="0">
              <a:buNone/>
            </a:pPr>
            <a:r>
              <a:rPr lang="en-US" sz="1500" b="1" dirty="0">
                <a:solidFill>
                  <a:schemeClr val="accent3"/>
                </a:solidFill>
              </a:rPr>
              <a:t>Operasional</a:t>
            </a:r>
            <a:endParaRPr lang="en-US" sz="1500" dirty="0"/>
          </a:p>
          <a:p>
            <a:pPr algn="ctr" indent="0" marL="0">
              <a:buNone/>
            </a:pPr>
            <a:r>
              <a:rPr lang="en-US" sz="1300" dirty="0">
                <a:solidFill>
                  <a:schemeClr val="accent4"/>
                </a:solidFill>
              </a:rPr>
              <a:t>Panen, transport, rotasi</a:t>
            </a:r>
            <a:endParaRPr lang="en-US" sz="1500" dirty="0"/>
          </a:p>
        </p:txBody>
      </p:sp>
      <p:sp>
        <p:nvSpPr>
          <p:cNvPr id="29" name="Text 26"/>
          <p:cNvSpPr txBox="1"/>
          <p:nvPr/>
        </p:nvSpPr>
        <p:spPr>
          <a:xfrm>
            <a:off x="548640" y="5257800"/>
            <a:ext cx="11094415" cy="365760"/>
          </a:xfrm>
          <a:prstGeom prst="rect">
            <a:avLst/>
          </a:prstGeom>
          <a:noFill/>
          <a:ln/>
        </p:spPr>
        <p:txBody>
          <a:bodyPr wrap="square" lIns="0" tIns="0" rIns="0" bIns="0" rtlCol="0" anchor="t"/>
          <a:lstStyle/>
          <a:p>
            <a:pPr indent="0" marL="0">
              <a:buNone/>
            </a:pPr>
            <a:r>
              <a:rPr lang="en-US" sz="1400" dirty="0">
                <a:solidFill>
                  <a:schemeClr val="accent4"/>
                </a:solidFill>
              </a:rPr>
              <a:t>Keempat sumber ini menjadi bahan baseline: tanpa peta emisinya, tidak ada yang bisa diklaim sebagai pengurangan.</a:t>
            </a:r>
            <a:endParaRPr lang="en-US" sz="1400" dirty="0"/>
          </a:p>
        </p:txBody>
      </p:sp>
      <p:sp>
        <p:nvSpPr>
          <p:cNvPr id="30" name="rasio-budidaya"/>
          <p:cNvSpPr/>
          <p:nvPr/>
        </p:nvSpPr>
        <p:spPr>
          <a:xfrm>
            <a:off x="548640" y="6400800"/>
            <a:ext cx="694306" cy="91440"/>
          </a:xfrm>
          <a:prstGeom prst="rect">
            <a:avLst/>
          </a:prstGeom>
          <a:solidFill>
            <a:schemeClr val="accent2"/>
          </a:solidFill>
          <a:ln/>
        </p:spPr>
      </p:sp>
      <p:sp>
        <p:nvSpPr>
          <p:cNvPr id="31" name="rasio-lindung"/>
          <p:cNvSpPr/>
          <p:nvPr/>
        </p:nvSpPr>
        <p:spPr>
          <a:xfrm>
            <a:off x="1270378" y="6400800"/>
            <a:ext cx="741302" cy="91440"/>
          </a:xfrm>
          <a:prstGeom prst="rect">
            <a:avLst/>
          </a:prstGeom>
          <a:solidFill>
            <a:srgbClr val="D5DBD6"/>
          </a:solidFill>
          <a:ln/>
        </p:spPr>
      </p:sp>
      <p:sp>
        <p:nvSpPr>
          <p:cNvPr id="32" name="Text 29"/>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Fokus: kawasan budidaya 66.908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MODEL TRANSFORMASI</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PBPH tidak dilepas: portofolionya dibagi menjadi 66.908 ha kayu dan 71.350 ha karbon</a:t>
            </a:r>
            <a:endParaRPr lang="en-US" sz="2800" dirty="0"/>
          </a:p>
        </p:txBody>
      </p:sp>
      <p:sp>
        <p:nvSpPr>
          <p:cNvPr id="5" name="rasio-budidaya"/>
          <p:cNvSpPr/>
          <p:nvPr/>
        </p:nvSpPr>
        <p:spPr>
          <a:xfrm>
            <a:off x="548640" y="2103120"/>
            <a:ext cx="5335734" cy="1143000"/>
          </a:xfrm>
          <a:prstGeom prst="rect">
            <a:avLst/>
          </a:prstGeom>
          <a:solidFill>
            <a:schemeClr val="accent2"/>
          </a:solidFill>
          <a:ln/>
        </p:spPr>
      </p:sp>
      <p:sp>
        <p:nvSpPr>
          <p:cNvPr id="6" name="rasio-lindung"/>
          <p:cNvSpPr/>
          <p:nvPr/>
        </p:nvSpPr>
        <p:spPr>
          <a:xfrm>
            <a:off x="5950940" y="2103120"/>
            <a:ext cx="5692115" cy="1143000"/>
          </a:xfrm>
          <a:prstGeom prst="rect">
            <a:avLst/>
          </a:prstGeom>
          <a:solidFill>
            <a:schemeClr val="accent1"/>
          </a:solidFill>
          <a:ln/>
        </p:spPr>
      </p:sp>
      <p:sp>
        <p:nvSpPr>
          <p:cNvPr id="7" name="Text 4"/>
          <p:cNvSpPr txBox="1"/>
          <p:nvPr/>
        </p:nvSpPr>
        <p:spPr>
          <a:xfrm>
            <a:off x="822960" y="2103120"/>
            <a:ext cx="1828800" cy="114300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48%</a:t>
            </a:r>
            <a:endParaRPr lang="en-US" sz="3600" dirty="0"/>
          </a:p>
        </p:txBody>
      </p:sp>
      <p:sp>
        <p:nvSpPr>
          <p:cNvPr id="8" name="Text 5"/>
          <p:cNvSpPr txBox="1"/>
          <p:nvPr/>
        </p:nvSpPr>
        <p:spPr>
          <a:xfrm>
            <a:off x="6204414" y="2103120"/>
            <a:ext cx="1828800" cy="114300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52%</a:t>
            </a:r>
            <a:endParaRPr lang="en-US" sz="3600" dirty="0"/>
          </a:p>
        </p:txBody>
      </p:sp>
      <p:sp>
        <p:nvSpPr>
          <p:cNvPr id="9" name="Text 6"/>
          <p:cNvSpPr txBox="1"/>
          <p:nvPr/>
        </p:nvSpPr>
        <p:spPr>
          <a:xfrm>
            <a:off x="548640" y="3566160"/>
            <a:ext cx="4969974" cy="1097280"/>
          </a:xfrm>
          <a:prstGeom prst="rect">
            <a:avLst/>
          </a:prstGeom>
          <a:noFill/>
          <a:ln/>
        </p:spPr>
        <p:txBody>
          <a:bodyPr wrap="square" lIns="0" tIns="0" rIns="0" bIns="0" rtlCol="0" anchor="t"/>
          <a:lstStyle/>
          <a:p>
            <a:pPr indent="0" marL="0">
              <a:buNone/>
            </a:pPr>
            <a:r>
              <a:rPr lang="en-US" sz="1800" b="1" dirty="0">
                <a:solidFill>
                  <a:schemeClr val="tx1"/>
                </a:solidFill>
              </a:rPr>
              <a:t>66.908 ha · HTI / kayu</a:t>
            </a:r>
            <a:endParaRPr lang="en-US" sz="1400" dirty="0"/>
          </a:p>
          <a:p>
            <a:pPr indent="0" marL="0">
              <a:buNone/>
            </a:pPr>
            <a:r>
              <a:rPr lang="en-US" sz="1500" dirty="0">
                <a:solidFill>
                  <a:schemeClr val="accent4"/>
                </a:solidFill>
              </a:rPr>
              <a:t>Produksi akasia tetap berjalan sebagai basis usaha kayu.</a:t>
            </a:r>
            <a:endParaRPr lang="en-US" sz="1400" dirty="0"/>
          </a:p>
        </p:txBody>
      </p:sp>
      <p:sp>
        <p:nvSpPr>
          <p:cNvPr id="10" name="Text 7"/>
          <p:cNvSpPr txBox="1"/>
          <p:nvPr/>
        </p:nvSpPr>
        <p:spPr>
          <a:xfrm>
            <a:off x="5975814" y="3566160"/>
            <a:ext cx="5667241" cy="1097280"/>
          </a:xfrm>
          <a:prstGeom prst="rect">
            <a:avLst/>
          </a:prstGeom>
          <a:noFill/>
          <a:ln/>
        </p:spPr>
        <p:txBody>
          <a:bodyPr wrap="square" lIns="0" tIns="0" rIns="0" bIns="0" rtlCol="0" anchor="t"/>
          <a:lstStyle/>
          <a:p>
            <a:pPr indent="0" marL="0">
              <a:buNone/>
            </a:pPr>
            <a:r>
              <a:rPr lang="en-US" sz="1800" b="1" dirty="0">
                <a:solidFill>
                  <a:schemeClr val="accent1"/>
                </a:solidFill>
              </a:rPr>
              <a:t>71.350 ha · PJL karbon</a:t>
            </a:r>
            <a:endParaRPr lang="en-US" sz="1400" dirty="0"/>
          </a:p>
          <a:p>
            <a:pPr indent="0" marL="0">
              <a:buNone/>
            </a:pPr>
            <a:r>
              <a:rPr lang="en-US" sz="1500" dirty="0">
                <a:solidFill>
                  <a:schemeClr val="accent4"/>
                </a:solidFill>
              </a:rPr>
              <a:t>Perlindungan stok karbon, avoided conversion, restorasi/rewetting, pengendalian kebakaran — setelah screening.</a:t>
            </a:r>
            <a:endParaRPr lang="en-US" sz="1400" dirty="0"/>
          </a:p>
        </p:txBody>
      </p:sp>
      <p:sp>
        <p:nvSpPr>
          <p:cNvPr id="11" name="Text 8"/>
          <p:cNvSpPr txBox="1"/>
          <p:nvPr/>
        </p:nvSpPr>
        <p:spPr>
          <a:xfrm>
            <a:off x="548640" y="1691640"/>
            <a:ext cx="5486400" cy="274320"/>
          </a:xfrm>
          <a:prstGeom prst="rect">
            <a:avLst/>
          </a:prstGeom>
          <a:noFill/>
          <a:ln/>
        </p:spPr>
        <p:txBody>
          <a:bodyPr wrap="square" lIns="0" tIns="0" rIns="0" bIns="0" rtlCol="0" anchor="t"/>
          <a:lstStyle/>
          <a:p>
            <a:pPr indent="0" marL="0">
              <a:buNone/>
            </a:pPr>
            <a:r>
              <a:rPr lang="en-US" sz="1300" b="1" dirty="0">
                <a:solidFill>
                  <a:schemeClr val="accent4"/>
                </a:solidFill>
              </a:rPr>
              <a:t>Satu payung izin: PBPH ±138.258 ha</a:t>
            </a:r>
            <a:endParaRPr lang="en-US" sz="1300" dirty="0"/>
          </a:p>
        </p:txBody>
      </p:sp>
      <p:sp>
        <p:nvSpPr>
          <p:cNvPr id="12" name="Text 9"/>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chemeClr val="accent4"/>
                </a:solidFill>
              </a:rPr>
              <a:t>Pembagian adalah skenario analisis; angka final mengikuti penataan ulang RKUPH. Luas: data stok karbon PBPH 2026.</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3840480" y="2331720"/>
            <a:ext cx="7680960" cy="320040"/>
          </a:xfrm>
          <a:prstGeom prst="rect">
            <a:avLst/>
          </a:prstGeom>
          <a:noFill/>
          <a:ln/>
        </p:spPr>
        <p:txBody>
          <a:bodyPr wrap="square" lIns="0" tIns="0" rIns="0" bIns="0" rtlCol="0"/>
          <a:lstStyle/>
          <a:p>
            <a:pPr indent="0" marL="0">
              <a:buNone/>
            </a:pPr>
            <a:r>
              <a:rPr lang="en-US" sz="1400" b="1" spc="300" kern="0" dirty="0">
                <a:solidFill>
                  <a:schemeClr val="accent6"/>
                </a:solidFill>
              </a:rPr>
              <a:t>GATE 1  ·  LEGAL</a:t>
            </a:r>
            <a:endParaRPr lang="en-US" sz="1400" dirty="0"/>
          </a:p>
        </p:txBody>
      </p:sp>
      <p:sp>
        <p:nvSpPr>
          <p:cNvPr id="3" name="Text 0"/>
          <p:cNvSpPr/>
          <p:nvPr>
            <p:ph idx="101" type="title" hasCustomPrompt="1"/>
          </p:nvPr>
        </p:nvSpPr>
        <p:spPr>
          <a:xfrm>
            <a:off x="3840480" y="2743200"/>
            <a:ext cx="7680960" cy="146304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Apakah BAU legal dan areal</a:t>
            </a:r>
            <a:endParaRPr lang="en-US" sz="3600" dirty="0"/>
          </a:p>
          <a:p>
            <a:pPr algn="l" indent="0" marL="0">
              <a:buNone/>
            </a:pPr>
            <a:r>
              <a:rPr lang="en-US" sz="3600" b="1" dirty="0">
                <a:solidFill>
                  <a:schemeClr val="bg1"/>
                </a:solidFill>
                <a:latin typeface="Cambria" pitchFamily="34" charset="0"/>
                <a:ea typeface="Cambria" pitchFamily="34" charset="-122"/>
                <a:cs typeface="Cambria" pitchFamily="34" charset="-120"/>
              </a:rPr>
              <a:t>benar-benar eligible?</a:t>
            </a:r>
            <a:endParaRPr lang="en-US" sz="3600" dirty="0"/>
          </a:p>
        </p:txBody>
      </p:sp>
      <p:sp>
        <p:nvSpPr>
          <p:cNvPr id="4" name="Text 2"/>
          <p:cNvSpPr txBox="1"/>
          <p:nvPr/>
        </p:nvSpPr>
        <p:spPr>
          <a:xfrm>
            <a:off x="548640" y="1554480"/>
            <a:ext cx="2926080" cy="3291840"/>
          </a:xfrm>
          <a:prstGeom prst="rect">
            <a:avLst/>
          </a:prstGeom>
          <a:noFill/>
          <a:ln/>
        </p:spPr>
        <p:txBody>
          <a:bodyPr wrap="square" lIns="0" tIns="0" rIns="0" bIns="0" rtlCol="0" anchor="ctr"/>
          <a:lstStyle/>
          <a:p>
            <a:pPr algn="l" indent="0" marL="0">
              <a:buNone/>
            </a:pPr>
            <a:r>
              <a:rPr lang="en-US" sz="22000" b="1" dirty="0">
                <a:solidFill>
                  <a:schemeClr val="accent6"/>
                </a:solidFill>
                <a:latin typeface="Cambria" pitchFamily="34" charset="0"/>
                <a:ea typeface="Cambria" pitchFamily="34" charset="-122"/>
                <a:cs typeface="Cambria" pitchFamily="34" charset="-120"/>
              </a:rPr>
              <a:t>1</a:t>
            </a:r>
            <a:endParaRPr lang="en-US" sz="22000" dirty="0"/>
          </a:p>
        </p:txBody>
      </p:sp>
      <p:sp>
        <p:nvSpPr>
          <p:cNvPr id="5" name="Text 3"/>
          <p:cNvSpPr txBox="1"/>
          <p:nvPr/>
        </p:nvSpPr>
        <p:spPr>
          <a:xfrm>
            <a:off x="3840480" y="4343400"/>
            <a:ext cx="7680960" cy="365760"/>
          </a:xfrm>
          <a:prstGeom prst="rect">
            <a:avLst/>
          </a:prstGeom>
          <a:noFill/>
          <a:ln/>
        </p:spPr>
        <p:txBody>
          <a:bodyPr wrap="square" lIns="0" tIns="0" rIns="0" bIns="0" rtlCol="0" anchor="t"/>
          <a:lstStyle/>
          <a:p>
            <a:pPr indent="0" marL="0">
              <a:buNone/>
            </a:pPr>
            <a:r>
              <a:rPr lang="en-US" sz="1500" dirty="0">
                <a:solidFill>
                  <a:srgbClr val="C8D6CD"/>
                </a:solidFill>
              </a:rPr>
              <a:t>Arsitektur hukum  ·  Uji legal baseline  ·  Screening areal</a:t>
            </a:r>
            <a:endParaRPr lang="en-US" sz="15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ARSITEKTUR HUKUM</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Payung hukumnya sudah tersedia — perubahan masuk lewat RKUPH, bukan izin baru</a:t>
            </a:r>
            <a:endParaRPr lang="en-US" sz="2800" dirty="0"/>
          </a:p>
        </p:txBody>
      </p:sp>
      <p:sp>
        <p:nvSpPr>
          <p:cNvPr id="5" name="Text 2"/>
          <p:cNvSpPr txBox="1"/>
          <p:nvPr/>
        </p:nvSpPr>
        <p:spPr>
          <a:xfrm>
            <a:off x="548640" y="2011680"/>
            <a:ext cx="2286000" cy="68580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PP 23/2021</a:t>
            </a:r>
            <a:endParaRPr lang="en-US" sz="1600" dirty="0"/>
          </a:p>
          <a:p>
            <a:pPr indent="0" marL="0">
              <a:buNone/>
            </a:pPr>
            <a:r>
              <a:rPr lang="en-US" sz="1300" dirty="0">
                <a:solidFill>
                  <a:schemeClr val="accent4"/>
                </a:solidFill>
                <a:latin typeface="Cambria" pitchFamily="34" charset="0"/>
                <a:ea typeface="Cambria" pitchFamily="34" charset="-122"/>
                <a:cs typeface="Cambria" pitchFamily="34" charset="-120"/>
              </a:rPr>
              <a:t>Pasal 149</a:t>
            </a:r>
            <a:endParaRPr lang="en-US" sz="1600" dirty="0"/>
          </a:p>
        </p:txBody>
      </p:sp>
      <p:sp>
        <p:nvSpPr>
          <p:cNvPr id="6" name="Text 3"/>
          <p:cNvSpPr txBox="1"/>
          <p:nvPr/>
        </p:nvSpPr>
        <p:spPr>
          <a:xfrm>
            <a:off x="3017520" y="2011680"/>
            <a:ext cx="5029200" cy="685800"/>
          </a:xfrm>
          <a:prstGeom prst="rect">
            <a:avLst/>
          </a:prstGeom>
          <a:noFill/>
          <a:ln/>
        </p:spPr>
        <p:txBody>
          <a:bodyPr wrap="square" lIns="0" tIns="0" rIns="0" bIns="0" rtlCol="0" anchor="t"/>
          <a:lstStyle/>
          <a:p>
            <a:pPr indent="0" marL="0">
              <a:buNone/>
            </a:pPr>
            <a:r>
              <a:rPr lang="en-US" sz="1500" dirty="0">
                <a:solidFill>
                  <a:schemeClr val="tx1"/>
                </a:solidFill>
              </a:rPr>
              <a:t>PBPH di Hutan Produksi dijalankan sebagai Multiusaha Kehutanan, termasuk jasa lingkungan.</a:t>
            </a:r>
            <a:endParaRPr lang="en-US" sz="1500" dirty="0"/>
          </a:p>
        </p:txBody>
      </p:sp>
      <p:sp>
        <p:nvSpPr>
          <p:cNvPr id="7" name="Shape 4"/>
          <p:cNvSpPr/>
          <p:nvPr/>
        </p:nvSpPr>
        <p:spPr>
          <a:xfrm>
            <a:off x="548640" y="2788920"/>
            <a:ext cx="7498080" cy="0"/>
          </a:xfrm>
          <a:prstGeom prst="line">
            <a:avLst/>
          </a:prstGeom>
          <a:noFill/>
          <a:ln w="9525">
            <a:solidFill>
              <a:schemeClr val="accent5"/>
            </a:solidFill>
            <a:prstDash val="solid"/>
          </a:ln>
        </p:spPr>
      </p:sp>
      <p:sp>
        <p:nvSpPr>
          <p:cNvPr id="8" name="Text 5"/>
          <p:cNvSpPr txBox="1"/>
          <p:nvPr/>
        </p:nvSpPr>
        <p:spPr>
          <a:xfrm>
            <a:off x="548640" y="2926080"/>
            <a:ext cx="2286000" cy="68580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Permen LHK 8/2021</a:t>
            </a:r>
            <a:endParaRPr lang="en-US" sz="1600" dirty="0"/>
          </a:p>
          <a:p>
            <a:pPr indent="0" marL="0">
              <a:buNone/>
            </a:pPr>
            <a:r>
              <a:rPr lang="en-US" sz="1300" dirty="0">
                <a:solidFill>
                  <a:schemeClr val="accent4"/>
                </a:solidFill>
                <a:latin typeface="Cambria" pitchFamily="34" charset="0"/>
                <a:ea typeface="Cambria" pitchFamily="34" charset="-122"/>
                <a:cs typeface="Cambria" pitchFamily="34" charset="-120"/>
              </a:rPr>
              <a:t>Pasal 155</a:t>
            </a:r>
            <a:endParaRPr lang="en-US" sz="1600" dirty="0"/>
          </a:p>
        </p:txBody>
      </p:sp>
      <p:sp>
        <p:nvSpPr>
          <p:cNvPr id="9" name="Text 6"/>
          <p:cNvSpPr txBox="1"/>
          <p:nvPr/>
        </p:nvSpPr>
        <p:spPr>
          <a:xfrm>
            <a:off x="3017520" y="2926080"/>
            <a:ext cx="5029200" cy="685800"/>
          </a:xfrm>
          <a:prstGeom prst="rect">
            <a:avLst/>
          </a:prstGeom>
          <a:noFill/>
          <a:ln/>
        </p:spPr>
        <p:txBody>
          <a:bodyPr wrap="square" lIns="0" tIns="0" rIns="0" bIns="0" rtlCol="0" anchor="t"/>
          <a:lstStyle/>
          <a:p>
            <a:pPr indent="0" marL="0">
              <a:buNone/>
            </a:pPr>
            <a:r>
              <a:rPr lang="en-US" sz="1500" dirty="0">
                <a:solidFill>
                  <a:schemeClr val="tx1"/>
                </a:solidFill>
              </a:rPr>
              <a:t>Kegiatan Multiusaha Kehutanan dituangkan dalam RKUPH.</a:t>
            </a:r>
            <a:endParaRPr lang="en-US" sz="1500" dirty="0"/>
          </a:p>
        </p:txBody>
      </p:sp>
      <p:sp>
        <p:nvSpPr>
          <p:cNvPr id="10" name="Shape 7"/>
          <p:cNvSpPr/>
          <p:nvPr/>
        </p:nvSpPr>
        <p:spPr>
          <a:xfrm>
            <a:off x="548640" y="3703320"/>
            <a:ext cx="7498080" cy="0"/>
          </a:xfrm>
          <a:prstGeom prst="line">
            <a:avLst/>
          </a:prstGeom>
          <a:noFill/>
          <a:ln w="9525">
            <a:solidFill>
              <a:schemeClr val="accent5"/>
            </a:solidFill>
            <a:prstDash val="solid"/>
          </a:ln>
        </p:spPr>
      </p:sp>
      <p:sp>
        <p:nvSpPr>
          <p:cNvPr id="11" name="Text 8"/>
          <p:cNvSpPr txBox="1"/>
          <p:nvPr/>
        </p:nvSpPr>
        <p:spPr>
          <a:xfrm>
            <a:off x="548640" y="3840480"/>
            <a:ext cx="2286000" cy="68580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Permen LHK 8/2021</a:t>
            </a:r>
            <a:endParaRPr lang="en-US" sz="1600" dirty="0"/>
          </a:p>
          <a:p>
            <a:pPr indent="0" marL="0">
              <a:buNone/>
            </a:pPr>
            <a:r>
              <a:rPr lang="en-US" sz="1300" dirty="0">
                <a:solidFill>
                  <a:schemeClr val="accent4"/>
                </a:solidFill>
                <a:latin typeface="Cambria" pitchFamily="34" charset="0"/>
                <a:ea typeface="Cambria" pitchFamily="34" charset="-122"/>
                <a:cs typeface="Cambria" pitchFamily="34" charset="-120"/>
              </a:rPr>
              <a:t>Pasal 157</a:t>
            </a:r>
            <a:endParaRPr lang="en-US" sz="1600" dirty="0"/>
          </a:p>
        </p:txBody>
      </p:sp>
      <p:sp>
        <p:nvSpPr>
          <p:cNvPr id="12" name="Text 9"/>
          <p:cNvSpPr txBox="1"/>
          <p:nvPr/>
        </p:nvSpPr>
        <p:spPr>
          <a:xfrm>
            <a:off x="3017520" y="3840480"/>
            <a:ext cx="5029200" cy="685800"/>
          </a:xfrm>
          <a:prstGeom prst="rect">
            <a:avLst/>
          </a:prstGeom>
          <a:noFill/>
          <a:ln/>
        </p:spPr>
        <p:txBody>
          <a:bodyPr wrap="square" lIns="0" tIns="0" rIns="0" bIns="0" rtlCol="0" anchor="t"/>
          <a:lstStyle/>
          <a:p>
            <a:pPr indent="0" marL="0">
              <a:buNone/>
            </a:pPr>
            <a:r>
              <a:rPr lang="en-US" sz="1500" dirty="0">
                <a:solidFill>
                  <a:schemeClr val="tx1"/>
                </a:solidFill>
              </a:rPr>
              <a:t>Jasa lingkungan mencakup penyerapan dan/atau penyimpanan karbon.</a:t>
            </a:r>
            <a:endParaRPr lang="en-US" sz="1500" dirty="0"/>
          </a:p>
        </p:txBody>
      </p:sp>
      <p:sp>
        <p:nvSpPr>
          <p:cNvPr id="13" name="Shape 10"/>
          <p:cNvSpPr/>
          <p:nvPr/>
        </p:nvSpPr>
        <p:spPr>
          <a:xfrm>
            <a:off x="548640" y="4617720"/>
            <a:ext cx="7498080" cy="0"/>
          </a:xfrm>
          <a:prstGeom prst="line">
            <a:avLst/>
          </a:prstGeom>
          <a:noFill/>
          <a:ln w="9525">
            <a:solidFill>
              <a:schemeClr val="accent5"/>
            </a:solidFill>
            <a:prstDash val="solid"/>
          </a:ln>
        </p:spPr>
      </p:sp>
      <p:sp>
        <p:nvSpPr>
          <p:cNvPr id="14" name="Text 11"/>
          <p:cNvSpPr txBox="1"/>
          <p:nvPr/>
        </p:nvSpPr>
        <p:spPr>
          <a:xfrm>
            <a:off x="548640" y="4754880"/>
            <a:ext cx="2286000" cy="68580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Permenhut 6/2026</a:t>
            </a:r>
            <a:endParaRPr lang="en-US" sz="1600" dirty="0"/>
          </a:p>
          <a:p>
            <a:pPr indent="0" marL="0">
              <a:buNone/>
            </a:pPr>
            <a:r>
              <a:rPr lang="en-US" sz="1300" dirty="0">
                <a:solidFill>
                  <a:schemeClr val="accent4"/>
                </a:solidFill>
                <a:latin typeface="Cambria" pitchFamily="34" charset="0"/>
                <a:ea typeface="Cambria" pitchFamily="34" charset="-122"/>
                <a:cs typeface="Cambria" pitchFamily="34" charset="-120"/>
              </a:rPr>
              <a:t>Pasal 6</a:t>
            </a:r>
            <a:endParaRPr lang="en-US" sz="1600" dirty="0"/>
          </a:p>
        </p:txBody>
      </p:sp>
      <p:sp>
        <p:nvSpPr>
          <p:cNvPr id="15" name="Text 12"/>
          <p:cNvSpPr txBox="1"/>
          <p:nvPr/>
        </p:nvSpPr>
        <p:spPr>
          <a:xfrm>
            <a:off x="3017520" y="4754880"/>
            <a:ext cx="5029200" cy="685800"/>
          </a:xfrm>
          <a:prstGeom prst="rect">
            <a:avLst/>
          </a:prstGeom>
          <a:noFill/>
          <a:ln/>
        </p:spPr>
        <p:txBody>
          <a:bodyPr wrap="square" lIns="0" tIns="0" rIns="0" bIns="0" rtlCol="0" anchor="t"/>
          <a:lstStyle/>
          <a:p>
            <a:pPr indent="0" marL="0">
              <a:buNone/>
            </a:pPr>
            <a:r>
              <a:rPr lang="en-US" sz="1500" dirty="0">
                <a:solidFill>
                  <a:schemeClr val="tx1"/>
                </a:solidFill>
              </a:rPr>
              <a:t>Pemegang PBPH termasuk Pelaku Usaha perdagangan karbon kehutanan.</a:t>
            </a:r>
            <a:endParaRPr lang="en-US" sz="1500" dirty="0"/>
          </a:p>
        </p:txBody>
      </p:sp>
      <p:sp>
        <p:nvSpPr>
          <p:cNvPr id="16" name="Shape 13"/>
          <p:cNvSpPr/>
          <p:nvPr/>
        </p:nvSpPr>
        <p:spPr>
          <a:xfrm>
            <a:off x="8183880" y="3566160"/>
            <a:ext cx="393192" cy="0"/>
          </a:xfrm>
          <a:prstGeom prst="line">
            <a:avLst/>
          </a:prstGeom>
          <a:noFill/>
          <a:ln w="25400">
            <a:solidFill>
              <a:schemeClr val="accent1"/>
            </a:solidFill>
            <a:prstDash val="solid"/>
            <a:tailEnd type="triangle"/>
          </a:ln>
        </p:spPr>
      </p:sp>
      <p:sp>
        <p:nvSpPr>
          <p:cNvPr id="17" name="kotak-rkuph"/>
          <p:cNvSpPr/>
          <p:nvPr/>
        </p:nvSpPr>
        <p:spPr>
          <a:xfrm>
            <a:off x="8686800" y="2377440"/>
            <a:ext cx="2956255" cy="2377440"/>
          </a:xfrm>
          <a:prstGeom prst="rect">
            <a:avLst/>
          </a:prstGeom>
          <a:solidFill>
            <a:schemeClr val="accent1"/>
          </a:solidFill>
          <a:ln/>
        </p:spPr>
      </p:sp>
      <p:sp>
        <p:nvSpPr>
          <p:cNvPr id="18" name="Text 15"/>
          <p:cNvSpPr txBox="1"/>
          <p:nvPr/>
        </p:nvSpPr>
        <p:spPr>
          <a:xfrm>
            <a:off x="8961120" y="2697480"/>
            <a:ext cx="2407615" cy="1828800"/>
          </a:xfrm>
          <a:prstGeom prst="rect">
            <a:avLst/>
          </a:prstGeom>
          <a:noFill/>
          <a:ln/>
        </p:spPr>
        <p:txBody>
          <a:bodyPr wrap="square" lIns="0" tIns="0" rIns="0" bIns="0" rtlCol="0" anchor="t"/>
          <a:lstStyle/>
          <a:p>
            <a:pPr indent="0" marL="0">
              <a:buNone/>
            </a:pPr>
            <a:r>
              <a:rPr lang="en-US" sz="3200" b="1" dirty="0">
                <a:solidFill>
                  <a:schemeClr val="bg1"/>
                </a:solidFill>
                <a:latin typeface="Cambria" pitchFamily="34" charset="0"/>
                <a:ea typeface="Cambria" pitchFamily="34" charset="-122"/>
                <a:cs typeface="Cambria" pitchFamily="34" charset="-120"/>
              </a:rPr>
              <a:t>RKUPH</a:t>
            </a:r>
            <a:endParaRPr lang="en-US" sz="1400" dirty="0"/>
          </a:p>
          <a:p>
            <a:pPr indent="0" marL="0">
              <a:buNone/>
            </a:pPr>
            <a:r>
              <a:rPr lang="en-US" sz="1500" dirty="0">
                <a:solidFill>
                  <a:schemeClr val="bg1"/>
                </a:solidFill>
              </a:rPr>
              <a:t>Titik masuk perubahan model usaha. PBPH tetap menjadi payung izin.</a:t>
            </a:r>
            <a:endParaRPr lang="en-US" sz="1400" dirty="0"/>
          </a:p>
        </p:txBody>
      </p:sp>
      <p:sp>
        <p:nvSpPr>
          <p:cNvPr id="19" name="Text 16"/>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chemeClr val="accent4"/>
                </a:solidFill>
              </a:rPr>
              <a:t>Sumber resmi: PP 23/2021; Permen LHK 8/2021; Permenhut 6/2026.</a:t>
            </a:r>
            <a:endParaRPr lang="en-US" sz="1000" dirty="0"/>
          </a:p>
        </p:txBody>
      </p:sp>
      <p:sp>
        <p:nvSpPr>
          <p:cNvPr id="20" name="rasio-budidaya"/>
          <p:cNvSpPr/>
          <p:nvPr/>
        </p:nvSpPr>
        <p:spPr>
          <a:xfrm>
            <a:off x="548640" y="6400800"/>
            <a:ext cx="694306" cy="91440"/>
          </a:xfrm>
          <a:prstGeom prst="rect">
            <a:avLst/>
          </a:prstGeom>
          <a:solidFill>
            <a:schemeClr val="accent2"/>
          </a:solidFill>
          <a:ln/>
        </p:spPr>
      </p:sp>
      <p:sp>
        <p:nvSpPr>
          <p:cNvPr id="21" name="rasio-lindung"/>
          <p:cNvSpPr/>
          <p:nvPr/>
        </p:nvSpPr>
        <p:spPr>
          <a:xfrm>
            <a:off x="1270378" y="6400800"/>
            <a:ext cx="741302" cy="91440"/>
          </a:xfrm>
          <a:prstGeom prst="rect">
            <a:avLst/>
          </a:prstGeom>
          <a:solidFill>
            <a:schemeClr val="accent1"/>
          </a:solidFill>
          <a:ln/>
        </p:spPr>
      </p:sp>
      <p:sp>
        <p:nvSpPr>
          <p:cNvPr id="22" name="Text 19"/>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PBPH 138.258 ha  ·  budidaya 66.908  |  lindung 71.350</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LEGAL BASELINE</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Lima uji legal baseline: jawaban awal positif, tetapi harus dibuktikan dengan dokumen</a:t>
            </a:r>
            <a:endParaRPr lang="en-US" sz="2800" dirty="0"/>
          </a:p>
        </p:txBody>
      </p:sp>
      <p:sp>
        <p:nvSpPr>
          <p:cNvPr id="5" name="Text 2"/>
          <p:cNvSpPr txBox="1"/>
          <p:nvPr/>
        </p:nvSpPr>
        <p:spPr>
          <a:xfrm>
            <a:off x="1051560" y="1783080"/>
            <a:ext cx="4572000" cy="228600"/>
          </a:xfrm>
          <a:prstGeom prst="rect">
            <a:avLst/>
          </a:prstGeom>
          <a:noFill/>
          <a:ln/>
        </p:spPr>
        <p:txBody>
          <a:bodyPr wrap="square" lIns="0" tIns="0" rIns="0" bIns="0" rtlCol="0" anchor="t"/>
          <a:lstStyle/>
          <a:p>
            <a:pPr indent="0" marL="0">
              <a:buNone/>
            </a:pPr>
            <a:r>
              <a:rPr lang="en-US" sz="1100" b="1" spc="200" kern="0" dirty="0">
                <a:solidFill>
                  <a:schemeClr val="accent4"/>
                </a:solidFill>
              </a:rPr>
              <a:t>PERTANYAAN UJI</a:t>
            </a:r>
            <a:endParaRPr lang="en-US" sz="1100" dirty="0"/>
          </a:p>
        </p:txBody>
      </p:sp>
      <p:sp>
        <p:nvSpPr>
          <p:cNvPr id="6" name="Text 3"/>
          <p:cNvSpPr txBox="1"/>
          <p:nvPr/>
        </p:nvSpPr>
        <p:spPr>
          <a:xfrm>
            <a:off x="5897880" y="1783080"/>
            <a:ext cx="3886200" cy="228600"/>
          </a:xfrm>
          <a:prstGeom prst="rect">
            <a:avLst/>
          </a:prstGeom>
          <a:noFill/>
          <a:ln/>
        </p:spPr>
        <p:txBody>
          <a:bodyPr wrap="square" lIns="0" tIns="0" rIns="0" bIns="0" rtlCol="0" anchor="t"/>
          <a:lstStyle/>
          <a:p>
            <a:pPr indent="0" marL="0">
              <a:buNone/>
            </a:pPr>
            <a:r>
              <a:rPr lang="en-US" sz="1100" b="1" spc="200" kern="0" dirty="0">
                <a:solidFill>
                  <a:schemeClr val="accent4"/>
                </a:solidFill>
              </a:rPr>
              <a:t>JAWABAN AWAL</a:t>
            </a:r>
            <a:endParaRPr lang="en-US" sz="1100" dirty="0"/>
          </a:p>
        </p:txBody>
      </p:sp>
      <p:sp>
        <p:nvSpPr>
          <p:cNvPr id="7" name="Text 4"/>
          <p:cNvSpPr txBox="1"/>
          <p:nvPr/>
        </p:nvSpPr>
        <p:spPr>
          <a:xfrm>
            <a:off x="9859975" y="1783080"/>
            <a:ext cx="1783080" cy="228600"/>
          </a:xfrm>
          <a:prstGeom prst="rect">
            <a:avLst/>
          </a:prstGeom>
          <a:noFill/>
          <a:ln/>
        </p:spPr>
        <p:txBody>
          <a:bodyPr wrap="square" lIns="0" tIns="0" rIns="0" bIns="0" rtlCol="0" anchor="t"/>
          <a:lstStyle/>
          <a:p>
            <a:pPr indent="0" marL="0">
              <a:buNone/>
            </a:pPr>
            <a:r>
              <a:rPr lang="en-US" sz="1100" b="1" spc="200" kern="0" dirty="0">
                <a:solidFill>
                  <a:schemeClr val="accent4"/>
                </a:solidFill>
              </a:rPr>
              <a:t>CATATAN ANALIS</a:t>
            </a:r>
            <a:endParaRPr lang="en-US" sz="1100" dirty="0"/>
          </a:p>
        </p:txBody>
      </p:sp>
      <p:sp>
        <p:nvSpPr>
          <p:cNvPr id="8" name="Shape 5"/>
          <p:cNvSpPr/>
          <p:nvPr/>
        </p:nvSpPr>
        <p:spPr>
          <a:xfrm>
            <a:off x="548640" y="2057400"/>
            <a:ext cx="11094415" cy="0"/>
          </a:xfrm>
          <a:prstGeom prst="line">
            <a:avLst/>
          </a:prstGeom>
          <a:noFill/>
          <a:ln w="9525">
            <a:solidFill>
              <a:schemeClr val="accent5"/>
            </a:solidFill>
            <a:prstDash val="solid"/>
          </a:ln>
        </p:spPr>
      </p:sp>
      <p:sp>
        <p:nvSpPr>
          <p:cNvPr id="9" name="Text 6"/>
          <p:cNvSpPr txBox="1"/>
          <p:nvPr/>
        </p:nvSpPr>
        <p:spPr>
          <a:xfrm>
            <a:off x="548640" y="2130552"/>
            <a:ext cx="3657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1</a:t>
            </a:r>
            <a:endParaRPr lang="en-US" sz="2200" dirty="0"/>
          </a:p>
        </p:txBody>
      </p:sp>
      <p:sp>
        <p:nvSpPr>
          <p:cNvPr id="10" name="Text 7"/>
          <p:cNvSpPr txBox="1"/>
          <p:nvPr/>
        </p:nvSpPr>
        <p:spPr>
          <a:xfrm>
            <a:off x="1051560" y="2148840"/>
            <a:ext cx="4572000" cy="594360"/>
          </a:xfrm>
          <a:prstGeom prst="rect">
            <a:avLst/>
          </a:prstGeom>
          <a:noFill/>
          <a:ln/>
        </p:spPr>
        <p:txBody>
          <a:bodyPr wrap="square" lIns="0" tIns="0" rIns="0" bIns="0" rtlCol="0" anchor="t"/>
          <a:lstStyle/>
          <a:p>
            <a:pPr indent="0" marL="0">
              <a:buNone/>
            </a:pPr>
            <a:r>
              <a:rPr lang="en-US" sz="1400" b="1" dirty="0">
                <a:solidFill>
                  <a:schemeClr val="tx1"/>
                </a:solidFill>
              </a:rPr>
              <a:t>Apakah penetapan blok tersebut legal?</a:t>
            </a:r>
            <a:endParaRPr lang="en-US" sz="1400" dirty="0"/>
          </a:p>
        </p:txBody>
      </p:sp>
      <p:sp>
        <p:nvSpPr>
          <p:cNvPr id="11" name="Text 8"/>
          <p:cNvSpPr txBox="1"/>
          <p:nvPr/>
        </p:nvSpPr>
        <p:spPr>
          <a:xfrm>
            <a:off x="5897880" y="2148840"/>
            <a:ext cx="3886200" cy="594360"/>
          </a:xfrm>
          <a:prstGeom prst="rect">
            <a:avLst/>
          </a:prstGeom>
          <a:noFill/>
          <a:ln/>
        </p:spPr>
        <p:txBody>
          <a:bodyPr wrap="square" lIns="0" tIns="0" rIns="0" bIns="0" rtlCol="0" anchor="t"/>
          <a:lstStyle/>
          <a:p>
            <a:pPr indent="0" marL="0">
              <a:buNone/>
            </a:pPr>
            <a:r>
              <a:rPr lang="en-US" sz="1400" dirty="0">
                <a:solidFill>
                  <a:schemeClr val="accent4"/>
                </a:solidFill>
              </a:rPr>
              <a:t>Ya — kawasan lindung diperuntukkan untuk MUK berdasarkan SK PBPH.</a:t>
            </a:r>
            <a:endParaRPr lang="en-US" sz="1400" dirty="0"/>
          </a:p>
        </p:txBody>
      </p:sp>
      <p:sp>
        <p:nvSpPr>
          <p:cNvPr id="12" name="Shape 9"/>
          <p:cNvSpPr/>
          <p:nvPr/>
        </p:nvSpPr>
        <p:spPr>
          <a:xfrm>
            <a:off x="9859975" y="2167128"/>
            <a:ext cx="1783080" cy="310896"/>
          </a:xfrm>
          <a:prstGeom prst="roundRect">
            <a:avLst>
              <a:gd name="adj" fmla="val 50000"/>
            </a:avLst>
          </a:prstGeom>
          <a:solidFill>
            <a:schemeClr val="accent1"/>
          </a:solidFill>
          <a:ln/>
        </p:spPr>
      </p:sp>
      <p:sp>
        <p:nvSpPr>
          <p:cNvPr id="13" name="Text 10"/>
          <p:cNvSpPr txBox="1"/>
          <p:nvPr/>
        </p:nvSpPr>
        <p:spPr>
          <a:xfrm>
            <a:off x="9859975" y="2167128"/>
            <a:ext cx="1783080" cy="310896"/>
          </a:xfrm>
          <a:prstGeom prst="rect">
            <a:avLst/>
          </a:prstGeom>
          <a:noFill/>
          <a:ln/>
        </p:spPr>
        <p:txBody>
          <a:bodyPr wrap="square" lIns="0" tIns="0" rIns="0" bIns="0" rtlCol="0" anchor="ctr"/>
          <a:lstStyle/>
          <a:p>
            <a:pPr algn="ctr" indent="0" marL="0">
              <a:buNone/>
            </a:pPr>
            <a:r>
              <a:rPr lang="en-US" sz="1100" b="1" dirty="0">
                <a:solidFill>
                  <a:schemeClr val="bg1"/>
                </a:solidFill>
              </a:rPr>
              <a:t>Verifikasi SK PBPH</a:t>
            </a:r>
            <a:endParaRPr lang="en-US" sz="1100" dirty="0"/>
          </a:p>
        </p:txBody>
      </p:sp>
      <p:sp>
        <p:nvSpPr>
          <p:cNvPr id="14" name="Shape 11"/>
          <p:cNvSpPr/>
          <p:nvPr/>
        </p:nvSpPr>
        <p:spPr>
          <a:xfrm>
            <a:off x="548640" y="2788920"/>
            <a:ext cx="11094415" cy="0"/>
          </a:xfrm>
          <a:prstGeom prst="line">
            <a:avLst/>
          </a:prstGeom>
          <a:noFill/>
          <a:ln w="9525">
            <a:solidFill>
              <a:schemeClr val="accent5"/>
            </a:solidFill>
            <a:prstDash val="solid"/>
          </a:ln>
        </p:spPr>
      </p:sp>
      <p:sp>
        <p:nvSpPr>
          <p:cNvPr id="15" name="Text 12"/>
          <p:cNvSpPr txBox="1"/>
          <p:nvPr/>
        </p:nvSpPr>
        <p:spPr>
          <a:xfrm>
            <a:off x="548640" y="2862072"/>
            <a:ext cx="3657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2</a:t>
            </a:r>
            <a:endParaRPr lang="en-US" sz="2200" dirty="0"/>
          </a:p>
        </p:txBody>
      </p:sp>
      <p:sp>
        <p:nvSpPr>
          <p:cNvPr id="16" name="Text 13"/>
          <p:cNvSpPr txBox="1"/>
          <p:nvPr/>
        </p:nvSpPr>
        <p:spPr>
          <a:xfrm>
            <a:off x="1051560" y="2880360"/>
            <a:ext cx="4572000" cy="594360"/>
          </a:xfrm>
          <a:prstGeom prst="rect">
            <a:avLst/>
          </a:prstGeom>
          <a:noFill/>
          <a:ln/>
        </p:spPr>
        <p:txBody>
          <a:bodyPr wrap="square" lIns="0" tIns="0" rIns="0" bIns="0" rtlCol="0" anchor="t"/>
          <a:lstStyle/>
          <a:p>
            <a:pPr indent="0" marL="0">
              <a:buNone/>
            </a:pPr>
            <a:r>
              <a:rPr lang="en-US" sz="1400" b="1" dirty="0">
                <a:solidFill>
                  <a:schemeClr val="tx1"/>
                </a:solidFill>
              </a:rPr>
              <a:t>Apakah RKU/RKT dan rekam jejak membuat BAU realistis?</a:t>
            </a:r>
            <a:endParaRPr lang="en-US" sz="1400" dirty="0"/>
          </a:p>
        </p:txBody>
      </p:sp>
      <p:sp>
        <p:nvSpPr>
          <p:cNvPr id="17" name="Text 14"/>
          <p:cNvSpPr txBox="1"/>
          <p:nvPr/>
        </p:nvSpPr>
        <p:spPr>
          <a:xfrm>
            <a:off x="5897880" y="2880360"/>
            <a:ext cx="3886200" cy="594360"/>
          </a:xfrm>
          <a:prstGeom prst="rect">
            <a:avLst/>
          </a:prstGeom>
          <a:noFill/>
          <a:ln/>
        </p:spPr>
        <p:txBody>
          <a:bodyPr wrap="square" lIns="0" tIns="0" rIns="0" bIns="0" rtlCol="0" anchor="t"/>
          <a:lstStyle/>
          <a:p>
            <a:pPr indent="0" marL="0">
              <a:buNone/>
            </a:pPr>
            <a:r>
              <a:rPr lang="en-US" sz="1400" dirty="0">
                <a:solidFill>
                  <a:schemeClr val="accent4"/>
                </a:solidFill>
              </a:rPr>
              <a:t>Realisasi RKU/RKT mendukung BAU; butuh 5–10 tahun sejak PBPH berdiri.</a:t>
            </a:r>
            <a:endParaRPr lang="en-US" sz="1400" dirty="0"/>
          </a:p>
        </p:txBody>
      </p:sp>
      <p:sp>
        <p:nvSpPr>
          <p:cNvPr id="18" name="Shape 15"/>
          <p:cNvSpPr/>
          <p:nvPr/>
        </p:nvSpPr>
        <p:spPr>
          <a:xfrm>
            <a:off x="9859975" y="2898648"/>
            <a:ext cx="1783080" cy="310896"/>
          </a:xfrm>
          <a:prstGeom prst="roundRect">
            <a:avLst>
              <a:gd name="adj" fmla="val 50000"/>
            </a:avLst>
          </a:prstGeom>
          <a:solidFill>
            <a:schemeClr val="accent1"/>
          </a:solidFill>
          <a:ln/>
        </p:spPr>
      </p:sp>
      <p:sp>
        <p:nvSpPr>
          <p:cNvPr id="19" name="Text 16"/>
          <p:cNvSpPr txBox="1"/>
          <p:nvPr/>
        </p:nvSpPr>
        <p:spPr>
          <a:xfrm>
            <a:off x="9859975" y="2898648"/>
            <a:ext cx="1783080" cy="310896"/>
          </a:xfrm>
          <a:prstGeom prst="rect">
            <a:avLst/>
          </a:prstGeom>
          <a:noFill/>
          <a:ln/>
        </p:spPr>
        <p:txBody>
          <a:bodyPr wrap="square" lIns="0" tIns="0" rIns="0" bIns="0" rtlCol="0" anchor="ctr"/>
          <a:lstStyle/>
          <a:p>
            <a:pPr algn="ctr" indent="0" marL="0">
              <a:buNone/>
            </a:pPr>
            <a:r>
              <a:rPr lang="en-US" sz="1100" b="1" dirty="0">
                <a:solidFill>
                  <a:schemeClr val="bg1"/>
                </a:solidFill>
              </a:rPr>
              <a:t>Lampirkan realisasi RKT</a:t>
            </a:r>
            <a:endParaRPr lang="en-US" sz="1100" dirty="0"/>
          </a:p>
        </p:txBody>
      </p:sp>
      <p:sp>
        <p:nvSpPr>
          <p:cNvPr id="20" name="Shape 17"/>
          <p:cNvSpPr/>
          <p:nvPr/>
        </p:nvSpPr>
        <p:spPr>
          <a:xfrm>
            <a:off x="548640" y="3520440"/>
            <a:ext cx="11094415" cy="0"/>
          </a:xfrm>
          <a:prstGeom prst="line">
            <a:avLst/>
          </a:prstGeom>
          <a:noFill/>
          <a:ln w="9525">
            <a:solidFill>
              <a:schemeClr val="accent5"/>
            </a:solidFill>
            <a:prstDash val="solid"/>
          </a:ln>
        </p:spPr>
      </p:sp>
      <p:sp>
        <p:nvSpPr>
          <p:cNvPr id="21" name="Text 18"/>
          <p:cNvSpPr txBox="1"/>
          <p:nvPr/>
        </p:nvSpPr>
        <p:spPr>
          <a:xfrm>
            <a:off x="548640" y="3593592"/>
            <a:ext cx="3657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3</a:t>
            </a:r>
            <a:endParaRPr lang="en-US" sz="2200" dirty="0"/>
          </a:p>
        </p:txBody>
      </p:sp>
      <p:sp>
        <p:nvSpPr>
          <p:cNvPr id="22" name="Text 19"/>
          <p:cNvSpPr txBox="1"/>
          <p:nvPr/>
        </p:nvSpPr>
        <p:spPr>
          <a:xfrm>
            <a:off x="1051560" y="3611880"/>
            <a:ext cx="4572000" cy="594360"/>
          </a:xfrm>
          <a:prstGeom prst="rect">
            <a:avLst/>
          </a:prstGeom>
          <a:noFill/>
          <a:ln/>
        </p:spPr>
        <p:txBody>
          <a:bodyPr wrap="square" lIns="0" tIns="0" rIns="0" bIns="0" rtlCol="0" anchor="t"/>
          <a:lstStyle/>
          <a:p>
            <a:pPr indent="0" marL="0">
              <a:buNone/>
            </a:pPr>
            <a:r>
              <a:rPr lang="en-US" sz="1400" b="1" dirty="0">
                <a:solidFill>
                  <a:schemeClr val="tx1"/>
                </a:solidFill>
              </a:rPr>
              <a:t>Apakah areal bukan kawasan yang sejak awal wajib dilindungi?</a:t>
            </a:r>
            <a:endParaRPr lang="en-US" sz="1400" dirty="0"/>
          </a:p>
        </p:txBody>
      </p:sp>
      <p:sp>
        <p:nvSpPr>
          <p:cNvPr id="23" name="Text 20"/>
          <p:cNvSpPr txBox="1"/>
          <p:nvPr/>
        </p:nvSpPr>
        <p:spPr>
          <a:xfrm>
            <a:off x="5897880" y="3611880"/>
            <a:ext cx="3886200" cy="594360"/>
          </a:xfrm>
          <a:prstGeom prst="rect">
            <a:avLst/>
          </a:prstGeom>
          <a:noFill/>
          <a:ln/>
        </p:spPr>
        <p:txBody>
          <a:bodyPr wrap="square" lIns="0" tIns="0" rIns="0" bIns="0" rtlCol="0" anchor="t"/>
          <a:lstStyle/>
          <a:p>
            <a:pPr indent="0" marL="0">
              <a:buNone/>
            </a:pPr>
            <a:r>
              <a:rPr lang="en-US" sz="1400" dirty="0">
                <a:solidFill>
                  <a:schemeClr val="accent4"/>
                </a:solidFill>
              </a:rPr>
              <a:t>Areal adalah kawasan lindung; fungsi konservasi tetap terjaga.</a:t>
            </a:r>
            <a:endParaRPr lang="en-US" sz="1400" dirty="0"/>
          </a:p>
        </p:txBody>
      </p:sp>
      <p:sp>
        <p:nvSpPr>
          <p:cNvPr id="24" name="Shape 21"/>
          <p:cNvSpPr/>
          <p:nvPr/>
        </p:nvSpPr>
        <p:spPr>
          <a:xfrm>
            <a:off x="9859975" y="3630168"/>
            <a:ext cx="1783080" cy="310896"/>
          </a:xfrm>
          <a:prstGeom prst="roundRect">
            <a:avLst>
              <a:gd name="adj" fmla="val 50000"/>
            </a:avLst>
          </a:prstGeom>
          <a:solidFill>
            <a:schemeClr val="accent3"/>
          </a:solidFill>
          <a:ln/>
        </p:spPr>
      </p:sp>
      <p:sp>
        <p:nvSpPr>
          <p:cNvPr id="25" name="Text 22"/>
          <p:cNvSpPr txBox="1"/>
          <p:nvPr/>
        </p:nvSpPr>
        <p:spPr>
          <a:xfrm>
            <a:off x="9859975" y="3630168"/>
            <a:ext cx="1783080" cy="310896"/>
          </a:xfrm>
          <a:prstGeom prst="rect">
            <a:avLst/>
          </a:prstGeom>
          <a:noFill/>
          <a:ln/>
        </p:spPr>
        <p:txBody>
          <a:bodyPr wrap="square" lIns="0" tIns="0" rIns="0" bIns="0" rtlCol="0" anchor="ctr"/>
          <a:lstStyle/>
          <a:p>
            <a:pPr algn="ctr" indent="0" marL="0">
              <a:buNone/>
            </a:pPr>
            <a:r>
              <a:rPr lang="en-US" sz="1100" b="1" dirty="0">
                <a:solidFill>
                  <a:schemeClr val="bg1"/>
                </a:solidFill>
              </a:rPr>
              <a:t>Risiko additionality</a:t>
            </a:r>
            <a:endParaRPr lang="en-US" sz="1100" dirty="0"/>
          </a:p>
        </p:txBody>
      </p:sp>
      <p:sp>
        <p:nvSpPr>
          <p:cNvPr id="26" name="Shape 23"/>
          <p:cNvSpPr/>
          <p:nvPr/>
        </p:nvSpPr>
        <p:spPr>
          <a:xfrm>
            <a:off x="548640" y="4251960"/>
            <a:ext cx="11094415" cy="0"/>
          </a:xfrm>
          <a:prstGeom prst="line">
            <a:avLst/>
          </a:prstGeom>
          <a:noFill/>
          <a:ln w="9525">
            <a:solidFill>
              <a:schemeClr val="accent5"/>
            </a:solidFill>
            <a:prstDash val="solid"/>
          </a:ln>
        </p:spPr>
      </p:sp>
      <p:sp>
        <p:nvSpPr>
          <p:cNvPr id="27" name="Text 24"/>
          <p:cNvSpPr txBox="1"/>
          <p:nvPr/>
        </p:nvSpPr>
        <p:spPr>
          <a:xfrm>
            <a:off x="548640" y="4325112"/>
            <a:ext cx="3657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4</a:t>
            </a:r>
            <a:endParaRPr lang="en-US" sz="2200" dirty="0"/>
          </a:p>
        </p:txBody>
      </p:sp>
      <p:sp>
        <p:nvSpPr>
          <p:cNvPr id="28" name="Text 25"/>
          <p:cNvSpPr txBox="1"/>
          <p:nvPr/>
        </p:nvSpPr>
        <p:spPr>
          <a:xfrm>
            <a:off x="1051560" y="4343400"/>
            <a:ext cx="4572000" cy="594360"/>
          </a:xfrm>
          <a:prstGeom prst="rect">
            <a:avLst/>
          </a:prstGeom>
          <a:noFill/>
          <a:ln/>
        </p:spPr>
        <p:txBody>
          <a:bodyPr wrap="square" lIns="0" tIns="0" rIns="0" bIns="0" rtlCol="0" anchor="t"/>
          <a:lstStyle/>
          <a:p>
            <a:pPr indent="0" marL="0">
              <a:buNone/>
            </a:pPr>
            <a:r>
              <a:rPr lang="en-US" sz="1400" b="1" dirty="0">
                <a:solidFill>
                  <a:schemeClr val="tx1"/>
                </a:solidFill>
              </a:rPr>
              <a:t>Apakah kegiatan berhenti karena proyek, bukan kewajiban hukum?</a:t>
            </a:r>
            <a:endParaRPr lang="en-US" sz="1400" dirty="0"/>
          </a:p>
        </p:txBody>
      </p:sp>
      <p:sp>
        <p:nvSpPr>
          <p:cNvPr id="29" name="Text 26"/>
          <p:cNvSpPr txBox="1"/>
          <p:nvPr/>
        </p:nvSpPr>
        <p:spPr>
          <a:xfrm>
            <a:off x="5897880" y="4343400"/>
            <a:ext cx="3886200" cy="594360"/>
          </a:xfrm>
          <a:prstGeom prst="rect">
            <a:avLst/>
          </a:prstGeom>
          <a:noFill/>
          <a:ln/>
        </p:spPr>
        <p:txBody>
          <a:bodyPr wrap="square" lIns="0" tIns="0" rIns="0" bIns="0" rtlCol="0" anchor="t"/>
          <a:lstStyle/>
          <a:p>
            <a:pPr indent="0" marL="0">
              <a:buNone/>
            </a:pPr>
            <a:r>
              <a:rPr lang="en-US" sz="1400" dirty="0">
                <a:solidFill>
                  <a:schemeClr val="accent4"/>
                </a:solidFill>
              </a:rPr>
              <a:t>Produksi tidak berhenti; MUK karbon ditambahkan pada kawasan lindung.</a:t>
            </a:r>
            <a:endParaRPr lang="en-US" sz="1400" dirty="0"/>
          </a:p>
        </p:txBody>
      </p:sp>
      <p:sp>
        <p:nvSpPr>
          <p:cNvPr id="30" name="Shape 27"/>
          <p:cNvSpPr/>
          <p:nvPr/>
        </p:nvSpPr>
        <p:spPr>
          <a:xfrm>
            <a:off x="9859975" y="4361688"/>
            <a:ext cx="1783080" cy="310896"/>
          </a:xfrm>
          <a:prstGeom prst="roundRect">
            <a:avLst>
              <a:gd name="adj" fmla="val 50000"/>
            </a:avLst>
          </a:prstGeom>
          <a:solidFill>
            <a:schemeClr val="accent1"/>
          </a:solidFill>
          <a:ln/>
        </p:spPr>
      </p:sp>
      <p:sp>
        <p:nvSpPr>
          <p:cNvPr id="31" name="Text 28"/>
          <p:cNvSpPr txBox="1"/>
          <p:nvPr/>
        </p:nvSpPr>
        <p:spPr>
          <a:xfrm>
            <a:off x="9859975" y="4361688"/>
            <a:ext cx="1783080" cy="310896"/>
          </a:xfrm>
          <a:prstGeom prst="rect">
            <a:avLst/>
          </a:prstGeom>
          <a:noFill/>
          <a:ln/>
        </p:spPr>
        <p:txBody>
          <a:bodyPr wrap="square" lIns="0" tIns="0" rIns="0" bIns="0" rtlCol="0" anchor="ctr"/>
          <a:lstStyle/>
          <a:p>
            <a:pPr algn="ctr" indent="0" marL="0">
              <a:buNone/>
            </a:pPr>
            <a:r>
              <a:rPr lang="en-US" sz="1100" b="1" dirty="0">
                <a:solidFill>
                  <a:schemeClr val="bg1"/>
                </a:solidFill>
              </a:rPr>
              <a:t>Didukung</a:t>
            </a:r>
            <a:endParaRPr lang="en-US" sz="1100" dirty="0"/>
          </a:p>
        </p:txBody>
      </p:sp>
      <p:sp>
        <p:nvSpPr>
          <p:cNvPr id="32" name="Shape 29"/>
          <p:cNvSpPr/>
          <p:nvPr/>
        </p:nvSpPr>
        <p:spPr>
          <a:xfrm>
            <a:off x="548640" y="4983480"/>
            <a:ext cx="11094415" cy="0"/>
          </a:xfrm>
          <a:prstGeom prst="line">
            <a:avLst/>
          </a:prstGeom>
          <a:noFill/>
          <a:ln w="9525">
            <a:solidFill>
              <a:schemeClr val="accent5"/>
            </a:solidFill>
            <a:prstDash val="solid"/>
          </a:ln>
        </p:spPr>
      </p:sp>
      <p:sp>
        <p:nvSpPr>
          <p:cNvPr id="33" name="Text 30"/>
          <p:cNvSpPr txBox="1"/>
          <p:nvPr/>
        </p:nvSpPr>
        <p:spPr>
          <a:xfrm>
            <a:off x="548640" y="5056632"/>
            <a:ext cx="3657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5</a:t>
            </a:r>
            <a:endParaRPr lang="en-US" sz="2200" dirty="0"/>
          </a:p>
        </p:txBody>
      </p:sp>
      <p:sp>
        <p:nvSpPr>
          <p:cNvPr id="34" name="Text 31"/>
          <p:cNvSpPr txBox="1"/>
          <p:nvPr/>
        </p:nvSpPr>
        <p:spPr>
          <a:xfrm>
            <a:off x="1051560" y="5074920"/>
            <a:ext cx="4572000" cy="594360"/>
          </a:xfrm>
          <a:prstGeom prst="rect">
            <a:avLst/>
          </a:prstGeom>
          <a:noFill/>
          <a:ln/>
        </p:spPr>
        <p:txBody>
          <a:bodyPr wrap="square" lIns="0" tIns="0" rIns="0" bIns="0" rtlCol="0" anchor="t"/>
          <a:lstStyle/>
          <a:p>
            <a:pPr indent="0" marL="0">
              <a:buNone/>
            </a:pPr>
            <a:r>
              <a:rPr lang="en-US" sz="1400" b="1" dirty="0">
                <a:solidFill>
                  <a:schemeClr val="tx1"/>
                </a:solidFill>
              </a:rPr>
              <a:t>Apakah metodologi mengakui aktivitas dan sumber emisinya?</a:t>
            </a:r>
            <a:endParaRPr lang="en-US" sz="1400" dirty="0"/>
          </a:p>
        </p:txBody>
      </p:sp>
      <p:sp>
        <p:nvSpPr>
          <p:cNvPr id="35" name="Text 32"/>
          <p:cNvSpPr txBox="1"/>
          <p:nvPr/>
        </p:nvSpPr>
        <p:spPr>
          <a:xfrm>
            <a:off x="5897880" y="5074920"/>
            <a:ext cx="3886200" cy="594360"/>
          </a:xfrm>
          <a:prstGeom prst="rect">
            <a:avLst/>
          </a:prstGeom>
          <a:noFill/>
          <a:ln/>
        </p:spPr>
        <p:txBody>
          <a:bodyPr wrap="square" lIns="0" tIns="0" rIns="0" bIns="0" rtlCol="0" anchor="t"/>
          <a:lstStyle/>
          <a:p>
            <a:pPr indent="0" marL="0">
              <a:buNone/>
            </a:pPr>
            <a:r>
              <a:rPr lang="en-US" sz="1400" dirty="0">
                <a:solidFill>
                  <a:schemeClr val="accent4"/>
                </a:solidFill>
              </a:rPr>
              <a:t>Metodologi akan mengikuti SRUK.</a:t>
            </a:r>
            <a:endParaRPr lang="en-US" sz="1400" dirty="0"/>
          </a:p>
        </p:txBody>
      </p:sp>
      <p:sp>
        <p:nvSpPr>
          <p:cNvPr id="36" name="Shape 33"/>
          <p:cNvSpPr/>
          <p:nvPr/>
        </p:nvSpPr>
        <p:spPr>
          <a:xfrm>
            <a:off x="9859975" y="5093208"/>
            <a:ext cx="1783080" cy="310896"/>
          </a:xfrm>
          <a:prstGeom prst="roundRect">
            <a:avLst>
              <a:gd name="adj" fmla="val 50000"/>
            </a:avLst>
          </a:prstGeom>
          <a:solidFill>
            <a:schemeClr val="accent2"/>
          </a:solidFill>
          <a:ln/>
        </p:spPr>
      </p:sp>
      <p:sp>
        <p:nvSpPr>
          <p:cNvPr id="37" name="Text 34"/>
          <p:cNvSpPr txBox="1"/>
          <p:nvPr/>
        </p:nvSpPr>
        <p:spPr>
          <a:xfrm>
            <a:off x="9859975" y="5093208"/>
            <a:ext cx="1783080" cy="310896"/>
          </a:xfrm>
          <a:prstGeom prst="rect">
            <a:avLst/>
          </a:prstGeom>
          <a:noFill/>
          <a:ln/>
        </p:spPr>
        <p:txBody>
          <a:bodyPr wrap="square" lIns="0" tIns="0" rIns="0" bIns="0" rtlCol="0" anchor="ctr"/>
          <a:lstStyle/>
          <a:p>
            <a:pPr algn="ctr" indent="0" marL="0">
              <a:buNone/>
            </a:pPr>
            <a:r>
              <a:rPr lang="en-US" sz="1100" b="1" dirty="0">
                <a:solidFill>
                  <a:schemeClr val="bg1"/>
                </a:solidFill>
              </a:rPr>
              <a:t>Tunggu metodologi</a:t>
            </a:r>
            <a:endParaRPr lang="en-US" sz="1100" dirty="0"/>
          </a:p>
        </p:txBody>
      </p:sp>
      <p:sp>
        <p:nvSpPr>
          <p:cNvPr id="38" name="rasio-budidaya"/>
          <p:cNvSpPr/>
          <p:nvPr/>
        </p:nvSpPr>
        <p:spPr>
          <a:xfrm>
            <a:off x="548640" y="6400800"/>
            <a:ext cx="694306" cy="91440"/>
          </a:xfrm>
          <a:prstGeom prst="rect">
            <a:avLst/>
          </a:prstGeom>
          <a:solidFill>
            <a:srgbClr val="D5DBD6"/>
          </a:solidFill>
          <a:ln/>
        </p:spPr>
      </p:sp>
      <p:sp>
        <p:nvSpPr>
          <p:cNvPr id="39" name="rasio-lindung"/>
          <p:cNvSpPr/>
          <p:nvPr/>
        </p:nvSpPr>
        <p:spPr>
          <a:xfrm>
            <a:off x="1270378" y="6400800"/>
            <a:ext cx="741302" cy="91440"/>
          </a:xfrm>
          <a:prstGeom prst="rect">
            <a:avLst/>
          </a:prstGeom>
          <a:solidFill>
            <a:schemeClr val="accent1"/>
          </a:solidFill>
          <a:ln/>
        </p:spPr>
      </p:sp>
      <p:sp>
        <p:nvSpPr>
          <p:cNvPr id="40" name="Text 37"/>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Fokus: kawasan lindung 71.350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SCREENING KANDIDAT</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Screening memisahkan areal yang bisa dikreditkan dari areal yang memang wajib dilindungi</a:t>
            </a:r>
            <a:endParaRPr lang="en-US" sz="2800" dirty="0"/>
          </a:p>
        </p:txBody>
      </p:sp>
      <p:sp>
        <p:nvSpPr>
          <p:cNvPr id="5" name="Text 2"/>
          <p:cNvSpPr txBox="1"/>
          <p:nvPr/>
        </p:nvSpPr>
        <p:spPr>
          <a:xfrm>
            <a:off x="548640" y="2011680"/>
            <a:ext cx="1097280" cy="1005840"/>
          </a:xfrm>
          <a:prstGeom prst="rect">
            <a:avLst/>
          </a:prstGeom>
          <a:noFill/>
          <a:ln/>
        </p:spPr>
        <p:txBody>
          <a:bodyPr wrap="square" lIns="0" tIns="0" rIns="0" bIns="0" rtlCol="0" anchor="t"/>
          <a:lstStyle/>
          <a:p>
            <a:pPr indent="0" marL="0">
              <a:buNone/>
            </a:pPr>
            <a:r>
              <a:rPr lang="en-US" sz="6600" b="1" dirty="0">
                <a:solidFill>
                  <a:schemeClr val="accent1"/>
                </a:solidFill>
                <a:latin typeface="Cambria" pitchFamily="34" charset="0"/>
                <a:ea typeface="Cambria" pitchFamily="34" charset="-122"/>
                <a:cs typeface="Cambria" pitchFamily="34" charset="-120"/>
              </a:rPr>
              <a:t>A</a:t>
            </a:r>
            <a:endParaRPr lang="en-US" sz="6600" dirty="0"/>
          </a:p>
        </p:txBody>
      </p:sp>
      <p:sp>
        <p:nvSpPr>
          <p:cNvPr id="6" name="Text 3"/>
          <p:cNvSpPr txBox="1"/>
          <p:nvPr/>
        </p:nvSpPr>
        <p:spPr>
          <a:xfrm>
            <a:off x="1600200" y="2331720"/>
            <a:ext cx="2341778" cy="457200"/>
          </a:xfrm>
          <a:prstGeom prst="rect">
            <a:avLst/>
          </a:prstGeom>
          <a:noFill/>
          <a:ln/>
        </p:spPr>
        <p:txBody>
          <a:bodyPr wrap="square" lIns="0" tIns="0" rIns="0" bIns="0" rtlCol="0" anchor="t"/>
          <a:lstStyle/>
          <a:p>
            <a:pPr indent="0" marL="0">
              <a:buNone/>
            </a:pPr>
            <a:r>
              <a:rPr lang="en-US" sz="1800" b="1" dirty="0">
                <a:solidFill>
                  <a:schemeClr val="tx1"/>
                </a:solidFill>
              </a:rPr>
              <a:t>Prioritas tinggi</a:t>
            </a:r>
            <a:endParaRPr lang="en-US" sz="1800" dirty="0"/>
          </a:p>
        </p:txBody>
      </p:sp>
      <p:sp>
        <p:nvSpPr>
          <p:cNvPr id="7" name="Shape 4"/>
          <p:cNvSpPr/>
          <p:nvPr/>
        </p:nvSpPr>
        <p:spPr>
          <a:xfrm>
            <a:off x="548640" y="3154680"/>
            <a:ext cx="3393338" cy="0"/>
          </a:xfrm>
          <a:prstGeom prst="line">
            <a:avLst/>
          </a:prstGeom>
          <a:noFill/>
          <a:ln w="19050">
            <a:solidFill>
              <a:schemeClr val="accent1"/>
            </a:solidFill>
            <a:prstDash val="solid"/>
          </a:ln>
        </p:spPr>
      </p:sp>
      <p:sp>
        <p:nvSpPr>
          <p:cNvPr id="8" name="Text 5"/>
          <p:cNvSpPr txBox="1"/>
          <p:nvPr/>
        </p:nvSpPr>
        <p:spPr>
          <a:xfrm>
            <a:off x="548640" y="3337560"/>
            <a:ext cx="3393338" cy="1371600"/>
          </a:xfrm>
          <a:prstGeom prst="rect">
            <a:avLst/>
          </a:prstGeom>
          <a:noFill/>
          <a:ln/>
        </p:spPr>
        <p:txBody>
          <a:bodyPr wrap="square" lIns="0" tIns="0" rIns="0" bIns="0" rtlCol="0" anchor="t"/>
          <a:lstStyle/>
          <a:p>
            <a:pPr indent="0" marL="0">
              <a:buNone/>
            </a:pPr>
            <a:r>
              <a:rPr lang="en-US" sz="1500" dirty="0">
                <a:solidFill>
                  <a:schemeClr val="tx1"/>
                </a:solidFill>
              </a:rPr>
              <a:t>Masih legal dikelola untuk produksi, stok karbon signifikan, penghindaran konversinya terbukti additional.</a:t>
            </a:r>
            <a:endParaRPr lang="en-US" sz="1500" dirty="0"/>
          </a:p>
        </p:txBody>
      </p:sp>
      <p:sp>
        <p:nvSpPr>
          <p:cNvPr id="9" name="Text 6"/>
          <p:cNvSpPr txBox="1"/>
          <p:nvPr/>
        </p:nvSpPr>
        <p:spPr>
          <a:xfrm>
            <a:off x="548640" y="4800600"/>
            <a:ext cx="3393338" cy="365760"/>
          </a:xfrm>
          <a:prstGeom prst="rect">
            <a:avLst/>
          </a:prstGeom>
          <a:noFill/>
          <a:ln/>
        </p:spPr>
        <p:txBody>
          <a:bodyPr wrap="square" lIns="0" tIns="0" rIns="0" bIns="0" rtlCol="0" anchor="t"/>
          <a:lstStyle/>
          <a:p>
            <a:pPr indent="0" marL="0">
              <a:buNone/>
            </a:pPr>
            <a:r>
              <a:rPr lang="en-US" sz="1500" b="1" dirty="0">
                <a:solidFill>
                  <a:schemeClr val="accent1"/>
                </a:solidFill>
              </a:rPr>
              <a:t>→ Fokus feasibility</a:t>
            </a:r>
            <a:endParaRPr lang="en-US" sz="1500" dirty="0"/>
          </a:p>
        </p:txBody>
      </p:sp>
      <p:sp>
        <p:nvSpPr>
          <p:cNvPr id="10" name="Text 7"/>
          <p:cNvSpPr txBox="1"/>
          <p:nvPr/>
        </p:nvSpPr>
        <p:spPr>
          <a:xfrm>
            <a:off x="4399178" y="2011680"/>
            <a:ext cx="1097280" cy="1005840"/>
          </a:xfrm>
          <a:prstGeom prst="rect">
            <a:avLst/>
          </a:prstGeom>
          <a:noFill/>
          <a:ln/>
        </p:spPr>
        <p:txBody>
          <a:bodyPr wrap="square" lIns="0" tIns="0" rIns="0" bIns="0" rtlCol="0" anchor="t"/>
          <a:lstStyle/>
          <a:p>
            <a:pPr indent="0" marL="0">
              <a:buNone/>
            </a:pPr>
            <a:r>
              <a:rPr lang="en-US" sz="6600" b="1" dirty="0">
                <a:solidFill>
                  <a:schemeClr val="accent6"/>
                </a:solidFill>
                <a:latin typeface="Cambria" pitchFamily="34" charset="0"/>
                <a:ea typeface="Cambria" pitchFamily="34" charset="-122"/>
                <a:cs typeface="Cambria" pitchFamily="34" charset="-120"/>
              </a:rPr>
              <a:t>B</a:t>
            </a:r>
            <a:endParaRPr lang="en-US" sz="6600" dirty="0"/>
          </a:p>
        </p:txBody>
      </p:sp>
      <p:sp>
        <p:nvSpPr>
          <p:cNvPr id="11" name="Text 8"/>
          <p:cNvSpPr txBox="1"/>
          <p:nvPr/>
        </p:nvSpPr>
        <p:spPr>
          <a:xfrm>
            <a:off x="5450738" y="2331720"/>
            <a:ext cx="2341778" cy="457200"/>
          </a:xfrm>
          <a:prstGeom prst="rect">
            <a:avLst/>
          </a:prstGeom>
          <a:noFill/>
          <a:ln/>
        </p:spPr>
        <p:txBody>
          <a:bodyPr wrap="square" lIns="0" tIns="0" rIns="0" bIns="0" rtlCol="0" anchor="t"/>
          <a:lstStyle/>
          <a:p>
            <a:pPr indent="0" marL="0">
              <a:buNone/>
            </a:pPr>
            <a:r>
              <a:rPr lang="en-US" sz="1800" b="1" dirty="0">
                <a:solidFill>
                  <a:schemeClr val="tx1"/>
                </a:solidFill>
              </a:rPr>
              <a:t>Restorasi</a:t>
            </a:r>
            <a:endParaRPr lang="en-US" sz="1800" dirty="0"/>
          </a:p>
        </p:txBody>
      </p:sp>
      <p:sp>
        <p:nvSpPr>
          <p:cNvPr id="12" name="Shape 9"/>
          <p:cNvSpPr/>
          <p:nvPr/>
        </p:nvSpPr>
        <p:spPr>
          <a:xfrm>
            <a:off x="4399178" y="3154680"/>
            <a:ext cx="3393338" cy="0"/>
          </a:xfrm>
          <a:prstGeom prst="line">
            <a:avLst/>
          </a:prstGeom>
          <a:noFill/>
          <a:ln w="19050">
            <a:solidFill>
              <a:schemeClr val="accent6"/>
            </a:solidFill>
            <a:prstDash val="solid"/>
          </a:ln>
        </p:spPr>
      </p:sp>
      <p:sp>
        <p:nvSpPr>
          <p:cNvPr id="13" name="Text 10"/>
          <p:cNvSpPr txBox="1"/>
          <p:nvPr/>
        </p:nvSpPr>
        <p:spPr>
          <a:xfrm>
            <a:off x="4399178" y="3337560"/>
            <a:ext cx="3393338" cy="1371600"/>
          </a:xfrm>
          <a:prstGeom prst="rect">
            <a:avLst/>
          </a:prstGeom>
          <a:noFill/>
          <a:ln/>
        </p:spPr>
        <p:txBody>
          <a:bodyPr wrap="square" lIns="0" tIns="0" rIns="0" bIns="0" rtlCol="0" anchor="t"/>
          <a:lstStyle/>
          <a:p>
            <a:pPr indent="0" marL="0">
              <a:buNone/>
            </a:pPr>
            <a:r>
              <a:rPr lang="en-US" sz="1500" dirty="0">
                <a:solidFill>
                  <a:schemeClr val="tx1"/>
                </a:solidFill>
              </a:rPr>
              <a:t>Terdegradasi atau terdrainase; ada peluang rewetting, revegetasi, dan pengurangan risiko kebakaran.</a:t>
            </a:r>
            <a:endParaRPr lang="en-US" sz="1500" dirty="0"/>
          </a:p>
        </p:txBody>
      </p:sp>
      <p:sp>
        <p:nvSpPr>
          <p:cNvPr id="14" name="Text 11"/>
          <p:cNvSpPr txBox="1"/>
          <p:nvPr/>
        </p:nvSpPr>
        <p:spPr>
          <a:xfrm>
            <a:off x="4399178" y="4800600"/>
            <a:ext cx="3393338" cy="365760"/>
          </a:xfrm>
          <a:prstGeom prst="rect">
            <a:avLst/>
          </a:prstGeom>
          <a:noFill/>
          <a:ln/>
        </p:spPr>
        <p:txBody>
          <a:bodyPr wrap="square" lIns="0" tIns="0" rIns="0" bIns="0" rtlCol="0" anchor="t"/>
          <a:lstStyle/>
          <a:p>
            <a:pPr indent="0" marL="0">
              <a:buNone/>
            </a:pPr>
            <a:r>
              <a:rPr lang="en-US" sz="1500" b="1" dirty="0">
                <a:solidFill>
                  <a:schemeClr val="accent1"/>
                </a:solidFill>
              </a:rPr>
              <a:t>→ Uji metodologi &amp; biaya</a:t>
            </a:r>
            <a:endParaRPr lang="en-US" sz="1500" dirty="0"/>
          </a:p>
        </p:txBody>
      </p:sp>
      <p:sp>
        <p:nvSpPr>
          <p:cNvPr id="15" name="Text 12"/>
          <p:cNvSpPr txBox="1"/>
          <p:nvPr/>
        </p:nvSpPr>
        <p:spPr>
          <a:xfrm>
            <a:off x="8249717" y="2011680"/>
            <a:ext cx="1097280" cy="1005840"/>
          </a:xfrm>
          <a:prstGeom prst="rect">
            <a:avLst/>
          </a:prstGeom>
          <a:noFill/>
          <a:ln/>
        </p:spPr>
        <p:txBody>
          <a:bodyPr wrap="square" lIns="0" tIns="0" rIns="0" bIns="0" rtlCol="0" anchor="t"/>
          <a:lstStyle/>
          <a:p>
            <a:pPr indent="0" marL="0">
              <a:buNone/>
            </a:pPr>
            <a:r>
              <a:rPr lang="en-US" sz="6600" b="1" dirty="0">
                <a:solidFill>
                  <a:schemeClr val="accent3"/>
                </a:solidFill>
                <a:latin typeface="Cambria" pitchFamily="34" charset="0"/>
                <a:ea typeface="Cambria" pitchFamily="34" charset="-122"/>
                <a:cs typeface="Cambria" pitchFamily="34" charset="-120"/>
              </a:rPr>
              <a:t>C</a:t>
            </a:r>
            <a:endParaRPr lang="en-US" sz="6600" dirty="0"/>
          </a:p>
        </p:txBody>
      </p:sp>
      <p:sp>
        <p:nvSpPr>
          <p:cNvPr id="16" name="Text 13"/>
          <p:cNvSpPr txBox="1"/>
          <p:nvPr/>
        </p:nvSpPr>
        <p:spPr>
          <a:xfrm>
            <a:off x="9301277" y="2331720"/>
            <a:ext cx="2341778" cy="457200"/>
          </a:xfrm>
          <a:prstGeom prst="rect">
            <a:avLst/>
          </a:prstGeom>
          <a:noFill/>
          <a:ln/>
        </p:spPr>
        <p:txBody>
          <a:bodyPr wrap="square" lIns="0" tIns="0" rIns="0" bIns="0" rtlCol="0" anchor="t"/>
          <a:lstStyle/>
          <a:p>
            <a:pPr indent="0" marL="0">
              <a:buNone/>
            </a:pPr>
            <a:r>
              <a:rPr lang="en-US" sz="1800" b="1" dirty="0">
                <a:solidFill>
                  <a:schemeClr val="tx1"/>
                </a:solidFill>
              </a:rPr>
              <a:t>Kewajiban</a:t>
            </a:r>
            <a:endParaRPr lang="en-US" sz="1800" dirty="0"/>
          </a:p>
        </p:txBody>
      </p:sp>
      <p:sp>
        <p:nvSpPr>
          <p:cNvPr id="17" name="Shape 14"/>
          <p:cNvSpPr/>
          <p:nvPr/>
        </p:nvSpPr>
        <p:spPr>
          <a:xfrm>
            <a:off x="8249717" y="3154680"/>
            <a:ext cx="3393338" cy="0"/>
          </a:xfrm>
          <a:prstGeom prst="line">
            <a:avLst/>
          </a:prstGeom>
          <a:noFill/>
          <a:ln w="19050">
            <a:solidFill>
              <a:schemeClr val="accent3"/>
            </a:solidFill>
            <a:prstDash val="solid"/>
          </a:ln>
        </p:spPr>
      </p:sp>
      <p:sp>
        <p:nvSpPr>
          <p:cNvPr id="18" name="Text 15"/>
          <p:cNvSpPr txBox="1"/>
          <p:nvPr/>
        </p:nvSpPr>
        <p:spPr>
          <a:xfrm>
            <a:off x="8249717" y="3337560"/>
            <a:ext cx="3393338" cy="1371600"/>
          </a:xfrm>
          <a:prstGeom prst="rect">
            <a:avLst/>
          </a:prstGeom>
          <a:noFill/>
          <a:ln/>
        </p:spPr>
        <p:txBody>
          <a:bodyPr wrap="square" lIns="0" tIns="0" rIns="0" bIns="0" rtlCol="0" anchor="t"/>
          <a:lstStyle/>
          <a:p>
            <a:pPr indent="0" marL="0">
              <a:buNone/>
            </a:pPr>
            <a:r>
              <a:rPr lang="en-US" sz="1500" dirty="0">
                <a:solidFill>
                  <a:schemeClr val="tx1"/>
                </a:solidFill>
              </a:rPr>
              <a:t>Sempadan, puncak kubah gambut, habitat tertentu — areal yang memang wajib dilindungi.</a:t>
            </a:r>
            <a:endParaRPr lang="en-US" sz="1500" dirty="0"/>
          </a:p>
        </p:txBody>
      </p:sp>
      <p:sp>
        <p:nvSpPr>
          <p:cNvPr id="19" name="Text 16"/>
          <p:cNvSpPr txBox="1"/>
          <p:nvPr/>
        </p:nvSpPr>
        <p:spPr>
          <a:xfrm>
            <a:off x="8249717" y="4800600"/>
            <a:ext cx="3393338" cy="365760"/>
          </a:xfrm>
          <a:prstGeom prst="rect">
            <a:avLst/>
          </a:prstGeom>
          <a:noFill/>
          <a:ln/>
        </p:spPr>
        <p:txBody>
          <a:bodyPr wrap="square" lIns="0" tIns="0" rIns="0" bIns="0" rtlCol="0" anchor="t"/>
          <a:lstStyle/>
          <a:p>
            <a:pPr indent="0" marL="0">
              <a:buNone/>
            </a:pPr>
            <a:r>
              <a:rPr lang="en-US" sz="1500" b="1" dirty="0">
                <a:solidFill>
                  <a:schemeClr val="accent3"/>
                </a:solidFill>
              </a:rPr>
              <a:t>→ Additionality diuji ketat</a:t>
            </a:r>
            <a:endParaRPr lang="en-US" sz="1500" dirty="0"/>
          </a:p>
        </p:txBody>
      </p:sp>
      <p:sp>
        <p:nvSpPr>
          <p:cNvPr id="20" name="Text 17"/>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chemeClr val="accent4"/>
                </a:solidFill>
              </a:rPr>
              <a:t>Proporsi kelas A/B/C belum diketahui — ditentukan oleh screening spasial atas 71.350 ha.</a:t>
            </a:r>
            <a:endParaRPr lang="en-US" sz="1000" dirty="0"/>
          </a:p>
        </p:txBody>
      </p:sp>
      <p:sp>
        <p:nvSpPr>
          <p:cNvPr id="21" name="rasio-budidaya"/>
          <p:cNvSpPr/>
          <p:nvPr/>
        </p:nvSpPr>
        <p:spPr>
          <a:xfrm>
            <a:off x="548640" y="6400800"/>
            <a:ext cx="694306" cy="91440"/>
          </a:xfrm>
          <a:prstGeom prst="rect">
            <a:avLst/>
          </a:prstGeom>
          <a:solidFill>
            <a:srgbClr val="D5DBD6"/>
          </a:solidFill>
          <a:ln/>
        </p:spPr>
      </p:sp>
      <p:sp>
        <p:nvSpPr>
          <p:cNvPr id="22" name="rasio-lindung"/>
          <p:cNvSpPr/>
          <p:nvPr/>
        </p:nvSpPr>
        <p:spPr>
          <a:xfrm>
            <a:off x="1270378" y="6400800"/>
            <a:ext cx="741302" cy="91440"/>
          </a:xfrm>
          <a:prstGeom prst="rect">
            <a:avLst/>
          </a:prstGeom>
          <a:solidFill>
            <a:schemeClr val="accent1"/>
          </a:solidFill>
          <a:ln/>
        </p:spPr>
      </p:sp>
      <p:sp>
        <p:nvSpPr>
          <p:cNvPr id="23" name="Text 20"/>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Fokus: kawasan lindung 71.350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3840480" y="2331720"/>
            <a:ext cx="7680960" cy="320040"/>
          </a:xfrm>
          <a:prstGeom prst="rect">
            <a:avLst/>
          </a:prstGeom>
          <a:noFill/>
          <a:ln/>
        </p:spPr>
        <p:txBody>
          <a:bodyPr wrap="square" lIns="0" tIns="0" rIns="0" bIns="0" rtlCol="0"/>
          <a:lstStyle/>
          <a:p>
            <a:pPr indent="0" marL="0">
              <a:buNone/>
            </a:pPr>
            <a:r>
              <a:rPr lang="en-US" sz="1400" b="1" spc="300" kern="0" dirty="0">
                <a:solidFill>
                  <a:schemeClr val="accent6"/>
                </a:solidFill>
              </a:rPr>
              <a:t>GATE 2  ·  KARBON</a:t>
            </a:r>
            <a:endParaRPr lang="en-US" sz="1400" dirty="0"/>
          </a:p>
        </p:txBody>
      </p:sp>
      <p:sp>
        <p:nvSpPr>
          <p:cNvPr id="3" name="Text 0"/>
          <p:cNvSpPr/>
          <p:nvPr>
            <p:ph idx="101" type="title" hasCustomPrompt="1"/>
          </p:nvPr>
        </p:nvSpPr>
        <p:spPr>
          <a:xfrm>
            <a:off x="3840480" y="2743200"/>
            <a:ext cx="7680960" cy="146304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Apakah additionality dan metodologi dapat dipertahankan?</a:t>
            </a:r>
            <a:endParaRPr lang="en-US" sz="3600" dirty="0"/>
          </a:p>
        </p:txBody>
      </p:sp>
      <p:sp>
        <p:nvSpPr>
          <p:cNvPr id="4" name="Text 2"/>
          <p:cNvSpPr txBox="1"/>
          <p:nvPr/>
        </p:nvSpPr>
        <p:spPr>
          <a:xfrm>
            <a:off x="548640" y="1554480"/>
            <a:ext cx="2926080" cy="3291840"/>
          </a:xfrm>
          <a:prstGeom prst="rect">
            <a:avLst/>
          </a:prstGeom>
          <a:noFill/>
          <a:ln/>
        </p:spPr>
        <p:txBody>
          <a:bodyPr wrap="square" lIns="0" tIns="0" rIns="0" bIns="0" rtlCol="0" anchor="ctr"/>
          <a:lstStyle/>
          <a:p>
            <a:pPr algn="l" indent="0" marL="0">
              <a:buNone/>
            </a:pPr>
            <a:r>
              <a:rPr lang="en-US" sz="22000" b="1" dirty="0">
                <a:solidFill>
                  <a:schemeClr val="accent6"/>
                </a:solidFill>
                <a:latin typeface="Cambria" pitchFamily="34" charset="0"/>
                <a:ea typeface="Cambria" pitchFamily="34" charset="-122"/>
                <a:cs typeface="Cambria" pitchFamily="34" charset="-120"/>
              </a:rPr>
              <a:t>2</a:t>
            </a:r>
            <a:endParaRPr lang="en-US" sz="22000" dirty="0"/>
          </a:p>
        </p:txBody>
      </p:sp>
      <p:sp>
        <p:nvSpPr>
          <p:cNvPr id="5" name="Text 3"/>
          <p:cNvSpPr txBox="1"/>
          <p:nvPr/>
        </p:nvSpPr>
        <p:spPr>
          <a:xfrm>
            <a:off x="3840480" y="4343400"/>
            <a:ext cx="7680960" cy="365760"/>
          </a:xfrm>
          <a:prstGeom prst="rect">
            <a:avLst/>
          </a:prstGeom>
          <a:noFill/>
          <a:ln/>
        </p:spPr>
        <p:txBody>
          <a:bodyPr wrap="square" lIns="0" tIns="0" rIns="0" bIns="0" rtlCol="0" anchor="t"/>
          <a:lstStyle/>
          <a:p>
            <a:pPr indent="0" marL="0">
              <a:buNone/>
            </a:pPr>
            <a:r>
              <a:rPr lang="en-US" sz="1500" dirty="0">
                <a:solidFill>
                  <a:srgbClr val="C8D6CD"/>
                </a:solidFill>
              </a:rPr>
              <a:t>Logika carbon accounting  ·  Stok &amp; emisi  ·  Gambut</a:t>
            </a:r>
            <a:endParaRPr lang="en-US" sz="15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LOGIKA CARBON ACCOUNTING</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Unit karbon hanyalah selisih terverifikasi antara skenario baseline dan skenario proyek</a:t>
            </a:r>
            <a:endParaRPr lang="en-US" sz="2800" dirty="0"/>
          </a:p>
        </p:txBody>
      </p:sp>
      <p:sp>
        <p:nvSpPr>
          <p:cNvPr id="5" name="Text 2"/>
          <p:cNvSpPr txBox="1"/>
          <p:nvPr/>
        </p:nvSpPr>
        <p:spPr>
          <a:xfrm>
            <a:off x="548640" y="2057400"/>
            <a:ext cx="2377440" cy="502920"/>
          </a:xfrm>
          <a:prstGeom prst="rect">
            <a:avLst/>
          </a:prstGeom>
          <a:noFill/>
          <a:ln/>
        </p:spPr>
        <p:txBody>
          <a:bodyPr wrap="square" lIns="0" tIns="0" rIns="0" bIns="0" rtlCol="0" anchor="ctr"/>
          <a:lstStyle/>
          <a:p>
            <a:pPr indent="0" marL="0">
              <a:buNone/>
            </a:pPr>
            <a:r>
              <a:rPr lang="en-US" sz="1500" b="1" dirty="0">
                <a:solidFill>
                  <a:schemeClr val="tx1"/>
                </a:solidFill>
              </a:rPr>
              <a:t>Baseline (BAU)</a:t>
            </a:r>
            <a:endParaRPr lang="en-US" sz="1500" dirty="0"/>
          </a:p>
        </p:txBody>
      </p:sp>
      <p:sp>
        <p:nvSpPr>
          <p:cNvPr id="6" name="Text 3"/>
          <p:cNvSpPr txBox="1"/>
          <p:nvPr/>
        </p:nvSpPr>
        <p:spPr>
          <a:xfrm>
            <a:off x="548640" y="2834640"/>
            <a:ext cx="2377440" cy="502920"/>
          </a:xfrm>
          <a:prstGeom prst="rect">
            <a:avLst/>
          </a:prstGeom>
          <a:noFill/>
          <a:ln/>
        </p:spPr>
        <p:txBody>
          <a:bodyPr wrap="square" lIns="0" tIns="0" rIns="0" bIns="0" rtlCol="0" anchor="ctr"/>
          <a:lstStyle/>
          <a:p>
            <a:pPr indent="0" marL="0">
              <a:buNone/>
            </a:pPr>
            <a:r>
              <a:rPr lang="en-US" sz="1500" b="1" dirty="0">
                <a:solidFill>
                  <a:schemeClr val="tx1"/>
                </a:solidFill>
              </a:rPr>
              <a:t>Skenario proyek</a:t>
            </a:r>
            <a:endParaRPr lang="en-US" sz="1500" dirty="0"/>
          </a:p>
        </p:txBody>
      </p:sp>
      <p:sp>
        <p:nvSpPr>
          <p:cNvPr id="7" name="Shape 4"/>
          <p:cNvSpPr/>
          <p:nvPr/>
        </p:nvSpPr>
        <p:spPr>
          <a:xfrm>
            <a:off x="3108960" y="2057400"/>
            <a:ext cx="5669280" cy="502920"/>
          </a:xfrm>
          <a:prstGeom prst="rect">
            <a:avLst/>
          </a:prstGeom>
          <a:solidFill>
            <a:schemeClr val="accent2"/>
          </a:solidFill>
          <a:ln/>
        </p:spPr>
      </p:sp>
      <p:sp>
        <p:nvSpPr>
          <p:cNvPr id="8" name="Shape 5"/>
          <p:cNvSpPr/>
          <p:nvPr/>
        </p:nvSpPr>
        <p:spPr>
          <a:xfrm>
            <a:off x="3108960" y="2834640"/>
            <a:ext cx="2926080" cy="502920"/>
          </a:xfrm>
          <a:prstGeom prst="rect">
            <a:avLst/>
          </a:prstGeom>
          <a:solidFill>
            <a:schemeClr val="accent1"/>
          </a:solidFill>
          <a:ln/>
        </p:spPr>
      </p:sp>
      <p:sp>
        <p:nvSpPr>
          <p:cNvPr id="9" name="Shape 6"/>
          <p:cNvSpPr/>
          <p:nvPr/>
        </p:nvSpPr>
        <p:spPr>
          <a:xfrm>
            <a:off x="6035040" y="2834640"/>
            <a:ext cx="2743200" cy="502920"/>
          </a:xfrm>
          <a:prstGeom prst="rect">
            <a:avLst/>
          </a:prstGeom>
          <a:solidFill>
            <a:schemeClr val="bg1"/>
          </a:solidFill>
          <a:ln w="19050">
            <a:solidFill>
              <a:schemeClr val="accent3"/>
            </a:solidFill>
            <a:prstDash val="dash"/>
          </a:ln>
        </p:spPr>
      </p:sp>
      <p:sp>
        <p:nvSpPr>
          <p:cNvPr id="10" name="Text 7"/>
          <p:cNvSpPr txBox="1"/>
          <p:nvPr/>
        </p:nvSpPr>
        <p:spPr>
          <a:xfrm>
            <a:off x="6035040" y="2834640"/>
            <a:ext cx="2743200" cy="502920"/>
          </a:xfrm>
          <a:prstGeom prst="rect">
            <a:avLst/>
          </a:prstGeom>
          <a:noFill/>
          <a:ln/>
        </p:spPr>
        <p:txBody>
          <a:bodyPr wrap="square" lIns="0" tIns="0" rIns="0" bIns="0" rtlCol="0" anchor="ctr"/>
          <a:lstStyle/>
          <a:p>
            <a:pPr algn="ctr" indent="0" marL="0">
              <a:buNone/>
            </a:pPr>
            <a:r>
              <a:rPr lang="en-US" sz="1400" b="1" dirty="0">
                <a:solidFill>
                  <a:schemeClr val="accent3"/>
                </a:solidFill>
              </a:rPr>
              <a:t>Potensi unit karbon</a:t>
            </a:r>
            <a:endParaRPr lang="en-US" sz="1400" dirty="0"/>
          </a:p>
        </p:txBody>
      </p:sp>
      <p:sp>
        <p:nvSpPr>
          <p:cNvPr id="11" name="Text 8"/>
          <p:cNvSpPr txBox="1"/>
          <p:nvPr/>
        </p:nvSpPr>
        <p:spPr>
          <a:xfrm>
            <a:off x="3246120" y="2057400"/>
            <a:ext cx="2743200" cy="502920"/>
          </a:xfrm>
          <a:prstGeom prst="rect">
            <a:avLst/>
          </a:prstGeom>
          <a:noFill/>
          <a:ln/>
        </p:spPr>
        <p:txBody>
          <a:bodyPr wrap="square" lIns="0" tIns="0" rIns="0" bIns="0" rtlCol="0" anchor="ctr"/>
          <a:lstStyle/>
          <a:p>
            <a:pPr indent="0" marL="0">
              <a:buNone/>
            </a:pPr>
            <a:r>
              <a:rPr lang="en-US" sz="1300" dirty="0">
                <a:solidFill>
                  <a:schemeClr val="bg1"/>
                </a:solidFill>
              </a:rPr>
              <a:t>emisi tanpa intervensi</a:t>
            </a:r>
            <a:endParaRPr lang="en-US" sz="1300" dirty="0"/>
          </a:p>
        </p:txBody>
      </p:sp>
      <p:sp>
        <p:nvSpPr>
          <p:cNvPr id="12" name="Text 9"/>
          <p:cNvSpPr txBox="1"/>
          <p:nvPr/>
        </p:nvSpPr>
        <p:spPr>
          <a:xfrm>
            <a:off x="3246120" y="2834640"/>
            <a:ext cx="2743200" cy="502920"/>
          </a:xfrm>
          <a:prstGeom prst="rect">
            <a:avLst/>
          </a:prstGeom>
          <a:noFill/>
          <a:ln/>
        </p:spPr>
        <p:txBody>
          <a:bodyPr wrap="square" lIns="0" tIns="0" rIns="0" bIns="0" rtlCol="0" anchor="ctr"/>
          <a:lstStyle/>
          <a:p>
            <a:pPr indent="0" marL="0">
              <a:buNone/>
            </a:pPr>
            <a:r>
              <a:rPr lang="en-US" sz="1300" dirty="0">
                <a:solidFill>
                  <a:schemeClr val="bg1"/>
                </a:solidFill>
              </a:rPr>
              <a:t>emisi setelah MUK</a:t>
            </a:r>
            <a:endParaRPr lang="en-US" sz="1300" dirty="0"/>
          </a:p>
        </p:txBody>
      </p:sp>
      <p:sp>
        <p:nvSpPr>
          <p:cNvPr id="13" name="Text 10"/>
          <p:cNvSpPr txBox="1"/>
          <p:nvPr/>
        </p:nvSpPr>
        <p:spPr>
          <a:xfrm>
            <a:off x="9098280" y="2148840"/>
            <a:ext cx="2544775" cy="1188720"/>
          </a:xfrm>
          <a:prstGeom prst="rect">
            <a:avLst/>
          </a:prstGeom>
          <a:noFill/>
          <a:ln/>
        </p:spPr>
        <p:txBody>
          <a:bodyPr wrap="square" lIns="0" tIns="0" rIns="0" bIns="0" rtlCol="0" anchor="t"/>
          <a:lstStyle/>
          <a:p>
            <a:pPr indent="0" marL="0">
              <a:buNone/>
            </a:pPr>
            <a:r>
              <a:rPr lang="en-US" sz="1500" b="1" dirty="0">
                <a:solidFill>
                  <a:schemeClr val="tx1"/>
                </a:solidFill>
              </a:rPr>
              <a:t>Syarat agar selisih menjadi kredit</a:t>
            </a:r>
            <a:endParaRPr lang="en-US" sz="1500" dirty="0"/>
          </a:p>
          <a:p>
            <a:pPr indent="0" marL="0">
              <a:buNone/>
            </a:pPr>
            <a:r>
              <a:rPr lang="en-US" sz="1500" b="1" dirty="0">
                <a:solidFill>
                  <a:schemeClr val="accent3"/>
                </a:solidFill>
              </a:rPr>
              <a:t>terukur · additional ·</a:t>
            </a:r>
            <a:endParaRPr lang="en-US" sz="1500" dirty="0"/>
          </a:p>
          <a:p>
            <a:pPr indent="0" marL="0">
              <a:buNone/>
            </a:pPr>
            <a:r>
              <a:rPr lang="en-US" sz="1500" b="1" dirty="0">
                <a:solidFill>
                  <a:schemeClr val="accent3"/>
                </a:solidFill>
              </a:rPr>
              <a:t>tervalidasi · terverifikasi</a:t>
            </a:r>
            <a:endParaRPr lang="en-US" sz="1500" dirty="0"/>
          </a:p>
        </p:txBody>
      </p:sp>
      <p:sp>
        <p:nvSpPr>
          <p:cNvPr id="14" name="Text 11"/>
          <p:cNvSpPr txBox="1"/>
          <p:nvPr/>
        </p:nvSpPr>
        <p:spPr>
          <a:xfrm>
            <a:off x="3108960" y="3410712"/>
            <a:ext cx="2743200" cy="228600"/>
          </a:xfrm>
          <a:prstGeom prst="rect">
            <a:avLst/>
          </a:prstGeom>
          <a:noFill/>
          <a:ln/>
        </p:spPr>
        <p:txBody>
          <a:bodyPr wrap="square" lIns="0" tIns="0" rIns="0" bIns="0" rtlCol="0" anchor="t"/>
          <a:lstStyle/>
          <a:p>
            <a:pPr indent="0" marL="0">
              <a:buNone/>
            </a:pPr>
            <a:r>
              <a:rPr lang="en-US" sz="1000" i="1" dirty="0">
                <a:solidFill>
                  <a:schemeClr val="accent4"/>
                </a:solidFill>
              </a:rPr>
              <a:t>Ilustrasi, tidak berskala.</a:t>
            </a:r>
            <a:endParaRPr lang="en-US" sz="1000" dirty="0"/>
          </a:p>
        </p:txBody>
      </p:sp>
      <p:sp>
        <p:nvSpPr>
          <p:cNvPr id="15" name="Shape 12"/>
          <p:cNvSpPr/>
          <p:nvPr/>
        </p:nvSpPr>
        <p:spPr>
          <a:xfrm>
            <a:off x="548640" y="3840480"/>
            <a:ext cx="11094415" cy="0"/>
          </a:xfrm>
          <a:prstGeom prst="line">
            <a:avLst/>
          </a:prstGeom>
          <a:noFill/>
          <a:ln w="9525">
            <a:solidFill>
              <a:schemeClr val="accent5"/>
            </a:solidFill>
            <a:prstDash val="solid"/>
          </a:ln>
        </p:spPr>
      </p:sp>
      <p:sp>
        <p:nvSpPr>
          <p:cNvPr id="16" name="Text 13"/>
          <p:cNvSpPr txBox="1"/>
          <p:nvPr/>
        </p:nvSpPr>
        <p:spPr>
          <a:xfrm>
            <a:off x="548640" y="3977640"/>
            <a:ext cx="5318608" cy="274320"/>
          </a:xfrm>
          <a:prstGeom prst="rect">
            <a:avLst/>
          </a:prstGeom>
          <a:noFill/>
          <a:ln/>
        </p:spPr>
        <p:txBody>
          <a:bodyPr wrap="square" lIns="0" tIns="0" rIns="0" bIns="0" rtlCol="0" anchor="t"/>
          <a:lstStyle/>
          <a:p>
            <a:pPr indent="0" marL="0">
              <a:buNone/>
            </a:pPr>
            <a:r>
              <a:rPr lang="en-US" sz="1200" b="1" spc="100" kern="0" dirty="0">
                <a:solidFill>
                  <a:schemeClr val="accent4"/>
                </a:solidFill>
              </a:rPr>
              <a:t>Pendorong emisi baseline (RKU HTI)</a:t>
            </a:r>
            <a:endParaRPr lang="en-US" sz="1200" dirty="0"/>
          </a:p>
        </p:txBody>
      </p:sp>
      <p:sp>
        <p:nvSpPr>
          <p:cNvPr id="17" name="Text 14"/>
          <p:cNvSpPr txBox="1"/>
          <p:nvPr/>
        </p:nvSpPr>
        <p:spPr>
          <a:xfrm>
            <a:off x="548640" y="4343400"/>
            <a:ext cx="5318608" cy="14630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Pembukaan vegetasi yang legal</a:t>
            </a:r>
            <a:endParaRPr lang="en-US" sz="1500" dirty="0"/>
          </a:p>
          <a:p>
            <a:pPr marL="342900" indent="-342900">
              <a:spcAft>
                <a:spcPts val="400"/>
              </a:spcAft>
              <a:buSzPct val="100000"/>
              <a:buChar char="•"/>
            </a:pPr>
            <a:r>
              <a:rPr lang="en-US" sz="1500" dirty="0">
                <a:solidFill>
                  <a:schemeClr val="tx1"/>
                </a:solidFill>
              </a:rPr>
              <a:t>Pembangunan &amp; drainase kanal yang legal</a:t>
            </a:r>
            <a:endParaRPr lang="en-US" sz="1500" dirty="0"/>
          </a:p>
          <a:p>
            <a:pPr marL="342900" indent="-342900">
              <a:spcAft>
                <a:spcPts val="400"/>
              </a:spcAft>
              <a:buSzPct val="100000"/>
              <a:buChar char="•"/>
            </a:pPr>
            <a:r>
              <a:rPr lang="en-US" sz="1500" dirty="0">
                <a:solidFill>
                  <a:schemeClr val="tx1"/>
                </a:solidFill>
              </a:rPr>
              <a:t>Rotasi tanaman</a:t>
            </a:r>
            <a:endParaRPr lang="en-US" sz="1500" dirty="0"/>
          </a:p>
          <a:p>
            <a:pPr marL="342900" indent="-342900">
              <a:spcAft>
                <a:spcPts val="400"/>
              </a:spcAft>
              <a:buSzPct val="100000"/>
              <a:buChar char="•"/>
            </a:pPr>
            <a:r>
              <a:rPr lang="en-US" sz="1500" dirty="0">
                <a:solidFill>
                  <a:schemeClr val="tx1"/>
                </a:solidFill>
              </a:rPr>
              <a:t>Risiko emisi gambut &amp; kebakaran</a:t>
            </a:r>
            <a:endParaRPr lang="en-US" sz="1500" dirty="0"/>
          </a:p>
        </p:txBody>
      </p:sp>
      <p:sp>
        <p:nvSpPr>
          <p:cNvPr id="18" name="Text 15"/>
          <p:cNvSpPr txBox="1"/>
          <p:nvPr/>
        </p:nvSpPr>
        <p:spPr>
          <a:xfrm>
            <a:off x="6324448" y="3977640"/>
            <a:ext cx="5318608" cy="274320"/>
          </a:xfrm>
          <a:prstGeom prst="rect">
            <a:avLst/>
          </a:prstGeom>
          <a:noFill/>
          <a:ln/>
        </p:spPr>
        <p:txBody>
          <a:bodyPr wrap="square" lIns="0" tIns="0" rIns="0" bIns="0" rtlCol="0" anchor="t"/>
          <a:lstStyle/>
          <a:p>
            <a:pPr indent="0" marL="0">
              <a:buNone/>
            </a:pPr>
            <a:r>
              <a:rPr lang="en-US" sz="1200" b="1" spc="100" kern="0" dirty="0">
                <a:solidFill>
                  <a:schemeClr val="accent4"/>
                </a:solidFill>
              </a:rPr>
              <a:t>Intervensi proyek (MUK karbon)</a:t>
            </a:r>
            <a:endParaRPr lang="en-US" sz="1200" dirty="0"/>
          </a:p>
        </p:txBody>
      </p:sp>
      <p:sp>
        <p:nvSpPr>
          <p:cNvPr id="19" name="Text 16"/>
          <p:cNvSpPr txBox="1"/>
          <p:nvPr/>
        </p:nvSpPr>
        <p:spPr>
          <a:xfrm>
            <a:off x="6324448" y="4343400"/>
            <a:ext cx="5318608" cy="14630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Perlindungan hutan &amp; hindari konversi eligible</a:t>
            </a:r>
            <a:endParaRPr lang="en-US" sz="1500" dirty="0"/>
          </a:p>
          <a:p>
            <a:pPr marL="342900" indent="-342900">
              <a:spcAft>
                <a:spcPts val="400"/>
              </a:spcAft>
              <a:buSzPct val="100000"/>
              <a:buChar char="•"/>
            </a:pPr>
            <a:r>
              <a:rPr lang="en-US" sz="1500" dirty="0">
                <a:solidFill>
                  <a:schemeClr val="tx1"/>
                </a:solidFill>
              </a:rPr>
              <a:t>Rewetting &amp; restorasi</a:t>
            </a:r>
            <a:endParaRPr lang="en-US" sz="1500" dirty="0"/>
          </a:p>
          <a:p>
            <a:pPr marL="342900" indent="-342900">
              <a:spcAft>
                <a:spcPts val="400"/>
              </a:spcAft>
              <a:buSzPct val="100000"/>
              <a:buChar char="•"/>
            </a:pPr>
            <a:r>
              <a:rPr lang="en-US" sz="1500" dirty="0">
                <a:solidFill>
                  <a:schemeClr val="tx1"/>
                </a:solidFill>
              </a:rPr>
              <a:t>Pengendalian kebakaran</a:t>
            </a:r>
            <a:endParaRPr lang="en-US" sz="1500" dirty="0"/>
          </a:p>
          <a:p>
            <a:pPr marL="342900" indent="-342900">
              <a:spcAft>
                <a:spcPts val="400"/>
              </a:spcAft>
              <a:buSzPct val="100000"/>
              <a:buChar char="•"/>
            </a:pPr>
            <a:r>
              <a:rPr lang="en-US" sz="1500" dirty="0">
                <a:solidFill>
                  <a:schemeClr val="tx1"/>
                </a:solidFill>
              </a:rPr>
              <a:t>Peningkatan stok karbon</a:t>
            </a:r>
            <a:endParaRPr lang="en-US" sz="1500" dirty="0"/>
          </a:p>
        </p:txBody>
      </p:sp>
      <p:sp>
        <p:nvSpPr>
          <p:cNvPr id="20" name="Text 17"/>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chemeClr val="accent4"/>
                </a:solidFill>
              </a:rPr>
              <a:t>Permenhut 6/2026 menempatkan baseline dan additionality sebagai elemen penting aksi mitigasi/perdagangan karbon.</a:t>
            </a:r>
            <a:endParaRPr lang="en-US" sz="1000" dirty="0"/>
          </a:p>
        </p:txBody>
      </p:sp>
      <p:sp>
        <p:nvSpPr>
          <p:cNvPr id="21" name="rasio-budidaya"/>
          <p:cNvSpPr/>
          <p:nvPr/>
        </p:nvSpPr>
        <p:spPr>
          <a:xfrm>
            <a:off x="548640" y="6400800"/>
            <a:ext cx="694306" cy="91440"/>
          </a:xfrm>
          <a:prstGeom prst="rect">
            <a:avLst/>
          </a:prstGeom>
          <a:solidFill>
            <a:schemeClr val="accent2"/>
          </a:solidFill>
          <a:ln/>
        </p:spPr>
      </p:sp>
      <p:sp>
        <p:nvSpPr>
          <p:cNvPr id="22" name="rasio-lindung"/>
          <p:cNvSpPr/>
          <p:nvPr/>
        </p:nvSpPr>
        <p:spPr>
          <a:xfrm>
            <a:off x="1270378" y="6400800"/>
            <a:ext cx="741302" cy="91440"/>
          </a:xfrm>
          <a:prstGeom prst="rect">
            <a:avLst/>
          </a:prstGeom>
          <a:solidFill>
            <a:schemeClr val="accent1"/>
          </a:solidFill>
          <a:ln/>
        </p:spPr>
      </p:sp>
      <p:sp>
        <p:nvSpPr>
          <p:cNvPr id="23" name="Text 20"/>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PBPH 138.258 ha  ·  budidaya 66.908  |  lindung 71.350</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STOK KARBON 2026</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Kawasan lindung menyimpan 70,3 juta tCO₂e — 4,8 kali stok kawasan budidaya</a:t>
            </a:r>
            <a:endParaRPr lang="en-US" sz="2800" dirty="0"/>
          </a:p>
        </p:txBody>
      </p:sp>
      <p:sp>
        <p:nvSpPr>
          <p:cNvPr id="5" name="Text 2"/>
          <p:cNvSpPr txBox="1"/>
          <p:nvPr/>
        </p:nvSpPr>
        <p:spPr>
          <a:xfrm>
            <a:off x="548640" y="1920240"/>
            <a:ext cx="4206240" cy="1828800"/>
          </a:xfrm>
          <a:prstGeom prst="rect">
            <a:avLst/>
          </a:prstGeom>
          <a:noFill/>
          <a:ln/>
        </p:spPr>
        <p:txBody>
          <a:bodyPr wrap="square" lIns="0" tIns="0" rIns="0" bIns="0" rtlCol="0" anchor="t"/>
          <a:lstStyle/>
          <a:p>
            <a:pPr indent="0" marL="0">
              <a:buNone/>
            </a:pPr>
            <a:r>
              <a:rPr lang="en-US" sz="8000" b="1" dirty="0">
                <a:solidFill>
                  <a:schemeClr val="accent1"/>
                </a:solidFill>
                <a:latin typeface="Cambria" pitchFamily="34" charset="0"/>
                <a:ea typeface="Cambria" pitchFamily="34" charset="-122"/>
                <a:cs typeface="Cambria" pitchFamily="34" charset="-120"/>
              </a:rPr>
              <a:t>70,3</a:t>
            </a:r>
            <a:endParaRPr lang="en-US" sz="1400" dirty="0"/>
          </a:p>
          <a:p>
            <a:pPr indent="0" marL="0">
              <a:buNone/>
            </a:pPr>
            <a:r>
              <a:rPr lang="en-US" sz="1600" b="1" dirty="0">
                <a:solidFill>
                  <a:schemeClr val="tx1"/>
                </a:solidFill>
              </a:rPr>
              <a:t>juta tCO₂e tersimpan di kawasan lindung</a:t>
            </a:r>
            <a:endParaRPr lang="en-US" sz="1400" dirty="0"/>
          </a:p>
        </p:txBody>
      </p:sp>
      <p:sp>
        <p:nvSpPr>
          <p:cNvPr id="6" name="Shape 3"/>
          <p:cNvSpPr/>
          <p:nvPr/>
        </p:nvSpPr>
        <p:spPr>
          <a:xfrm>
            <a:off x="548640" y="3977640"/>
            <a:ext cx="4023360" cy="0"/>
          </a:xfrm>
          <a:prstGeom prst="line">
            <a:avLst/>
          </a:prstGeom>
          <a:noFill/>
          <a:ln w="9525">
            <a:solidFill>
              <a:schemeClr val="accent5"/>
            </a:solidFill>
            <a:prstDash val="solid"/>
          </a:ln>
        </p:spPr>
      </p:sp>
      <p:sp>
        <p:nvSpPr>
          <p:cNvPr id="7" name="Text 4"/>
          <p:cNvSpPr txBox="1"/>
          <p:nvPr/>
        </p:nvSpPr>
        <p:spPr>
          <a:xfrm>
            <a:off x="548640" y="4069080"/>
            <a:ext cx="1828800" cy="365760"/>
          </a:xfrm>
          <a:prstGeom prst="rect">
            <a:avLst/>
          </a:prstGeom>
          <a:noFill/>
          <a:ln/>
        </p:spPr>
        <p:txBody>
          <a:bodyPr wrap="square" lIns="0" tIns="0" rIns="0" bIns="0" rtlCol="0" anchor="t"/>
          <a:lstStyle/>
          <a:p>
            <a:pPr indent="0" marL="0">
              <a:buNone/>
            </a:pPr>
            <a:r>
              <a:rPr lang="en-US" sz="1400" dirty="0">
                <a:solidFill>
                  <a:schemeClr val="accent4"/>
                </a:solidFill>
              </a:rPr>
              <a:t>Kandungan karbon</a:t>
            </a:r>
            <a:endParaRPr lang="en-US" sz="1400" dirty="0"/>
          </a:p>
        </p:txBody>
      </p:sp>
      <p:sp>
        <p:nvSpPr>
          <p:cNvPr id="8" name="Text 5"/>
          <p:cNvSpPr txBox="1"/>
          <p:nvPr/>
        </p:nvSpPr>
        <p:spPr>
          <a:xfrm>
            <a:off x="2377440" y="4069080"/>
            <a:ext cx="2194560" cy="365760"/>
          </a:xfrm>
          <a:prstGeom prst="rect">
            <a:avLst/>
          </a:prstGeom>
          <a:noFill/>
          <a:ln/>
        </p:spPr>
        <p:txBody>
          <a:bodyPr wrap="square" lIns="0" tIns="0" rIns="0" bIns="0" rtlCol="0" anchor="t"/>
          <a:lstStyle/>
          <a:p>
            <a:pPr algn="r" indent="0" marL="0">
              <a:buNone/>
            </a:pPr>
            <a:r>
              <a:rPr lang="en-US" sz="1400" b="1" dirty="0">
                <a:solidFill>
                  <a:schemeClr val="tx1"/>
                </a:solidFill>
              </a:rPr>
              <a:t>268,6 vs 59,5 tC/ha</a:t>
            </a:r>
            <a:endParaRPr lang="en-US" sz="1400" dirty="0"/>
          </a:p>
        </p:txBody>
      </p:sp>
      <p:sp>
        <p:nvSpPr>
          <p:cNvPr id="9" name="Text 6"/>
          <p:cNvSpPr txBox="1"/>
          <p:nvPr/>
        </p:nvSpPr>
        <p:spPr>
          <a:xfrm>
            <a:off x="548640" y="4572000"/>
            <a:ext cx="1828800" cy="365760"/>
          </a:xfrm>
          <a:prstGeom prst="rect">
            <a:avLst/>
          </a:prstGeom>
          <a:noFill/>
          <a:ln/>
        </p:spPr>
        <p:txBody>
          <a:bodyPr wrap="square" lIns="0" tIns="0" rIns="0" bIns="0" rtlCol="0" anchor="t"/>
          <a:lstStyle/>
          <a:p>
            <a:pPr indent="0" marL="0">
              <a:buNone/>
            </a:pPr>
            <a:r>
              <a:rPr lang="en-US" sz="1400" dirty="0">
                <a:solidFill>
                  <a:schemeClr val="accent4"/>
                </a:solidFill>
              </a:rPr>
              <a:t>Luas</a:t>
            </a:r>
            <a:endParaRPr lang="en-US" sz="1400" dirty="0"/>
          </a:p>
        </p:txBody>
      </p:sp>
      <p:sp>
        <p:nvSpPr>
          <p:cNvPr id="10" name="Text 7"/>
          <p:cNvSpPr txBox="1"/>
          <p:nvPr/>
        </p:nvSpPr>
        <p:spPr>
          <a:xfrm>
            <a:off x="2377440" y="4572000"/>
            <a:ext cx="2194560" cy="365760"/>
          </a:xfrm>
          <a:prstGeom prst="rect">
            <a:avLst/>
          </a:prstGeom>
          <a:noFill/>
          <a:ln/>
        </p:spPr>
        <p:txBody>
          <a:bodyPr wrap="square" lIns="0" tIns="0" rIns="0" bIns="0" rtlCol="0" anchor="t"/>
          <a:lstStyle/>
          <a:p>
            <a:pPr algn="r" indent="0" marL="0">
              <a:buNone/>
            </a:pPr>
            <a:r>
              <a:rPr lang="en-US" sz="1400" b="1" dirty="0">
                <a:solidFill>
                  <a:schemeClr val="tx1"/>
                </a:solidFill>
              </a:rPr>
              <a:t>71.350 vs 66.908 ha</a:t>
            </a:r>
            <a:endParaRPr lang="en-US" sz="1400" dirty="0"/>
          </a:p>
        </p:txBody>
      </p:sp>
      <p:sp>
        <p:nvSpPr>
          <p:cNvPr id="11" name="Text 8"/>
          <p:cNvSpPr txBox="1"/>
          <p:nvPr/>
        </p:nvSpPr>
        <p:spPr>
          <a:xfrm>
            <a:off x="548640" y="5074920"/>
            <a:ext cx="4023360" cy="274320"/>
          </a:xfrm>
          <a:prstGeom prst="rect">
            <a:avLst/>
          </a:prstGeom>
          <a:noFill/>
          <a:ln/>
        </p:spPr>
        <p:txBody>
          <a:bodyPr wrap="square" lIns="0" tIns="0" rIns="0" bIns="0" rtlCol="0" anchor="t"/>
          <a:lstStyle/>
          <a:p>
            <a:pPr algn="r" indent="0" marL="0">
              <a:buNone/>
            </a:pPr>
            <a:r>
              <a:rPr lang="en-US" sz="1100" i="1" dirty="0">
                <a:solidFill>
                  <a:schemeClr val="accent4"/>
                </a:solidFill>
              </a:rPr>
              <a:t>lindung vs budidaya</a:t>
            </a:r>
            <a:endParaRPr lang="en-US" sz="1100" dirty="0"/>
          </a:p>
        </p:txBody>
      </p:sp>
      <p:graphicFrame>
        <p:nvGraphicFramePr>
          <p:cNvPr id="12" name="Chart 0" descr=""/>
          <p:cNvGraphicFramePr/>
          <p:nvPr/>
        </p:nvGraphicFramePr>
        <p:xfrm>
          <a:off x="5120640" y="1920240"/>
          <a:ext cx="6492240" cy="356616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chemeClr val="accent4"/>
                </a:solidFill>
              </a:rPr>
              <a:t>Data: stok karbon PBPH PT Mayawana Persada 2026 (lihat Lampiran B).</a:t>
            </a:r>
            <a:endParaRPr lang="en-US" sz="1000" dirty="0"/>
          </a:p>
        </p:txBody>
      </p:sp>
      <p:sp>
        <p:nvSpPr>
          <p:cNvPr id="14" name="rasio-budidaya"/>
          <p:cNvSpPr/>
          <p:nvPr/>
        </p:nvSpPr>
        <p:spPr>
          <a:xfrm>
            <a:off x="548640" y="6400800"/>
            <a:ext cx="694306" cy="91440"/>
          </a:xfrm>
          <a:prstGeom prst="rect">
            <a:avLst/>
          </a:prstGeom>
          <a:solidFill>
            <a:srgbClr val="D5DBD6"/>
          </a:solidFill>
          <a:ln/>
        </p:spPr>
      </p:sp>
      <p:sp>
        <p:nvSpPr>
          <p:cNvPr id="15" name="rasio-lindung"/>
          <p:cNvSpPr/>
          <p:nvPr/>
        </p:nvSpPr>
        <p:spPr>
          <a:xfrm>
            <a:off x="1270378" y="6400800"/>
            <a:ext cx="741302" cy="91440"/>
          </a:xfrm>
          <a:prstGeom prst="rect">
            <a:avLst/>
          </a:prstGeom>
          <a:solidFill>
            <a:schemeClr val="accent1"/>
          </a:solidFill>
          <a:ln/>
        </p:spPr>
      </p:sp>
      <p:sp>
        <p:nvSpPr>
          <p:cNvPr id="16" name="Text 12"/>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Fokus: kawasan lindung 71.350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EMISI KAWASAN BUDIDAYA</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Pembukaan 46.648 ha sejak 2021 melepas ±12,2 juta tCO₂ — hampir separuhnya dari kohort 2023</a:t>
            </a:r>
            <a:endParaRPr lang="en-US" sz="2800" dirty="0"/>
          </a:p>
        </p:txBody>
      </p:sp>
      <p:graphicFrame>
        <p:nvGraphicFramePr>
          <p:cNvPr id="5" name="Chart 0" descr=""/>
          <p:cNvGraphicFramePr/>
          <p:nvPr/>
        </p:nvGraphicFramePr>
        <p:xfrm>
          <a:off x="548640" y="1920240"/>
          <a:ext cx="7315200" cy="38404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8412480" y="2057400"/>
            <a:ext cx="3230575" cy="914400"/>
          </a:xfrm>
          <a:prstGeom prst="rect">
            <a:avLst/>
          </a:prstGeom>
          <a:noFill/>
          <a:ln/>
        </p:spPr>
        <p:txBody>
          <a:bodyPr wrap="square" lIns="0" tIns="0" rIns="0" bIns="0" rtlCol="0" anchor="t"/>
          <a:lstStyle/>
          <a:p>
            <a:pPr indent="0" marL="0">
              <a:buNone/>
            </a:pPr>
            <a:r>
              <a:rPr lang="en-US" sz="2800" b="1" dirty="0">
                <a:solidFill>
                  <a:schemeClr val="tx1"/>
                </a:solidFill>
                <a:latin typeface="Cambria" pitchFamily="34" charset="0"/>
                <a:ea typeface="Cambria" pitchFamily="34" charset="-122"/>
                <a:cs typeface="Cambria" pitchFamily="34" charset="-120"/>
              </a:rPr>
              <a:t>46.648 ha</a:t>
            </a:r>
            <a:endParaRPr lang="en-US" sz="1400" dirty="0"/>
          </a:p>
          <a:p>
            <a:pPr indent="0" marL="0">
              <a:buNone/>
            </a:pPr>
            <a:r>
              <a:rPr lang="en-US" sz="1400" dirty="0">
                <a:solidFill>
                  <a:schemeClr val="accent4"/>
                </a:solidFill>
              </a:rPr>
              <a:t>dibuka 2021–2026</a:t>
            </a:r>
            <a:endParaRPr lang="en-US" sz="1400" dirty="0"/>
          </a:p>
        </p:txBody>
      </p:sp>
      <p:sp>
        <p:nvSpPr>
          <p:cNvPr id="7" name="Shape 3"/>
          <p:cNvSpPr/>
          <p:nvPr/>
        </p:nvSpPr>
        <p:spPr>
          <a:xfrm>
            <a:off x="8412480" y="3063240"/>
            <a:ext cx="3230575" cy="0"/>
          </a:xfrm>
          <a:prstGeom prst="line">
            <a:avLst/>
          </a:prstGeom>
          <a:noFill/>
          <a:ln w="9525">
            <a:solidFill>
              <a:schemeClr val="accent5"/>
            </a:solidFill>
            <a:prstDash val="solid"/>
          </a:ln>
        </p:spPr>
      </p:sp>
      <p:sp>
        <p:nvSpPr>
          <p:cNvPr id="8" name="Text 4"/>
          <p:cNvSpPr txBox="1"/>
          <p:nvPr/>
        </p:nvSpPr>
        <p:spPr>
          <a:xfrm>
            <a:off x="8412480" y="3246120"/>
            <a:ext cx="3230575" cy="914400"/>
          </a:xfrm>
          <a:prstGeom prst="rect">
            <a:avLst/>
          </a:prstGeom>
          <a:noFill/>
          <a:ln/>
        </p:spPr>
        <p:txBody>
          <a:bodyPr wrap="square" lIns="0" tIns="0" rIns="0" bIns="0" rtlCol="0" anchor="t"/>
          <a:lstStyle/>
          <a:p>
            <a:pPr indent="0" marL="0">
              <a:buNone/>
            </a:pPr>
            <a:r>
              <a:rPr lang="en-US" sz="2800" b="1" dirty="0">
                <a:solidFill>
                  <a:schemeClr val="accent3"/>
                </a:solidFill>
                <a:latin typeface="Cambria" pitchFamily="34" charset="0"/>
                <a:ea typeface="Cambria" pitchFamily="34" charset="-122"/>
                <a:cs typeface="Cambria" pitchFamily="34" charset="-120"/>
              </a:rPr>
              <a:t>19.221 ha</a:t>
            </a:r>
            <a:endParaRPr lang="en-US" sz="1400" dirty="0"/>
          </a:p>
          <a:p>
            <a:pPr indent="0" marL="0">
              <a:buNone/>
            </a:pPr>
            <a:r>
              <a:rPr lang="en-US" sz="1400" dirty="0">
                <a:solidFill>
                  <a:schemeClr val="accent4"/>
                </a:solidFill>
              </a:rPr>
              <a:t>dibuka pada 2023 saja</a:t>
            </a:r>
            <a:endParaRPr lang="en-US" sz="1400" dirty="0"/>
          </a:p>
        </p:txBody>
      </p:sp>
      <p:sp>
        <p:nvSpPr>
          <p:cNvPr id="9" name="Shape 5"/>
          <p:cNvSpPr/>
          <p:nvPr/>
        </p:nvSpPr>
        <p:spPr>
          <a:xfrm>
            <a:off x="8412480" y="4251960"/>
            <a:ext cx="3230575" cy="0"/>
          </a:xfrm>
          <a:prstGeom prst="line">
            <a:avLst/>
          </a:prstGeom>
          <a:noFill/>
          <a:ln w="9525">
            <a:solidFill>
              <a:schemeClr val="accent5"/>
            </a:solidFill>
            <a:prstDash val="solid"/>
          </a:ln>
        </p:spPr>
      </p:sp>
      <p:sp>
        <p:nvSpPr>
          <p:cNvPr id="10" name="Text 6"/>
          <p:cNvSpPr txBox="1"/>
          <p:nvPr/>
        </p:nvSpPr>
        <p:spPr>
          <a:xfrm>
            <a:off x="8412480" y="4434840"/>
            <a:ext cx="3230575" cy="914400"/>
          </a:xfrm>
          <a:prstGeom prst="rect">
            <a:avLst/>
          </a:prstGeom>
          <a:noFill/>
          <a:ln/>
        </p:spPr>
        <p:txBody>
          <a:bodyPr wrap="square" lIns="0" tIns="0" rIns="0" bIns="0" rtlCol="0" anchor="t"/>
          <a:lstStyle/>
          <a:p>
            <a:pPr indent="0" marL="0">
              <a:buNone/>
            </a:pPr>
            <a:r>
              <a:rPr lang="en-US" sz="2800" b="1" dirty="0">
                <a:solidFill>
                  <a:schemeClr val="tx1"/>
                </a:solidFill>
                <a:latin typeface="Cambria" pitchFamily="34" charset="0"/>
                <a:ea typeface="Cambria" pitchFamily="34" charset="-122"/>
                <a:cs typeface="Cambria" pitchFamily="34" charset="-120"/>
              </a:rPr>
              <a:t>20 tC/ha/th</a:t>
            </a:r>
            <a:endParaRPr lang="en-US" sz="1400" dirty="0"/>
          </a:p>
          <a:p>
            <a:pPr indent="0" marL="0">
              <a:buNone/>
            </a:pPr>
            <a:r>
              <a:rPr lang="en-US" sz="1400" dirty="0">
                <a:solidFill>
                  <a:schemeClr val="accent4"/>
                </a:solidFill>
              </a:rPr>
              <a:t>faktor emisi yang dipakai</a:t>
            </a:r>
            <a:endParaRPr lang="en-US" sz="1400" dirty="0"/>
          </a:p>
        </p:txBody>
      </p:sp>
      <p:sp>
        <p:nvSpPr>
          <p:cNvPr id="11" name="Text 7"/>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chemeClr val="accent4"/>
                </a:solidFill>
              </a:rPr>
              <a:t>Data: emisi karbon kawasan budidaya PBPH PT Mayawana Persada (lihat Lampiran B).</a:t>
            </a:r>
            <a:endParaRPr lang="en-US" sz="1000" dirty="0"/>
          </a:p>
        </p:txBody>
      </p:sp>
      <p:sp>
        <p:nvSpPr>
          <p:cNvPr id="12" name="rasio-budidaya"/>
          <p:cNvSpPr/>
          <p:nvPr/>
        </p:nvSpPr>
        <p:spPr>
          <a:xfrm>
            <a:off x="548640" y="6400800"/>
            <a:ext cx="694306" cy="91440"/>
          </a:xfrm>
          <a:prstGeom prst="rect">
            <a:avLst/>
          </a:prstGeom>
          <a:solidFill>
            <a:schemeClr val="accent2"/>
          </a:solidFill>
          <a:ln/>
        </p:spPr>
      </p:sp>
      <p:sp>
        <p:nvSpPr>
          <p:cNvPr id="13" name="rasio-lindung"/>
          <p:cNvSpPr/>
          <p:nvPr/>
        </p:nvSpPr>
        <p:spPr>
          <a:xfrm>
            <a:off x="1270378" y="6400800"/>
            <a:ext cx="741302" cy="91440"/>
          </a:xfrm>
          <a:prstGeom prst="rect">
            <a:avLst/>
          </a:prstGeom>
          <a:solidFill>
            <a:srgbClr val="D5DBD6"/>
          </a:solidFill>
          <a:ln/>
        </p:spPr>
      </p:sp>
      <p:sp>
        <p:nvSpPr>
          <p:cNvPr id="14" name="Text 10"/>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Fokus: kawasan budidaya 66.908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JIKA KONSESI BERGAMBUT</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Jika konsesi bergambut, ada lima sumber mitigasi — dan satu larangan: double counting</a:t>
            </a:r>
            <a:endParaRPr lang="en-US" sz="2800" dirty="0"/>
          </a:p>
        </p:txBody>
      </p:sp>
      <p:sp>
        <p:nvSpPr>
          <p:cNvPr id="5" name="Shape 2"/>
          <p:cNvSpPr/>
          <p:nvPr/>
        </p:nvSpPr>
        <p:spPr>
          <a:xfrm>
            <a:off x="1658082" y="2720340"/>
            <a:ext cx="8875532" cy="0"/>
          </a:xfrm>
          <a:prstGeom prst="line">
            <a:avLst/>
          </a:prstGeom>
          <a:noFill/>
          <a:ln w="19050">
            <a:solidFill>
              <a:schemeClr val="accent5"/>
            </a:solidFill>
            <a:prstDash val="solid"/>
          </a:ln>
        </p:spPr>
      </p:sp>
      <p:sp>
        <p:nvSpPr>
          <p:cNvPr id="6" name="sumber-1"/>
          <p:cNvSpPr/>
          <p:nvPr/>
        </p:nvSpPr>
        <p:spPr>
          <a:xfrm>
            <a:off x="1040862" y="2103120"/>
            <a:ext cx="1234440" cy="1234440"/>
          </a:xfrm>
          <a:prstGeom prst="ellipse">
            <a:avLst/>
          </a:prstGeom>
          <a:solidFill>
            <a:schemeClr val="accent1"/>
          </a:solidFill>
          <a:ln w="38100">
            <a:solidFill>
              <a:schemeClr val="bg1"/>
            </a:solidFill>
            <a:prstDash val="solid"/>
          </a:ln>
        </p:spPr>
      </p:sp>
      <p:sp>
        <p:nvSpPr>
          <p:cNvPr id="7" name="Text 4"/>
          <p:cNvSpPr txBox="1"/>
          <p:nvPr/>
        </p:nvSpPr>
        <p:spPr>
          <a:xfrm>
            <a:off x="1040862" y="2103120"/>
            <a:ext cx="1234440" cy="1234440"/>
          </a:xfrm>
          <a:prstGeom prst="rect">
            <a:avLst/>
          </a:prstGeom>
          <a:noFill/>
          <a:ln/>
        </p:spPr>
        <p:txBody>
          <a:bodyPr wrap="square" lIns="0" tIns="0" rIns="0" bIns="0" rtlCol="0" anchor="ctr"/>
          <a:lstStyle/>
          <a:p>
            <a:pPr algn="ctr" indent="0" marL="0">
              <a:buNone/>
            </a:pPr>
            <a:r>
              <a:rPr lang="en-US" sz="3200" b="1" dirty="0">
                <a:solidFill>
                  <a:schemeClr val="bg1"/>
                </a:solidFill>
                <a:latin typeface="Cambria" pitchFamily="34" charset="0"/>
                <a:ea typeface="Cambria" pitchFamily="34" charset="-122"/>
                <a:cs typeface="Cambria" pitchFamily="34" charset="-120"/>
              </a:rPr>
              <a:t>1</a:t>
            </a:r>
            <a:endParaRPr lang="en-US" sz="3200" dirty="0"/>
          </a:p>
        </p:txBody>
      </p:sp>
      <p:sp>
        <p:nvSpPr>
          <p:cNvPr id="8" name="Text 5"/>
          <p:cNvSpPr txBox="1"/>
          <p:nvPr/>
        </p:nvSpPr>
        <p:spPr>
          <a:xfrm>
            <a:off x="652242" y="3474720"/>
            <a:ext cx="2011680" cy="548640"/>
          </a:xfrm>
          <a:prstGeom prst="rect">
            <a:avLst/>
          </a:prstGeom>
          <a:noFill/>
          <a:ln/>
        </p:spPr>
        <p:txBody>
          <a:bodyPr wrap="square" lIns="0" tIns="0" rIns="0" bIns="0" rtlCol="0" anchor="t"/>
          <a:lstStyle/>
          <a:p>
            <a:pPr algn="ctr" indent="0" marL="0">
              <a:buNone/>
            </a:pPr>
            <a:r>
              <a:rPr lang="en-US" sz="1500" b="1" dirty="0">
                <a:solidFill>
                  <a:schemeClr val="tx1"/>
                </a:solidFill>
              </a:rPr>
              <a:t>Avoided conversion</a:t>
            </a:r>
            <a:endParaRPr lang="en-US" sz="1500" dirty="0"/>
          </a:p>
        </p:txBody>
      </p:sp>
      <p:sp>
        <p:nvSpPr>
          <p:cNvPr id="9" name="sumber-2"/>
          <p:cNvSpPr/>
          <p:nvPr/>
        </p:nvSpPr>
        <p:spPr>
          <a:xfrm>
            <a:off x="3259745" y="2103120"/>
            <a:ext cx="1234440" cy="1234440"/>
          </a:xfrm>
          <a:prstGeom prst="ellipse">
            <a:avLst/>
          </a:prstGeom>
          <a:solidFill>
            <a:schemeClr val="accent1"/>
          </a:solidFill>
          <a:ln w="38100">
            <a:solidFill>
              <a:schemeClr val="bg1"/>
            </a:solidFill>
            <a:prstDash val="solid"/>
          </a:ln>
        </p:spPr>
      </p:sp>
      <p:sp>
        <p:nvSpPr>
          <p:cNvPr id="10" name="Text 7"/>
          <p:cNvSpPr txBox="1"/>
          <p:nvPr/>
        </p:nvSpPr>
        <p:spPr>
          <a:xfrm>
            <a:off x="3259745" y="2103120"/>
            <a:ext cx="1234440" cy="1234440"/>
          </a:xfrm>
          <a:prstGeom prst="rect">
            <a:avLst/>
          </a:prstGeom>
          <a:noFill/>
          <a:ln/>
        </p:spPr>
        <p:txBody>
          <a:bodyPr wrap="square" lIns="0" tIns="0" rIns="0" bIns="0" rtlCol="0" anchor="ctr"/>
          <a:lstStyle/>
          <a:p>
            <a:pPr algn="ctr" indent="0" marL="0">
              <a:buNone/>
            </a:pPr>
            <a:r>
              <a:rPr lang="en-US" sz="3200" b="1" dirty="0">
                <a:solidFill>
                  <a:schemeClr val="bg1"/>
                </a:solidFill>
                <a:latin typeface="Cambria" pitchFamily="34" charset="0"/>
                <a:ea typeface="Cambria" pitchFamily="34" charset="-122"/>
                <a:cs typeface="Cambria" pitchFamily="34" charset="-120"/>
              </a:rPr>
              <a:t>2</a:t>
            </a:r>
            <a:endParaRPr lang="en-US" sz="3200" dirty="0"/>
          </a:p>
        </p:txBody>
      </p:sp>
      <p:sp>
        <p:nvSpPr>
          <p:cNvPr id="11" name="Text 8"/>
          <p:cNvSpPr txBox="1"/>
          <p:nvPr/>
        </p:nvSpPr>
        <p:spPr>
          <a:xfrm>
            <a:off x="2871125" y="3474720"/>
            <a:ext cx="2011680" cy="548640"/>
          </a:xfrm>
          <a:prstGeom prst="rect">
            <a:avLst/>
          </a:prstGeom>
          <a:noFill/>
          <a:ln/>
        </p:spPr>
        <p:txBody>
          <a:bodyPr wrap="square" lIns="0" tIns="0" rIns="0" bIns="0" rtlCol="0" anchor="t"/>
          <a:lstStyle/>
          <a:p>
            <a:pPr algn="ctr" indent="0" marL="0">
              <a:buNone/>
            </a:pPr>
            <a:r>
              <a:rPr lang="en-US" sz="1500" b="1" dirty="0">
                <a:solidFill>
                  <a:schemeClr val="tx1"/>
                </a:solidFill>
              </a:rPr>
              <a:t>Avoided peat drainage</a:t>
            </a:r>
            <a:endParaRPr lang="en-US" sz="1500" dirty="0"/>
          </a:p>
        </p:txBody>
      </p:sp>
      <p:sp>
        <p:nvSpPr>
          <p:cNvPr id="12" name="sumber-3"/>
          <p:cNvSpPr/>
          <p:nvPr/>
        </p:nvSpPr>
        <p:spPr>
          <a:xfrm>
            <a:off x="5478628" y="2103120"/>
            <a:ext cx="1234440" cy="1234440"/>
          </a:xfrm>
          <a:prstGeom prst="ellipse">
            <a:avLst/>
          </a:prstGeom>
          <a:solidFill>
            <a:schemeClr val="accent1"/>
          </a:solidFill>
          <a:ln w="38100">
            <a:solidFill>
              <a:schemeClr val="bg1"/>
            </a:solidFill>
            <a:prstDash val="solid"/>
          </a:ln>
        </p:spPr>
      </p:sp>
      <p:sp>
        <p:nvSpPr>
          <p:cNvPr id="13" name="Text 10"/>
          <p:cNvSpPr txBox="1"/>
          <p:nvPr/>
        </p:nvSpPr>
        <p:spPr>
          <a:xfrm>
            <a:off x="5478628" y="2103120"/>
            <a:ext cx="1234440" cy="1234440"/>
          </a:xfrm>
          <a:prstGeom prst="rect">
            <a:avLst/>
          </a:prstGeom>
          <a:noFill/>
          <a:ln/>
        </p:spPr>
        <p:txBody>
          <a:bodyPr wrap="square" lIns="0" tIns="0" rIns="0" bIns="0" rtlCol="0" anchor="ctr"/>
          <a:lstStyle/>
          <a:p>
            <a:pPr algn="ctr" indent="0" marL="0">
              <a:buNone/>
            </a:pPr>
            <a:r>
              <a:rPr lang="en-US" sz="3200" b="1" dirty="0">
                <a:solidFill>
                  <a:schemeClr val="bg1"/>
                </a:solidFill>
                <a:latin typeface="Cambria" pitchFamily="34" charset="0"/>
                <a:ea typeface="Cambria" pitchFamily="34" charset="-122"/>
                <a:cs typeface="Cambria" pitchFamily="34" charset="-120"/>
              </a:rPr>
              <a:t>3</a:t>
            </a:r>
            <a:endParaRPr lang="en-US" sz="3200" dirty="0"/>
          </a:p>
        </p:txBody>
      </p:sp>
      <p:sp>
        <p:nvSpPr>
          <p:cNvPr id="14" name="Text 11"/>
          <p:cNvSpPr txBox="1"/>
          <p:nvPr/>
        </p:nvSpPr>
        <p:spPr>
          <a:xfrm>
            <a:off x="5090008" y="3474720"/>
            <a:ext cx="2011680" cy="548640"/>
          </a:xfrm>
          <a:prstGeom prst="rect">
            <a:avLst/>
          </a:prstGeom>
          <a:noFill/>
          <a:ln/>
        </p:spPr>
        <p:txBody>
          <a:bodyPr wrap="square" lIns="0" tIns="0" rIns="0" bIns="0" rtlCol="0" anchor="t"/>
          <a:lstStyle/>
          <a:p>
            <a:pPr algn="ctr" indent="0" marL="0">
              <a:buNone/>
            </a:pPr>
            <a:r>
              <a:rPr lang="en-US" sz="1500" b="1" dirty="0">
                <a:solidFill>
                  <a:schemeClr val="tx1"/>
                </a:solidFill>
              </a:rPr>
              <a:t>Rewetting / restorasi</a:t>
            </a:r>
            <a:endParaRPr lang="en-US" sz="1500" dirty="0"/>
          </a:p>
        </p:txBody>
      </p:sp>
      <p:sp>
        <p:nvSpPr>
          <p:cNvPr id="15" name="sumber-4"/>
          <p:cNvSpPr/>
          <p:nvPr/>
        </p:nvSpPr>
        <p:spPr>
          <a:xfrm>
            <a:off x="7697511" y="2103120"/>
            <a:ext cx="1234440" cy="1234440"/>
          </a:xfrm>
          <a:prstGeom prst="ellipse">
            <a:avLst/>
          </a:prstGeom>
          <a:solidFill>
            <a:schemeClr val="accent1"/>
          </a:solidFill>
          <a:ln w="38100">
            <a:solidFill>
              <a:schemeClr val="bg1"/>
            </a:solidFill>
            <a:prstDash val="solid"/>
          </a:ln>
        </p:spPr>
      </p:sp>
      <p:sp>
        <p:nvSpPr>
          <p:cNvPr id="16" name="Text 13"/>
          <p:cNvSpPr txBox="1"/>
          <p:nvPr/>
        </p:nvSpPr>
        <p:spPr>
          <a:xfrm>
            <a:off x="7697511" y="2103120"/>
            <a:ext cx="1234440" cy="1234440"/>
          </a:xfrm>
          <a:prstGeom prst="rect">
            <a:avLst/>
          </a:prstGeom>
          <a:noFill/>
          <a:ln/>
        </p:spPr>
        <p:txBody>
          <a:bodyPr wrap="square" lIns="0" tIns="0" rIns="0" bIns="0" rtlCol="0" anchor="ctr"/>
          <a:lstStyle/>
          <a:p>
            <a:pPr algn="ctr" indent="0" marL="0">
              <a:buNone/>
            </a:pPr>
            <a:r>
              <a:rPr lang="en-US" sz="3200" b="1" dirty="0">
                <a:solidFill>
                  <a:schemeClr val="bg1"/>
                </a:solidFill>
                <a:latin typeface="Cambria" pitchFamily="34" charset="0"/>
                <a:ea typeface="Cambria" pitchFamily="34" charset="-122"/>
                <a:cs typeface="Cambria" pitchFamily="34" charset="-120"/>
              </a:rPr>
              <a:t>4</a:t>
            </a:r>
            <a:endParaRPr lang="en-US" sz="3200" dirty="0"/>
          </a:p>
        </p:txBody>
      </p:sp>
      <p:sp>
        <p:nvSpPr>
          <p:cNvPr id="17" name="Text 14"/>
          <p:cNvSpPr txBox="1"/>
          <p:nvPr/>
        </p:nvSpPr>
        <p:spPr>
          <a:xfrm>
            <a:off x="7308891" y="3474720"/>
            <a:ext cx="2011680" cy="548640"/>
          </a:xfrm>
          <a:prstGeom prst="rect">
            <a:avLst/>
          </a:prstGeom>
          <a:noFill/>
          <a:ln/>
        </p:spPr>
        <p:txBody>
          <a:bodyPr wrap="square" lIns="0" tIns="0" rIns="0" bIns="0" rtlCol="0" anchor="t"/>
          <a:lstStyle/>
          <a:p>
            <a:pPr algn="ctr" indent="0" marL="0">
              <a:buNone/>
            </a:pPr>
            <a:r>
              <a:rPr lang="en-US" sz="1500" b="1" dirty="0">
                <a:solidFill>
                  <a:schemeClr val="tx1"/>
                </a:solidFill>
              </a:rPr>
              <a:t>Fire risk reduction</a:t>
            </a:r>
            <a:endParaRPr lang="en-US" sz="1500" dirty="0"/>
          </a:p>
        </p:txBody>
      </p:sp>
      <p:sp>
        <p:nvSpPr>
          <p:cNvPr id="18" name="sumber-5"/>
          <p:cNvSpPr/>
          <p:nvPr/>
        </p:nvSpPr>
        <p:spPr>
          <a:xfrm>
            <a:off x="9916394" y="2103120"/>
            <a:ext cx="1234440" cy="1234440"/>
          </a:xfrm>
          <a:prstGeom prst="ellipse">
            <a:avLst/>
          </a:prstGeom>
          <a:solidFill>
            <a:schemeClr val="accent1"/>
          </a:solidFill>
          <a:ln w="38100">
            <a:solidFill>
              <a:schemeClr val="bg1"/>
            </a:solidFill>
            <a:prstDash val="solid"/>
          </a:ln>
        </p:spPr>
      </p:sp>
      <p:sp>
        <p:nvSpPr>
          <p:cNvPr id="19" name="Text 16"/>
          <p:cNvSpPr txBox="1"/>
          <p:nvPr/>
        </p:nvSpPr>
        <p:spPr>
          <a:xfrm>
            <a:off x="9916394" y="2103120"/>
            <a:ext cx="1234440" cy="1234440"/>
          </a:xfrm>
          <a:prstGeom prst="rect">
            <a:avLst/>
          </a:prstGeom>
          <a:noFill/>
          <a:ln/>
        </p:spPr>
        <p:txBody>
          <a:bodyPr wrap="square" lIns="0" tIns="0" rIns="0" bIns="0" rtlCol="0" anchor="ctr"/>
          <a:lstStyle/>
          <a:p>
            <a:pPr algn="ctr" indent="0" marL="0">
              <a:buNone/>
            </a:pPr>
            <a:r>
              <a:rPr lang="en-US" sz="3200" b="1" dirty="0">
                <a:solidFill>
                  <a:schemeClr val="bg1"/>
                </a:solidFill>
                <a:latin typeface="Cambria" pitchFamily="34" charset="0"/>
                <a:ea typeface="Cambria" pitchFamily="34" charset="-122"/>
                <a:cs typeface="Cambria" pitchFamily="34" charset="-120"/>
              </a:rPr>
              <a:t>5</a:t>
            </a:r>
            <a:endParaRPr lang="en-US" sz="3200" dirty="0"/>
          </a:p>
        </p:txBody>
      </p:sp>
      <p:sp>
        <p:nvSpPr>
          <p:cNvPr id="20" name="Text 17"/>
          <p:cNvSpPr txBox="1"/>
          <p:nvPr/>
        </p:nvSpPr>
        <p:spPr>
          <a:xfrm>
            <a:off x="9527774" y="3474720"/>
            <a:ext cx="2011680" cy="548640"/>
          </a:xfrm>
          <a:prstGeom prst="rect">
            <a:avLst/>
          </a:prstGeom>
          <a:noFill/>
          <a:ln/>
        </p:spPr>
        <p:txBody>
          <a:bodyPr wrap="square" lIns="0" tIns="0" rIns="0" bIns="0" rtlCol="0" anchor="t"/>
          <a:lstStyle/>
          <a:p>
            <a:pPr algn="ctr" indent="0" marL="0">
              <a:buNone/>
            </a:pPr>
            <a:r>
              <a:rPr lang="en-US" sz="1500" b="1" dirty="0">
                <a:solidFill>
                  <a:schemeClr val="tx1"/>
                </a:solidFill>
              </a:rPr>
              <a:t>Biomass recovery</a:t>
            </a:r>
            <a:endParaRPr lang="en-US" sz="1500" dirty="0"/>
          </a:p>
        </p:txBody>
      </p:sp>
      <p:sp>
        <p:nvSpPr>
          <p:cNvPr id="21" name="Shape 18"/>
          <p:cNvSpPr/>
          <p:nvPr/>
        </p:nvSpPr>
        <p:spPr>
          <a:xfrm>
            <a:off x="548640" y="4343400"/>
            <a:ext cx="11094415" cy="1325880"/>
          </a:xfrm>
          <a:prstGeom prst="rect">
            <a:avLst/>
          </a:prstGeom>
          <a:solidFill>
            <a:schemeClr val="bg2"/>
          </a:solidFill>
          <a:ln/>
        </p:spPr>
      </p:sp>
      <p:sp>
        <p:nvSpPr>
          <p:cNvPr id="22" name="Text 19"/>
          <p:cNvSpPr txBox="1"/>
          <p:nvPr/>
        </p:nvSpPr>
        <p:spPr>
          <a:xfrm>
            <a:off x="822960" y="4526280"/>
            <a:ext cx="7315200" cy="274320"/>
          </a:xfrm>
          <a:prstGeom prst="rect">
            <a:avLst/>
          </a:prstGeom>
          <a:noFill/>
          <a:ln/>
        </p:spPr>
        <p:txBody>
          <a:bodyPr wrap="square" lIns="0" tIns="0" rIns="0" bIns="0" rtlCol="0" anchor="t"/>
          <a:lstStyle/>
          <a:p>
            <a:pPr indent="0" marL="0">
              <a:buNone/>
            </a:pPr>
            <a:r>
              <a:rPr lang="en-US" sz="1200" b="1" spc="100" kern="0" dirty="0">
                <a:solidFill>
                  <a:schemeClr val="accent3"/>
                </a:solidFill>
              </a:rPr>
              <a:t>CONSTRAINT YANG WAJIB MASUK DESAIN PROYEK</a:t>
            </a:r>
            <a:endParaRPr lang="en-US" sz="1200" dirty="0"/>
          </a:p>
        </p:txBody>
      </p:sp>
      <p:sp>
        <p:nvSpPr>
          <p:cNvPr id="23" name="Text 20"/>
          <p:cNvSpPr txBox="1"/>
          <p:nvPr/>
        </p:nvSpPr>
        <p:spPr>
          <a:xfrm>
            <a:off x="822960" y="4892040"/>
            <a:ext cx="3515258" cy="320040"/>
          </a:xfrm>
          <a:prstGeom prst="rect">
            <a:avLst/>
          </a:prstGeom>
          <a:noFill/>
          <a:ln/>
        </p:spPr>
        <p:txBody>
          <a:bodyPr wrap="square" lIns="0" tIns="0" rIns="0" bIns="0" rtlCol="0" anchor="t"/>
          <a:lstStyle/>
          <a:p>
            <a:pPr marL="342900" indent="-342900">
              <a:buSzPct val="100000"/>
              <a:buChar char="•"/>
            </a:pPr>
            <a:r>
              <a:rPr lang="en-US" sz="1500" dirty="0">
                <a:solidFill>
                  <a:schemeClr val="tx1"/>
                </a:solidFill>
              </a:rPr>
              <a:t>Fungsi ekosistem gambut</a:t>
            </a:r>
            <a:endParaRPr lang="en-US" sz="1500" dirty="0"/>
          </a:p>
        </p:txBody>
      </p:sp>
      <p:sp>
        <p:nvSpPr>
          <p:cNvPr id="24" name="Text 21"/>
          <p:cNvSpPr txBox="1"/>
          <p:nvPr/>
        </p:nvSpPr>
        <p:spPr>
          <a:xfrm>
            <a:off x="4338218" y="4892040"/>
            <a:ext cx="3515258" cy="320040"/>
          </a:xfrm>
          <a:prstGeom prst="rect">
            <a:avLst/>
          </a:prstGeom>
          <a:noFill/>
          <a:ln/>
        </p:spPr>
        <p:txBody>
          <a:bodyPr wrap="square" lIns="0" tIns="0" rIns="0" bIns="0" rtlCol="0" anchor="t"/>
          <a:lstStyle/>
          <a:p>
            <a:pPr marL="342900" indent="-342900">
              <a:buSzPct val="100000"/>
              <a:buChar char="•"/>
            </a:pPr>
            <a:r>
              <a:rPr lang="en-US" sz="1500" dirty="0">
                <a:solidFill>
                  <a:schemeClr val="tx1"/>
                </a:solidFill>
              </a:rPr>
              <a:t>Kewajiban perlindungan</a:t>
            </a:r>
            <a:endParaRPr lang="en-US" sz="1500" dirty="0"/>
          </a:p>
        </p:txBody>
      </p:sp>
      <p:sp>
        <p:nvSpPr>
          <p:cNvPr id="25" name="Text 22"/>
          <p:cNvSpPr txBox="1"/>
          <p:nvPr/>
        </p:nvSpPr>
        <p:spPr>
          <a:xfrm>
            <a:off x="7853477" y="4892040"/>
            <a:ext cx="3515258" cy="320040"/>
          </a:xfrm>
          <a:prstGeom prst="rect">
            <a:avLst/>
          </a:prstGeom>
          <a:noFill/>
          <a:ln/>
        </p:spPr>
        <p:txBody>
          <a:bodyPr wrap="square" lIns="0" tIns="0" rIns="0" bIns="0" rtlCol="0" anchor="t"/>
          <a:lstStyle/>
          <a:p>
            <a:pPr marL="342900" indent="-342900">
              <a:buSzPct val="100000"/>
              <a:buChar char="•"/>
            </a:pPr>
            <a:r>
              <a:rPr lang="en-US" sz="1500" dirty="0">
                <a:solidFill>
                  <a:schemeClr val="tx1"/>
                </a:solidFill>
              </a:rPr>
              <a:t>Status kanal existing</a:t>
            </a:r>
            <a:endParaRPr lang="en-US" sz="1500" dirty="0"/>
          </a:p>
        </p:txBody>
      </p:sp>
      <p:sp>
        <p:nvSpPr>
          <p:cNvPr id="26" name="Text 23"/>
          <p:cNvSpPr txBox="1"/>
          <p:nvPr/>
        </p:nvSpPr>
        <p:spPr>
          <a:xfrm>
            <a:off x="822960" y="5239512"/>
            <a:ext cx="3515258" cy="320040"/>
          </a:xfrm>
          <a:prstGeom prst="rect">
            <a:avLst/>
          </a:prstGeom>
          <a:noFill/>
          <a:ln/>
        </p:spPr>
        <p:txBody>
          <a:bodyPr wrap="square" lIns="0" tIns="0" rIns="0" bIns="0" rtlCol="0" anchor="t"/>
          <a:lstStyle/>
          <a:p>
            <a:pPr marL="342900" indent="-342900">
              <a:buSzPct val="100000"/>
              <a:buChar char="•"/>
            </a:pPr>
            <a:r>
              <a:rPr lang="en-US" sz="1500" dirty="0">
                <a:solidFill>
                  <a:schemeClr val="tx1"/>
                </a:solidFill>
              </a:rPr>
              <a:t>Legalitas baseline</a:t>
            </a:r>
            <a:endParaRPr lang="en-US" sz="1500" dirty="0"/>
          </a:p>
        </p:txBody>
      </p:sp>
      <p:sp>
        <p:nvSpPr>
          <p:cNvPr id="27" name="Text 24"/>
          <p:cNvSpPr txBox="1"/>
          <p:nvPr/>
        </p:nvSpPr>
        <p:spPr>
          <a:xfrm>
            <a:off x="4338218" y="5239512"/>
            <a:ext cx="3515258" cy="320040"/>
          </a:xfrm>
          <a:prstGeom prst="rect">
            <a:avLst/>
          </a:prstGeom>
          <a:noFill/>
          <a:ln/>
        </p:spPr>
        <p:txBody>
          <a:bodyPr wrap="square" lIns="0" tIns="0" rIns="0" bIns="0" rtlCol="0" anchor="t"/>
          <a:lstStyle/>
          <a:p>
            <a:pPr marL="342900" indent="-342900">
              <a:buSzPct val="100000"/>
              <a:buChar char="•"/>
            </a:pPr>
            <a:r>
              <a:rPr lang="en-US" sz="1500" dirty="0">
                <a:solidFill>
                  <a:schemeClr val="tx1"/>
                </a:solidFill>
              </a:rPr>
              <a:t>Permanence / reversal</a:t>
            </a:r>
            <a:endParaRPr lang="en-US" sz="1500" dirty="0"/>
          </a:p>
        </p:txBody>
      </p:sp>
      <p:sp>
        <p:nvSpPr>
          <p:cNvPr id="28" name="Text 25"/>
          <p:cNvSpPr txBox="1"/>
          <p:nvPr/>
        </p:nvSpPr>
        <p:spPr>
          <a:xfrm>
            <a:off x="7853477" y="5239512"/>
            <a:ext cx="3515258" cy="320040"/>
          </a:xfrm>
          <a:prstGeom prst="rect">
            <a:avLst/>
          </a:prstGeom>
          <a:noFill/>
          <a:ln/>
        </p:spPr>
        <p:txBody>
          <a:bodyPr wrap="square" lIns="0" tIns="0" rIns="0" bIns="0" rtlCol="0" anchor="t"/>
          <a:lstStyle/>
          <a:p>
            <a:pPr marL="342900" indent="-342900">
              <a:buSzPct val="100000"/>
              <a:buChar char="•"/>
            </a:pPr>
            <a:r>
              <a:rPr lang="en-US" sz="1500" dirty="0">
                <a:solidFill>
                  <a:schemeClr val="tx1"/>
                </a:solidFill>
              </a:rPr>
              <a:t>Kebakaran</a:t>
            </a:r>
            <a:endParaRPr lang="en-US" sz="1500" dirty="0"/>
          </a:p>
        </p:txBody>
      </p:sp>
      <p:sp>
        <p:nvSpPr>
          <p:cNvPr id="29" name="rasio-budidaya"/>
          <p:cNvSpPr/>
          <p:nvPr/>
        </p:nvSpPr>
        <p:spPr>
          <a:xfrm>
            <a:off x="548640" y="6400800"/>
            <a:ext cx="694306" cy="91440"/>
          </a:xfrm>
          <a:prstGeom prst="rect">
            <a:avLst/>
          </a:prstGeom>
          <a:solidFill>
            <a:srgbClr val="D5DBD6"/>
          </a:solidFill>
          <a:ln/>
        </p:spPr>
      </p:sp>
      <p:sp>
        <p:nvSpPr>
          <p:cNvPr id="30" name="rasio-lindung"/>
          <p:cNvSpPr/>
          <p:nvPr/>
        </p:nvSpPr>
        <p:spPr>
          <a:xfrm>
            <a:off x="1270378" y="6400800"/>
            <a:ext cx="741302" cy="91440"/>
          </a:xfrm>
          <a:prstGeom prst="rect">
            <a:avLst/>
          </a:prstGeom>
          <a:solidFill>
            <a:schemeClr val="accent1"/>
          </a:solidFill>
          <a:ln/>
        </p:spPr>
      </p:sp>
      <p:sp>
        <p:nvSpPr>
          <p:cNvPr id="31" name="Text 28"/>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Fokus: kawasan lindung 71.350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3840480" y="2331720"/>
            <a:ext cx="7680960" cy="320040"/>
          </a:xfrm>
          <a:prstGeom prst="rect">
            <a:avLst/>
          </a:prstGeom>
          <a:noFill/>
          <a:ln/>
        </p:spPr>
        <p:txBody>
          <a:bodyPr wrap="square" lIns="0" tIns="0" rIns="0" bIns="0" rtlCol="0"/>
          <a:lstStyle/>
          <a:p>
            <a:pPr indent="0" marL="0">
              <a:buNone/>
            </a:pPr>
            <a:r>
              <a:rPr lang="en-US" sz="1400" b="1" spc="300" kern="0" dirty="0">
                <a:solidFill>
                  <a:schemeClr val="accent6"/>
                </a:solidFill>
              </a:rPr>
              <a:t>GATE 3  ·  BISNIS</a:t>
            </a:r>
            <a:endParaRPr lang="en-US" sz="1400" dirty="0"/>
          </a:p>
        </p:txBody>
      </p:sp>
      <p:sp>
        <p:nvSpPr>
          <p:cNvPr id="3" name="Text 0"/>
          <p:cNvSpPr/>
          <p:nvPr>
            <p:ph idx="101" type="title" hasCustomPrompt="1"/>
          </p:nvPr>
        </p:nvSpPr>
        <p:spPr>
          <a:xfrm>
            <a:off x="3840480" y="2743200"/>
            <a:ext cx="7680960" cy="146304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Apakah risk-adjusted NPV karbon mengalahkan alternatif HTI?</a:t>
            </a:r>
            <a:endParaRPr lang="en-US" sz="3600" dirty="0"/>
          </a:p>
        </p:txBody>
      </p:sp>
      <p:sp>
        <p:nvSpPr>
          <p:cNvPr id="4" name="Text 2"/>
          <p:cNvSpPr txBox="1"/>
          <p:nvPr/>
        </p:nvSpPr>
        <p:spPr>
          <a:xfrm>
            <a:off x="548640" y="1554480"/>
            <a:ext cx="2926080" cy="3291840"/>
          </a:xfrm>
          <a:prstGeom prst="rect">
            <a:avLst/>
          </a:prstGeom>
          <a:noFill/>
          <a:ln/>
        </p:spPr>
        <p:txBody>
          <a:bodyPr wrap="square" lIns="0" tIns="0" rIns="0" bIns="0" rtlCol="0" anchor="ctr"/>
          <a:lstStyle/>
          <a:p>
            <a:pPr algn="l" indent="0" marL="0">
              <a:buNone/>
            </a:pPr>
            <a:r>
              <a:rPr lang="en-US" sz="22000" b="1" dirty="0">
                <a:solidFill>
                  <a:schemeClr val="accent6"/>
                </a:solidFill>
                <a:latin typeface="Cambria" pitchFamily="34" charset="0"/>
                <a:ea typeface="Cambria" pitchFamily="34" charset="-122"/>
                <a:cs typeface="Cambria" pitchFamily="34" charset="-120"/>
              </a:rPr>
              <a:t>3</a:t>
            </a:r>
            <a:endParaRPr lang="en-US" sz="22000" dirty="0"/>
          </a:p>
        </p:txBody>
      </p:sp>
      <p:sp>
        <p:nvSpPr>
          <p:cNvPr id="5" name="Text 3"/>
          <p:cNvSpPr txBox="1"/>
          <p:nvPr/>
        </p:nvSpPr>
        <p:spPr>
          <a:xfrm>
            <a:off x="3840480" y="4343400"/>
            <a:ext cx="7680960" cy="365760"/>
          </a:xfrm>
          <a:prstGeom prst="rect">
            <a:avLst/>
          </a:prstGeom>
          <a:noFill/>
          <a:ln/>
        </p:spPr>
        <p:txBody>
          <a:bodyPr wrap="square" lIns="0" tIns="0" rIns="0" bIns="0" rtlCol="0" anchor="t"/>
          <a:lstStyle/>
          <a:p>
            <a:pPr indent="0" marL="0">
              <a:buNone/>
            </a:pPr>
            <a:r>
              <a:rPr lang="en-US" sz="1500" dirty="0">
                <a:solidFill>
                  <a:srgbClr val="C8D6CD"/>
                </a:solidFill>
              </a:rPr>
              <a:t>NPV HTI vs karbon  ·  Variabel nilai  ·  Risiko</a:t>
            </a:r>
            <a:endParaRPr lang="en-US" sz="15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KELAYAKAN USAHA</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Bandingkan NPV, bukan harga karbon per hektar</a:t>
            </a:r>
            <a:endParaRPr lang="en-US" sz="2800" dirty="0"/>
          </a:p>
        </p:txBody>
      </p:sp>
      <p:sp>
        <p:nvSpPr>
          <p:cNvPr id="5" name="Text 2"/>
          <p:cNvSpPr txBox="1"/>
          <p:nvPr/>
        </p:nvSpPr>
        <p:spPr>
          <a:xfrm>
            <a:off x="548640" y="1965960"/>
            <a:ext cx="5090008" cy="411480"/>
          </a:xfrm>
          <a:prstGeom prst="rect">
            <a:avLst/>
          </a:prstGeom>
          <a:noFill/>
          <a:ln/>
        </p:spPr>
        <p:txBody>
          <a:bodyPr wrap="square" lIns="0" tIns="0" rIns="0" bIns="0" rtlCol="0" anchor="t"/>
          <a:lstStyle/>
          <a:p>
            <a:pPr indent="0" marL="0">
              <a:buNone/>
            </a:pPr>
            <a:r>
              <a:rPr lang="en-US" sz="1200" b="1" spc="200" kern="0" dirty="0">
                <a:solidFill>
                  <a:schemeClr val="accent4"/>
                </a:solidFill>
              </a:rPr>
              <a:t>SKENARIO A  </a:t>
            </a:r>
            <a:pPr indent="0" marL="0">
              <a:buNone/>
            </a:pPr>
            <a:r>
              <a:rPr lang="en-US" sz="2200" b="1" dirty="0">
                <a:solidFill>
                  <a:schemeClr val="tx1"/>
                </a:solidFill>
                <a:latin typeface="Cambria" pitchFamily="34" charset="0"/>
                <a:ea typeface="Cambria" pitchFamily="34" charset="-122"/>
                <a:cs typeface="Cambria" pitchFamily="34" charset="-120"/>
              </a:rPr>
              <a:t>Lanjut HTI</a:t>
            </a:r>
            <a:endParaRPr lang="en-US" sz="1400" dirty="0"/>
          </a:p>
        </p:txBody>
      </p:sp>
      <p:sp>
        <p:nvSpPr>
          <p:cNvPr id="6" name="Shape 3"/>
          <p:cNvSpPr/>
          <p:nvPr/>
        </p:nvSpPr>
        <p:spPr>
          <a:xfrm>
            <a:off x="548640" y="2514600"/>
            <a:ext cx="5090008" cy="0"/>
          </a:xfrm>
          <a:prstGeom prst="line">
            <a:avLst/>
          </a:prstGeom>
          <a:noFill/>
          <a:ln w="25400">
            <a:solidFill>
              <a:schemeClr val="accent2"/>
            </a:solidFill>
            <a:prstDash val="solid"/>
          </a:ln>
        </p:spPr>
      </p:sp>
      <p:sp>
        <p:nvSpPr>
          <p:cNvPr id="7" name="Text 4"/>
          <p:cNvSpPr txBox="1"/>
          <p:nvPr/>
        </p:nvSpPr>
        <p:spPr>
          <a:xfrm>
            <a:off x="548640" y="2697480"/>
            <a:ext cx="5090008" cy="2560320"/>
          </a:xfrm>
          <a:prstGeom prst="rect">
            <a:avLst/>
          </a:prstGeom>
          <a:noFill/>
          <a:ln/>
        </p:spPr>
        <p:txBody>
          <a:bodyPr wrap="square" lIns="0" tIns="0" rIns="0" bIns="0" rtlCol="0" anchor="t"/>
          <a:lstStyle/>
          <a:p>
            <a:pPr indent="0" marL="0">
              <a:buNone/>
            </a:pPr>
            <a:r>
              <a:rPr lang="en-US" sz="1500" b="1" dirty="0">
                <a:solidFill>
                  <a:schemeClr val="tx1"/>
                </a:solidFill>
              </a:rPr>
              <a:t>Pendapatan</a:t>
            </a:r>
            <a:endParaRPr lang="en-US" sz="1500" dirty="0"/>
          </a:p>
          <a:p>
            <a:pPr indent="0" marL="0">
              <a:buNone/>
            </a:pPr>
            <a:r>
              <a:rPr lang="en-US" sz="1500" dirty="0">
                <a:solidFill>
                  <a:schemeClr val="tx1"/>
                </a:solidFill>
              </a:rPr>
              <a:t>+  Penjualan kayu akasia</a:t>
            </a:r>
            <a:endParaRPr lang="en-US" sz="1500" dirty="0"/>
          </a:p>
          <a:p>
            <a:pPr indent="0" marL="0">
              <a:buNone/>
            </a:pPr>
            <a:r>
              <a:rPr lang="en-US" sz="600" dirty="0">
                <a:solidFill>
                  <a:schemeClr val="tx1"/>
                </a:solidFill>
              </a:rPr>
              <a:t> </a:t>
            </a:r>
            <a:endParaRPr lang="en-US" sz="1500" dirty="0"/>
          </a:p>
          <a:p>
            <a:pPr indent="0" marL="0">
              <a:buNone/>
            </a:pPr>
            <a:r>
              <a:rPr lang="en-US" sz="1500" b="1" dirty="0">
                <a:solidFill>
                  <a:schemeClr val="tx1"/>
                </a:solidFill>
              </a:rPr>
              <a:t>Biaya &amp; risiko</a:t>
            </a:r>
            <a:endParaRPr lang="en-US" sz="1500" dirty="0"/>
          </a:p>
          <a:p>
            <a:pPr indent="0" marL="0">
              <a:buNone/>
            </a:pPr>
            <a:r>
              <a:rPr lang="en-US" sz="1500" dirty="0">
                <a:solidFill>
                  <a:schemeClr val="accent4"/>
                </a:solidFill>
              </a:rPr>
              <a:t>−  Land clearing &amp; pembangunan kanal</a:t>
            </a:r>
            <a:endParaRPr lang="en-US" sz="1500" dirty="0"/>
          </a:p>
          <a:p>
            <a:pPr indent="0" marL="0">
              <a:buNone/>
            </a:pPr>
            <a:r>
              <a:rPr lang="en-US" sz="1500" dirty="0">
                <a:solidFill>
                  <a:schemeClr val="accent4"/>
                </a:solidFill>
              </a:rPr>
              <a:t>−  Nursery, planting, silvikultur</a:t>
            </a:r>
            <a:endParaRPr lang="en-US" sz="1500" dirty="0"/>
          </a:p>
          <a:p>
            <a:pPr indent="0" marL="0">
              <a:buNone/>
            </a:pPr>
            <a:r>
              <a:rPr lang="en-US" sz="1500" dirty="0">
                <a:solidFill>
                  <a:schemeClr val="accent4"/>
                </a:solidFill>
              </a:rPr>
              <a:t>−  Harvesting &amp; transport</a:t>
            </a:r>
            <a:endParaRPr lang="en-US" sz="1500" dirty="0"/>
          </a:p>
          <a:p>
            <a:pPr indent="0" marL="0">
              <a:buNone/>
            </a:pPr>
            <a:r>
              <a:rPr lang="en-US" sz="1500" dirty="0">
                <a:solidFill>
                  <a:schemeClr val="accent4"/>
                </a:solidFill>
              </a:rPr>
              <a:t>−  Kebakaran &amp; gangguan</a:t>
            </a:r>
            <a:endParaRPr lang="en-US" sz="1500" dirty="0"/>
          </a:p>
          <a:p>
            <a:pPr indent="0" marL="0">
              <a:buNone/>
            </a:pPr>
            <a:r>
              <a:rPr lang="en-US" sz="1500" dirty="0">
                <a:solidFill>
                  <a:schemeClr val="accent4"/>
                </a:solidFill>
              </a:rPr>
              <a:t>−  Kewajiban lingkungan</a:t>
            </a:r>
            <a:endParaRPr lang="en-US" sz="1500" dirty="0"/>
          </a:p>
        </p:txBody>
      </p:sp>
      <p:sp>
        <p:nvSpPr>
          <p:cNvPr id="8" name="Text 5"/>
          <p:cNvSpPr txBox="1"/>
          <p:nvPr/>
        </p:nvSpPr>
        <p:spPr>
          <a:xfrm>
            <a:off x="548640" y="5120640"/>
            <a:ext cx="5090008" cy="320040"/>
          </a:xfrm>
          <a:prstGeom prst="rect">
            <a:avLst/>
          </a:prstGeom>
          <a:noFill/>
          <a:ln/>
        </p:spPr>
        <p:txBody>
          <a:bodyPr wrap="square" lIns="0" tIns="0" rIns="0" bIns="0" rtlCol="0" anchor="t"/>
          <a:lstStyle/>
          <a:p>
            <a:pPr indent="0" marL="0">
              <a:buNone/>
            </a:pPr>
            <a:r>
              <a:rPr lang="en-US" sz="1600" b="1" dirty="0">
                <a:solidFill>
                  <a:schemeClr val="tx1"/>
                </a:solidFill>
              </a:rPr>
              <a:t>→ NPV HTI</a:t>
            </a:r>
            <a:endParaRPr lang="en-US" sz="1600" dirty="0"/>
          </a:p>
        </p:txBody>
      </p:sp>
      <p:sp>
        <p:nvSpPr>
          <p:cNvPr id="9" name="Text 6"/>
          <p:cNvSpPr txBox="1"/>
          <p:nvPr/>
        </p:nvSpPr>
        <p:spPr>
          <a:xfrm>
            <a:off x="6553048" y="1965960"/>
            <a:ext cx="5090008" cy="411480"/>
          </a:xfrm>
          <a:prstGeom prst="rect">
            <a:avLst/>
          </a:prstGeom>
          <a:noFill/>
          <a:ln/>
        </p:spPr>
        <p:txBody>
          <a:bodyPr wrap="square" lIns="0" tIns="0" rIns="0" bIns="0" rtlCol="0" anchor="t"/>
          <a:lstStyle/>
          <a:p>
            <a:pPr indent="0" marL="0">
              <a:buNone/>
            </a:pPr>
            <a:r>
              <a:rPr lang="en-US" sz="1200" b="1" spc="200" kern="0" dirty="0">
                <a:solidFill>
                  <a:schemeClr val="accent4"/>
                </a:solidFill>
              </a:rPr>
              <a:t>SKENARIO B  </a:t>
            </a:r>
            <a:pPr indent="0" marL="0">
              <a:buNone/>
            </a:pPr>
            <a:r>
              <a:rPr lang="en-US" sz="2200" b="1" dirty="0">
                <a:solidFill>
                  <a:schemeClr val="accent1"/>
                </a:solidFill>
                <a:latin typeface="Cambria" pitchFamily="34" charset="0"/>
                <a:ea typeface="Cambria" pitchFamily="34" charset="-122"/>
                <a:cs typeface="Cambria" pitchFamily="34" charset="-120"/>
              </a:rPr>
              <a:t>MUK karbon</a:t>
            </a:r>
            <a:endParaRPr lang="en-US" sz="1400" dirty="0"/>
          </a:p>
        </p:txBody>
      </p:sp>
      <p:sp>
        <p:nvSpPr>
          <p:cNvPr id="10" name="Shape 7"/>
          <p:cNvSpPr/>
          <p:nvPr/>
        </p:nvSpPr>
        <p:spPr>
          <a:xfrm>
            <a:off x="6553048" y="2514600"/>
            <a:ext cx="5090008" cy="0"/>
          </a:xfrm>
          <a:prstGeom prst="line">
            <a:avLst/>
          </a:prstGeom>
          <a:noFill/>
          <a:ln w="25400">
            <a:solidFill>
              <a:schemeClr val="accent1"/>
            </a:solidFill>
            <a:prstDash val="solid"/>
          </a:ln>
        </p:spPr>
      </p:sp>
      <p:sp>
        <p:nvSpPr>
          <p:cNvPr id="11" name="Text 8"/>
          <p:cNvSpPr txBox="1"/>
          <p:nvPr/>
        </p:nvSpPr>
        <p:spPr>
          <a:xfrm>
            <a:off x="6553048" y="2697480"/>
            <a:ext cx="5090008" cy="2560320"/>
          </a:xfrm>
          <a:prstGeom prst="rect">
            <a:avLst/>
          </a:prstGeom>
          <a:noFill/>
          <a:ln/>
        </p:spPr>
        <p:txBody>
          <a:bodyPr wrap="square" lIns="0" tIns="0" rIns="0" bIns="0" rtlCol="0" anchor="t"/>
          <a:lstStyle/>
          <a:p>
            <a:pPr indent="0" marL="0">
              <a:buNone/>
            </a:pPr>
            <a:r>
              <a:rPr lang="en-US" sz="1500" b="1" dirty="0">
                <a:solidFill>
                  <a:schemeClr val="tx1"/>
                </a:solidFill>
              </a:rPr>
              <a:t>Pendapatan</a:t>
            </a:r>
            <a:endParaRPr lang="en-US" sz="1500" dirty="0"/>
          </a:p>
          <a:p>
            <a:pPr indent="0" marL="0">
              <a:buNone/>
            </a:pPr>
            <a:r>
              <a:rPr lang="en-US" sz="1500" dirty="0">
                <a:solidFill>
                  <a:schemeClr val="tx1"/>
                </a:solidFill>
              </a:rPr>
              <a:t>+  Unit karbon eligible</a:t>
            </a:r>
            <a:endParaRPr lang="en-US" sz="1500" dirty="0"/>
          </a:p>
          <a:p>
            <a:pPr indent="0" marL="0">
              <a:buNone/>
            </a:pPr>
            <a:r>
              <a:rPr lang="en-US" sz="1500" dirty="0">
                <a:solidFill>
                  <a:schemeClr val="tx1"/>
                </a:solidFill>
              </a:rPr>
              <a:t>+  Potensi PJL / HHBK lain</a:t>
            </a:r>
            <a:endParaRPr lang="en-US" sz="1500" dirty="0"/>
          </a:p>
          <a:p>
            <a:pPr indent="0" marL="0">
              <a:buNone/>
            </a:pPr>
            <a:r>
              <a:rPr lang="en-US" sz="600" dirty="0">
                <a:solidFill>
                  <a:schemeClr val="tx1"/>
                </a:solidFill>
              </a:rPr>
              <a:t> </a:t>
            </a:r>
            <a:endParaRPr lang="en-US" sz="1500" dirty="0"/>
          </a:p>
          <a:p>
            <a:pPr indent="0" marL="0">
              <a:buNone/>
            </a:pPr>
            <a:r>
              <a:rPr lang="en-US" sz="1500" b="1" dirty="0">
                <a:solidFill>
                  <a:schemeClr val="tx1"/>
                </a:solidFill>
              </a:rPr>
              <a:t>Biaya &amp; risiko</a:t>
            </a:r>
            <a:endParaRPr lang="en-US" sz="1500" dirty="0"/>
          </a:p>
          <a:p>
            <a:pPr indent="0" marL="0">
              <a:buNone/>
            </a:pPr>
            <a:r>
              <a:rPr lang="en-US" sz="1500" dirty="0">
                <a:solidFill>
                  <a:schemeClr val="accent4"/>
                </a:solidFill>
              </a:rPr>
              <a:t>−  Opportunity cost kayu</a:t>
            </a:r>
            <a:endParaRPr lang="en-US" sz="1500" dirty="0"/>
          </a:p>
          <a:p>
            <a:pPr indent="0" marL="0">
              <a:buNone/>
            </a:pPr>
            <a:r>
              <a:rPr lang="en-US" sz="1500" dirty="0">
                <a:solidFill>
                  <a:schemeClr val="accent4"/>
                </a:solidFill>
              </a:rPr>
              <a:t>−  Proteksi, restorasi, rewetting</a:t>
            </a:r>
            <a:endParaRPr lang="en-US" sz="1500" dirty="0"/>
          </a:p>
          <a:p>
            <a:pPr indent="0" marL="0">
              <a:buNone/>
            </a:pPr>
            <a:r>
              <a:rPr lang="en-US" sz="1500" dirty="0">
                <a:solidFill>
                  <a:schemeClr val="accent4"/>
                </a:solidFill>
              </a:rPr>
              <a:t>−  MRV, validasi &amp; verifikasi</a:t>
            </a:r>
            <a:endParaRPr lang="en-US" sz="1500" dirty="0"/>
          </a:p>
          <a:p>
            <a:pPr indent="0" marL="0">
              <a:buNone/>
            </a:pPr>
            <a:r>
              <a:rPr lang="en-US" sz="1500" dirty="0">
                <a:solidFill>
                  <a:schemeClr val="accent4"/>
                </a:solidFill>
              </a:rPr>
              <a:t>−  Registrasi, developer, buffer</a:t>
            </a:r>
            <a:endParaRPr lang="en-US" sz="1500" dirty="0"/>
          </a:p>
          <a:p>
            <a:pPr indent="0" marL="0">
              <a:buNone/>
            </a:pPr>
            <a:r>
              <a:rPr lang="en-US" sz="1500" dirty="0">
                <a:solidFill>
                  <a:schemeClr val="accent4"/>
                </a:solidFill>
              </a:rPr>
              <a:t>−  Community &amp; safeguard</a:t>
            </a:r>
            <a:endParaRPr lang="en-US" sz="1500" dirty="0"/>
          </a:p>
        </p:txBody>
      </p:sp>
      <p:sp>
        <p:nvSpPr>
          <p:cNvPr id="12" name="Text 9"/>
          <p:cNvSpPr txBox="1"/>
          <p:nvPr/>
        </p:nvSpPr>
        <p:spPr>
          <a:xfrm>
            <a:off x="6553048" y="5120640"/>
            <a:ext cx="5090008" cy="320040"/>
          </a:xfrm>
          <a:prstGeom prst="rect">
            <a:avLst/>
          </a:prstGeom>
          <a:noFill/>
          <a:ln/>
        </p:spPr>
        <p:txBody>
          <a:bodyPr wrap="square" lIns="0" tIns="0" rIns="0" bIns="0" rtlCol="0" anchor="t"/>
          <a:lstStyle/>
          <a:p>
            <a:pPr indent="0" marL="0">
              <a:buNone/>
            </a:pPr>
            <a:r>
              <a:rPr lang="en-US" sz="1600" b="1" dirty="0">
                <a:solidFill>
                  <a:schemeClr val="accent1"/>
                </a:solidFill>
              </a:rPr>
              <a:t>→ NPV Karbon</a:t>
            </a:r>
            <a:endParaRPr lang="en-US" sz="1600" dirty="0"/>
          </a:p>
        </p:txBody>
      </p:sp>
      <p:sp>
        <p:nvSpPr>
          <p:cNvPr id="13" name="Text 10"/>
          <p:cNvSpPr txBox="1"/>
          <p:nvPr/>
        </p:nvSpPr>
        <p:spPr>
          <a:xfrm>
            <a:off x="5638648" y="3520440"/>
            <a:ext cx="914400" cy="548640"/>
          </a:xfrm>
          <a:prstGeom prst="rect">
            <a:avLst/>
          </a:prstGeom>
          <a:noFill/>
          <a:ln/>
        </p:spPr>
        <p:txBody>
          <a:bodyPr wrap="square" lIns="0" tIns="0" rIns="0" bIns="0" rtlCol="0" anchor="t"/>
          <a:lstStyle/>
          <a:p>
            <a:pPr algn="ctr" indent="0" marL="0">
              <a:buNone/>
            </a:pPr>
            <a:r>
              <a:rPr lang="en-US" sz="2400" i="1" dirty="0">
                <a:solidFill>
                  <a:schemeClr val="accent4"/>
                </a:solidFill>
                <a:latin typeface="Cambria" pitchFamily="34" charset="0"/>
                <a:ea typeface="Cambria" pitchFamily="34" charset="-122"/>
                <a:cs typeface="Cambria" pitchFamily="34" charset="-120"/>
              </a:rPr>
              <a:t>vs</a:t>
            </a:r>
            <a:endParaRPr lang="en-US" sz="2400" dirty="0"/>
          </a:p>
        </p:txBody>
      </p:sp>
      <p:sp>
        <p:nvSpPr>
          <p:cNvPr id="14" name="Shape 11"/>
          <p:cNvSpPr/>
          <p:nvPr/>
        </p:nvSpPr>
        <p:spPr>
          <a:xfrm>
            <a:off x="548640" y="5623560"/>
            <a:ext cx="11094415" cy="457200"/>
          </a:xfrm>
          <a:prstGeom prst="rect">
            <a:avLst/>
          </a:prstGeom>
          <a:solidFill>
            <a:schemeClr val="bg2"/>
          </a:solidFill>
          <a:ln/>
        </p:spPr>
      </p:sp>
      <p:sp>
        <p:nvSpPr>
          <p:cNvPr id="15" name="Text 12"/>
          <p:cNvSpPr txBox="1"/>
          <p:nvPr/>
        </p:nvSpPr>
        <p:spPr>
          <a:xfrm>
            <a:off x="822960" y="5623560"/>
            <a:ext cx="10545775" cy="457200"/>
          </a:xfrm>
          <a:prstGeom prst="rect">
            <a:avLst/>
          </a:prstGeom>
          <a:noFill/>
          <a:ln/>
        </p:spPr>
        <p:txBody>
          <a:bodyPr wrap="square" lIns="0" tIns="0" rIns="0" bIns="0" rtlCol="0" anchor="ctr"/>
          <a:lstStyle/>
          <a:p>
            <a:pPr indent="0" marL="0">
              <a:buNone/>
            </a:pPr>
            <a:r>
              <a:rPr lang="en-US" sz="1500" b="1" dirty="0">
                <a:solidFill>
                  <a:schemeClr val="accent3"/>
                </a:solidFill>
              </a:rPr>
              <a:t>GO </a:t>
            </a:r>
            <a:pPr indent="0" marL="0">
              <a:buNone/>
            </a:pPr>
            <a:r>
              <a:rPr lang="en-US" sz="1500" b="1" dirty="0">
                <a:solidFill>
                  <a:schemeClr val="tx1"/>
                </a:solidFill>
              </a:rPr>
              <a:t>jika risk-adjusted NPV karbon &gt; NPV HTI + nilai strategis</a:t>
            </a:r>
            <a:endParaRPr lang="en-US" sz="1500" dirty="0"/>
          </a:p>
        </p:txBody>
      </p:sp>
      <p:sp>
        <p:nvSpPr>
          <p:cNvPr id="16" name="rasio-budidaya"/>
          <p:cNvSpPr/>
          <p:nvPr/>
        </p:nvSpPr>
        <p:spPr>
          <a:xfrm>
            <a:off x="548640" y="6400800"/>
            <a:ext cx="694306" cy="91440"/>
          </a:xfrm>
          <a:prstGeom prst="rect">
            <a:avLst/>
          </a:prstGeom>
          <a:solidFill>
            <a:schemeClr val="accent2"/>
          </a:solidFill>
          <a:ln/>
        </p:spPr>
      </p:sp>
      <p:sp>
        <p:nvSpPr>
          <p:cNvPr id="17" name="rasio-lindung"/>
          <p:cNvSpPr/>
          <p:nvPr/>
        </p:nvSpPr>
        <p:spPr>
          <a:xfrm>
            <a:off x="1270378" y="6400800"/>
            <a:ext cx="741302" cy="91440"/>
          </a:xfrm>
          <a:prstGeom prst="rect">
            <a:avLst/>
          </a:prstGeom>
          <a:solidFill>
            <a:schemeClr val="accent1"/>
          </a:solidFill>
          <a:ln/>
        </p:spPr>
      </p:sp>
      <p:sp>
        <p:nvSpPr>
          <p:cNvPr id="18" name="Text 15"/>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PBPH 138.258 ha  ·  budidaya 66.908  |  lindung 71.350</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VARIABEL NILAI</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Empat variabel menentukan apakah 71.350 ha benar-benar bankable</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4873752"/>
                <a:gridCol w="2011680"/>
                <a:gridCol w="2011680"/>
                <a:gridCol w="2194560"/>
              </a:tblGrid>
              <a:tr h="411480">
                <a:tc>
                  <a:txBody>
                    <a:bodyPr/>
                    <a:lstStyle/>
                    <a:p>
                      <a:pPr algn="l" indent="0" marL="0">
                        <a:buNone/>
                      </a:pPr>
                      <a:r>
                        <a:rPr lang="en-US" sz="1200" b="1" dirty="0">
                          <a:solidFill>
                            <a:srgbClr val="5F6B65"/>
                          </a:solidFill>
                          <a:latin typeface="Calibri" pitchFamily="34" charset="0"/>
                          <a:ea typeface="Calibri" pitchFamily="34" charset="-122"/>
                          <a:cs typeface="Calibri" pitchFamily="34" charset="-120"/>
                        </a:rPr>
                        <a:t>Variabel</a:t>
                      </a:r>
                      <a:endParaRPr lang="en-US" sz="12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Konservatif</a:t>
                      </a:r>
                      <a:endParaRPr lang="en-US" sz="12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Base</a:t>
                      </a:r>
                      <a:endParaRPr lang="en-US" sz="12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Upside</a:t>
                      </a:r>
                      <a:endParaRPr lang="en-US" sz="12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r>
              <a:tr h="777240">
                <a:tc>
                  <a:txBody>
                    <a:bodyPr/>
                    <a:lstStyle/>
                    <a:p>
                      <a:pPr indent="0" marL="0">
                        <a:buNone/>
                      </a:pPr>
                      <a:r>
                        <a:rPr lang="en-US" sz="1500" b="1" dirty="0">
                          <a:solidFill>
                            <a:srgbClr val="1B2420"/>
                          </a:solidFill>
                          <a:latin typeface="Calibri" pitchFamily="34" charset="0"/>
                          <a:ea typeface="Calibri" pitchFamily="34" charset="-122"/>
                          <a:cs typeface="Calibri" pitchFamily="34" charset="-120"/>
                        </a:rPr>
                        <a:t>Eligible area</a:t>
                      </a:r>
                      <a:endParaRPr lang="en-US" sz="1500" dirty="0">
                        <a:latin typeface="Calibri" charset="0"/>
                        <a:ea typeface="Calibri" charset="0"/>
                        <a:cs typeface="Calibri" charset="0"/>
                      </a:endParaRPr>
                    </a:p>
                    <a:p>
                      <a:pPr indent="0" marL="0">
                        <a:buNone/>
                      </a:pPr>
                      <a:r>
                        <a:rPr lang="en-US" sz="1200" dirty="0">
                          <a:solidFill>
                            <a:srgbClr val="5F6B65"/>
                          </a:solidFill>
                          <a:latin typeface="Calibri" pitchFamily="34" charset="0"/>
                          <a:ea typeface="Calibri" pitchFamily="34" charset="-122"/>
                          <a:cs typeface="Calibri" pitchFamily="34" charset="-120"/>
                        </a:rPr>
                        <a:t>ha yang lolos screening legal &amp; metodologi</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tcPr>
                </a:tc>
                <a:tc gridSpan="3">
                  <a:txBody>
                    <a:bodyPr/>
                    <a:lstStyle/>
                    <a:p>
                      <a:pPr algn="ctr" indent="0" marL="0">
                        <a:buNone/>
                      </a:pPr>
                      <a:r>
                        <a:rPr lang="en-US" sz="1500" i="1" dirty="0">
                          <a:solidFill>
                            <a:srgbClr val="B5551F"/>
                          </a:solidFill>
                          <a:latin typeface="Calibri" pitchFamily="34" charset="0"/>
                          <a:ea typeface="Calibri" pitchFamily="34" charset="-122"/>
                          <a:cs typeface="Calibri" pitchFamily="34" charset="-120"/>
                        </a:rPr>
                        <a:t>Kandidat 71.349,6 ha — luas eligible belum diketahui</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tcPr>
                </a:tc>
                <a:tc hMerge="1">
                  <a:tcPr/>
                </a:tc>
                <a:tc hMerge="1">
                  <a:tcPr/>
                </a:tc>
              </a:tr>
              <a:tr h="777240">
                <a:tc>
                  <a:txBody>
                    <a:bodyPr/>
                    <a:lstStyle/>
                    <a:p>
                      <a:pPr indent="0" marL="0">
                        <a:buNone/>
                      </a:pPr>
                      <a:r>
                        <a:rPr lang="en-US" sz="1500" b="1" dirty="0">
                          <a:solidFill>
                            <a:srgbClr val="1B2420"/>
                          </a:solidFill>
                          <a:latin typeface="Calibri" pitchFamily="34" charset="0"/>
                          <a:ea typeface="Calibri" pitchFamily="34" charset="-122"/>
                          <a:cs typeface="Calibri" pitchFamily="34" charset="-120"/>
                        </a:rPr>
                        <a:t>Net tCO₂e</a:t>
                      </a:r>
                      <a:endParaRPr lang="en-US" sz="1500" dirty="0">
                        <a:latin typeface="Calibri" charset="0"/>
                        <a:ea typeface="Calibri" charset="0"/>
                        <a:cs typeface="Calibri" charset="0"/>
                      </a:endParaRPr>
                    </a:p>
                    <a:p>
                      <a:pPr indent="0" marL="0">
                        <a:buNone/>
                      </a:pPr>
                      <a:r>
                        <a:rPr lang="en-US" sz="1200" dirty="0">
                          <a:solidFill>
                            <a:srgbClr val="5F6B65"/>
                          </a:solidFill>
                          <a:latin typeface="Calibri" pitchFamily="34" charset="0"/>
                          <a:ea typeface="Calibri" pitchFamily="34" charset="-122"/>
                          <a:cs typeface="Calibri" pitchFamily="34" charset="-120"/>
                        </a:rPr>
                        <a:t>6 tahun</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tcPr>
                </a:tc>
                <a:tc>
                  <a:txBody>
                    <a:bodyPr/>
                    <a:lstStyle/>
                    <a:p>
                      <a:pPr algn="r" indent="0" marL="0">
                        <a:buNone/>
                      </a:pPr>
                      <a:r>
                        <a:rPr lang="en-US" sz="1500" dirty="0">
                          <a:solidFill>
                            <a:srgbClr val="1B2420"/>
                          </a:solidFill>
                          <a:latin typeface="Calibri" pitchFamily="34" charset="0"/>
                          <a:ea typeface="Calibri" pitchFamily="34" charset="-122"/>
                          <a:cs typeface="Calibri" pitchFamily="34" charset="-120"/>
                        </a:rPr>
                        <a:t>7,4 juta</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tcPr>
                </a:tc>
                <a:tc>
                  <a:txBody>
                    <a:bodyPr/>
                    <a:lstStyle/>
                    <a:p>
                      <a:pPr algn="r" indent="0" marL="0">
                        <a:buNone/>
                      </a:pPr>
                      <a:r>
                        <a:rPr lang="en-US" sz="1500" b="1" dirty="0">
                          <a:solidFill>
                            <a:srgbClr val="1B2420"/>
                          </a:solidFill>
                          <a:latin typeface="Calibri" pitchFamily="34" charset="0"/>
                          <a:ea typeface="Calibri" pitchFamily="34" charset="-122"/>
                          <a:cs typeface="Calibri" pitchFamily="34" charset="-120"/>
                        </a:rPr>
                        <a:t>12,0 juta</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solidFill>
                      <a:srgbClr val="EEF2EE"/>
                    </a:solidFill>
                  </a:tcPr>
                </a:tc>
                <a:tc>
                  <a:txBody>
                    <a:bodyPr/>
                    <a:lstStyle/>
                    <a:p>
                      <a:pPr algn="r" indent="0" marL="0">
                        <a:buNone/>
                      </a:pPr>
                      <a:r>
                        <a:rPr lang="en-US" sz="1500" dirty="0">
                          <a:solidFill>
                            <a:srgbClr val="1B2420"/>
                          </a:solidFill>
                          <a:latin typeface="Calibri" pitchFamily="34" charset="0"/>
                          <a:ea typeface="Calibri" pitchFamily="34" charset="-122"/>
                          <a:cs typeface="Calibri" pitchFamily="34" charset="-120"/>
                        </a:rPr>
                        <a:t>16,6 juta</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tcPr>
                </a:tc>
              </a:tr>
              <a:tr h="777240">
                <a:tc>
                  <a:txBody>
                    <a:bodyPr/>
                    <a:lstStyle/>
                    <a:p>
                      <a:pPr indent="0" marL="0">
                        <a:buNone/>
                      </a:pPr>
                      <a:r>
                        <a:rPr lang="en-US" sz="1500" b="1" dirty="0">
                          <a:solidFill>
                            <a:srgbClr val="1B2420"/>
                          </a:solidFill>
                          <a:latin typeface="Calibri" pitchFamily="34" charset="0"/>
                          <a:ea typeface="Calibri" pitchFamily="34" charset="-122"/>
                          <a:cs typeface="Calibri" pitchFamily="34" charset="-120"/>
                        </a:rPr>
                        <a:t>Net carbon price</a:t>
                      </a:r>
                      <a:endParaRPr lang="en-US" sz="1500" dirty="0">
                        <a:latin typeface="Calibri" charset="0"/>
                        <a:ea typeface="Calibri" charset="0"/>
                        <a:cs typeface="Calibri" charset="0"/>
                      </a:endParaRPr>
                    </a:p>
                    <a:p>
                      <a:pPr indent="0" marL="0">
                        <a:buNone/>
                      </a:pPr>
                      <a:r>
                        <a:rPr lang="en-US" sz="1200" dirty="0">
                          <a:solidFill>
                            <a:srgbClr val="5F6B65"/>
                          </a:solidFill>
                          <a:latin typeface="Calibri" pitchFamily="34" charset="0"/>
                          <a:ea typeface="Calibri" pitchFamily="34" charset="-122"/>
                          <a:cs typeface="Calibri" pitchFamily="34" charset="-120"/>
                        </a:rPr>
                        <a:t>US$/tCO₂e, setelah fee, pajak/PNBP, biaya transaksi</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tcPr>
                </a:tc>
                <a:tc>
                  <a:txBody>
                    <a:bodyPr/>
                    <a:lstStyle/>
                    <a:p>
                      <a:pPr algn="r" indent="0" marL="0">
                        <a:buNone/>
                      </a:pPr>
                      <a:r>
                        <a:rPr lang="en-US" sz="1500" dirty="0">
                          <a:solidFill>
                            <a:srgbClr val="1B2420"/>
                          </a:solidFill>
                          <a:latin typeface="Calibri" pitchFamily="34" charset="0"/>
                          <a:ea typeface="Calibri" pitchFamily="34" charset="-122"/>
                          <a:cs typeface="Calibri" pitchFamily="34" charset="-120"/>
                        </a:rPr>
                        <a:t>4,0</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tcPr>
                </a:tc>
                <a:tc>
                  <a:txBody>
                    <a:bodyPr/>
                    <a:lstStyle/>
                    <a:p>
                      <a:pPr algn="r" indent="0" marL="0">
                        <a:buNone/>
                      </a:pPr>
                      <a:r>
                        <a:rPr lang="en-US" sz="1500" b="1" dirty="0">
                          <a:solidFill>
                            <a:srgbClr val="1B2420"/>
                          </a:solidFill>
                          <a:latin typeface="Calibri" pitchFamily="34" charset="0"/>
                          <a:ea typeface="Calibri" pitchFamily="34" charset="-122"/>
                          <a:cs typeface="Calibri" pitchFamily="34" charset="-120"/>
                        </a:rPr>
                        <a:t>8,0</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solidFill>
                      <a:srgbClr val="EEF2EE"/>
                    </a:solidFill>
                  </a:tcPr>
                </a:tc>
                <a:tc>
                  <a:txBody>
                    <a:bodyPr/>
                    <a:lstStyle/>
                    <a:p>
                      <a:pPr algn="r" indent="0" marL="0">
                        <a:buNone/>
                      </a:pPr>
                      <a:r>
                        <a:rPr lang="en-US" sz="1500" dirty="0">
                          <a:solidFill>
                            <a:srgbClr val="1B2420"/>
                          </a:solidFill>
                          <a:latin typeface="Calibri" pitchFamily="34" charset="0"/>
                          <a:ea typeface="Calibri" pitchFamily="34" charset="-122"/>
                          <a:cs typeface="Calibri" pitchFamily="34" charset="-120"/>
                        </a:rPr>
                        <a:t>16,0</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tcPr>
                </a:tc>
              </a:tr>
              <a:tr h="777240">
                <a:tc>
                  <a:txBody>
                    <a:bodyPr/>
                    <a:lstStyle/>
                    <a:p>
                      <a:pPr indent="0" marL="0">
                        <a:buNone/>
                      </a:pPr>
                      <a:r>
                        <a:rPr lang="en-US" sz="1500" b="1" dirty="0">
                          <a:solidFill>
                            <a:srgbClr val="1B2420"/>
                          </a:solidFill>
                          <a:latin typeface="Calibri" pitchFamily="34" charset="0"/>
                          <a:ea typeface="Calibri" pitchFamily="34" charset="-122"/>
                          <a:cs typeface="Calibri" pitchFamily="34" charset="-120"/>
                        </a:rPr>
                        <a:t>Opportunity cost</a:t>
                      </a:r>
                      <a:endParaRPr lang="en-US" sz="1500" dirty="0">
                        <a:latin typeface="Calibri" charset="0"/>
                        <a:ea typeface="Calibri" charset="0"/>
                        <a:cs typeface="Calibri" charset="0"/>
                      </a:endParaRPr>
                    </a:p>
                    <a:p>
                      <a:pPr indent="0" marL="0">
                        <a:buNone/>
                      </a:pPr>
                      <a:r>
                        <a:rPr lang="en-US" sz="1200" dirty="0">
                          <a:solidFill>
                            <a:srgbClr val="5F6B65"/>
                          </a:solidFill>
                          <a:latin typeface="Calibri" pitchFamily="34" charset="0"/>
                          <a:ea typeface="Calibri" pitchFamily="34" charset="-122"/>
                          <a:cs typeface="Calibri" pitchFamily="34" charset="-120"/>
                        </a:rPr>
                        <a:t>margin HTI dilepas + biaya transisi/restorasi</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tcPr>
                </a:tc>
                <a:tc>
                  <a:txBody>
                    <a:bodyPr/>
                    <a:lstStyle/>
                    <a:p>
                      <a:pPr algn="r" indent="0" marL="0">
                        <a:buNone/>
                      </a:pPr>
                      <a:r>
                        <a:rPr lang="en-US" sz="1500" dirty="0">
                          <a:solidFill>
                            <a:srgbClr val="1B2420"/>
                          </a:solidFill>
                          <a:latin typeface="Calibri" pitchFamily="34" charset="0"/>
                          <a:ea typeface="Calibri" pitchFamily="34" charset="-122"/>
                          <a:cs typeface="Calibri" pitchFamily="34" charset="-120"/>
                        </a:rPr>
                        <a:t>±US$23 juta</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tcPr>
                </a:tc>
                <a:tc>
                  <a:txBody>
                    <a:bodyPr/>
                    <a:lstStyle/>
                    <a:p>
                      <a:pPr algn="r" indent="0" marL="0">
                        <a:buNone/>
                      </a:pPr>
                      <a:r>
                        <a:rPr lang="en-US" sz="1500" b="1" dirty="0">
                          <a:solidFill>
                            <a:srgbClr val="1B2420"/>
                          </a:solidFill>
                          <a:latin typeface="Calibri" pitchFamily="34" charset="0"/>
                          <a:ea typeface="Calibri" pitchFamily="34" charset="-122"/>
                          <a:cs typeface="Calibri" pitchFamily="34" charset="-120"/>
                        </a:rPr>
                        <a:t>±US$37 juta</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solidFill>
                      <a:srgbClr val="EEF2EE"/>
                    </a:solidFill>
                  </a:tcPr>
                </a:tc>
                <a:tc>
                  <a:txBody>
                    <a:bodyPr/>
                    <a:lstStyle/>
                    <a:p>
                      <a:pPr algn="r" indent="0" marL="0">
                        <a:buNone/>
                      </a:pPr>
                      <a:r>
                        <a:rPr lang="en-US" sz="1500" dirty="0">
                          <a:solidFill>
                            <a:srgbClr val="1B2420"/>
                          </a:solidFill>
                          <a:latin typeface="Calibri" pitchFamily="34" charset="0"/>
                          <a:ea typeface="Calibri" pitchFamily="34" charset="-122"/>
                          <a:cs typeface="Calibri" pitchFamily="34" charset="-120"/>
                        </a:rPr>
                        <a:t>±US$51 juta</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tcPr>
                </a:tc>
              </a:tr>
            </a:tbl>
          </a:graphicData>
        </a:graphic>
      </p:graphicFrame>
      <p:sp>
        <p:nvSpPr>
          <p:cNvPr id="6" name="Text 2"/>
          <p:cNvSpPr txBox="1"/>
          <p:nvPr/>
        </p:nvSpPr>
        <p:spPr>
          <a:xfrm>
            <a:off x="548640" y="5623560"/>
            <a:ext cx="11094415" cy="320040"/>
          </a:xfrm>
          <a:prstGeom prst="rect">
            <a:avLst/>
          </a:prstGeom>
          <a:noFill/>
          <a:ln/>
        </p:spPr>
        <p:txBody>
          <a:bodyPr wrap="square" lIns="0" tIns="0" rIns="0" bIns="0" rtlCol="0" anchor="t"/>
          <a:lstStyle/>
          <a:p>
            <a:pPr indent="0" marL="0">
              <a:buNone/>
            </a:pPr>
            <a:r>
              <a:rPr lang="en-US" sz="1400" b="1" dirty="0">
                <a:solidFill>
                  <a:schemeClr val="accent1"/>
                </a:solidFill>
              </a:rPr>
              <a:t>Jangan memproyeksikan revenue sebelum keempat variabel punya rentang konservatif–base–upside.</a:t>
            </a:r>
            <a:endParaRPr lang="en-US" sz="1400" dirty="0"/>
          </a:p>
        </p:txBody>
      </p:sp>
      <p:sp>
        <p:nvSpPr>
          <p:cNvPr id="7" name="rasio-budidaya"/>
          <p:cNvSpPr/>
          <p:nvPr/>
        </p:nvSpPr>
        <p:spPr>
          <a:xfrm>
            <a:off x="548640" y="6400800"/>
            <a:ext cx="694306" cy="91440"/>
          </a:xfrm>
          <a:prstGeom prst="rect">
            <a:avLst/>
          </a:prstGeom>
          <a:solidFill>
            <a:srgbClr val="D5DBD6"/>
          </a:solidFill>
          <a:ln/>
        </p:spPr>
      </p:sp>
      <p:sp>
        <p:nvSpPr>
          <p:cNvPr id="8" name="rasio-lindung"/>
          <p:cNvSpPr/>
          <p:nvPr/>
        </p:nvSpPr>
        <p:spPr>
          <a:xfrm>
            <a:off x="1270378" y="6400800"/>
            <a:ext cx="741302" cy="91440"/>
          </a:xfrm>
          <a:prstGeom prst="rect">
            <a:avLst/>
          </a:prstGeom>
          <a:solidFill>
            <a:schemeClr val="accent1"/>
          </a:solidFill>
          <a:ln/>
        </p:spPr>
      </p:sp>
      <p:sp>
        <p:nvSpPr>
          <p:cNvPr id="9" name="Text 5"/>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Fokus: kawasan lindung 71.350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SKENARIO NILAI</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Pada skenario konservatif, pendapatan karbon hanya ±US$6,5 juta di atas opportunity cost</a:t>
            </a:r>
            <a:endParaRPr lang="en-US" sz="2800" dirty="0"/>
          </a:p>
        </p:txBody>
      </p:sp>
      <p:graphicFrame>
        <p:nvGraphicFramePr>
          <p:cNvPr id="5" name="Chart 0" descr=""/>
          <p:cNvGraphicFramePr/>
          <p:nvPr/>
        </p:nvGraphicFramePr>
        <p:xfrm>
          <a:off x="548640" y="1920240"/>
          <a:ext cx="7498080" cy="388620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8503920" y="2057400"/>
            <a:ext cx="3139135" cy="1463040"/>
          </a:xfrm>
          <a:prstGeom prst="rect">
            <a:avLst/>
          </a:prstGeom>
          <a:noFill/>
          <a:ln/>
        </p:spPr>
        <p:txBody>
          <a:bodyPr wrap="square" lIns="0" tIns="0" rIns="0" bIns="0" rtlCol="0" anchor="t"/>
          <a:lstStyle/>
          <a:p>
            <a:pPr indent="0" marL="0">
              <a:buNone/>
            </a:pPr>
            <a:r>
              <a:rPr lang="en-US" sz="5400" b="1" dirty="0">
                <a:solidFill>
                  <a:schemeClr val="accent3"/>
                </a:solidFill>
                <a:latin typeface="Cambria" pitchFamily="34" charset="0"/>
                <a:ea typeface="Cambria" pitchFamily="34" charset="-122"/>
                <a:cs typeface="Cambria" pitchFamily="34" charset="-120"/>
              </a:rPr>
              <a:t>+6,5</a:t>
            </a:r>
            <a:endParaRPr lang="en-US" sz="1400" dirty="0"/>
          </a:p>
          <a:p>
            <a:pPr indent="0" marL="0">
              <a:buNone/>
            </a:pPr>
            <a:r>
              <a:rPr lang="en-US" sz="1500" b="1" dirty="0">
                <a:solidFill>
                  <a:schemeClr val="tx1"/>
                </a:solidFill>
              </a:rPr>
              <a:t>US$ juta selisih konservatif</a:t>
            </a:r>
            <a:endParaRPr lang="en-US" sz="1400" dirty="0"/>
          </a:p>
        </p:txBody>
      </p:sp>
      <p:sp>
        <p:nvSpPr>
          <p:cNvPr id="7" name="Shape 3"/>
          <p:cNvSpPr/>
          <p:nvPr/>
        </p:nvSpPr>
        <p:spPr>
          <a:xfrm>
            <a:off x="8503920" y="3703320"/>
            <a:ext cx="3139135" cy="0"/>
          </a:xfrm>
          <a:prstGeom prst="line">
            <a:avLst/>
          </a:prstGeom>
          <a:noFill/>
          <a:ln w="9525">
            <a:solidFill>
              <a:schemeClr val="accent5"/>
            </a:solidFill>
            <a:prstDash val="solid"/>
          </a:ln>
        </p:spPr>
      </p:sp>
      <p:sp>
        <p:nvSpPr>
          <p:cNvPr id="8" name="Text 4"/>
          <p:cNvSpPr txBox="1"/>
          <p:nvPr/>
        </p:nvSpPr>
        <p:spPr>
          <a:xfrm>
            <a:off x="8503920" y="3840480"/>
            <a:ext cx="3139135" cy="1463040"/>
          </a:xfrm>
          <a:prstGeom prst="rect">
            <a:avLst/>
          </a:prstGeom>
          <a:noFill/>
          <a:ln/>
        </p:spPr>
        <p:txBody>
          <a:bodyPr wrap="square" lIns="0" tIns="0" rIns="0" bIns="0" rtlCol="0" anchor="t"/>
          <a:lstStyle/>
          <a:p>
            <a:pPr indent="0" marL="0">
              <a:buNone/>
            </a:pPr>
            <a:r>
              <a:rPr lang="en-US" sz="1500" dirty="0">
                <a:solidFill>
                  <a:schemeClr val="accent4"/>
                </a:solidFill>
              </a:rPr>
              <a:t>Biaya MRV, validasi, registrasi dan buffer belum dikurangi — pada skenario konservatif biaya ini bisa menghapus seluruh selisih.</a:t>
            </a:r>
            <a:endParaRPr lang="en-US" sz="1500" dirty="0"/>
          </a:p>
        </p:txBody>
      </p:sp>
      <p:sp>
        <p:nvSpPr>
          <p:cNvPr id="9" name="Text 5"/>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chemeClr val="accent4"/>
                </a:solidFill>
              </a:rPr>
              <a:t>Pendapatan = net tCO₂e × net carbon price (slide 16). Selisih base ±US$59 juta; upside ±US$214 juta.</a:t>
            </a:r>
            <a:endParaRPr lang="en-US" sz="1000" dirty="0"/>
          </a:p>
        </p:txBody>
      </p:sp>
      <p:sp>
        <p:nvSpPr>
          <p:cNvPr id="10" name="rasio-budidaya"/>
          <p:cNvSpPr/>
          <p:nvPr/>
        </p:nvSpPr>
        <p:spPr>
          <a:xfrm>
            <a:off x="548640" y="6400800"/>
            <a:ext cx="694306" cy="91440"/>
          </a:xfrm>
          <a:prstGeom prst="rect">
            <a:avLst/>
          </a:prstGeom>
          <a:solidFill>
            <a:srgbClr val="D5DBD6"/>
          </a:solidFill>
          <a:ln/>
        </p:spPr>
      </p:sp>
      <p:sp>
        <p:nvSpPr>
          <p:cNvPr id="11" name="rasio-lindung"/>
          <p:cNvSpPr/>
          <p:nvPr/>
        </p:nvSpPr>
        <p:spPr>
          <a:xfrm>
            <a:off x="1270378" y="6400800"/>
            <a:ext cx="741302" cy="91440"/>
          </a:xfrm>
          <a:prstGeom prst="rect">
            <a:avLst/>
          </a:prstGeom>
          <a:solidFill>
            <a:schemeClr val="accent1"/>
          </a:solidFill>
          <a:ln/>
        </p:spPr>
      </p:sp>
      <p:sp>
        <p:nvSpPr>
          <p:cNvPr id="12" name="Text 8"/>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Fokus: kawasan lindung 71.350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RISK REGISTER AWAL</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Risiko terbesar adalah integritas baseline, bukan teknis MRV</a:t>
            </a:r>
            <a:endParaRPr lang="en-US" sz="2800" dirty="0"/>
          </a:p>
        </p:txBody>
      </p:sp>
      <p:sp>
        <p:nvSpPr>
          <p:cNvPr id="5" name="Shape 2"/>
          <p:cNvSpPr/>
          <p:nvPr/>
        </p:nvSpPr>
        <p:spPr>
          <a:xfrm>
            <a:off x="548640" y="1965960"/>
            <a:ext cx="1188720" cy="310896"/>
          </a:xfrm>
          <a:prstGeom prst="roundRect">
            <a:avLst>
              <a:gd name="adj" fmla="val 50000"/>
            </a:avLst>
          </a:prstGeom>
          <a:solidFill>
            <a:schemeClr val="accent3"/>
          </a:solidFill>
          <a:ln/>
        </p:spPr>
      </p:sp>
      <p:sp>
        <p:nvSpPr>
          <p:cNvPr id="6" name="Text 3"/>
          <p:cNvSpPr txBox="1"/>
          <p:nvPr/>
        </p:nvSpPr>
        <p:spPr>
          <a:xfrm>
            <a:off x="548640" y="1965960"/>
            <a:ext cx="1188720" cy="310896"/>
          </a:xfrm>
          <a:prstGeom prst="rect">
            <a:avLst/>
          </a:prstGeom>
          <a:noFill/>
          <a:ln/>
        </p:spPr>
        <p:txBody>
          <a:bodyPr wrap="square" lIns="0" tIns="0" rIns="0" bIns="0" rtlCol="0" anchor="ctr"/>
          <a:lstStyle/>
          <a:p>
            <a:pPr algn="ctr" indent="0" marL="0">
              <a:buNone/>
            </a:pPr>
            <a:r>
              <a:rPr lang="en-US" sz="1100" b="1" dirty="0">
                <a:solidFill>
                  <a:schemeClr val="bg1"/>
                </a:solidFill>
              </a:rPr>
              <a:t>TINGGI</a:t>
            </a:r>
            <a:endParaRPr lang="en-US" sz="1100" dirty="0"/>
          </a:p>
        </p:txBody>
      </p:sp>
      <p:sp>
        <p:nvSpPr>
          <p:cNvPr id="7" name="Text 4"/>
          <p:cNvSpPr txBox="1"/>
          <p:nvPr/>
        </p:nvSpPr>
        <p:spPr>
          <a:xfrm>
            <a:off x="1920240" y="1965960"/>
            <a:ext cx="3901288" cy="310896"/>
          </a:xfrm>
          <a:prstGeom prst="rect">
            <a:avLst/>
          </a:prstGeom>
          <a:noFill/>
          <a:ln/>
        </p:spPr>
        <p:txBody>
          <a:bodyPr wrap="square" lIns="0" tIns="0" rIns="0" bIns="0" rtlCol="0" anchor="ctr"/>
          <a:lstStyle/>
          <a:p>
            <a:pPr indent="0" marL="0">
              <a:buNone/>
            </a:pPr>
            <a:r>
              <a:rPr lang="en-US" sz="1300" dirty="0">
                <a:solidFill>
                  <a:schemeClr val="accent4"/>
                </a:solidFill>
              </a:rPr>
              <a:t>3 risiko — semuanya menyangkut baseline &amp; stok</a:t>
            </a:r>
            <a:endParaRPr lang="en-US" sz="1300" dirty="0"/>
          </a:p>
        </p:txBody>
      </p:sp>
      <p:sp>
        <p:nvSpPr>
          <p:cNvPr id="8" name="Shape 5"/>
          <p:cNvSpPr/>
          <p:nvPr/>
        </p:nvSpPr>
        <p:spPr>
          <a:xfrm>
            <a:off x="548640" y="2514600"/>
            <a:ext cx="5272888" cy="0"/>
          </a:xfrm>
          <a:prstGeom prst="line">
            <a:avLst/>
          </a:prstGeom>
          <a:noFill/>
          <a:ln w="9525">
            <a:solidFill>
              <a:schemeClr val="accent5"/>
            </a:solidFill>
            <a:prstDash val="solid"/>
          </a:ln>
        </p:spPr>
      </p:sp>
      <p:sp>
        <p:nvSpPr>
          <p:cNvPr id="9" name="Text 6"/>
          <p:cNvSpPr txBox="1"/>
          <p:nvPr/>
        </p:nvSpPr>
        <p:spPr>
          <a:xfrm>
            <a:off x="548640" y="2624328"/>
            <a:ext cx="5272888" cy="914400"/>
          </a:xfrm>
          <a:prstGeom prst="rect">
            <a:avLst/>
          </a:prstGeom>
          <a:noFill/>
          <a:ln/>
        </p:spPr>
        <p:txBody>
          <a:bodyPr wrap="square" lIns="0" tIns="0" rIns="0" bIns="0" rtlCol="0" anchor="t"/>
          <a:lstStyle/>
          <a:p>
            <a:pPr indent="0" marL="0">
              <a:buNone/>
            </a:pPr>
            <a:r>
              <a:rPr lang="en-US" sz="1600" b="1" dirty="0">
                <a:solidFill>
                  <a:schemeClr val="tx1"/>
                </a:solidFill>
              </a:rPr>
              <a:t>Legal baseline</a:t>
            </a:r>
            <a:endParaRPr lang="en-US" sz="1400" dirty="0"/>
          </a:p>
          <a:p>
            <a:pPr indent="0" marL="0">
              <a:buNone/>
            </a:pPr>
            <a:r>
              <a:rPr lang="en-US" sz="1400" dirty="0">
                <a:solidFill>
                  <a:schemeClr val="accent4"/>
                </a:solidFill>
              </a:rPr>
              <a:t>BAU ternyata tidak legal atau areal wajib dilindungi → baseline 7,4–16,6 juta tCO₂e hilang</a:t>
            </a:r>
            <a:endParaRPr lang="en-US" sz="1400" dirty="0"/>
          </a:p>
        </p:txBody>
      </p:sp>
      <p:sp>
        <p:nvSpPr>
          <p:cNvPr id="10" name="Shape 7"/>
          <p:cNvSpPr/>
          <p:nvPr/>
        </p:nvSpPr>
        <p:spPr>
          <a:xfrm>
            <a:off x="548640" y="3611880"/>
            <a:ext cx="5272888" cy="0"/>
          </a:xfrm>
          <a:prstGeom prst="line">
            <a:avLst/>
          </a:prstGeom>
          <a:noFill/>
          <a:ln w="9525">
            <a:solidFill>
              <a:schemeClr val="accent5"/>
            </a:solidFill>
            <a:prstDash val="solid"/>
          </a:ln>
        </p:spPr>
      </p:sp>
      <p:sp>
        <p:nvSpPr>
          <p:cNvPr id="11" name="Text 8"/>
          <p:cNvSpPr txBox="1"/>
          <p:nvPr/>
        </p:nvSpPr>
        <p:spPr>
          <a:xfrm>
            <a:off x="548640" y="3721608"/>
            <a:ext cx="5272888" cy="914400"/>
          </a:xfrm>
          <a:prstGeom prst="rect">
            <a:avLst/>
          </a:prstGeom>
          <a:noFill/>
          <a:ln/>
        </p:spPr>
        <p:txBody>
          <a:bodyPr wrap="square" lIns="0" tIns="0" rIns="0" bIns="0" rtlCol="0" anchor="t"/>
          <a:lstStyle/>
          <a:p>
            <a:pPr indent="0" marL="0">
              <a:buNone/>
            </a:pPr>
            <a:r>
              <a:rPr lang="en-US" sz="1600" b="1" dirty="0">
                <a:solidFill>
                  <a:schemeClr val="tx1"/>
                </a:solidFill>
              </a:rPr>
              <a:t>Additionality</a:t>
            </a:r>
            <a:endParaRPr lang="en-US" sz="1400" dirty="0"/>
          </a:p>
          <a:p>
            <a:pPr indent="0" marL="0">
              <a:buNone/>
            </a:pPr>
            <a:r>
              <a:rPr lang="en-US" sz="1400" dirty="0">
                <a:solidFill>
                  <a:schemeClr val="accent4"/>
                </a:solidFill>
              </a:rPr>
              <a:t>BAU lindung harus dibuktikan lewat RKU/RKT, peta rencana dan rekam jejak</a:t>
            </a:r>
            <a:endParaRPr lang="en-US" sz="1400" dirty="0"/>
          </a:p>
        </p:txBody>
      </p:sp>
      <p:sp>
        <p:nvSpPr>
          <p:cNvPr id="12" name="Shape 9"/>
          <p:cNvSpPr/>
          <p:nvPr/>
        </p:nvSpPr>
        <p:spPr>
          <a:xfrm>
            <a:off x="548640" y="4709160"/>
            <a:ext cx="5272888" cy="0"/>
          </a:xfrm>
          <a:prstGeom prst="line">
            <a:avLst/>
          </a:prstGeom>
          <a:noFill/>
          <a:ln w="9525">
            <a:solidFill>
              <a:schemeClr val="accent5"/>
            </a:solidFill>
            <a:prstDash val="solid"/>
          </a:ln>
        </p:spPr>
      </p:sp>
      <p:sp>
        <p:nvSpPr>
          <p:cNvPr id="13" name="Text 10"/>
          <p:cNvSpPr txBox="1"/>
          <p:nvPr/>
        </p:nvSpPr>
        <p:spPr>
          <a:xfrm>
            <a:off x="548640" y="4818888"/>
            <a:ext cx="5272888" cy="914400"/>
          </a:xfrm>
          <a:prstGeom prst="rect">
            <a:avLst/>
          </a:prstGeom>
          <a:noFill/>
          <a:ln/>
        </p:spPr>
        <p:txBody>
          <a:bodyPr wrap="square" lIns="0" tIns="0" rIns="0" bIns="0" rtlCol="0" anchor="t"/>
          <a:lstStyle/>
          <a:p>
            <a:pPr indent="0" marL="0">
              <a:buNone/>
            </a:pPr>
            <a:r>
              <a:rPr lang="en-US" sz="1600" b="1" dirty="0">
                <a:solidFill>
                  <a:schemeClr val="tx1"/>
                </a:solidFill>
              </a:rPr>
              <a:t>Permanence / kebakaran</a:t>
            </a:r>
            <a:endParaRPr lang="en-US" sz="1400" dirty="0"/>
          </a:p>
          <a:p>
            <a:pPr indent="0" marL="0">
              <a:buNone/>
            </a:pPr>
            <a:r>
              <a:rPr lang="en-US" sz="1400" dirty="0">
                <a:solidFill>
                  <a:schemeClr val="accent4"/>
                </a:solidFill>
              </a:rPr>
              <a:t>Reversal atas stok 70,27 juta tCO₂e; persentase buffer belum ditetapkan</a:t>
            </a:r>
            <a:endParaRPr lang="en-US" sz="1400" dirty="0"/>
          </a:p>
        </p:txBody>
      </p:sp>
      <p:sp>
        <p:nvSpPr>
          <p:cNvPr id="14" name="Shape 11"/>
          <p:cNvSpPr/>
          <p:nvPr/>
        </p:nvSpPr>
        <p:spPr>
          <a:xfrm>
            <a:off x="6370168" y="1965960"/>
            <a:ext cx="1188720" cy="310896"/>
          </a:xfrm>
          <a:prstGeom prst="roundRect">
            <a:avLst>
              <a:gd name="adj" fmla="val 50000"/>
            </a:avLst>
          </a:prstGeom>
          <a:solidFill>
            <a:schemeClr val="accent2"/>
          </a:solidFill>
          <a:ln/>
        </p:spPr>
      </p:sp>
      <p:sp>
        <p:nvSpPr>
          <p:cNvPr id="15" name="Text 12"/>
          <p:cNvSpPr txBox="1"/>
          <p:nvPr/>
        </p:nvSpPr>
        <p:spPr>
          <a:xfrm>
            <a:off x="6370168" y="1965960"/>
            <a:ext cx="1188720" cy="310896"/>
          </a:xfrm>
          <a:prstGeom prst="rect">
            <a:avLst/>
          </a:prstGeom>
          <a:noFill/>
          <a:ln/>
        </p:spPr>
        <p:txBody>
          <a:bodyPr wrap="square" lIns="0" tIns="0" rIns="0" bIns="0" rtlCol="0" anchor="ctr"/>
          <a:lstStyle/>
          <a:p>
            <a:pPr algn="ctr" indent="0" marL="0">
              <a:buNone/>
            </a:pPr>
            <a:r>
              <a:rPr lang="en-US" sz="1100" b="1" dirty="0">
                <a:solidFill>
                  <a:schemeClr val="bg1"/>
                </a:solidFill>
              </a:rPr>
              <a:t>SEDANG</a:t>
            </a:r>
            <a:endParaRPr lang="en-US" sz="1100" dirty="0"/>
          </a:p>
        </p:txBody>
      </p:sp>
      <p:sp>
        <p:nvSpPr>
          <p:cNvPr id="16" name="Text 13"/>
          <p:cNvSpPr txBox="1"/>
          <p:nvPr/>
        </p:nvSpPr>
        <p:spPr>
          <a:xfrm>
            <a:off x="7741768" y="1965960"/>
            <a:ext cx="3901288" cy="310896"/>
          </a:xfrm>
          <a:prstGeom prst="rect">
            <a:avLst/>
          </a:prstGeom>
          <a:noFill/>
          <a:ln/>
        </p:spPr>
        <p:txBody>
          <a:bodyPr wrap="square" lIns="0" tIns="0" rIns="0" bIns="0" rtlCol="0" anchor="ctr"/>
          <a:lstStyle/>
          <a:p>
            <a:pPr indent="0" marL="0">
              <a:buNone/>
            </a:pPr>
            <a:r>
              <a:rPr lang="en-US" sz="1300" dirty="0">
                <a:solidFill>
                  <a:schemeClr val="accent4"/>
                </a:solidFill>
              </a:rPr>
              <a:t>3 risiko — jadwal, harga, sosial</a:t>
            </a:r>
            <a:endParaRPr lang="en-US" sz="1300" dirty="0"/>
          </a:p>
        </p:txBody>
      </p:sp>
      <p:sp>
        <p:nvSpPr>
          <p:cNvPr id="17" name="Shape 14"/>
          <p:cNvSpPr/>
          <p:nvPr/>
        </p:nvSpPr>
        <p:spPr>
          <a:xfrm>
            <a:off x="6370168" y="2514600"/>
            <a:ext cx="5272888" cy="0"/>
          </a:xfrm>
          <a:prstGeom prst="line">
            <a:avLst/>
          </a:prstGeom>
          <a:noFill/>
          <a:ln w="9525">
            <a:solidFill>
              <a:schemeClr val="accent5"/>
            </a:solidFill>
            <a:prstDash val="solid"/>
          </a:ln>
        </p:spPr>
      </p:sp>
      <p:sp>
        <p:nvSpPr>
          <p:cNvPr id="18" name="Text 15"/>
          <p:cNvSpPr txBox="1"/>
          <p:nvPr/>
        </p:nvSpPr>
        <p:spPr>
          <a:xfrm>
            <a:off x="6370168" y="2624328"/>
            <a:ext cx="5272888" cy="914400"/>
          </a:xfrm>
          <a:prstGeom prst="rect">
            <a:avLst/>
          </a:prstGeom>
          <a:noFill/>
          <a:ln/>
        </p:spPr>
        <p:txBody>
          <a:bodyPr wrap="square" lIns="0" tIns="0" rIns="0" bIns="0" rtlCol="0" anchor="t"/>
          <a:lstStyle/>
          <a:p>
            <a:pPr indent="0" marL="0">
              <a:buNone/>
            </a:pPr>
            <a:r>
              <a:rPr lang="en-US" sz="1600" b="1" dirty="0">
                <a:solidFill>
                  <a:schemeClr val="tx1"/>
                </a:solidFill>
              </a:rPr>
              <a:t>Transisi RKUPH</a:t>
            </a:r>
            <a:endParaRPr lang="en-US" sz="1400" dirty="0"/>
          </a:p>
          <a:p>
            <a:pPr indent="0" marL="0">
              <a:buNone/>
            </a:pPr>
            <a:r>
              <a:rPr lang="en-US" sz="1400" dirty="0">
                <a:solidFill>
                  <a:schemeClr val="accent4"/>
                </a:solidFill>
              </a:rPr>
              <a:t>Perubahan RKUPH belum disetujui → proyek tertunda</a:t>
            </a:r>
            <a:endParaRPr lang="en-US" sz="1400" dirty="0"/>
          </a:p>
        </p:txBody>
      </p:sp>
      <p:sp>
        <p:nvSpPr>
          <p:cNvPr id="19" name="Shape 16"/>
          <p:cNvSpPr/>
          <p:nvPr/>
        </p:nvSpPr>
        <p:spPr>
          <a:xfrm>
            <a:off x="6370168" y="3611880"/>
            <a:ext cx="5272888" cy="0"/>
          </a:xfrm>
          <a:prstGeom prst="line">
            <a:avLst/>
          </a:prstGeom>
          <a:noFill/>
          <a:ln w="9525">
            <a:solidFill>
              <a:schemeClr val="accent5"/>
            </a:solidFill>
            <a:prstDash val="solid"/>
          </a:ln>
        </p:spPr>
      </p:sp>
      <p:sp>
        <p:nvSpPr>
          <p:cNvPr id="20" name="Text 17"/>
          <p:cNvSpPr txBox="1"/>
          <p:nvPr/>
        </p:nvSpPr>
        <p:spPr>
          <a:xfrm>
            <a:off x="6370168" y="3721608"/>
            <a:ext cx="5272888" cy="914400"/>
          </a:xfrm>
          <a:prstGeom prst="rect">
            <a:avLst/>
          </a:prstGeom>
          <a:noFill/>
          <a:ln/>
        </p:spPr>
        <p:txBody>
          <a:bodyPr wrap="square" lIns="0" tIns="0" rIns="0" bIns="0" rtlCol="0" anchor="t"/>
          <a:lstStyle/>
          <a:p>
            <a:pPr indent="0" marL="0">
              <a:buNone/>
            </a:pPr>
            <a:r>
              <a:rPr lang="en-US" sz="1600" b="1" dirty="0">
                <a:solidFill>
                  <a:schemeClr val="tx1"/>
                </a:solidFill>
              </a:rPr>
              <a:t>Pasar / harga</a:t>
            </a:r>
            <a:endParaRPr lang="en-US" sz="1400" dirty="0"/>
          </a:p>
          <a:p>
            <a:pPr indent="0" marL="0">
              <a:buNone/>
            </a:pPr>
            <a:r>
              <a:rPr lang="en-US" sz="1400" dirty="0">
                <a:solidFill>
                  <a:schemeClr val="accent4"/>
                </a:solidFill>
              </a:rPr>
              <a:t>Net price US$4–8 per tCO₂e vs acuan pasar US$7–10</a:t>
            </a:r>
            <a:endParaRPr lang="en-US" sz="1400" dirty="0"/>
          </a:p>
        </p:txBody>
      </p:sp>
      <p:sp>
        <p:nvSpPr>
          <p:cNvPr id="21" name="Shape 18"/>
          <p:cNvSpPr/>
          <p:nvPr/>
        </p:nvSpPr>
        <p:spPr>
          <a:xfrm>
            <a:off x="6370168" y="4709160"/>
            <a:ext cx="5272888" cy="0"/>
          </a:xfrm>
          <a:prstGeom prst="line">
            <a:avLst/>
          </a:prstGeom>
          <a:noFill/>
          <a:ln w="9525">
            <a:solidFill>
              <a:schemeClr val="accent5"/>
            </a:solidFill>
            <a:prstDash val="solid"/>
          </a:ln>
        </p:spPr>
      </p:sp>
      <p:sp>
        <p:nvSpPr>
          <p:cNvPr id="22" name="Text 19"/>
          <p:cNvSpPr txBox="1"/>
          <p:nvPr/>
        </p:nvSpPr>
        <p:spPr>
          <a:xfrm>
            <a:off x="6370168" y="4818888"/>
            <a:ext cx="5272888" cy="914400"/>
          </a:xfrm>
          <a:prstGeom prst="rect">
            <a:avLst/>
          </a:prstGeom>
          <a:noFill/>
          <a:ln/>
        </p:spPr>
        <p:txBody>
          <a:bodyPr wrap="square" lIns="0" tIns="0" rIns="0" bIns="0" rtlCol="0" anchor="t"/>
          <a:lstStyle/>
          <a:p>
            <a:pPr indent="0" marL="0">
              <a:buNone/>
            </a:pPr>
            <a:r>
              <a:rPr lang="en-US" sz="1600" b="1" dirty="0">
                <a:solidFill>
                  <a:schemeClr val="tx1"/>
                </a:solidFill>
              </a:rPr>
              <a:t>Social safeguard</a:t>
            </a:r>
            <a:endParaRPr lang="en-US" sz="1400" dirty="0"/>
          </a:p>
          <a:p>
            <a:pPr indent="0" marL="0">
              <a:buNone/>
            </a:pPr>
            <a:r>
              <a:rPr lang="en-US" sz="1400" dirty="0">
                <a:solidFill>
                  <a:schemeClr val="accent4"/>
                </a:solidFill>
              </a:rPr>
              <a:t>Konflik tenurial &amp; benefit sharing → biaya naik, registrasi tertunda</a:t>
            </a:r>
            <a:endParaRPr lang="en-US" sz="1400" dirty="0"/>
          </a:p>
        </p:txBody>
      </p:sp>
      <p:sp>
        <p:nvSpPr>
          <p:cNvPr id="23" name="rasio-budidaya"/>
          <p:cNvSpPr/>
          <p:nvPr/>
        </p:nvSpPr>
        <p:spPr>
          <a:xfrm>
            <a:off x="548640" y="6400800"/>
            <a:ext cx="694306" cy="91440"/>
          </a:xfrm>
          <a:prstGeom prst="rect">
            <a:avLst/>
          </a:prstGeom>
          <a:solidFill>
            <a:schemeClr val="accent2"/>
          </a:solidFill>
          <a:ln/>
        </p:spPr>
      </p:sp>
      <p:sp>
        <p:nvSpPr>
          <p:cNvPr id="24" name="rasio-lindung"/>
          <p:cNvSpPr/>
          <p:nvPr/>
        </p:nvSpPr>
        <p:spPr>
          <a:xfrm>
            <a:off x="1270378" y="6400800"/>
            <a:ext cx="741302" cy="91440"/>
          </a:xfrm>
          <a:prstGeom prst="rect">
            <a:avLst/>
          </a:prstGeom>
          <a:solidFill>
            <a:schemeClr val="accent1"/>
          </a:solidFill>
          <a:ln/>
        </p:spPr>
      </p:sp>
      <p:sp>
        <p:nvSpPr>
          <p:cNvPr id="25" name="Text 22"/>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PBPH 138.258 ha  ·  budidaya 66.908  |  lindung 71.350</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LEGAL CARBON DEVELOPMENT PATHWAY</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Tujuh tahap, satu gate: RKUPH baru diubah setelah tahap 03</a:t>
            </a:r>
            <a:endParaRPr lang="en-US" sz="2800" dirty="0"/>
          </a:p>
        </p:txBody>
      </p:sp>
      <p:sp>
        <p:nvSpPr>
          <p:cNvPr id="5" name="Text 2"/>
          <p:cNvSpPr txBox="1"/>
          <p:nvPr/>
        </p:nvSpPr>
        <p:spPr>
          <a:xfrm>
            <a:off x="548640" y="1965960"/>
            <a:ext cx="4480429"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FEASIBILITY — biaya rendah, bisa dihentikan</a:t>
            </a:r>
            <a:endParaRPr lang="en-US" sz="1200" dirty="0"/>
          </a:p>
        </p:txBody>
      </p:sp>
      <p:sp>
        <p:nvSpPr>
          <p:cNvPr id="6" name="Text 3"/>
          <p:cNvSpPr txBox="1"/>
          <p:nvPr/>
        </p:nvSpPr>
        <p:spPr>
          <a:xfrm>
            <a:off x="5669149" y="1965960"/>
            <a:ext cx="5973906" cy="274320"/>
          </a:xfrm>
          <a:prstGeom prst="rect">
            <a:avLst/>
          </a:prstGeom>
          <a:noFill/>
          <a:ln/>
        </p:spPr>
        <p:txBody>
          <a:bodyPr wrap="square" lIns="0" tIns="0" rIns="0" bIns="0" rtlCol="0" anchor="t"/>
          <a:lstStyle/>
          <a:p>
            <a:pPr indent="0" marL="0">
              <a:buNone/>
            </a:pPr>
            <a:r>
              <a:rPr lang="en-US" sz="1200" b="1" spc="100" kern="0" dirty="0">
                <a:solidFill>
                  <a:schemeClr val="accent4"/>
                </a:solidFill>
              </a:rPr>
              <a:t>DEVELOPMENT — komitmen investasi</a:t>
            </a:r>
            <a:endParaRPr lang="en-US" sz="1200" dirty="0"/>
          </a:p>
        </p:txBody>
      </p:sp>
      <p:sp>
        <p:nvSpPr>
          <p:cNvPr id="7" name="Shape 4"/>
          <p:cNvSpPr/>
          <p:nvPr/>
        </p:nvSpPr>
        <p:spPr>
          <a:xfrm>
            <a:off x="594360" y="2514600"/>
            <a:ext cx="1402036" cy="73152"/>
          </a:xfrm>
          <a:prstGeom prst="rect">
            <a:avLst/>
          </a:prstGeom>
          <a:solidFill>
            <a:schemeClr val="accent1"/>
          </a:solidFill>
          <a:ln/>
        </p:spPr>
      </p:sp>
      <p:sp>
        <p:nvSpPr>
          <p:cNvPr id="8" name="Text 5"/>
          <p:cNvSpPr txBox="1"/>
          <p:nvPr/>
        </p:nvSpPr>
        <p:spPr>
          <a:xfrm>
            <a:off x="594360" y="2743200"/>
            <a:ext cx="1402036"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01</a:t>
            </a:r>
            <a:endParaRPr lang="en-US" sz="3000" dirty="0"/>
          </a:p>
        </p:txBody>
      </p:sp>
      <p:sp>
        <p:nvSpPr>
          <p:cNvPr id="9" name="Text 6"/>
          <p:cNvSpPr txBox="1"/>
          <p:nvPr/>
        </p:nvSpPr>
        <p:spPr>
          <a:xfrm>
            <a:off x="594360" y="3383280"/>
            <a:ext cx="1310596" cy="1005840"/>
          </a:xfrm>
          <a:prstGeom prst="rect">
            <a:avLst/>
          </a:prstGeom>
          <a:noFill/>
          <a:ln/>
        </p:spPr>
        <p:txBody>
          <a:bodyPr wrap="square" lIns="0" tIns="0" rIns="0" bIns="0" rtlCol="0" anchor="t"/>
          <a:lstStyle/>
          <a:p>
            <a:pPr indent="0" marL="0">
              <a:buNone/>
            </a:pPr>
            <a:r>
              <a:rPr lang="en-US" sz="1400" b="1" dirty="0">
                <a:solidFill>
                  <a:schemeClr val="tx1"/>
                </a:solidFill>
              </a:rPr>
              <a:t>Legal &amp; spatial due diligence</a:t>
            </a:r>
            <a:endParaRPr lang="en-US" sz="1400" dirty="0"/>
          </a:p>
        </p:txBody>
      </p:sp>
      <p:sp>
        <p:nvSpPr>
          <p:cNvPr id="10" name="Shape 7"/>
          <p:cNvSpPr/>
          <p:nvPr/>
        </p:nvSpPr>
        <p:spPr>
          <a:xfrm>
            <a:off x="2087836" y="2514600"/>
            <a:ext cx="1402036" cy="73152"/>
          </a:xfrm>
          <a:prstGeom prst="rect">
            <a:avLst/>
          </a:prstGeom>
          <a:solidFill>
            <a:schemeClr val="accent1"/>
          </a:solidFill>
          <a:ln/>
        </p:spPr>
      </p:sp>
      <p:sp>
        <p:nvSpPr>
          <p:cNvPr id="11" name="Text 8"/>
          <p:cNvSpPr txBox="1"/>
          <p:nvPr/>
        </p:nvSpPr>
        <p:spPr>
          <a:xfrm>
            <a:off x="2087836" y="2743200"/>
            <a:ext cx="1402036"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02</a:t>
            </a:r>
            <a:endParaRPr lang="en-US" sz="3000" dirty="0"/>
          </a:p>
        </p:txBody>
      </p:sp>
      <p:sp>
        <p:nvSpPr>
          <p:cNvPr id="12" name="Text 9"/>
          <p:cNvSpPr txBox="1"/>
          <p:nvPr/>
        </p:nvSpPr>
        <p:spPr>
          <a:xfrm>
            <a:off x="2087836" y="3383280"/>
            <a:ext cx="1310596" cy="1005840"/>
          </a:xfrm>
          <a:prstGeom prst="rect">
            <a:avLst/>
          </a:prstGeom>
          <a:noFill/>
          <a:ln/>
        </p:spPr>
        <p:txBody>
          <a:bodyPr wrap="square" lIns="0" tIns="0" rIns="0" bIns="0" rtlCol="0" anchor="t"/>
          <a:lstStyle/>
          <a:p>
            <a:pPr indent="0" marL="0">
              <a:buNone/>
            </a:pPr>
            <a:r>
              <a:rPr lang="en-US" sz="1400" b="1" dirty="0">
                <a:solidFill>
                  <a:schemeClr val="tx1"/>
                </a:solidFill>
              </a:rPr>
              <a:t>Carbon feasibility &amp; metodologi</a:t>
            </a:r>
            <a:endParaRPr lang="en-US" sz="1400" dirty="0"/>
          </a:p>
        </p:txBody>
      </p:sp>
      <p:sp>
        <p:nvSpPr>
          <p:cNvPr id="13" name="Shape 10"/>
          <p:cNvSpPr/>
          <p:nvPr/>
        </p:nvSpPr>
        <p:spPr>
          <a:xfrm>
            <a:off x="3581313" y="2514600"/>
            <a:ext cx="1402036" cy="73152"/>
          </a:xfrm>
          <a:prstGeom prst="rect">
            <a:avLst/>
          </a:prstGeom>
          <a:solidFill>
            <a:schemeClr val="accent1"/>
          </a:solidFill>
          <a:ln/>
        </p:spPr>
      </p:sp>
      <p:sp>
        <p:nvSpPr>
          <p:cNvPr id="14" name="Text 11"/>
          <p:cNvSpPr txBox="1"/>
          <p:nvPr/>
        </p:nvSpPr>
        <p:spPr>
          <a:xfrm>
            <a:off x="3581313" y="2743200"/>
            <a:ext cx="1402036"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03</a:t>
            </a:r>
            <a:endParaRPr lang="en-US" sz="3000" dirty="0"/>
          </a:p>
        </p:txBody>
      </p:sp>
      <p:sp>
        <p:nvSpPr>
          <p:cNvPr id="15" name="Text 12"/>
          <p:cNvSpPr txBox="1"/>
          <p:nvPr/>
        </p:nvSpPr>
        <p:spPr>
          <a:xfrm>
            <a:off x="3581313" y="3383280"/>
            <a:ext cx="1310596" cy="1005840"/>
          </a:xfrm>
          <a:prstGeom prst="rect">
            <a:avLst/>
          </a:prstGeom>
          <a:noFill/>
          <a:ln/>
        </p:spPr>
        <p:txBody>
          <a:bodyPr wrap="square" lIns="0" tIns="0" rIns="0" bIns="0" rtlCol="0" anchor="t"/>
          <a:lstStyle/>
          <a:p>
            <a:pPr indent="0" marL="0">
              <a:buNone/>
            </a:pPr>
            <a:r>
              <a:rPr lang="en-US" sz="1400" b="1" dirty="0">
                <a:solidFill>
                  <a:schemeClr val="tx1"/>
                </a:solidFill>
              </a:rPr>
              <a:t>Business case NPV HTI vs karbon</a:t>
            </a:r>
            <a:endParaRPr lang="en-US" sz="1400" dirty="0"/>
          </a:p>
        </p:txBody>
      </p:sp>
      <p:sp>
        <p:nvSpPr>
          <p:cNvPr id="16" name="Shape 13"/>
          <p:cNvSpPr/>
          <p:nvPr/>
        </p:nvSpPr>
        <p:spPr>
          <a:xfrm>
            <a:off x="5714869" y="2514600"/>
            <a:ext cx="1402036" cy="73152"/>
          </a:xfrm>
          <a:prstGeom prst="rect">
            <a:avLst/>
          </a:prstGeom>
          <a:solidFill>
            <a:schemeClr val="accent2"/>
          </a:solidFill>
          <a:ln/>
        </p:spPr>
      </p:sp>
      <p:sp>
        <p:nvSpPr>
          <p:cNvPr id="17" name="Text 14"/>
          <p:cNvSpPr txBox="1"/>
          <p:nvPr/>
        </p:nvSpPr>
        <p:spPr>
          <a:xfrm>
            <a:off x="5714869" y="2743200"/>
            <a:ext cx="1402036"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04</a:t>
            </a:r>
            <a:endParaRPr lang="en-US" sz="3000" dirty="0"/>
          </a:p>
        </p:txBody>
      </p:sp>
      <p:sp>
        <p:nvSpPr>
          <p:cNvPr id="18" name="Text 15"/>
          <p:cNvSpPr txBox="1"/>
          <p:nvPr/>
        </p:nvSpPr>
        <p:spPr>
          <a:xfrm>
            <a:off x="5714869" y="3383280"/>
            <a:ext cx="1310596" cy="1005840"/>
          </a:xfrm>
          <a:prstGeom prst="rect">
            <a:avLst/>
          </a:prstGeom>
          <a:noFill/>
          <a:ln/>
        </p:spPr>
        <p:txBody>
          <a:bodyPr wrap="square" lIns="0" tIns="0" rIns="0" bIns="0" rtlCol="0" anchor="t"/>
          <a:lstStyle/>
          <a:p>
            <a:pPr indent="0" marL="0">
              <a:buNone/>
            </a:pPr>
            <a:r>
              <a:rPr lang="en-US" sz="1400" dirty="0">
                <a:solidFill>
                  <a:schemeClr val="tx1"/>
                </a:solidFill>
              </a:rPr>
              <a:t>Perubahan / penyesuaian RKUPH</a:t>
            </a:r>
            <a:endParaRPr lang="en-US" sz="1400" dirty="0"/>
          </a:p>
        </p:txBody>
      </p:sp>
      <p:sp>
        <p:nvSpPr>
          <p:cNvPr id="19" name="Shape 16"/>
          <p:cNvSpPr/>
          <p:nvPr/>
        </p:nvSpPr>
        <p:spPr>
          <a:xfrm>
            <a:off x="7208346" y="2514600"/>
            <a:ext cx="1402036" cy="73152"/>
          </a:xfrm>
          <a:prstGeom prst="rect">
            <a:avLst/>
          </a:prstGeom>
          <a:solidFill>
            <a:schemeClr val="accent2"/>
          </a:solidFill>
          <a:ln/>
        </p:spPr>
      </p:sp>
      <p:sp>
        <p:nvSpPr>
          <p:cNvPr id="20" name="Text 17"/>
          <p:cNvSpPr txBox="1"/>
          <p:nvPr/>
        </p:nvSpPr>
        <p:spPr>
          <a:xfrm>
            <a:off x="7208346" y="2743200"/>
            <a:ext cx="1402036"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05</a:t>
            </a:r>
            <a:endParaRPr lang="en-US" sz="3000" dirty="0"/>
          </a:p>
        </p:txBody>
      </p:sp>
      <p:sp>
        <p:nvSpPr>
          <p:cNvPr id="21" name="Text 18"/>
          <p:cNvSpPr txBox="1"/>
          <p:nvPr/>
        </p:nvSpPr>
        <p:spPr>
          <a:xfrm>
            <a:off x="7208346" y="3383280"/>
            <a:ext cx="1310596" cy="1005840"/>
          </a:xfrm>
          <a:prstGeom prst="rect">
            <a:avLst/>
          </a:prstGeom>
          <a:noFill/>
          <a:ln/>
        </p:spPr>
        <p:txBody>
          <a:bodyPr wrap="square" lIns="0" tIns="0" rIns="0" bIns="0" rtlCol="0" anchor="t"/>
          <a:lstStyle/>
          <a:p>
            <a:pPr indent="0" marL="0">
              <a:buNone/>
            </a:pPr>
            <a:r>
              <a:rPr lang="en-US" sz="1400" dirty="0">
                <a:solidFill>
                  <a:schemeClr val="tx1"/>
                </a:solidFill>
              </a:rPr>
              <a:t>DRAM, registrasi &amp; validasi</a:t>
            </a:r>
            <a:endParaRPr lang="en-US" sz="1400" dirty="0"/>
          </a:p>
        </p:txBody>
      </p:sp>
      <p:sp>
        <p:nvSpPr>
          <p:cNvPr id="22" name="Shape 19"/>
          <p:cNvSpPr/>
          <p:nvPr/>
        </p:nvSpPr>
        <p:spPr>
          <a:xfrm>
            <a:off x="8701822" y="2514600"/>
            <a:ext cx="1402036" cy="73152"/>
          </a:xfrm>
          <a:prstGeom prst="rect">
            <a:avLst/>
          </a:prstGeom>
          <a:solidFill>
            <a:schemeClr val="accent2"/>
          </a:solidFill>
          <a:ln/>
        </p:spPr>
      </p:sp>
      <p:sp>
        <p:nvSpPr>
          <p:cNvPr id="23" name="Text 20"/>
          <p:cNvSpPr txBox="1"/>
          <p:nvPr/>
        </p:nvSpPr>
        <p:spPr>
          <a:xfrm>
            <a:off x="8701822" y="2743200"/>
            <a:ext cx="1402036"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06</a:t>
            </a:r>
            <a:endParaRPr lang="en-US" sz="3000" dirty="0"/>
          </a:p>
        </p:txBody>
      </p:sp>
      <p:sp>
        <p:nvSpPr>
          <p:cNvPr id="24" name="Text 21"/>
          <p:cNvSpPr txBox="1"/>
          <p:nvPr/>
        </p:nvSpPr>
        <p:spPr>
          <a:xfrm>
            <a:off x="8701822" y="3383280"/>
            <a:ext cx="1310596" cy="1005840"/>
          </a:xfrm>
          <a:prstGeom prst="rect">
            <a:avLst/>
          </a:prstGeom>
          <a:noFill/>
          <a:ln/>
        </p:spPr>
        <p:txBody>
          <a:bodyPr wrap="square" lIns="0" tIns="0" rIns="0" bIns="0" rtlCol="0" anchor="t"/>
          <a:lstStyle/>
          <a:p>
            <a:pPr indent="0" marL="0">
              <a:buNone/>
            </a:pPr>
            <a:r>
              <a:rPr lang="en-US" sz="1400" dirty="0">
                <a:solidFill>
                  <a:schemeClr val="tx1"/>
                </a:solidFill>
              </a:rPr>
              <a:t>Implementasi, MRV &amp; verifikasi</a:t>
            </a:r>
            <a:endParaRPr lang="en-US" sz="1400" dirty="0"/>
          </a:p>
        </p:txBody>
      </p:sp>
      <p:sp>
        <p:nvSpPr>
          <p:cNvPr id="25" name="Shape 22"/>
          <p:cNvSpPr/>
          <p:nvPr/>
        </p:nvSpPr>
        <p:spPr>
          <a:xfrm>
            <a:off x="10195299" y="2514600"/>
            <a:ext cx="1402036" cy="73152"/>
          </a:xfrm>
          <a:prstGeom prst="rect">
            <a:avLst/>
          </a:prstGeom>
          <a:solidFill>
            <a:schemeClr val="accent2"/>
          </a:solidFill>
          <a:ln/>
        </p:spPr>
      </p:sp>
      <p:sp>
        <p:nvSpPr>
          <p:cNvPr id="26" name="Text 23"/>
          <p:cNvSpPr txBox="1"/>
          <p:nvPr/>
        </p:nvSpPr>
        <p:spPr>
          <a:xfrm>
            <a:off x="10195299" y="2743200"/>
            <a:ext cx="1402036"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07</a:t>
            </a:r>
            <a:endParaRPr lang="en-US" sz="3000" dirty="0"/>
          </a:p>
        </p:txBody>
      </p:sp>
      <p:sp>
        <p:nvSpPr>
          <p:cNvPr id="27" name="Text 24"/>
          <p:cNvSpPr txBox="1"/>
          <p:nvPr/>
        </p:nvSpPr>
        <p:spPr>
          <a:xfrm>
            <a:off x="10195299" y="3383280"/>
            <a:ext cx="1310596" cy="1005840"/>
          </a:xfrm>
          <a:prstGeom prst="rect">
            <a:avLst/>
          </a:prstGeom>
          <a:noFill/>
          <a:ln/>
        </p:spPr>
        <p:txBody>
          <a:bodyPr wrap="square" lIns="0" tIns="0" rIns="0" bIns="0" rtlCol="0" anchor="t"/>
          <a:lstStyle/>
          <a:p>
            <a:pPr indent="0" marL="0">
              <a:buNone/>
            </a:pPr>
            <a:r>
              <a:rPr lang="en-US" sz="1400" dirty="0">
                <a:solidFill>
                  <a:schemeClr val="tx1"/>
                </a:solidFill>
              </a:rPr>
              <a:t>Unit karbon &amp; transaksi</a:t>
            </a:r>
            <a:endParaRPr lang="en-US" sz="1400" dirty="0"/>
          </a:p>
        </p:txBody>
      </p:sp>
      <p:sp>
        <p:nvSpPr>
          <p:cNvPr id="28" name="Shape 25"/>
          <p:cNvSpPr/>
          <p:nvPr/>
        </p:nvSpPr>
        <p:spPr>
          <a:xfrm>
            <a:off x="5349109" y="2331720"/>
            <a:ext cx="0" cy="2057400"/>
          </a:xfrm>
          <a:prstGeom prst="line">
            <a:avLst/>
          </a:prstGeom>
          <a:noFill/>
          <a:ln w="31750">
            <a:solidFill>
              <a:schemeClr val="accent3"/>
            </a:solidFill>
            <a:prstDash val="dash"/>
          </a:ln>
        </p:spPr>
      </p:sp>
      <p:sp>
        <p:nvSpPr>
          <p:cNvPr id="29" name="Shape 26"/>
          <p:cNvSpPr/>
          <p:nvPr/>
        </p:nvSpPr>
        <p:spPr>
          <a:xfrm>
            <a:off x="4983349" y="4434840"/>
            <a:ext cx="731520" cy="310896"/>
          </a:xfrm>
          <a:prstGeom prst="roundRect">
            <a:avLst>
              <a:gd name="adj" fmla="val 50000"/>
            </a:avLst>
          </a:prstGeom>
          <a:solidFill>
            <a:schemeClr val="accent3"/>
          </a:solidFill>
          <a:ln/>
        </p:spPr>
      </p:sp>
      <p:sp>
        <p:nvSpPr>
          <p:cNvPr id="30" name="Text 27"/>
          <p:cNvSpPr txBox="1"/>
          <p:nvPr/>
        </p:nvSpPr>
        <p:spPr>
          <a:xfrm>
            <a:off x="4983349" y="4434840"/>
            <a:ext cx="731520" cy="310896"/>
          </a:xfrm>
          <a:prstGeom prst="rect">
            <a:avLst/>
          </a:prstGeom>
          <a:noFill/>
          <a:ln/>
        </p:spPr>
        <p:txBody>
          <a:bodyPr wrap="square" lIns="0" tIns="0" rIns="0" bIns="0" rtlCol="0" anchor="ctr"/>
          <a:lstStyle/>
          <a:p>
            <a:pPr algn="ctr" indent="0" marL="0">
              <a:buNone/>
            </a:pPr>
            <a:r>
              <a:rPr lang="en-US" sz="1100" b="1" dirty="0">
                <a:solidFill>
                  <a:schemeClr val="bg1"/>
                </a:solidFill>
              </a:rPr>
              <a:t>GATE</a:t>
            </a:r>
            <a:endParaRPr lang="en-US" sz="1100" dirty="0"/>
          </a:p>
        </p:txBody>
      </p:sp>
      <p:sp>
        <p:nvSpPr>
          <p:cNvPr id="31" name="Shape 28"/>
          <p:cNvSpPr/>
          <p:nvPr/>
        </p:nvSpPr>
        <p:spPr>
          <a:xfrm>
            <a:off x="548640" y="4983480"/>
            <a:ext cx="11094415" cy="777240"/>
          </a:xfrm>
          <a:prstGeom prst="rect">
            <a:avLst/>
          </a:prstGeom>
          <a:solidFill>
            <a:schemeClr val="bg2"/>
          </a:solidFill>
          <a:ln/>
        </p:spPr>
      </p:sp>
      <p:sp>
        <p:nvSpPr>
          <p:cNvPr id="32" name="Text 29"/>
          <p:cNvSpPr txBox="1"/>
          <p:nvPr/>
        </p:nvSpPr>
        <p:spPr>
          <a:xfrm>
            <a:off x="822960" y="4983480"/>
            <a:ext cx="10545775" cy="777240"/>
          </a:xfrm>
          <a:prstGeom prst="rect">
            <a:avLst/>
          </a:prstGeom>
          <a:noFill/>
          <a:ln/>
        </p:spPr>
        <p:txBody>
          <a:bodyPr wrap="square" lIns="0" tIns="0" rIns="0" bIns="0" rtlCol="0" anchor="ctr"/>
          <a:lstStyle/>
          <a:p>
            <a:pPr indent="0" marL="0">
              <a:buNone/>
            </a:pPr>
            <a:r>
              <a:rPr lang="en-US" sz="1600" b="1" dirty="0">
                <a:solidFill>
                  <a:schemeClr val="accent3"/>
                </a:solidFill>
              </a:rPr>
              <a:t>Gate keputusan setelah tahap 03: </a:t>
            </a:r>
            <a:pPr indent="0" marL="0">
              <a:buNone/>
            </a:pPr>
            <a:r>
              <a:rPr lang="en-US" sz="1600" dirty="0">
                <a:solidFill>
                  <a:schemeClr val="tx1"/>
                </a:solidFill>
              </a:rPr>
              <a:t>RKUPH hanya diubah jika legal eligibility dan economics sudah terbukti.</a:t>
            </a:r>
            <a:endParaRPr lang="en-US" sz="1600" dirty="0"/>
          </a:p>
        </p:txBody>
      </p:sp>
      <p:sp>
        <p:nvSpPr>
          <p:cNvPr id="33" name="Text 30"/>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chemeClr val="accent4"/>
                </a:solidFill>
              </a:rPr>
              <a:t>Permenhut 6/2026 mengatur jalur perdagangan karbon oleh Pelaku Usaha, termasuk pemegang PBPH.</a:t>
            </a:r>
            <a:endParaRPr lang="en-US" sz="1000" dirty="0"/>
          </a:p>
        </p:txBody>
      </p:sp>
      <p:sp>
        <p:nvSpPr>
          <p:cNvPr id="34" name="rasio-budidaya"/>
          <p:cNvSpPr/>
          <p:nvPr/>
        </p:nvSpPr>
        <p:spPr>
          <a:xfrm>
            <a:off x="548640" y="6400800"/>
            <a:ext cx="694306" cy="91440"/>
          </a:xfrm>
          <a:prstGeom prst="rect">
            <a:avLst/>
          </a:prstGeom>
          <a:solidFill>
            <a:schemeClr val="accent2"/>
          </a:solidFill>
          <a:ln/>
        </p:spPr>
      </p:sp>
      <p:sp>
        <p:nvSpPr>
          <p:cNvPr id="35" name="rasio-lindung"/>
          <p:cNvSpPr/>
          <p:nvPr/>
        </p:nvSpPr>
        <p:spPr>
          <a:xfrm>
            <a:off x="1270378" y="6400800"/>
            <a:ext cx="741302" cy="91440"/>
          </a:xfrm>
          <a:prstGeom prst="rect">
            <a:avLst/>
          </a:prstGeom>
          <a:solidFill>
            <a:schemeClr val="accent1"/>
          </a:solidFill>
          <a:ln/>
        </p:spPr>
      </p:sp>
      <p:sp>
        <p:nvSpPr>
          <p:cNvPr id="36" name="Text 33"/>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PBPH 138.258 ha  ·  budidaya 66.908  |  lindung 71.350</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DATA MINIMUM FEASIBILITY STUDY</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Sepuluh dokumen yang sudah dimiliki perusahaan menjadi bukti baseline</a:t>
            </a:r>
            <a:endParaRPr lang="en-US" sz="2800" dirty="0"/>
          </a:p>
        </p:txBody>
      </p:sp>
      <p:sp>
        <p:nvSpPr>
          <p:cNvPr id="5" name="Text 2"/>
          <p:cNvSpPr txBox="1"/>
          <p:nvPr/>
        </p:nvSpPr>
        <p:spPr>
          <a:xfrm>
            <a:off x="548640" y="1965960"/>
            <a:ext cx="5272888"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LEGAL &amp; PERENCANAAN</a:t>
            </a:r>
            <a:endParaRPr lang="en-US" sz="1200" dirty="0"/>
          </a:p>
        </p:txBody>
      </p:sp>
      <p:sp>
        <p:nvSpPr>
          <p:cNvPr id="6" name="Shape 3"/>
          <p:cNvSpPr/>
          <p:nvPr/>
        </p:nvSpPr>
        <p:spPr>
          <a:xfrm>
            <a:off x="548640" y="2377440"/>
            <a:ext cx="5272888" cy="0"/>
          </a:xfrm>
          <a:prstGeom prst="line">
            <a:avLst/>
          </a:prstGeom>
          <a:noFill/>
          <a:ln w="9525">
            <a:solidFill>
              <a:schemeClr val="accent5"/>
            </a:solidFill>
            <a:prstDash val="solid"/>
          </a:ln>
        </p:spPr>
      </p:sp>
      <p:sp>
        <p:nvSpPr>
          <p:cNvPr id="7" name="Text 4"/>
          <p:cNvSpPr txBox="1"/>
          <p:nvPr/>
        </p:nvSpPr>
        <p:spPr>
          <a:xfrm>
            <a:off x="548640" y="2468880"/>
            <a:ext cx="457200" cy="32004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01</a:t>
            </a:r>
            <a:endParaRPr lang="en-US" sz="1500" dirty="0"/>
          </a:p>
        </p:txBody>
      </p:sp>
      <p:sp>
        <p:nvSpPr>
          <p:cNvPr id="8" name="Text 5"/>
          <p:cNvSpPr txBox="1"/>
          <p:nvPr/>
        </p:nvSpPr>
        <p:spPr>
          <a:xfrm>
            <a:off x="1097280" y="2468880"/>
            <a:ext cx="4724248" cy="320040"/>
          </a:xfrm>
          <a:prstGeom prst="rect">
            <a:avLst/>
          </a:prstGeom>
          <a:noFill/>
          <a:ln/>
        </p:spPr>
        <p:txBody>
          <a:bodyPr wrap="square" lIns="0" tIns="0" rIns="0" bIns="0" rtlCol="0" anchor="t"/>
          <a:lstStyle/>
          <a:p>
            <a:pPr indent="0" marL="0">
              <a:buNone/>
            </a:pPr>
            <a:r>
              <a:rPr lang="en-US" sz="1500" dirty="0">
                <a:solidFill>
                  <a:schemeClr val="tx1"/>
                </a:solidFill>
              </a:rPr>
              <a:t>SK PBPH &amp; perubahan</a:t>
            </a:r>
            <a:endParaRPr lang="en-US" sz="1500" dirty="0"/>
          </a:p>
        </p:txBody>
      </p:sp>
      <p:sp>
        <p:nvSpPr>
          <p:cNvPr id="9" name="Shape 6"/>
          <p:cNvSpPr/>
          <p:nvPr/>
        </p:nvSpPr>
        <p:spPr>
          <a:xfrm>
            <a:off x="548640" y="2852928"/>
            <a:ext cx="5272888" cy="0"/>
          </a:xfrm>
          <a:prstGeom prst="line">
            <a:avLst/>
          </a:prstGeom>
          <a:noFill/>
          <a:ln w="9525">
            <a:solidFill>
              <a:schemeClr val="accent5"/>
            </a:solidFill>
            <a:prstDash val="solid"/>
          </a:ln>
        </p:spPr>
      </p:sp>
      <p:sp>
        <p:nvSpPr>
          <p:cNvPr id="10" name="Text 7"/>
          <p:cNvSpPr txBox="1"/>
          <p:nvPr/>
        </p:nvSpPr>
        <p:spPr>
          <a:xfrm>
            <a:off x="548640" y="2944368"/>
            <a:ext cx="457200" cy="32004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02</a:t>
            </a:r>
            <a:endParaRPr lang="en-US" sz="1500" dirty="0"/>
          </a:p>
        </p:txBody>
      </p:sp>
      <p:sp>
        <p:nvSpPr>
          <p:cNvPr id="11" name="Text 8"/>
          <p:cNvSpPr txBox="1"/>
          <p:nvPr/>
        </p:nvSpPr>
        <p:spPr>
          <a:xfrm>
            <a:off x="1097280" y="2944368"/>
            <a:ext cx="4724248" cy="320040"/>
          </a:xfrm>
          <a:prstGeom prst="rect">
            <a:avLst/>
          </a:prstGeom>
          <a:noFill/>
          <a:ln/>
        </p:spPr>
        <p:txBody>
          <a:bodyPr wrap="square" lIns="0" tIns="0" rIns="0" bIns="0" rtlCol="0" anchor="t"/>
          <a:lstStyle/>
          <a:p>
            <a:pPr indent="0" marL="0">
              <a:buNone/>
            </a:pPr>
            <a:r>
              <a:rPr lang="en-US" sz="1500" dirty="0">
                <a:solidFill>
                  <a:schemeClr val="tx1"/>
                </a:solidFill>
              </a:rPr>
              <a:t>RKUPH/RKU approved + peta</a:t>
            </a:r>
            <a:endParaRPr lang="en-US" sz="1500" dirty="0"/>
          </a:p>
        </p:txBody>
      </p:sp>
      <p:sp>
        <p:nvSpPr>
          <p:cNvPr id="12" name="Shape 9"/>
          <p:cNvSpPr/>
          <p:nvPr/>
        </p:nvSpPr>
        <p:spPr>
          <a:xfrm>
            <a:off x="548640" y="3328416"/>
            <a:ext cx="5272888" cy="0"/>
          </a:xfrm>
          <a:prstGeom prst="line">
            <a:avLst/>
          </a:prstGeom>
          <a:noFill/>
          <a:ln w="9525">
            <a:solidFill>
              <a:schemeClr val="accent5"/>
            </a:solidFill>
            <a:prstDash val="solid"/>
          </a:ln>
        </p:spPr>
      </p:sp>
      <p:sp>
        <p:nvSpPr>
          <p:cNvPr id="13" name="Text 10"/>
          <p:cNvSpPr txBox="1"/>
          <p:nvPr/>
        </p:nvSpPr>
        <p:spPr>
          <a:xfrm>
            <a:off x="548640" y="3419856"/>
            <a:ext cx="457200" cy="32004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03</a:t>
            </a:r>
            <a:endParaRPr lang="en-US" sz="1500" dirty="0"/>
          </a:p>
        </p:txBody>
      </p:sp>
      <p:sp>
        <p:nvSpPr>
          <p:cNvPr id="14" name="Text 11"/>
          <p:cNvSpPr txBox="1"/>
          <p:nvPr/>
        </p:nvSpPr>
        <p:spPr>
          <a:xfrm>
            <a:off x="1097280" y="3419856"/>
            <a:ext cx="4724248" cy="320040"/>
          </a:xfrm>
          <a:prstGeom prst="rect">
            <a:avLst/>
          </a:prstGeom>
          <a:noFill/>
          <a:ln/>
        </p:spPr>
        <p:txBody>
          <a:bodyPr wrap="square" lIns="0" tIns="0" rIns="0" bIns="0" rtlCol="0" anchor="t"/>
          <a:lstStyle/>
          <a:p>
            <a:pPr indent="0" marL="0">
              <a:buNone/>
            </a:pPr>
            <a:r>
              <a:rPr lang="en-US" sz="1500" dirty="0">
                <a:solidFill>
                  <a:schemeClr val="tx1"/>
                </a:solidFill>
              </a:rPr>
              <a:t>RKT/RKTPH &amp; realisasi</a:t>
            </a:r>
            <a:endParaRPr lang="en-US" sz="1500" dirty="0"/>
          </a:p>
        </p:txBody>
      </p:sp>
      <p:sp>
        <p:nvSpPr>
          <p:cNvPr id="15" name="Shape 12"/>
          <p:cNvSpPr/>
          <p:nvPr/>
        </p:nvSpPr>
        <p:spPr>
          <a:xfrm>
            <a:off x="548640" y="3803904"/>
            <a:ext cx="5272888" cy="0"/>
          </a:xfrm>
          <a:prstGeom prst="line">
            <a:avLst/>
          </a:prstGeom>
          <a:noFill/>
          <a:ln w="9525">
            <a:solidFill>
              <a:schemeClr val="accent5"/>
            </a:solidFill>
            <a:prstDash val="solid"/>
          </a:ln>
        </p:spPr>
      </p:sp>
      <p:sp>
        <p:nvSpPr>
          <p:cNvPr id="16" name="Text 13"/>
          <p:cNvSpPr txBox="1"/>
          <p:nvPr/>
        </p:nvSpPr>
        <p:spPr>
          <a:xfrm>
            <a:off x="548640" y="3895344"/>
            <a:ext cx="457200" cy="32004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04</a:t>
            </a:r>
            <a:endParaRPr lang="en-US" sz="1500" dirty="0"/>
          </a:p>
        </p:txBody>
      </p:sp>
      <p:sp>
        <p:nvSpPr>
          <p:cNvPr id="17" name="Text 14"/>
          <p:cNvSpPr txBox="1"/>
          <p:nvPr/>
        </p:nvSpPr>
        <p:spPr>
          <a:xfrm>
            <a:off x="1097280" y="3895344"/>
            <a:ext cx="4724248" cy="320040"/>
          </a:xfrm>
          <a:prstGeom prst="rect">
            <a:avLst/>
          </a:prstGeom>
          <a:noFill/>
          <a:ln/>
        </p:spPr>
        <p:txBody>
          <a:bodyPr wrap="square" lIns="0" tIns="0" rIns="0" bIns="0" rtlCol="0" anchor="t"/>
          <a:lstStyle/>
          <a:p>
            <a:pPr indent="0" marL="0">
              <a:buNone/>
            </a:pPr>
            <a:r>
              <a:rPr lang="en-US" sz="1500" dirty="0">
                <a:solidFill>
                  <a:schemeClr val="tx1"/>
                </a:solidFill>
              </a:rPr>
              <a:t>Shapefile konsesi &amp; blok</a:t>
            </a:r>
            <a:endParaRPr lang="en-US" sz="1500" dirty="0"/>
          </a:p>
        </p:txBody>
      </p:sp>
      <p:sp>
        <p:nvSpPr>
          <p:cNvPr id="18" name="Shape 15"/>
          <p:cNvSpPr/>
          <p:nvPr/>
        </p:nvSpPr>
        <p:spPr>
          <a:xfrm>
            <a:off x="548640" y="4279392"/>
            <a:ext cx="5272888" cy="0"/>
          </a:xfrm>
          <a:prstGeom prst="line">
            <a:avLst/>
          </a:prstGeom>
          <a:noFill/>
          <a:ln w="9525">
            <a:solidFill>
              <a:schemeClr val="accent5"/>
            </a:solidFill>
            <a:prstDash val="solid"/>
          </a:ln>
        </p:spPr>
      </p:sp>
      <p:sp>
        <p:nvSpPr>
          <p:cNvPr id="19" name="Text 16"/>
          <p:cNvSpPr txBox="1"/>
          <p:nvPr/>
        </p:nvSpPr>
        <p:spPr>
          <a:xfrm>
            <a:off x="548640" y="4370832"/>
            <a:ext cx="457200" cy="32004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05</a:t>
            </a:r>
            <a:endParaRPr lang="en-US" sz="1500" dirty="0"/>
          </a:p>
        </p:txBody>
      </p:sp>
      <p:sp>
        <p:nvSpPr>
          <p:cNvPr id="20" name="Text 17"/>
          <p:cNvSpPr txBox="1"/>
          <p:nvPr/>
        </p:nvSpPr>
        <p:spPr>
          <a:xfrm>
            <a:off x="1097280" y="4370832"/>
            <a:ext cx="4724248" cy="320040"/>
          </a:xfrm>
          <a:prstGeom prst="rect">
            <a:avLst/>
          </a:prstGeom>
          <a:noFill/>
          <a:ln/>
        </p:spPr>
        <p:txBody>
          <a:bodyPr wrap="square" lIns="0" tIns="0" rIns="0" bIns="0" rtlCol="0" anchor="t"/>
          <a:lstStyle/>
          <a:p>
            <a:pPr indent="0" marL="0">
              <a:buNone/>
            </a:pPr>
            <a:r>
              <a:rPr lang="en-US" sz="1500" dirty="0">
                <a:solidFill>
                  <a:schemeClr val="tx1"/>
                </a:solidFill>
              </a:rPr>
              <a:t>Biaya, yield &amp; margin HTI</a:t>
            </a:r>
            <a:endParaRPr lang="en-US" sz="1500" dirty="0"/>
          </a:p>
        </p:txBody>
      </p:sp>
      <p:sp>
        <p:nvSpPr>
          <p:cNvPr id="21" name="Text 18"/>
          <p:cNvSpPr txBox="1"/>
          <p:nvPr/>
        </p:nvSpPr>
        <p:spPr>
          <a:xfrm>
            <a:off x="6370168" y="1965960"/>
            <a:ext cx="5272888"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BIOFISIK &amp; HISTORIS</a:t>
            </a:r>
            <a:endParaRPr lang="en-US" sz="1200" dirty="0"/>
          </a:p>
        </p:txBody>
      </p:sp>
      <p:sp>
        <p:nvSpPr>
          <p:cNvPr id="22" name="Shape 19"/>
          <p:cNvSpPr/>
          <p:nvPr/>
        </p:nvSpPr>
        <p:spPr>
          <a:xfrm>
            <a:off x="6370168" y="2377440"/>
            <a:ext cx="5272888" cy="0"/>
          </a:xfrm>
          <a:prstGeom prst="line">
            <a:avLst/>
          </a:prstGeom>
          <a:noFill/>
          <a:ln w="9525">
            <a:solidFill>
              <a:schemeClr val="accent5"/>
            </a:solidFill>
            <a:prstDash val="solid"/>
          </a:ln>
        </p:spPr>
      </p:sp>
      <p:sp>
        <p:nvSpPr>
          <p:cNvPr id="23" name="Text 20"/>
          <p:cNvSpPr txBox="1"/>
          <p:nvPr/>
        </p:nvSpPr>
        <p:spPr>
          <a:xfrm>
            <a:off x="6370168" y="2468880"/>
            <a:ext cx="457200" cy="32004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06</a:t>
            </a:r>
            <a:endParaRPr lang="en-US" sz="1500" dirty="0"/>
          </a:p>
        </p:txBody>
      </p:sp>
      <p:sp>
        <p:nvSpPr>
          <p:cNvPr id="24" name="Text 21"/>
          <p:cNvSpPr txBox="1"/>
          <p:nvPr/>
        </p:nvSpPr>
        <p:spPr>
          <a:xfrm>
            <a:off x="6918808" y="2468880"/>
            <a:ext cx="4724248" cy="320040"/>
          </a:xfrm>
          <a:prstGeom prst="rect">
            <a:avLst/>
          </a:prstGeom>
          <a:noFill/>
          <a:ln/>
        </p:spPr>
        <p:txBody>
          <a:bodyPr wrap="square" lIns="0" tIns="0" rIns="0" bIns="0" rtlCol="0" anchor="t"/>
          <a:lstStyle/>
          <a:p>
            <a:pPr indent="0" marL="0">
              <a:buNone/>
            </a:pPr>
            <a:r>
              <a:rPr lang="en-US" sz="1500" dirty="0">
                <a:solidFill>
                  <a:schemeClr val="tx1"/>
                </a:solidFill>
              </a:rPr>
              <a:t>Peta gambut/FLEG &amp; hidrologi</a:t>
            </a:r>
            <a:endParaRPr lang="en-US" sz="1500" dirty="0"/>
          </a:p>
        </p:txBody>
      </p:sp>
      <p:sp>
        <p:nvSpPr>
          <p:cNvPr id="25" name="Shape 22"/>
          <p:cNvSpPr/>
          <p:nvPr/>
        </p:nvSpPr>
        <p:spPr>
          <a:xfrm>
            <a:off x="6370168" y="2852928"/>
            <a:ext cx="5272888" cy="0"/>
          </a:xfrm>
          <a:prstGeom prst="line">
            <a:avLst/>
          </a:prstGeom>
          <a:noFill/>
          <a:ln w="9525">
            <a:solidFill>
              <a:schemeClr val="accent5"/>
            </a:solidFill>
            <a:prstDash val="solid"/>
          </a:ln>
        </p:spPr>
      </p:sp>
      <p:sp>
        <p:nvSpPr>
          <p:cNvPr id="26" name="Text 23"/>
          <p:cNvSpPr txBox="1"/>
          <p:nvPr/>
        </p:nvSpPr>
        <p:spPr>
          <a:xfrm>
            <a:off x="6370168" y="2944368"/>
            <a:ext cx="457200" cy="32004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07</a:t>
            </a:r>
            <a:endParaRPr lang="en-US" sz="1500" dirty="0"/>
          </a:p>
        </p:txBody>
      </p:sp>
      <p:sp>
        <p:nvSpPr>
          <p:cNvPr id="27" name="Text 24"/>
          <p:cNvSpPr txBox="1"/>
          <p:nvPr/>
        </p:nvSpPr>
        <p:spPr>
          <a:xfrm>
            <a:off x="6918808" y="2944368"/>
            <a:ext cx="4724248" cy="320040"/>
          </a:xfrm>
          <a:prstGeom prst="rect">
            <a:avLst/>
          </a:prstGeom>
          <a:noFill/>
          <a:ln/>
        </p:spPr>
        <p:txBody>
          <a:bodyPr wrap="square" lIns="0" tIns="0" rIns="0" bIns="0" rtlCol="0" anchor="t"/>
          <a:lstStyle/>
          <a:p>
            <a:pPr indent="0" marL="0">
              <a:buNone/>
            </a:pPr>
            <a:r>
              <a:rPr lang="en-US" sz="1500" dirty="0">
                <a:solidFill>
                  <a:schemeClr val="tx1"/>
                </a:solidFill>
              </a:rPr>
              <a:t>Existing / rencana kanal</a:t>
            </a:r>
            <a:endParaRPr lang="en-US" sz="1500" dirty="0"/>
          </a:p>
        </p:txBody>
      </p:sp>
      <p:sp>
        <p:nvSpPr>
          <p:cNvPr id="28" name="Shape 25"/>
          <p:cNvSpPr/>
          <p:nvPr/>
        </p:nvSpPr>
        <p:spPr>
          <a:xfrm>
            <a:off x="6370168" y="3328416"/>
            <a:ext cx="5272888" cy="0"/>
          </a:xfrm>
          <a:prstGeom prst="line">
            <a:avLst/>
          </a:prstGeom>
          <a:noFill/>
          <a:ln w="9525">
            <a:solidFill>
              <a:schemeClr val="accent5"/>
            </a:solidFill>
            <a:prstDash val="solid"/>
          </a:ln>
        </p:spPr>
      </p:sp>
      <p:sp>
        <p:nvSpPr>
          <p:cNvPr id="29" name="Text 26"/>
          <p:cNvSpPr txBox="1"/>
          <p:nvPr/>
        </p:nvSpPr>
        <p:spPr>
          <a:xfrm>
            <a:off x="6370168" y="3419856"/>
            <a:ext cx="457200" cy="32004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08</a:t>
            </a:r>
            <a:endParaRPr lang="en-US" sz="1500" dirty="0"/>
          </a:p>
        </p:txBody>
      </p:sp>
      <p:sp>
        <p:nvSpPr>
          <p:cNvPr id="30" name="Text 27"/>
          <p:cNvSpPr txBox="1"/>
          <p:nvPr/>
        </p:nvSpPr>
        <p:spPr>
          <a:xfrm>
            <a:off x="6918808" y="3419856"/>
            <a:ext cx="4724248" cy="320040"/>
          </a:xfrm>
          <a:prstGeom prst="rect">
            <a:avLst/>
          </a:prstGeom>
          <a:noFill/>
          <a:ln/>
        </p:spPr>
        <p:txBody>
          <a:bodyPr wrap="square" lIns="0" tIns="0" rIns="0" bIns="0" rtlCol="0" anchor="t"/>
          <a:lstStyle/>
          <a:p>
            <a:pPr indent="0" marL="0">
              <a:buNone/>
            </a:pPr>
            <a:r>
              <a:rPr lang="en-US" sz="1500" dirty="0">
                <a:solidFill>
                  <a:schemeClr val="tx1"/>
                </a:solidFill>
              </a:rPr>
              <a:t>Riwayat land clearing &amp; planting</a:t>
            </a:r>
            <a:endParaRPr lang="en-US" sz="1500" dirty="0"/>
          </a:p>
        </p:txBody>
      </p:sp>
      <p:sp>
        <p:nvSpPr>
          <p:cNvPr id="31" name="Shape 28"/>
          <p:cNvSpPr/>
          <p:nvPr/>
        </p:nvSpPr>
        <p:spPr>
          <a:xfrm>
            <a:off x="6370168" y="3803904"/>
            <a:ext cx="5272888" cy="0"/>
          </a:xfrm>
          <a:prstGeom prst="line">
            <a:avLst/>
          </a:prstGeom>
          <a:noFill/>
          <a:ln w="9525">
            <a:solidFill>
              <a:schemeClr val="accent5"/>
            </a:solidFill>
            <a:prstDash val="solid"/>
          </a:ln>
        </p:spPr>
      </p:sp>
      <p:sp>
        <p:nvSpPr>
          <p:cNvPr id="32" name="Text 29"/>
          <p:cNvSpPr txBox="1"/>
          <p:nvPr/>
        </p:nvSpPr>
        <p:spPr>
          <a:xfrm>
            <a:off x="6370168" y="3895344"/>
            <a:ext cx="457200" cy="32004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09</a:t>
            </a:r>
            <a:endParaRPr lang="en-US" sz="1500" dirty="0"/>
          </a:p>
        </p:txBody>
      </p:sp>
      <p:sp>
        <p:nvSpPr>
          <p:cNvPr id="33" name="Text 30"/>
          <p:cNvSpPr txBox="1"/>
          <p:nvPr/>
        </p:nvSpPr>
        <p:spPr>
          <a:xfrm>
            <a:off x="6918808" y="3895344"/>
            <a:ext cx="4724248" cy="320040"/>
          </a:xfrm>
          <a:prstGeom prst="rect">
            <a:avLst/>
          </a:prstGeom>
          <a:noFill/>
          <a:ln/>
        </p:spPr>
        <p:txBody>
          <a:bodyPr wrap="square" lIns="0" tIns="0" rIns="0" bIns="0" rtlCol="0" anchor="t"/>
          <a:lstStyle/>
          <a:p>
            <a:pPr indent="0" marL="0">
              <a:buNone/>
            </a:pPr>
            <a:r>
              <a:rPr lang="en-US" sz="1500" dirty="0">
                <a:solidFill>
                  <a:schemeClr val="tx1"/>
                </a:solidFill>
              </a:rPr>
              <a:t>Kebakaran &amp; muka air</a:t>
            </a:r>
            <a:endParaRPr lang="en-US" sz="1500" dirty="0"/>
          </a:p>
        </p:txBody>
      </p:sp>
      <p:sp>
        <p:nvSpPr>
          <p:cNvPr id="34" name="Shape 31"/>
          <p:cNvSpPr/>
          <p:nvPr/>
        </p:nvSpPr>
        <p:spPr>
          <a:xfrm>
            <a:off x="6370168" y="4279392"/>
            <a:ext cx="5272888" cy="0"/>
          </a:xfrm>
          <a:prstGeom prst="line">
            <a:avLst/>
          </a:prstGeom>
          <a:noFill/>
          <a:ln w="9525">
            <a:solidFill>
              <a:schemeClr val="accent5"/>
            </a:solidFill>
            <a:prstDash val="solid"/>
          </a:ln>
        </p:spPr>
      </p:sp>
      <p:sp>
        <p:nvSpPr>
          <p:cNvPr id="35" name="Text 32"/>
          <p:cNvSpPr txBox="1"/>
          <p:nvPr/>
        </p:nvSpPr>
        <p:spPr>
          <a:xfrm>
            <a:off x="6370168" y="4370832"/>
            <a:ext cx="457200" cy="32004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10</a:t>
            </a:r>
            <a:endParaRPr lang="en-US" sz="1500" dirty="0"/>
          </a:p>
        </p:txBody>
      </p:sp>
      <p:sp>
        <p:nvSpPr>
          <p:cNvPr id="36" name="Text 33"/>
          <p:cNvSpPr txBox="1"/>
          <p:nvPr/>
        </p:nvSpPr>
        <p:spPr>
          <a:xfrm>
            <a:off x="6918808" y="4370832"/>
            <a:ext cx="4724248" cy="320040"/>
          </a:xfrm>
          <a:prstGeom prst="rect">
            <a:avLst/>
          </a:prstGeom>
          <a:noFill/>
          <a:ln/>
        </p:spPr>
        <p:txBody>
          <a:bodyPr wrap="square" lIns="0" tIns="0" rIns="0" bIns="0" rtlCol="0" anchor="t"/>
          <a:lstStyle/>
          <a:p>
            <a:pPr indent="0" marL="0">
              <a:buNone/>
            </a:pPr>
            <a:r>
              <a:rPr lang="en-US" sz="1500" dirty="0">
                <a:solidFill>
                  <a:schemeClr val="tx1"/>
                </a:solidFill>
              </a:rPr>
              <a:t>Tutupan lahan historis</a:t>
            </a:r>
            <a:endParaRPr lang="en-US" sz="1500" dirty="0"/>
          </a:p>
        </p:txBody>
      </p:sp>
      <p:sp>
        <p:nvSpPr>
          <p:cNvPr id="37" name="Shape 34"/>
          <p:cNvSpPr/>
          <p:nvPr/>
        </p:nvSpPr>
        <p:spPr>
          <a:xfrm>
            <a:off x="548640" y="5349240"/>
            <a:ext cx="1962851" cy="548640"/>
          </a:xfrm>
          <a:prstGeom prst="rect">
            <a:avLst/>
          </a:prstGeom>
          <a:solidFill>
            <a:schemeClr val="tx2"/>
          </a:solidFill>
          <a:ln/>
        </p:spPr>
      </p:sp>
      <p:sp>
        <p:nvSpPr>
          <p:cNvPr id="38" name="Text 35"/>
          <p:cNvSpPr txBox="1"/>
          <p:nvPr/>
        </p:nvSpPr>
        <p:spPr>
          <a:xfrm>
            <a:off x="548640" y="5349240"/>
            <a:ext cx="1962851" cy="548640"/>
          </a:xfrm>
          <a:prstGeom prst="rect">
            <a:avLst/>
          </a:prstGeom>
          <a:noFill/>
          <a:ln/>
        </p:spPr>
        <p:txBody>
          <a:bodyPr wrap="square" lIns="0" tIns="0" rIns="0" bIns="0" rtlCol="0" anchor="ctr"/>
          <a:lstStyle/>
          <a:p>
            <a:pPr algn="ctr" indent="0" marL="0">
              <a:buNone/>
            </a:pPr>
            <a:r>
              <a:rPr lang="en-US" sz="1400" b="1" dirty="0">
                <a:solidFill>
                  <a:schemeClr val="bg1"/>
                </a:solidFill>
              </a:rPr>
              <a:t>Legal eligible area</a:t>
            </a:r>
            <a:endParaRPr lang="en-US" sz="1400" dirty="0"/>
          </a:p>
        </p:txBody>
      </p:sp>
      <p:sp>
        <p:nvSpPr>
          <p:cNvPr id="39" name="Shape 36"/>
          <p:cNvSpPr/>
          <p:nvPr/>
        </p:nvSpPr>
        <p:spPr>
          <a:xfrm>
            <a:off x="2557211" y="5623560"/>
            <a:ext cx="228600" cy="0"/>
          </a:xfrm>
          <a:prstGeom prst="line">
            <a:avLst/>
          </a:prstGeom>
          <a:noFill/>
          <a:ln w="19050">
            <a:solidFill>
              <a:schemeClr val="accent4"/>
            </a:solidFill>
            <a:prstDash val="solid"/>
            <a:tailEnd type="triangle"/>
          </a:ln>
        </p:spPr>
      </p:sp>
      <p:sp>
        <p:nvSpPr>
          <p:cNvPr id="40" name="Shape 37"/>
          <p:cNvSpPr/>
          <p:nvPr/>
        </p:nvSpPr>
        <p:spPr>
          <a:xfrm>
            <a:off x="2831531" y="5349240"/>
            <a:ext cx="1962851" cy="548640"/>
          </a:xfrm>
          <a:prstGeom prst="rect">
            <a:avLst/>
          </a:prstGeom>
          <a:solidFill>
            <a:schemeClr val="tx2"/>
          </a:solidFill>
          <a:ln/>
        </p:spPr>
      </p:sp>
      <p:sp>
        <p:nvSpPr>
          <p:cNvPr id="41" name="Text 38"/>
          <p:cNvSpPr txBox="1"/>
          <p:nvPr/>
        </p:nvSpPr>
        <p:spPr>
          <a:xfrm>
            <a:off x="2831531" y="5349240"/>
            <a:ext cx="1962851" cy="548640"/>
          </a:xfrm>
          <a:prstGeom prst="rect">
            <a:avLst/>
          </a:prstGeom>
          <a:noFill/>
          <a:ln/>
        </p:spPr>
        <p:txBody>
          <a:bodyPr wrap="square" lIns="0" tIns="0" rIns="0" bIns="0" rtlCol="0" anchor="ctr"/>
          <a:lstStyle/>
          <a:p>
            <a:pPr algn="ctr" indent="0" marL="0">
              <a:buNone/>
            </a:pPr>
            <a:r>
              <a:rPr lang="en-US" sz="1400" b="1" dirty="0">
                <a:solidFill>
                  <a:schemeClr val="bg1"/>
                </a:solidFill>
              </a:rPr>
              <a:t>Carbon eligible area</a:t>
            </a:r>
            <a:endParaRPr lang="en-US" sz="1400" dirty="0"/>
          </a:p>
        </p:txBody>
      </p:sp>
      <p:sp>
        <p:nvSpPr>
          <p:cNvPr id="42" name="Shape 39"/>
          <p:cNvSpPr/>
          <p:nvPr/>
        </p:nvSpPr>
        <p:spPr>
          <a:xfrm>
            <a:off x="4840102" y="5623560"/>
            <a:ext cx="228600" cy="0"/>
          </a:xfrm>
          <a:prstGeom prst="line">
            <a:avLst/>
          </a:prstGeom>
          <a:noFill/>
          <a:ln w="19050">
            <a:solidFill>
              <a:schemeClr val="accent4"/>
            </a:solidFill>
            <a:prstDash val="solid"/>
            <a:tailEnd type="triangle"/>
          </a:ln>
        </p:spPr>
      </p:sp>
      <p:sp>
        <p:nvSpPr>
          <p:cNvPr id="43" name="Shape 40"/>
          <p:cNvSpPr/>
          <p:nvPr/>
        </p:nvSpPr>
        <p:spPr>
          <a:xfrm>
            <a:off x="5114422" y="5349240"/>
            <a:ext cx="1962851" cy="548640"/>
          </a:xfrm>
          <a:prstGeom prst="rect">
            <a:avLst/>
          </a:prstGeom>
          <a:solidFill>
            <a:schemeClr val="tx2"/>
          </a:solidFill>
          <a:ln/>
        </p:spPr>
      </p:sp>
      <p:sp>
        <p:nvSpPr>
          <p:cNvPr id="44" name="Text 41"/>
          <p:cNvSpPr txBox="1"/>
          <p:nvPr/>
        </p:nvSpPr>
        <p:spPr>
          <a:xfrm>
            <a:off x="5114422" y="5349240"/>
            <a:ext cx="1962851" cy="548640"/>
          </a:xfrm>
          <a:prstGeom prst="rect">
            <a:avLst/>
          </a:prstGeom>
          <a:noFill/>
          <a:ln/>
        </p:spPr>
        <p:txBody>
          <a:bodyPr wrap="square" lIns="0" tIns="0" rIns="0" bIns="0" rtlCol="0" anchor="ctr"/>
          <a:lstStyle/>
          <a:p>
            <a:pPr algn="ctr" indent="0" marL="0">
              <a:buNone/>
            </a:pPr>
            <a:r>
              <a:rPr lang="en-US" sz="1400" b="1" dirty="0">
                <a:solidFill>
                  <a:schemeClr val="bg1"/>
                </a:solidFill>
              </a:rPr>
              <a:t>tCO₂e</a:t>
            </a:r>
            <a:endParaRPr lang="en-US" sz="1400" dirty="0"/>
          </a:p>
        </p:txBody>
      </p:sp>
      <p:sp>
        <p:nvSpPr>
          <p:cNvPr id="45" name="Shape 42"/>
          <p:cNvSpPr/>
          <p:nvPr/>
        </p:nvSpPr>
        <p:spPr>
          <a:xfrm>
            <a:off x="7122993" y="5623560"/>
            <a:ext cx="228600" cy="0"/>
          </a:xfrm>
          <a:prstGeom prst="line">
            <a:avLst/>
          </a:prstGeom>
          <a:noFill/>
          <a:ln w="19050">
            <a:solidFill>
              <a:schemeClr val="accent4"/>
            </a:solidFill>
            <a:prstDash val="solid"/>
            <a:tailEnd type="triangle"/>
          </a:ln>
        </p:spPr>
      </p:sp>
      <p:sp>
        <p:nvSpPr>
          <p:cNvPr id="46" name="Shape 43"/>
          <p:cNvSpPr/>
          <p:nvPr/>
        </p:nvSpPr>
        <p:spPr>
          <a:xfrm>
            <a:off x="7397313" y="5349240"/>
            <a:ext cx="1962851" cy="548640"/>
          </a:xfrm>
          <a:prstGeom prst="rect">
            <a:avLst/>
          </a:prstGeom>
          <a:solidFill>
            <a:schemeClr val="tx2"/>
          </a:solidFill>
          <a:ln/>
        </p:spPr>
      </p:sp>
      <p:sp>
        <p:nvSpPr>
          <p:cNvPr id="47" name="Text 44"/>
          <p:cNvSpPr txBox="1"/>
          <p:nvPr/>
        </p:nvSpPr>
        <p:spPr>
          <a:xfrm>
            <a:off x="7397313" y="5349240"/>
            <a:ext cx="1962851" cy="548640"/>
          </a:xfrm>
          <a:prstGeom prst="rect">
            <a:avLst/>
          </a:prstGeom>
          <a:noFill/>
          <a:ln/>
        </p:spPr>
        <p:txBody>
          <a:bodyPr wrap="square" lIns="0" tIns="0" rIns="0" bIns="0" rtlCol="0" anchor="ctr"/>
          <a:lstStyle/>
          <a:p>
            <a:pPr algn="ctr" indent="0" marL="0">
              <a:buNone/>
            </a:pPr>
            <a:r>
              <a:rPr lang="en-US" sz="1400" b="1" dirty="0">
                <a:solidFill>
                  <a:schemeClr val="bg1"/>
                </a:solidFill>
              </a:rPr>
              <a:t>Economics</a:t>
            </a:r>
            <a:endParaRPr lang="en-US" sz="1400" dirty="0"/>
          </a:p>
        </p:txBody>
      </p:sp>
      <p:sp>
        <p:nvSpPr>
          <p:cNvPr id="48" name="Shape 45"/>
          <p:cNvSpPr/>
          <p:nvPr/>
        </p:nvSpPr>
        <p:spPr>
          <a:xfrm>
            <a:off x="9405884" y="5623560"/>
            <a:ext cx="228600" cy="0"/>
          </a:xfrm>
          <a:prstGeom prst="line">
            <a:avLst/>
          </a:prstGeom>
          <a:noFill/>
          <a:ln w="19050">
            <a:solidFill>
              <a:schemeClr val="accent4"/>
            </a:solidFill>
            <a:prstDash val="solid"/>
            <a:tailEnd type="triangle"/>
          </a:ln>
        </p:spPr>
      </p:sp>
      <p:sp>
        <p:nvSpPr>
          <p:cNvPr id="49" name="Shape 46"/>
          <p:cNvSpPr/>
          <p:nvPr/>
        </p:nvSpPr>
        <p:spPr>
          <a:xfrm>
            <a:off x="9680204" y="5349240"/>
            <a:ext cx="1962851" cy="548640"/>
          </a:xfrm>
          <a:prstGeom prst="rect">
            <a:avLst/>
          </a:prstGeom>
          <a:solidFill>
            <a:schemeClr val="accent3"/>
          </a:solidFill>
          <a:ln/>
        </p:spPr>
      </p:sp>
      <p:sp>
        <p:nvSpPr>
          <p:cNvPr id="50" name="Text 47"/>
          <p:cNvSpPr txBox="1"/>
          <p:nvPr/>
        </p:nvSpPr>
        <p:spPr>
          <a:xfrm>
            <a:off x="9680204" y="5349240"/>
            <a:ext cx="1962851" cy="548640"/>
          </a:xfrm>
          <a:prstGeom prst="rect">
            <a:avLst/>
          </a:prstGeom>
          <a:noFill/>
          <a:ln/>
        </p:spPr>
        <p:txBody>
          <a:bodyPr wrap="square" lIns="0" tIns="0" rIns="0" bIns="0" rtlCol="0" anchor="ctr"/>
          <a:lstStyle/>
          <a:p>
            <a:pPr algn="ctr" indent="0" marL="0">
              <a:buNone/>
            </a:pPr>
            <a:r>
              <a:rPr lang="en-US" sz="1400" b="1" dirty="0">
                <a:solidFill>
                  <a:schemeClr val="bg1"/>
                </a:solidFill>
              </a:rPr>
              <a:t>GO / NO-GO</a:t>
            </a:r>
            <a:endParaRPr lang="en-US" sz="1400" dirty="0"/>
          </a:p>
        </p:txBody>
      </p:sp>
      <p:sp>
        <p:nvSpPr>
          <p:cNvPr id="51" name="Text 48"/>
          <p:cNvSpPr txBox="1"/>
          <p:nvPr/>
        </p:nvSpPr>
        <p:spPr>
          <a:xfrm>
            <a:off x="548640" y="5029200"/>
            <a:ext cx="2743200" cy="228600"/>
          </a:xfrm>
          <a:prstGeom prst="rect">
            <a:avLst/>
          </a:prstGeom>
          <a:noFill/>
          <a:ln/>
        </p:spPr>
        <p:txBody>
          <a:bodyPr wrap="square" lIns="0" tIns="0" rIns="0" bIns="0" rtlCol="0" anchor="t"/>
          <a:lstStyle/>
          <a:p>
            <a:pPr indent="0" marL="0">
              <a:buNone/>
            </a:pPr>
            <a:r>
              <a:rPr lang="en-US" sz="1100" b="1" spc="200" kern="0" dirty="0">
                <a:solidFill>
                  <a:schemeClr val="accent4"/>
                </a:solidFill>
              </a:rPr>
              <a:t>OUTPUT</a:t>
            </a:r>
            <a:endParaRPr lang="en-US" sz="1100" dirty="0"/>
          </a:p>
        </p:txBody>
      </p:sp>
      <p:sp>
        <p:nvSpPr>
          <p:cNvPr id="52" name="rasio-budidaya"/>
          <p:cNvSpPr/>
          <p:nvPr/>
        </p:nvSpPr>
        <p:spPr>
          <a:xfrm>
            <a:off x="548640" y="6400800"/>
            <a:ext cx="694306" cy="91440"/>
          </a:xfrm>
          <a:prstGeom prst="rect">
            <a:avLst/>
          </a:prstGeom>
          <a:solidFill>
            <a:schemeClr val="accent2"/>
          </a:solidFill>
          <a:ln/>
        </p:spPr>
      </p:sp>
      <p:sp>
        <p:nvSpPr>
          <p:cNvPr id="53" name="rasio-lindung"/>
          <p:cNvSpPr/>
          <p:nvPr/>
        </p:nvSpPr>
        <p:spPr>
          <a:xfrm>
            <a:off x="1270378" y="6400800"/>
            <a:ext cx="741302" cy="91440"/>
          </a:xfrm>
          <a:prstGeom prst="rect">
            <a:avLst/>
          </a:prstGeom>
          <a:solidFill>
            <a:schemeClr val="accent1"/>
          </a:solidFill>
          <a:ln/>
        </p:spPr>
      </p:sp>
      <p:sp>
        <p:nvSpPr>
          <p:cNvPr id="54" name="Text 51"/>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PBPH 138.258 ha  ·  budidaya 66.908  |  lindung 71.350</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11094415" cy="320040"/>
          </a:xfrm>
          <a:prstGeom prst="rect">
            <a:avLst/>
          </a:prstGeom>
          <a:noFill/>
          <a:ln/>
        </p:spPr>
        <p:txBody>
          <a:bodyPr wrap="square" lIns="0" tIns="0" rIns="0" bIns="0" rtlCol="0"/>
          <a:lstStyle/>
          <a:p>
            <a:pPr indent="0" marL="0">
              <a:buNone/>
            </a:pPr>
            <a:r>
              <a:rPr lang="en-US" sz="1400" b="1" spc="300" kern="0" dirty="0">
                <a:solidFill>
                  <a:schemeClr val="accent6"/>
                </a:solidFill>
              </a:rPr>
              <a:t>REKOMENDASI KEPUTUSAN</a:t>
            </a:r>
            <a:endParaRPr lang="en-US" sz="1400" dirty="0"/>
          </a:p>
        </p:txBody>
      </p:sp>
      <p:sp>
        <p:nvSpPr>
          <p:cNvPr id="3" name="Text 0"/>
          <p:cNvSpPr/>
          <p:nvPr>
            <p:ph idx="101" type="title" hasCustomPrompt="1"/>
          </p:nvPr>
        </p:nvSpPr>
        <p:spPr>
          <a:xfrm>
            <a:off x="548640" y="1280160"/>
            <a:ext cx="9601200" cy="155448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Lanjutkan ke feasibility study — bukan langsung ke pengembangan proyek</a:t>
            </a:r>
            <a:endParaRPr lang="en-US" sz="4000" dirty="0"/>
          </a:p>
        </p:txBody>
      </p:sp>
      <p:sp>
        <p:nvSpPr>
          <p:cNvPr id="5" name="Shape 2"/>
          <p:cNvSpPr/>
          <p:nvPr/>
        </p:nvSpPr>
        <p:spPr>
          <a:xfrm>
            <a:off x="548640" y="3017520"/>
            <a:ext cx="3423818" cy="0"/>
          </a:xfrm>
          <a:prstGeom prst="line">
            <a:avLst/>
          </a:prstGeom>
          <a:noFill/>
          <a:ln w="12700">
            <a:solidFill>
              <a:schemeClr val="accent6"/>
            </a:solidFill>
            <a:prstDash val="solid"/>
          </a:ln>
        </p:spPr>
      </p:sp>
      <p:sp>
        <p:nvSpPr>
          <p:cNvPr id="6" name="Text 3"/>
          <p:cNvSpPr txBox="1"/>
          <p:nvPr/>
        </p:nvSpPr>
        <p:spPr>
          <a:xfrm>
            <a:off x="548640" y="3154680"/>
            <a:ext cx="3423818"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GATE 1 · LEGAL</a:t>
            </a:r>
            <a:endParaRPr lang="en-US" sz="1200" dirty="0"/>
          </a:p>
        </p:txBody>
      </p:sp>
      <p:sp>
        <p:nvSpPr>
          <p:cNvPr id="7" name="Text 4"/>
          <p:cNvSpPr txBox="1"/>
          <p:nvPr/>
        </p:nvSpPr>
        <p:spPr>
          <a:xfrm>
            <a:off x="548640" y="3474720"/>
            <a:ext cx="3423818" cy="685800"/>
          </a:xfrm>
          <a:prstGeom prst="rect">
            <a:avLst/>
          </a:prstGeom>
          <a:noFill/>
          <a:ln/>
        </p:spPr>
        <p:txBody>
          <a:bodyPr wrap="square" lIns="0" tIns="0" rIns="0" bIns="0" rtlCol="0" anchor="t"/>
          <a:lstStyle/>
          <a:p>
            <a:pPr indent="0" marL="0">
              <a:buNone/>
            </a:pPr>
            <a:r>
              <a:rPr lang="en-US" sz="1500" dirty="0">
                <a:solidFill>
                  <a:schemeClr val="bg1"/>
                </a:solidFill>
              </a:rPr>
              <a:t>Blok lindung 71.349,6 ha berada dalam SK PBPH.</a:t>
            </a:r>
            <a:endParaRPr lang="en-US" sz="1500" dirty="0"/>
          </a:p>
        </p:txBody>
      </p:sp>
      <p:sp>
        <p:nvSpPr>
          <p:cNvPr id="8" name="Text 5"/>
          <p:cNvSpPr txBox="1"/>
          <p:nvPr/>
        </p:nvSpPr>
        <p:spPr>
          <a:xfrm>
            <a:off x="548640" y="4206240"/>
            <a:ext cx="3423818" cy="548640"/>
          </a:xfrm>
          <a:prstGeom prst="rect">
            <a:avLst/>
          </a:prstGeom>
          <a:noFill/>
          <a:ln/>
        </p:spPr>
        <p:txBody>
          <a:bodyPr wrap="square" lIns="0" tIns="0" rIns="0" bIns="0" rtlCol="0" anchor="t"/>
          <a:lstStyle/>
          <a:p>
            <a:pPr indent="0" marL="0">
              <a:buNone/>
            </a:pPr>
            <a:r>
              <a:rPr lang="en-US" sz="1400" b="1" dirty="0">
                <a:solidFill>
                  <a:schemeClr val="accent6"/>
                </a:solidFill>
              </a:rPr>
              <a:t>Berikutnya: </a:t>
            </a:r>
            <a:pPr indent="0" marL="0">
              <a:buNone/>
            </a:pPr>
            <a:r>
              <a:rPr lang="en-US" sz="1400" dirty="0">
                <a:solidFill>
                  <a:srgbClr val="C8D6CD"/>
                </a:solidFill>
              </a:rPr>
              <a:t>Verifikasi SK PBPH, RKUPH &amp; peta</a:t>
            </a:r>
            <a:endParaRPr lang="en-US" sz="1400" dirty="0"/>
          </a:p>
        </p:txBody>
      </p:sp>
      <p:sp>
        <p:nvSpPr>
          <p:cNvPr id="9" name="Shape 6"/>
          <p:cNvSpPr/>
          <p:nvPr/>
        </p:nvSpPr>
        <p:spPr>
          <a:xfrm>
            <a:off x="4383938" y="3017520"/>
            <a:ext cx="3423818" cy="0"/>
          </a:xfrm>
          <a:prstGeom prst="line">
            <a:avLst/>
          </a:prstGeom>
          <a:noFill/>
          <a:ln w="12700">
            <a:solidFill>
              <a:schemeClr val="accent6"/>
            </a:solidFill>
            <a:prstDash val="solid"/>
          </a:ln>
        </p:spPr>
      </p:sp>
      <p:sp>
        <p:nvSpPr>
          <p:cNvPr id="10" name="Text 7"/>
          <p:cNvSpPr txBox="1"/>
          <p:nvPr/>
        </p:nvSpPr>
        <p:spPr>
          <a:xfrm>
            <a:off x="4383938" y="3154680"/>
            <a:ext cx="3423818"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GATE 2 · KARBON</a:t>
            </a:r>
            <a:endParaRPr lang="en-US" sz="1200" dirty="0"/>
          </a:p>
        </p:txBody>
      </p:sp>
      <p:sp>
        <p:nvSpPr>
          <p:cNvPr id="11" name="Text 8"/>
          <p:cNvSpPr txBox="1"/>
          <p:nvPr/>
        </p:nvSpPr>
        <p:spPr>
          <a:xfrm>
            <a:off x="4383938" y="3474720"/>
            <a:ext cx="3423818" cy="685800"/>
          </a:xfrm>
          <a:prstGeom prst="rect">
            <a:avLst/>
          </a:prstGeom>
          <a:noFill/>
          <a:ln/>
        </p:spPr>
        <p:txBody>
          <a:bodyPr wrap="square" lIns="0" tIns="0" rIns="0" bIns="0" rtlCol="0" anchor="t"/>
          <a:lstStyle/>
          <a:p>
            <a:pPr indent="0" marL="0">
              <a:buNone/>
            </a:pPr>
            <a:r>
              <a:rPr lang="en-US" sz="1500" dirty="0">
                <a:solidFill>
                  <a:schemeClr val="bg1"/>
                </a:solidFill>
              </a:rPr>
              <a:t>Estimasi 7,4–16,6 juta tCO₂e dalam 6 tahun.</a:t>
            </a:r>
            <a:endParaRPr lang="en-US" sz="1500" dirty="0"/>
          </a:p>
        </p:txBody>
      </p:sp>
      <p:sp>
        <p:nvSpPr>
          <p:cNvPr id="12" name="Text 9"/>
          <p:cNvSpPr txBox="1"/>
          <p:nvPr/>
        </p:nvSpPr>
        <p:spPr>
          <a:xfrm>
            <a:off x="4383938" y="4206240"/>
            <a:ext cx="3423818" cy="548640"/>
          </a:xfrm>
          <a:prstGeom prst="rect">
            <a:avLst/>
          </a:prstGeom>
          <a:noFill/>
          <a:ln/>
        </p:spPr>
        <p:txBody>
          <a:bodyPr wrap="square" lIns="0" tIns="0" rIns="0" bIns="0" rtlCol="0" anchor="t"/>
          <a:lstStyle/>
          <a:p>
            <a:pPr indent="0" marL="0">
              <a:buNone/>
            </a:pPr>
            <a:r>
              <a:rPr lang="en-US" sz="1400" b="1" dirty="0">
                <a:solidFill>
                  <a:schemeClr val="accent6"/>
                </a:solidFill>
              </a:rPr>
              <a:t>Berikutnya: </a:t>
            </a:r>
            <a:pPr indent="0" marL="0">
              <a:buNone/>
            </a:pPr>
            <a:r>
              <a:rPr lang="en-US" sz="1400" dirty="0">
                <a:solidFill>
                  <a:srgbClr val="C8D6CD"/>
                </a:solidFill>
              </a:rPr>
              <a:t>Uji additionality &amp; metodologi SRUK</a:t>
            </a:r>
            <a:endParaRPr lang="en-US" sz="1400" dirty="0"/>
          </a:p>
        </p:txBody>
      </p:sp>
      <p:sp>
        <p:nvSpPr>
          <p:cNvPr id="13" name="Shape 10"/>
          <p:cNvSpPr/>
          <p:nvPr/>
        </p:nvSpPr>
        <p:spPr>
          <a:xfrm>
            <a:off x="8219237" y="3017520"/>
            <a:ext cx="3423818" cy="0"/>
          </a:xfrm>
          <a:prstGeom prst="line">
            <a:avLst/>
          </a:prstGeom>
          <a:noFill/>
          <a:ln w="12700">
            <a:solidFill>
              <a:schemeClr val="accent6"/>
            </a:solidFill>
            <a:prstDash val="solid"/>
          </a:ln>
        </p:spPr>
      </p:sp>
      <p:sp>
        <p:nvSpPr>
          <p:cNvPr id="14" name="Text 11"/>
          <p:cNvSpPr txBox="1"/>
          <p:nvPr/>
        </p:nvSpPr>
        <p:spPr>
          <a:xfrm>
            <a:off x="8219237" y="3154680"/>
            <a:ext cx="3423818"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GATE 3 · BISNIS</a:t>
            </a:r>
            <a:endParaRPr lang="en-US" sz="1200" dirty="0"/>
          </a:p>
        </p:txBody>
      </p:sp>
      <p:sp>
        <p:nvSpPr>
          <p:cNvPr id="15" name="Text 12"/>
          <p:cNvSpPr txBox="1"/>
          <p:nvPr/>
        </p:nvSpPr>
        <p:spPr>
          <a:xfrm>
            <a:off x="8219237" y="3474720"/>
            <a:ext cx="3423818" cy="685800"/>
          </a:xfrm>
          <a:prstGeom prst="rect">
            <a:avLst/>
          </a:prstGeom>
          <a:noFill/>
          <a:ln/>
        </p:spPr>
        <p:txBody>
          <a:bodyPr wrap="square" lIns="0" tIns="0" rIns="0" bIns="0" rtlCol="0" anchor="t"/>
          <a:lstStyle/>
          <a:p>
            <a:pPr indent="0" marL="0">
              <a:buNone/>
            </a:pPr>
            <a:r>
              <a:rPr lang="en-US" sz="1500" dirty="0">
                <a:solidFill>
                  <a:schemeClr val="bg1"/>
                </a:solidFill>
              </a:rPr>
              <a:t>Pendapatan US$29,5–265 juta vs opportunity cost US$23–51 juta.</a:t>
            </a:r>
            <a:endParaRPr lang="en-US" sz="1500" dirty="0"/>
          </a:p>
        </p:txBody>
      </p:sp>
      <p:sp>
        <p:nvSpPr>
          <p:cNvPr id="16" name="Text 13"/>
          <p:cNvSpPr txBox="1"/>
          <p:nvPr/>
        </p:nvSpPr>
        <p:spPr>
          <a:xfrm>
            <a:off x="8219237" y="4206240"/>
            <a:ext cx="3423818" cy="548640"/>
          </a:xfrm>
          <a:prstGeom prst="rect">
            <a:avLst/>
          </a:prstGeom>
          <a:noFill/>
          <a:ln/>
        </p:spPr>
        <p:txBody>
          <a:bodyPr wrap="square" lIns="0" tIns="0" rIns="0" bIns="0" rtlCol="0" anchor="t"/>
          <a:lstStyle/>
          <a:p>
            <a:pPr indent="0" marL="0">
              <a:buNone/>
            </a:pPr>
            <a:r>
              <a:rPr lang="en-US" sz="1400" b="1" dirty="0">
                <a:solidFill>
                  <a:schemeClr val="accent6"/>
                </a:solidFill>
              </a:rPr>
              <a:t>Berikutnya: </a:t>
            </a:r>
            <a:pPr indent="0" marL="0">
              <a:buNone/>
            </a:pPr>
            <a:r>
              <a:rPr lang="en-US" sz="1400" dirty="0">
                <a:solidFill>
                  <a:srgbClr val="C8D6CD"/>
                </a:solidFill>
              </a:rPr>
              <a:t>Hitung NPV setelah biaya MRV, restorasi &amp; buffer</a:t>
            </a:r>
            <a:endParaRPr lang="en-US" sz="1400" dirty="0"/>
          </a:p>
        </p:txBody>
      </p:sp>
      <p:sp>
        <p:nvSpPr>
          <p:cNvPr id="17" name="Shape 14"/>
          <p:cNvSpPr/>
          <p:nvPr/>
        </p:nvSpPr>
        <p:spPr>
          <a:xfrm>
            <a:off x="548640" y="4983480"/>
            <a:ext cx="11094415" cy="731520"/>
          </a:xfrm>
          <a:prstGeom prst="rect">
            <a:avLst/>
          </a:prstGeom>
          <a:solidFill>
            <a:schemeClr val="bg1"/>
          </a:solidFill>
          <a:ln/>
        </p:spPr>
      </p:sp>
      <p:sp>
        <p:nvSpPr>
          <p:cNvPr id="18" name="Text 15"/>
          <p:cNvSpPr txBox="1"/>
          <p:nvPr/>
        </p:nvSpPr>
        <p:spPr>
          <a:xfrm>
            <a:off x="822960" y="4983480"/>
            <a:ext cx="10545775" cy="731520"/>
          </a:xfrm>
          <a:prstGeom prst="rect">
            <a:avLst/>
          </a:prstGeom>
          <a:noFill/>
          <a:ln/>
        </p:spPr>
        <p:txBody>
          <a:bodyPr wrap="square" lIns="0" tIns="0" rIns="0" bIns="0" rtlCol="0" anchor="ctr"/>
          <a:lstStyle/>
          <a:p>
            <a:pPr indent="0" marL="0">
              <a:buNone/>
            </a:pPr>
            <a:r>
              <a:rPr lang="en-US" sz="1600" b="1" dirty="0">
                <a:solidFill>
                  <a:schemeClr val="accent3"/>
                </a:solidFill>
              </a:rPr>
              <a:t>Keputusan yang diminta: </a:t>
            </a:r>
            <a:pPr indent="0" marL="0">
              <a:buNone/>
            </a:pPr>
            <a:r>
              <a:rPr lang="en-US" sz="1600" b="1" dirty="0">
                <a:solidFill>
                  <a:schemeClr val="tx1"/>
                </a:solidFill>
              </a:rPr>
              <a:t>tugaskan Legal–Carbon Feasibility Screening atas 71.350 ha. Jika ketiga gate lolos → ubah RKUPH dan kembangkan MUK karbon.</a:t>
            </a:r>
            <a:endParaRPr lang="en-US" sz="1600" dirty="0"/>
          </a:p>
        </p:txBody>
      </p:sp>
      <p:sp>
        <p:nvSpPr>
          <p:cNvPr id="19" name="rasio-budidaya"/>
          <p:cNvSpPr/>
          <p:nvPr/>
        </p:nvSpPr>
        <p:spPr>
          <a:xfrm>
            <a:off x="548640" y="6172200"/>
            <a:ext cx="694306" cy="91440"/>
          </a:xfrm>
          <a:prstGeom prst="rect">
            <a:avLst/>
          </a:prstGeom>
          <a:solidFill>
            <a:srgbClr val="2E5246"/>
          </a:solidFill>
          <a:ln/>
        </p:spPr>
      </p:sp>
      <p:sp>
        <p:nvSpPr>
          <p:cNvPr id="20" name="rasio-lindung"/>
          <p:cNvSpPr/>
          <p:nvPr/>
        </p:nvSpPr>
        <p:spPr>
          <a:xfrm>
            <a:off x="1270378" y="6172200"/>
            <a:ext cx="741302" cy="91440"/>
          </a:xfrm>
          <a:prstGeom prst="rect">
            <a:avLst/>
          </a:prstGeom>
          <a:solidFill>
            <a:schemeClr val="accent6"/>
          </a:solidFill>
          <a:ln/>
        </p:spPr>
      </p:sp>
      <p:sp>
        <p:nvSpPr>
          <p:cNvPr id="21" name="Text 18"/>
          <p:cNvSpPr txBox="1"/>
          <p:nvPr/>
        </p:nvSpPr>
        <p:spPr>
          <a:xfrm>
            <a:off x="2148840" y="6108192"/>
            <a:ext cx="8229600" cy="228600"/>
          </a:xfrm>
          <a:prstGeom prst="rect">
            <a:avLst/>
          </a:prstGeom>
          <a:noFill/>
          <a:ln/>
        </p:spPr>
        <p:txBody>
          <a:bodyPr wrap="square" lIns="0" tIns="0" rIns="0" bIns="0" rtlCol="0" anchor="t"/>
          <a:lstStyle/>
          <a:p>
            <a:pPr indent="0" marL="0">
              <a:buNone/>
            </a:pPr>
            <a:r>
              <a:rPr lang="en-US" sz="1000" i="1" dirty="0">
                <a:solidFill>
                  <a:schemeClr val="accent6"/>
                </a:solidFill>
              </a:rPr>
              <a:t>Analisis awal — perlu dikonfirmasi dengan dokumen PBPH/RKUPH dan data spasial aktual</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LAMPIRAN A</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Skema kerja sama tiga pihak dalam satu PBPH</a:t>
            </a:r>
            <a:endParaRPr lang="en-US" sz="2800" dirty="0"/>
          </a:p>
        </p:txBody>
      </p:sp>
      <p:pic>
        <p:nvPicPr>
          <p:cNvPr id="5" name="Image 0" descr="Skema kerja sama multiusaha kehutanan pada PBPH">    </p:cNvPr>
          <p:cNvPicPr>
            <a:picLocks noChangeAspect="1"/>
          </p:cNvPicPr>
          <p:nvPr/>
        </p:nvPicPr>
        <p:blipFill>
          <a:blip r:embed="rId1"/>
          <a:stretch>
            <a:fillRect/>
          </a:stretch>
        </p:blipFill>
        <p:spPr>
          <a:xfrm>
            <a:off x="548640" y="1783080"/>
            <a:ext cx="6515100" cy="4343400"/>
          </a:xfrm>
          <a:prstGeom prst="rect">
            <a:avLst/>
          </a:prstGeom>
        </p:spPr>
      </p:pic>
      <p:sp>
        <p:nvSpPr>
          <p:cNvPr id="6" name="Text 2"/>
          <p:cNvSpPr txBox="1"/>
          <p:nvPr/>
        </p:nvSpPr>
        <p:spPr>
          <a:xfrm>
            <a:off x="7475220" y="1828800"/>
            <a:ext cx="4167835" cy="914400"/>
          </a:xfrm>
          <a:prstGeom prst="rect">
            <a:avLst/>
          </a:prstGeom>
          <a:noFill/>
          <a:ln/>
        </p:spPr>
        <p:txBody>
          <a:bodyPr wrap="square" lIns="0" tIns="0" rIns="0" bIns="0" rtlCol="0" anchor="t"/>
          <a:lstStyle/>
          <a:p>
            <a:pPr indent="0" marL="0">
              <a:buNone/>
            </a:pPr>
            <a:r>
              <a:rPr lang="en-US" sz="1500" b="1" dirty="0">
                <a:solidFill>
                  <a:schemeClr val="tx1"/>
                </a:solidFill>
              </a:rPr>
              <a:t>Perusahaan A</a:t>
            </a:r>
            <a:endParaRPr lang="en-US" sz="1500" dirty="0"/>
          </a:p>
          <a:p>
            <a:pPr indent="0" marL="0">
              <a:buNone/>
            </a:pPr>
            <a:r>
              <a:rPr lang="en-US" sz="1300" dirty="0">
                <a:solidFill>
                  <a:schemeClr val="accent4"/>
                </a:solidFill>
              </a:rPr>
              <a:t>Pemegang PBPH: izin, HTI akasia, alokasi areal karbon via RKUPH</a:t>
            </a:r>
            <a:endParaRPr lang="en-US" sz="1500" dirty="0"/>
          </a:p>
        </p:txBody>
      </p:sp>
      <p:sp>
        <p:nvSpPr>
          <p:cNvPr id="7" name="Shape 3"/>
          <p:cNvSpPr/>
          <p:nvPr/>
        </p:nvSpPr>
        <p:spPr>
          <a:xfrm>
            <a:off x="7475220" y="2770632"/>
            <a:ext cx="4167835" cy="0"/>
          </a:xfrm>
          <a:prstGeom prst="line">
            <a:avLst/>
          </a:prstGeom>
          <a:noFill/>
          <a:ln w="9525">
            <a:solidFill>
              <a:schemeClr val="accent5"/>
            </a:solidFill>
            <a:prstDash val="solid"/>
          </a:ln>
        </p:spPr>
      </p:sp>
      <p:sp>
        <p:nvSpPr>
          <p:cNvPr id="8" name="Text 4"/>
          <p:cNvSpPr txBox="1"/>
          <p:nvPr/>
        </p:nvSpPr>
        <p:spPr>
          <a:xfrm>
            <a:off x="7475220" y="2880360"/>
            <a:ext cx="4167835" cy="914400"/>
          </a:xfrm>
          <a:prstGeom prst="rect">
            <a:avLst/>
          </a:prstGeom>
          <a:noFill/>
          <a:ln/>
        </p:spPr>
        <p:txBody>
          <a:bodyPr wrap="square" lIns="0" tIns="0" rIns="0" bIns="0" rtlCol="0" anchor="t"/>
          <a:lstStyle/>
          <a:p>
            <a:pPr indent="0" marL="0">
              <a:buNone/>
            </a:pPr>
            <a:r>
              <a:rPr lang="en-US" sz="1500" b="1" dirty="0">
                <a:solidFill>
                  <a:schemeClr val="tx1"/>
                </a:solidFill>
              </a:rPr>
              <a:t>Perusahaan B</a:t>
            </a:r>
            <a:endParaRPr lang="en-US" sz="1500" dirty="0"/>
          </a:p>
          <a:p>
            <a:pPr indent="0" marL="0">
              <a:buNone/>
            </a:pPr>
            <a:r>
              <a:rPr lang="en-US" sz="1300" dirty="0">
                <a:solidFill>
                  <a:schemeClr val="accent4"/>
                </a:solidFill>
              </a:rPr>
              <a:t>Perusahaan karbon: co-proponent, investasi, MRV, pemasaran unit</a:t>
            </a:r>
            <a:endParaRPr lang="en-US" sz="1500" dirty="0"/>
          </a:p>
        </p:txBody>
      </p:sp>
      <p:sp>
        <p:nvSpPr>
          <p:cNvPr id="9" name="Shape 5"/>
          <p:cNvSpPr/>
          <p:nvPr/>
        </p:nvSpPr>
        <p:spPr>
          <a:xfrm>
            <a:off x="7475220" y="3822192"/>
            <a:ext cx="4167835" cy="0"/>
          </a:xfrm>
          <a:prstGeom prst="line">
            <a:avLst/>
          </a:prstGeom>
          <a:noFill/>
          <a:ln w="9525">
            <a:solidFill>
              <a:schemeClr val="accent5"/>
            </a:solidFill>
            <a:prstDash val="solid"/>
          </a:ln>
        </p:spPr>
      </p:sp>
      <p:sp>
        <p:nvSpPr>
          <p:cNvPr id="10" name="Text 6"/>
          <p:cNvSpPr txBox="1"/>
          <p:nvPr/>
        </p:nvSpPr>
        <p:spPr>
          <a:xfrm>
            <a:off x="7475220" y="3931920"/>
            <a:ext cx="4167835" cy="914400"/>
          </a:xfrm>
          <a:prstGeom prst="rect">
            <a:avLst/>
          </a:prstGeom>
          <a:noFill/>
          <a:ln/>
        </p:spPr>
        <p:txBody>
          <a:bodyPr wrap="square" lIns="0" tIns="0" rIns="0" bIns="0" rtlCol="0" anchor="t"/>
          <a:lstStyle/>
          <a:p>
            <a:pPr indent="0" marL="0">
              <a:buNone/>
            </a:pPr>
            <a:r>
              <a:rPr lang="en-US" sz="1500" b="1" dirty="0">
                <a:solidFill>
                  <a:schemeClr val="tx1"/>
                </a:solidFill>
              </a:rPr>
              <a:t>Carbon developer</a:t>
            </a:r>
            <a:endParaRPr lang="en-US" sz="1500" dirty="0"/>
          </a:p>
          <a:p>
            <a:pPr indent="0" marL="0">
              <a:buNone/>
            </a:pPr>
            <a:r>
              <a:rPr lang="en-US" sz="1300" dirty="0">
                <a:solidFill>
                  <a:schemeClr val="accent4"/>
                </a:solidFill>
              </a:rPr>
              <a:t>Studi kelayakan, PDD/DRAM, validasi &amp; verifikasi</a:t>
            </a:r>
            <a:endParaRPr lang="en-US" sz="1500" dirty="0"/>
          </a:p>
        </p:txBody>
      </p:sp>
      <p:sp>
        <p:nvSpPr>
          <p:cNvPr id="11" name="Shape 7"/>
          <p:cNvSpPr/>
          <p:nvPr/>
        </p:nvSpPr>
        <p:spPr>
          <a:xfrm>
            <a:off x="7475220" y="4873752"/>
            <a:ext cx="4167835" cy="0"/>
          </a:xfrm>
          <a:prstGeom prst="line">
            <a:avLst/>
          </a:prstGeom>
          <a:noFill/>
          <a:ln w="9525">
            <a:solidFill>
              <a:schemeClr val="accent5"/>
            </a:solidFill>
            <a:prstDash val="solid"/>
          </a:ln>
        </p:spPr>
      </p:sp>
      <p:sp>
        <p:nvSpPr>
          <p:cNvPr id="12" name="Text 8"/>
          <p:cNvSpPr txBox="1"/>
          <p:nvPr/>
        </p:nvSpPr>
        <p:spPr>
          <a:xfrm>
            <a:off x="7475220" y="4983480"/>
            <a:ext cx="4167835" cy="914400"/>
          </a:xfrm>
          <a:prstGeom prst="rect">
            <a:avLst/>
          </a:prstGeom>
          <a:noFill/>
          <a:ln/>
        </p:spPr>
        <p:txBody>
          <a:bodyPr wrap="square" lIns="0" tIns="0" rIns="0" bIns="0" rtlCol="0" anchor="t"/>
          <a:lstStyle/>
          <a:p>
            <a:pPr indent="0" marL="0">
              <a:buNone/>
            </a:pPr>
            <a:r>
              <a:rPr lang="en-US" sz="1500" b="1" dirty="0">
                <a:solidFill>
                  <a:schemeClr val="tx1"/>
                </a:solidFill>
              </a:rPr>
              <a:t>Joint Project Committee</a:t>
            </a:r>
            <a:endParaRPr lang="en-US" sz="1500" dirty="0"/>
          </a:p>
          <a:p>
            <a:pPr indent="0" marL="0">
              <a:buNone/>
            </a:pPr>
            <a:r>
              <a:rPr lang="en-US" sz="1300" dirty="0">
                <a:solidFill>
                  <a:schemeClr val="accent4"/>
                </a:solidFill>
              </a:rPr>
              <a:t>Forum keputusan bersama: areal, anggaran, pembagian pendapatan</a:t>
            </a:r>
            <a:endParaRPr lang="en-US" sz="1500" dirty="0"/>
          </a:p>
        </p:txBody>
      </p:sp>
      <p:sp>
        <p:nvSpPr>
          <p:cNvPr id="13" name="rasio-budidaya"/>
          <p:cNvSpPr/>
          <p:nvPr/>
        </p:nvSpPr>
        <p:spPr>
          <a:xfrm>
            <a:off x="548640" y="6400800"/>
            <a:ext cx="694306" cy="91440"/>
          </a:xfrm>
          <a:prstGeom prst="rect">
            <a:avLst/>
          </a:prstGeom>
          <a:solidFill>
            <a:schemeClr val="accent2"/>
          </a:solidFill>
          <a:ln/>
        </p:spPr>
      </p:sp>
      <p:sp>
        <p:nvSpPr>
          <p:cNvPr id="14" name="rasio-lindung"/>
          <p:cNvSpPr/>
          <p:nvPr/>
        </p:nvSpPr>
        <p:spPr>
          <a:xfrm>
            <a:off x="1270378" y="6400800"/>
            <a:ext cx="741302" cy="91440"/>
          </a:xfrm>
          <a:prstGeom prst="rect">
            <a:avLst/>
          </a:prstGeom>
          <a:solidFill>
            <a:schemeClr val="accent1"/>
          </a:solidFill>
          <a:ln/>
        </p:spPr>
      </p:sp>
      <p:sp>
        <p:nvSpPr>
          <p:cNvPr id="15" name="Text 11"/>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PBPH 138.258 ha  ·  budidaya 66.908  |  lindung 71.350</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LAMPIRAN B</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Data stok dan emisi karbon PBPH PT Mayawana Persada</a:t>
            </a:r>
            <a:endParaRPr lang="en-US" sz="2800" dirty="0"/>
          </a:p>
        </p:txBody>
      </p:sp>
      <p:sp>
        <p:nvSpPr>
          <p:cNvPr id="5" name="Text 2"/>
          <p:cNvSpPr txBox="1"/>
          <p:nvPr/>
        </p:nvSpPr>
        <p:spPr>
          <a:xfrm>
            <a:off x="548640" y="1783080"/>
            <a:ext cx="457200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STOK KARBON 2026</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11094415" cy="914400"/>
        </p:xfrm>
        <a:graphic>
          <a:graphicData uri="http://schemas.openxmlformats.org/drawingml/2006/table">
            <a:tbl>
              <a:tblPr/>
              <a:tblGrid>
                <a:gridCol w="2862072"/>
                <a:gridCol w="2011680"/>
                <a:gridCol w="2011680"/>
                <a:gridCol w="2103120"/>
                <a:gridCol w="2103120"/>
              </a:tblGrid>
              <a:tr h="292608">
                <a:tc>
                  <a:txBody>
                    <a:bodyPr/>
                    <a:lstStyle/>
                    <a:p>
                      <a:pPr algn="l" indent="0" marL="0">
                        <a:buNone/>
                      </a:pPr>
                      <a:r>
                        <a:rPr lang="en-US" sz="1200" b="1" dirty="0">
                          <a:solidFill>
                            <a:srgbClr val="5F6B65"/>
                          </a:solidFill>
                          <a:latin typeface="Calibri" pitchFamily="34" charset="0"/>
                          <a:ea typeface="Calibri" pitchFamily="34" charset="-122"/>
                          <a:cs typeface="Calibri" pitchFamily="34" charset="-120"/>
                        </a:rPr>
                        <a:t>Kawasan</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Luas (ha)</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Karbon (tC/ha)</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Stok (tC)</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Setara CO₂ (tCO₂e)</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r>
              <a:tr h="292608">
                <a:tc>
                  <a:txBody>
                    <a:bodyPr/>
                    <a:lstStyle/>
                    <a:p>
                      <a:pPr algn="l" indent="0" marL="0">
                        <a:buNone/>
                      </a:pPr>
                      <a:r>
                        <a:rPr lang="en-US" sz="1200" b="1" dirty="0">
                          <a:solidFill>
                            <a:srgbClr val="1B2420"/>
                          </a:solidFill>
                          <a:latin typeface="Calibri" pitchFamily="34" charset="0"/>
                          <a:ea typeface="Calibri" pitchFamily="34" charset="-122"/>
                          <a:cs typeface="Calibri" pitchFamily="34" charset="-120"/>
                        </a:rPr>
                        <a:t>Budidaya (produksi)</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66.908,4</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59,5</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3.981.049,8</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14.597.182,6</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292608">
                <a:tc>
                  <a:txBody>
                    <a:bodyPr/>
                    <a:lstStyle/>
                    <a:p>
                      <a:pPr algn="l" indent="0" marL="0">
                        <a:buNone/>
                      </a:pPr>
                      <a:r>
                        <a:rPr lang="en-US" sz="1200" b="1" dirty="0">
                          <a:solidFill>
                            <a:srgbClr val="1B2420"/>
                          </a:solidFill>
                          <a:latin typeface="Calibri" pitchFamily="34" charset="0"/>
                          <a:ea typeface="Calibri" pitchFamily="34" charset="-122"/>
                          <a:cs typeface="Calibri" pitchFamily="34" charset="-120"/>
                        </a:rPr>
                        <a:t>Lindung</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71.349,6</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268,6</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19.164.514,4</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b="1" dirty="0">
                          <a:solidFill>
                            <a:srgbClr val="1F5A45"/>
                          </a:solidFill>
                          <a:latin typeface="Calibri" pitchFamily="34" charset="0"/>
                          <a:ea typeface="Calibri" pitchFamily="34" charset="-122"/>
                          <a:cs typeface="Calibri" pitchFamily="34" charset="-120"/>
                        </a:rPr>
                        <a:t>70.269.886,1</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bl>
          </a:graphicData>
        </a:graphic>
      </p:graphicFrame>
      <p:sp>
        <p:nvSpPr>
          <p:cNvPr id="7" name="Text 3"/>
          <p:cNvSpPr txBox="1"/>
          <p:nvPr/>
        </p:nvSpPr>
        <p:spPr>
          <a:xfrm>
            <a:off x="548640" y="3154680"/>
            <a:ext cx="731520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EMISI KAWASAN BUDIDAYA PER TAHUN PEMBUKAAN</a:t>
            </a:r>
            <a:endParaRPr lang="en-US" sz="110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548640" y="3429000"/>
          <a:ext cx="11094415" cy="914400"/>
        </p:xfrm>
        <a:graphic>
          <a:graphicData uri="http://schemas.openxmlformats.org/drawingml/2006/table">
            <a:tbl>
              <a:tblPr/>
              <a:tblGrid>
                <a:gridCol w="1645920"/>
                <a:gridCol w="1737360"/>
                <a:gridCol w="2011680"/>
                <a:gridCol w="1828800"/>
                <a:gridCol w="1828800"/>
                <a:gridCol w="2039112"/>
              </a:tblGrid>
              <a:tr h="274320">
                <a:tc>
                  <a:txBody>
                    <a:bodyPr/>
                    <a:lstStyle/>
                    <a:p>
                      <a:pPr algn="l" indent="0" marL="0">
                        <a:buNone/>
                      </a:pPr>
                      <a:r>
                        <a:rPr lang="en-US" sz="1200" b="1" dirty="0">
                          <a:solidFill>
                            <a:srgbClr val="5F6B65"/>
                          </a:solidFill>
                          <a:latin typeface="Calibri" pitchFamily="34" charset="0"/>
                          <a:ea typeface="Calibri" pitchFamily="34" charset="-122"/>
                          <a:cs typeface="Calibri" pitchFamily="34" charset="-120"/>
                        </a:rPr>
                        <a:t>Tahun</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Luas (ha)</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Faktor emisi (tC/ha/th)</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Emisi (tC/th)</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Emisi (tCO₂/th)</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Emisi kumulatif (tCO₂)</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r>
              <a:tr h="274320">
                <a:tc>
                  <a:txBody>
                    <a:bodyPr/>
                    <a:lstStyle/>
                    <a:p>
                      <a:pPr algn="l" indent="0" marL="0">
                        <a:buNone/>
                      </a:pPr>
                      <a:r>
                        <a:rPr lang="en-US" sz="1200" dirty="0">
                          <a:solidFill>
                            <a:srgbClr val="1B2420"/>
                          </a:solidFill>
                          <a:latin typeface="Calibri" pitchFamily="34" charset="0"/>
                          <a:ea typeface="Calibri" pitchFamily="34" charset="-122"/>
                          <a:cs typeface="Calibri" pitchFamily="34" charset="-120"/>
                        </a:rPr>
                        <a:t>2021</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4.884</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97.680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358.160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2.148.960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274320">
                <a:tc>
                  <a:txBody>
                    <a:bodyPr/>
                    <a:lstStyle/>
                    <a:p>
                      <a:pPr algn="l" indent="0" marL="0">
                        <a:buNone/>
                      </a:pPr>
                      <a:r>
                        <a:rPr lang="en-US" sz="1200" dirty="0">
                          <a:solidFill>
                            <a:srgbClr val="1B2420"/>
                          </a:solidFill>
                          <a:latin typeface="Calibri" pitchFamily="34" charset="0"/>
                          <a:ea typeface="Calibri" pitchFamily="34" charset="-122"/>
                          <a:cs typeface="Calibri" pitchFamily="34" charset="-120"/>
                        </a:rPr>
                        <a:t>2022</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8.162</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163.240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598.547</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2.992.733</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274320">
                <a:tc>
                  <a:txBody>
                    <a:bodyPr/>
                    <a:lstStyle/>
                    <a:p>
                      <a:pPr algn="l" indent="0" marL="0">
                        <a:buNone/>
                      </a:pPr>
                      <a:r>
                        <a:rPr lang="en-US" sz="1200" dirty="0">
                          <a:solidFill>
                            <a:srgbClr val="1B2420"/>
                          </a:solidFill>
                          <a:latin typeface="Calibri" pitchFamily="34" charset="0"/>
                          <a:ea typeface="Calibri" pitchFamily="34" charset="-122"/>
                          <a:cs typeface="Calibri" pitchFamily="34" charset="-120"/>
                        </a:rPr>
                        <a:t>2023</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19.221</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384.420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1.409.540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b="1" dirty="0">
                          <a:solidFill>
                            <a:srgbClr val="B5551F"/>
                          </a:solidFill>
                          <a:latin typeface="Calibri" pitchFamily="34" charset="0"/>
                          <a:ea typeface="Calibri" pitchFamily="34" charset="-122"/>
                          <a:cs typeface="Calibri" pitchFamily="34" charset="-120"/>
                        </a:rPr>
                        <a:t>5.638.160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274320">
                <a:tc>
                  <a:txBody>
                    <a:bodyPr/>
                    <a:lstStyle/>
                    <a:p>
                      <a:pPr algn="l" indent="0" marL="0">
                        <a:buNone/>
                      </a:pPr>
                      <a:r>
                        <a:rPr lang="en-US" sz="1200" dirty="0">
                          <a:solidFill>
                            <a:srgbClr val="1B2420"/>
                          </a:solidFill>
                          <a:latin typeface="Calibri" pitchFamily="34" charset="0"/>
                          <a:ea typeface="Calibri" pitchFamily="34" charset="-122"/>
                          <a:cs typeface="Calibri" pitchFamily="34" charset="-120"/>
                        </a:rPr>
                        <a:t>2024</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1.571</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31.420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115.207</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345.620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274320">
                <a:tc>
                  <a:txBody>
                    <a:bodyPr/>
                    <a:lstStyle/>
                    <a:p>
                      <a:pPr algn="l" indent="0" marL="0">
                        <a:buNone/>
                      </a:pPr>
                      <a:r>
                        <a:rPr lang="en-US" sz="1200" dirty="0">
                          <a:solidFill>
                            <a:srgbClr val="1B2420"/>
                          </a:solidFill>
                          <a:latin typeface="Calibri" pitchFamily="34" charset="0"/>
                          <a:ea typeface="Calibri" pitchFamily="34" charset="-122"/>
                          <a:cs typeface="Calibri" pitchFamily="34" charset="-120"/>
                        </a:rPr>
                        <a:t>2025</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1.890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37.800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138.600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277.200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274320">
                <a:tc>
                  <a:txBody>
                    <a:bodyPr/>
                    <a:lstStyle/>
                    <a:p>
                      <a:pPr algn="l" indent="0" marL="0">
                        <a:buNone/>
                      </a:pPr>
                      <a:r>
                        <a:rPr lang="en-US" sz="1200" dirty="0">
                          <a:solidFill>
                            <a:srgbClr val="1B2420"/>
                          </a:solidFill>
                          <a:latin typeface="Calibri" pitchFamily="34" charset="0"/>
                          <a:ea typeface="Calibri" pitchFamily="34" charset="-122"/>
                          <a:cs typeface="Calibri" pitchFamily="34" charset="-120"/>
                        </a:rPr>
                        <a:t>2026</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10.920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218.400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800.800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800.800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274320">
                <a:tc>
                  <a:txBody>
                    <a:bodyPr/>
                    <a:lstStyle/>
                    <a:p>
                      <a:pPr algn="l" indent="0" marL="0">
                        <a:buNone/>
                      </a:pPr>
                      <a:r>
                        <a:rPr lang="en-US" sz="1200" b="1" dirty="0">
                          <a:solidFill>
                            <a:srgbClr val="1B2420"/>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b="1" dirty="0">
                          <a:solidFill>
                            <a:srgbClr val="1B2420"/>
                          </a:solidFill>
                          <a:latin typeface="Calibri" pitchFamily="34" charset="0"/>
                          <a:ea typeface="Calibri" pitchFamily="34" charset="-122"/>
                          <a:cs typeface="Calibri" pitchFamily="34" charset="-120"/>
                        </a:rPr>
                        <a:t>46.648</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b="1" dirty="0">
                          <a:solidFill>
                            <a:srgbClr val="1B2420"/>
                          </a:solidFill>
                          <a:latin typeface="Calibri" pitchFamily="34" charset="0"/>
                          <a:ea typeface="Calibri" pitchFamily="34" charset="-122"/>
                          <a:cs typeface="Calibri" pitchFamily="34" charset="-120"/>
                        </a:rPr>
                        <a:t>932.960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b="1" dirty="0">
                          <a:solidFill>
                            <a:srgbClr val="1B2420"/>
                          </a:solidFill>
                          <a:latin typeface="Calibri" pitchFamily="34" charset="0"/>
                          <a:ea typeface="Calibri" pitchFamily="34" charset="-122"/>
                          <a:cs typeface="Calibri" pitchFamily="34" charset="-120"/>
                        </a:rPr>
                        <a:t>3.420.853</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b="1" dirty="0">
                          <a:solidFill>
                            <a:srgbClr val="1B2420"/>
                          </a:solidFill>
                          <a:latin typeface="Calibri" pitchFamily="34" charset="0"/>
                          <a:ea typeface="Calibri" pitchFamily="34" charset="-122"/>
                          <a:cs typeface="Calibri" pitchFamily="34" charset="-120"/>
                        </a:rPr>
                        <a:t>12.203.473</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bl>
          </a:graphicData>
        </a:graphic>
      </p:graphicFrame>
      <p:sp>
        <p:nvSpPr>
          <p:cNvPr id="9" name="rasio-budidaya"/>
          <p:cNvSpPr/>
          <p:nvPr/>
        </p:nvSpPr>
        <p:spPr>
          <a:xfrm>
            <a:off x="548640" y="6400800"/>
            <a:ext cx="694306" cy="91440"/>
          </a:xfrm>
          <a:prstGeom prst="rect">
            <a:avLst/>
          </a:prstGeom>
          <a:solidFill>
            <a:schemeClr val="accent2"/>
          </a:solidFill>
          <a:ln/>
        </p:spPr>
      </p:sp>
      <p:sp>
        <p:nvSpPr>
          <p:cNvPr id="10" name="rasio-lindung"/>
          <p:cNvSpPr/>
          <p:nvPr/>
        </p:nvSpPr>
        <p:spPr>
          <a:xfrm>
            <a:off x="1270378" y="6400800"/>
            <a:ext cx="741302" cy="91440"/>
          </a:xfrm>
          <a:prstGeom prst="rect">
            <a:avLst/>
          </a:prstGeom>
          <a:solidFill>
            <a:schemeClr val="accent1"/>
          </a:solidFill>
          <a:ln/>
        </p:spPr>
      </p:sp>
      <p:sp>
        <p:nvSpPr>
          <p:cNvPr id="11" name="Text 6"/>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PBPH 138.258 ha  ·  budidaya 66.908  |  lindung 71.350</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Mayawana Karbon">
  <a:themeElements>
    <a:clrScheme name="Mayawana Karbon">
      <a:dk1>
        <a:srgbClr val="1B2420"/>
      </a:dk1>
      <a:lt1>
        <a:srgbClr val="FFFFFF"/>
      </a:lt1>
      <a:dk2>
        <a:srgbClr val="163A2E"/>
      </a:dk2>
      <a:lt2>
        <a:srgbClr val="EEF2EE"/>
      </a:lt2>
      <a:accent1>
        <a:srgbClr val="1F5A45"/>
      </a:accent1>
      <a:accent2>
        <a:srgbClr val="9C967F"/>
      </a:accent2>
      <a:accent3>
        <a:srgbClr val="B5551F"/>
      </a:accent3>
      <a:accent4>
        <a:srgbClr val="5F6B65"/>
      </a:accent4>
      <a:accent5>
        <a:srgbClr val="D5DBD6"/>
      </a:accent5>
      <a:accent6>
        <a:srgbClr val="7FB096"/>
      </a:accent6>
      <a:hlink>
        <a:srgbClr val="1F5A45"/>
      </a:hlink>
      <a:folHlink>
        <a:srgbClr val="5F6B65"/>
      </a:folHlink>
    </a:clrScheme>
    <a:fontScheme name="Mayawana Karb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Analisis Multiusaha Kehutanan Karbon — PT Mayawana Persada</dc:title>
  <dc:subject>PptxGenJS Presentation</dc:subject>
  <dc:creator>PT Mayawana Persada</dc:creator>
  <cp:lastModifiedBy>PT Mayawana Persada</cp:lastModifiedBy>
  <cp:revision>1</cp:revision>
  <dcterms:created xsi:type="dcterms:W3CDTF">2026-10-14T10:19:38Z</dcterms:created>
  <dcterms:modified xsi:type="dcterms:W3CDTF">2026-10-14T10:19:38Z</dcterms:modified>
</cp:coreProperties>
</file>