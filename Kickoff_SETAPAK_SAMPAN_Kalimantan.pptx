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e8aed005-7a5c-3e55-bea9-1054217f0754}">
          <p14:sldIdLst>
            <p14:sldId id="256"/>
            <p14:sldId id="257"/>
          </p14:sldIdLst>
        </p14:section>
        <p14:section name="Konteks" id="{9f34de32-fd75-3c40-9e3c-1ab6a4428603}">
          <p14:sldIdLst>
            <p14:sldId id="258"/>
            <p14:sldId id="259"/>
            <p14:sldId id="260"/>
            <p14:sldId id="261"/>
          </p14:sldIdLst>
        </p14:section>
        <p14:section name="Kerangka program" id="{d5132905-dad4-b58b-fa32-bf4c912c7330}">
          <p14:sldIdLst>
            <p14:sldId id="262"/>
            <p14:sldId id="263"/>
          </p14:sldIdLst>
        </p14:section>
        <p14:section name="Output dan aktivitas" id="{b2c536c0-34cb-6f64-98dc-36d03579e9a2}">
          <p14:sldIdLst>
            <p14:sldId id="264"/>
            <p14:sldId id="265"/>
            <p14:sldId id="266"/>
            <p14:sldId id="267"/>
          </p14:sldIdLst>
        </p14:section>
        <p14:section name="Rencana dan tata kelola" id="{24c13c1c-318a-b08a-c50e-beb766f477fd}">
          <p14:sldIdLst>
            <p14:sldId id="268"/>
            <p14:sldId id="269"/>
            <p14:sldId id="270"/>
            <p14:sldId id="271"/>
            <p14:sldId id="272"/>
          </p14:sldIdLst>
        </p14:section>
        <p14:section name="Penutup" id="{0122935a-2663-b592-0474-3a16b7b40511}">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Perkenalkan SAMPAN Kalimantan dan tim inti program. Sampaikan bahwa pertemuan ini adalah kickoff program SETAPAK di Hutan Desa Pasir, Kabupaten Mempawah, periode 12 bulan (September 2026 – Agustus 2027). Peta di sisi kanan adalah tutupan lahan dan gambut Hutan Desa Pasir.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tiga hal yang ingin disepakati di akhir pertemuan, lalu alur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Gambaran besar: lokasi tunggal (Hutan Desa Pasir), 4 output, 12 bulan. Tekankan kesinambungan: persetujuan Hutan Desa Pasir adalah capaian SETAPAK–TAF 2017–2019. Kini fokusnya memastikan hak kelola itu menghasilkan pembiayaan yang berkelanjutan.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Masalahnya bukan lagi akses legal, melainkan kemampuan KPS menjalankan pengelolaan. Empat hambatan utama: pembiayaan ad hoc, KUPS yang belum bisa menyisihkan pendapatan, kesiapan teknis karbon, dan partisipasi perempuan dalam keputusan. Kerangka regulasi terbaru membuka peluang perdagangan karbon bagi pemegang 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Hutan Desa Pasir ±2.468 ha, 81,6% gambut dan 18,4% tanah mineral. Sekitar 60% masih berhutan; hampir 40% terdegradasi sehingga ada ruang besar untuk rehabilitasi. Pembagian kawasan: 1.299 ha perlindungan dan 1.169 ha rehabilitasi, mendukung strategi gabungan REDD dan ARR. Dasar legal dan perencanaan sudah kuat (RKPS dan RKT). Kawasan juga habitat orangutan, trenggiling, beruang madu, dan rangkong gading.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 pre-assessment: stok biomassa 773–835 ribu tCO2e, nilai indikatif Rp69–223 miliar pada harga US$5–15 per tCO2e, dan potensi emisi gambut 76.961 tCO2e per tahun. Tekankan bahwa ini masih indikatif; inventarisasi karbon dalam program akan memastikannya. Pendapatan karbon datang dari aksi mitigasi yang terukur dan dapat dipertanggungjawabkan.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Teori perubahan diringkas: empat output program, outcome yang dituju, dan kontribusinya ke output SETAPAK. Output 1 dan 4 berkontribusi pada SETAPAK Output 1 (akses pengelolaan hutan bagi masyarakat dan kelompok rentan). Output 1 juga pada SETAPAK Output 4 (pemulihan aset alam). Output 2 dan 3 pada SETAPAK Output 2 (pendanaan ramah hutan). Semuanya mengarah ke goal pengelolaan PS yang lestari dan dibiayai karbon masyarakat.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peta jalan community carbon 16 tahap. Program SETAPAK 12 bulan mencakup tahap 1 sampai 8: legalitas, persetujuan pendampingan, FPIC, registrasi SAMPAN sebagai pendamping, baseline, PDD/DRAM, pendaftaran SRUK, dan kerja sama dengan investor swasta. Tahap 9–16 (listing internasional sampai pembagian manfaat) membutuhkan pembiayaan lanjutan, itulah alasan Output 3 membangun kemitraan swasta. Sejak FPIC disepakati, aksi mitigasi lapangan berjalan paralel.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1 berkontribusi pada SETAPAK Output 1 dan 4. Empat strategi: (1.1) kesiapan legal dan kelembagaan LPHD; (1.2) persetujuan masyarakat dan safeguards: Pra-FPIC di setiap RT dikonsolidasikan dalam forum LSC, disusul GRM, BSM, GEDSI Action Plan, dan SOP; (1.3–1.4) perlindungan dan rehabilitasi: pelatihan patroli dengan Avenza, patroli rutin, rehabilitasi 5 ha gambut; (1.5) KUPS sebagai mata pencaharian alternatif, termasuk bagi pelaku penebangan dan perburuan 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2 berkontribusi pada SETAPAK Output 2. CCAL dibentuk sebagai champion masyarakat yang menguasai teknis karbon. Bersama tim, mereka mengambil lima jenis data baseline. Dari data itu disusun DRAM/PDD, diajukan persetujuan perdagangan karbon ke Kementerian Kehutanan, didaftarkan di SRUK (KLH), lalu diarahkan ke Plan Vivo karena akses pasar internasional dan potensi harga yang lebih 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3 berkontribusi pada SETAPAK Output 2. Program SETAPAK membiayai tahap 1–8. Untuk sampai ke penjualan unit karbon dan pembagian manfaat, dibutuhkan pembiayaan lanjutan. Langkahnya: feasibility study, rangkaian high-level meeting dengan swasta, lalu perjanjian kerja sama. Di sini dukungan jejaring TAF akan sangat membantu.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4 berkontribusi pada SETAPAK Output 1. Target minimal 40% perempuan di kepengurusan LPHD dan KUPS. Ada empat instrumen: GEDSI Action Plan, Women Forest Defender, pelatihan kepemimpinan perempuan, dan KUPS perempuan. Prinsipnya: perempuan ikut menentukan arah proyek, mengawasi pengelolaan, dan menyepakati pembagian 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Rencana kerja Output 1, September 2026 – Agustus 2027. Kuartal pertama padat dengan fondasi sosial: konsultasi awal dan persetujuan pendampingan di September, pelatihan patroli, lalu sosialisasi safeguards, Pra-FPIC per RT, FPIC/LSC, dokumen penanganan keluhan, serta pembentukan KUPS di Oktober–November. Pendampingan PS mandiri, rapat bulanan LPHD, dan patroli berjalan sepanjang tahun. Rehabilitasi 5 ha gambut dilakukan dalam dua tahap: Maret dan Juni 2027, masing-masing didahului survei dan FPIC.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Rencana kerja Output 2–4. Data baseline dimulai September dan dilanjutkan Januari–Februari bersamaan dengan capacity building CCAL. DRAM/PDD disusun Maret–April, pendaftaran ke lembaga registri pada Mei, sementara fasilitasi persetujuan perdagangan karbon dan SRUK berjalan Desember–Juli. High-level meeting dengan swasta digelar dua bulanan, dan penandatanganan kerja sama ditargetkan Juli–Agustus 2027. Untuk Output 4: Women Forest Defender dibentuk Oktober, pelatihan kepemimpinan perempuan November, GEDSI Action Plan Januari–Februari. Puncak beban kerja di November 2026 dengan 10 kegiatan berjalan.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 inti: Revolia Az-Zahra (Program Manager), Damar Keina Lebaying (Program Officer), Ariesti Dwi Damayanti (Finance Officer), didukung jejaring CSO lokal. Koordinasi berjenjang: desa sebagai pelaku utama, kabupaten untuk dukungan usaha, provinsi (DLHK, KPH) untuk RKPS/RKT, nasional (Kemenhut dan KLH) untuk persetujuan dan SRUK, serta Plan Vivo di tingkat internasional.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risiko utama dari proposal beserta mitigasinya. Di sisi kanan, sistem MEL: monitoring rutin per kegiatan, mid-term review dan evaluasi akhir, sesi refleksi dan learning brief, serta verifikasi kualitas data. Kami ingin menyelaraskan indikator dan format pelaporan dengan kebutuhan TAF.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Ringkasan hasil akhir yang bisa dipegang pada akhir program: lima kelompok deliverable dan enam produk pengetahuan untuk diseminasi.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poin diskusi yang perlu disepakati bersama pimpinan TAF dan langkah konkret 30 hari pertama. Ucapkan terima kasih atas dukungan SETAPAK–TAF yang sudah berlangsung sejak 2013.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5120640" cy="182880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ph idx="101" type="body" hasCustomPrompt="1"/>
          </p:nvPr>
        </p:nvSpPr>
        <p:spPr>
          <a:xfrm>
            <a:off x="548640" y="3017520"/>
            <a:ext cx="5120640" cy="822960"/>
          </a:xfrm>
          <a:prstGeom prst="rect">
            <a:avLst/>
          </a:prstGeom>
          <a:noFill/>
          <a:ln/>
        </p:spPr>
        <p:txBody>
          <a:bodyPr wrap="square" rtlCol="0"/>
          <a:lstStyle>
            <a:lvl1pPr algn="l" indent="0" marL="0">
              <a:buNone/>
              <a:defRPr lang="en-US" sz="1400" dirty="0">
                <a:solidFill>
                  <a:schemeClr val="accent3"/>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lstStyle>
            <a:lvl1pPr algn="l" indent="0" marL="0">
              <a:buNone/>
              <a:defRPr lang="en-US" sz="2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200" dirty="0"/>
          </a:p>
        </p:txBody>
      </p:sp>
      <p:sp>
        <p:nvSpPr>
          <p:cNvPr id="3" name="Text 0"/>
          <p:cNvSpPr/>
          <p:nvPr/>
        </p:nvSpPr>
        <p:spPr>
          <a:xfrm>
            <a:off x="457200" y="4773168"/>
            <a:ext cx="6400800" cy="256032"/>
          </a:xfrm>
          <a:prstGeom prst="rect">
            <a:avLst/>
          </a:prstGeom>
          <a:noFill/>
          <a:ln/>
        </p:spPr>
        <p:txBody>
          <a:bodyPr wrap="square" lIns="0" tIns="0" rIns="0" bIns="0" rtlCol="0" anchor="ctr"/>
          <a:lstStyle/>
          <a:p>
            <a:pPr indent="0" marL="0">
              <a:buNone/>
            </a:pPr>
            <a:r>
              <a:rPr lang="en-US" sz="1000" dirty="0">
                <a:solidFill>
                  <a:schemeClr val="accent5"/>
                </a:solidFill>
              </a:rPr>
              <a:t>SAMPAN Kalimantan  ·  Kickoff Program SETAPAK – The Asia Foundation</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elap">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lstStyle>
            <a:lvl1pPr algn="l" indent="0" marL="0">
              <a:buNone/>
              <a:defRPr lang="en-US" sz="2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200" dirty="0"/>
          </a:p>
        </p:txBody>
      </p:sp>
      <p:sp>
        <p:nvSpPr>
          <p:cNvPr id="3" name="Text 0"/>
          <p:cNvSpPr/>
          <p:nvPr/>
        </p:nvSpPr>
        <p:spPr>
          <a:xfrm>
            <a:off x="457200" y="4773168"/>
            <a:ext cx="6400800" cy="256032"/>
          </a:xfrm>
          <a:prstGeom prst="rect">
            <a:avLst/>
          </a:prstGeom>
          <a:noFill/>
          <a:ln/>
        </p:spPr>
        <p:txBody>
          <a:bodyPr wrap="square" lIns="0" tIns="0" rIns="0" bIns="0" rtlCol="0" anchor="ctr"/>
          <a:lstStyle/>
          <a:p>
            <a:pPr indent="0" marL="0">
              <a:buNone/>
            </a:pPr>
            <a:r>
              <a:rPr lang="en-US" sz="1000" dirty="0">
                <a:solidFill>
                  <a:schemeClr val="accent3"/>
                </a:solidFill>
              </a:rPr>
              <a:t>SAMPAN Kalimantan  ·  Kickoff Program SETAPAK – The Asia Foundation</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eta Hutan Desa Pasir" descr="map_tall.jpg">    </p:cNvPr>
          <p:cNvPicPr>
            <a:picLocks noChangeAspect="1"/>
          </p:cNvPicPr>
          <p:nvPr/>
        </p:nvPicPr>
        <p:blipFill>
          <a:blip r:embed="rId1"/>
          <a:srcRect l="0" r="0" t="0" b="0"/>
          <a:stretch/>
        </p:blipFill>
        <p:spPr>
          <a:xfrm>
            <a:off x="5989320" y="0"/>
            <a:ext cx="3154680" cy="5143500"/>
          </a:xfrm>
          <a:prstGeom prst="rect">
            <a:avLst/>
          </a:prstGeom>
        </p:spPr>
      </p:pic>
      <p:sp>
        <p:nvSpPr>
          <p:cNvPr id="3" name="Text 0"/>
          <p:cNvSpPr txBox="1"/>
          <p:nvPr/>
        </p:nvSpPr>
        <p:spPr>
          <a:xfrm>
            <a:off x="548640" y="548640"/>
            <a:ext cx="5394960" cy="320040"/>
          </a:xfrm>
          <a:prstGeom prst="rect">
            <a:avLst/>
          </a:prstGeom>
          <a:noFill/>
          <a:ln/>
        </p:spPr>
        <p:txBody>
          <a:bodyPr wrap="square" lIns="0" tIns="0" rIns="0" bIns="0" rtlCol="0" anchor="t"/>
          <a:lstStyle/>
          <a:p>
            <a:pPr indent="0" marL="0">
              <a:buNone/>
            </a:pPr>
            <a:r>
              <a:rPr lang="en-US" sz="1100" b="1" spc="200" kern="0" dirty="0">
                <a:solidFill>
                  <a:schemeClr val="accent6"/>
                </a:solidFill>
              </a:rPr>
              <a:t>KICKOFF MEETING  ·  SETAPAK – THE ASIA FOUNDATION</a:t>
            </a:r>
            <a:endParaRPr lang="en-US" sz="1100" dirty="0"/>
          </a:p>
        </p:txBody>
      </p:sp>
      <p:sp>
        <p:nvSpPr>
          <p:cNvPr id="4" name="Text 0"/>
          <p:cNvSpPr/>
          <p:nvPr>
            <p:ph idx="100" type="title" hasCustomPrompt="1"/>
          </p:nvPr>
        </p:nvSpPr>
        <p:spPr>
          <a:xfrm>
            <a:off x="548640" y="1143000"/>
            <a:ext cx="5120640" cy="1828800"/>
          </a:xfrm>
          <a:prstGeom prst="rect">
            <a:avLst/>
          </a:prstGeom>
          <a:noFill/>
          <a:ln/>
        </p:spPr>
        <p:txBody>
          <a:bodyPr wrap="square"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Strengthening Women’s Roles and Leadership in Social Forestry through Community-Based Climate Mitigation</a:t>
            </a:r>
            <a:endParaRPr lang="en-US" sz="2800" dirty="0"/>
          </a:p>
        </p:txBody>
      </p:sp>
      <p:sp>
        <p:nvSpPr>
          <p:cNvPr id="5" name="Text 0"/>
          <p:cNvSpPr/>
          <p:nvPr>
            <p:ph idx="101" type="body" hasCustomPrompt="1"/>
          </p:nvPr>
        </p:nvSpPr>
        <p:spPr>
          <a:xfrm>
            <a:off x="548640" y="3017520"/>
            <a:ext cx="5120640" cy="822960"/>
          </a:xfrm>
          <a:prstGeom prst="rect">
            <a:avLst/>
          </a:prstGeom>
          <a:noFill/>
          <a:ln/>
        </p:spPr>
        <p:txBody>
          <a:bodyPr wrap="square" rtlCol="0" anchor="t"/>
          <a:lstStyle/>
          <a:p>
            <a:pPr algn="l" indent="0" marL="0">
              <a:buNone/>
            </a:pPr>
            <a:r>
              <a:rPr lang="en-US" sz="1400" dirty="0">
                <a:solidFill>
                  <a:schemeClr val="accent3"/>
                </a:solidFill>
              </a:rPr>
              <a:t>Penguatan peran dan kepemimpinan perempuan dalam Perhutanan Sosial melalui aksi mitigasi iklim berbasis masyarakat</a:t>
            </a:r>
            <a:endParaRPr lang="en-US" sz="1400" dirty="0"/>
          </a:p>
        </p:txBody>
      </p:sp>
      <p:sp>
        <p:nvSpPr>
          <p:cNvPr id="6" name="Text 3"/>
          <p:cNvSpPr txBox="1"/>
          <p:nvPr/>
        </p:nvSpPr>
        <p:spPr>
          <a:xfrm>
            <a:off x="548640" y="3931920"/>
            <a:ext cx="5303520" cy="731520"/>
          </a:xfrm>
          <a:prstGeom prst="rect">
            <a:avLst/>
          </a:prstGeom>
          <a:noFill/>
          <a:ln/>
        </p:spPr>
        <p:txBody>
          <a:bodyPr wrap="square" lIns="0" tIns="0" rIns="0" bIns="0" rtlCol="0" anchor="t"/>
          <a:lstStyle/>
          <a:p>
            <a:pPr indent="0" marL="0">
              <a:buNone/>
            </a:pPr>
            <a:r>
              <a:rPr lang="en-US" sz="1200" b="1" dirty="0">
                <a:solidFill>
                  <a:schemeClr val="bg1"/>
                </a:solidFill>
              </a:rPr>
              <a:t>SAMPAN Kalimantan</a:t>
            </a:r>
            <a:endParaRPr lang="en-US" sz="1200" dirty="0"/>
          </a:p>
          <a:p>
            <a:pPr indent="0" marL="0">
              <a:buNone/>
            </a:pPr>
            <a:r>
              <a:rPr lang="en-US" sz="1200" dirty="0">
                <a:solidFill>
                  <a:schemeClr val="bg1"/>
                </a:solidFill>
              </a:rPr>
              <a:t>Hutan Desa Pasir, Kab. Mempawah, Kalimantan Barat</a:t>
            </a:r>
            <a:endParaRPr lang="en-US" sz="1200" dirty="0"/>
          </a:p>
          <a:p>
            <a:pPr indent="0" marL="0">
              <a:buNone/>
            </a:pPr>
            <a:r>
              <a:rPr lang="en-US" sz="1200" dirty="0">
                <a:solidFill>
                  <a:schemeClr val="bg1"/>
                </a:solidFill>
              </a:rPr>
              <a:t>September 2026 – Agustus 2027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Tujuan pertemuan: satu pemahaman, satu rencana kerja</a:t>
            </a:r>
            <a:endParaRPr lang="en-US" sz="2200" dirty="0"/>
          </a:p>
        </p:txBody>
      </p:sp>
      <p:sp>
        <p:nvSpPr>
          <p:cNvPr id="3" name="Panel tujuan"/>
          <p:cNvSpPr/>
          <p:nvPr/>
        </p:nvSpPr>
        <p:spPr>
          <a:xfrm>
            <a:off x="457200" y="1188720"/>
            <a:ext cx="3566160" cy="3291840"/>
          </a:xfrm>
          <a:prstGeom prst="rect">
            <a:avLst/>
          </a:prstGeom>
          <a:solidFill>
            <a:schemeClr val="bg2"/>
          </a:solidFill>
          <a:ln/>
        </p:spPr>
      </p:sp>
      <p:sp>
        <p:nvSpPr>
          <p:cNvPr id="4" name="Text 2"/>
          <p:cNvSpPr txBox="1"/>
          <p:nvPr/>
        </p:nvSpPr>
        <p:spPr>
          <a:xfrm>
            <a:off x="731520" y="1417320"/>
            <a:ext cx="301752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Yang ingin kita sepakati hari ini</a:t>
            </a:r>
            <a:endParaRPr lang="en-US" sz="1600" dirty="0"/>
          </a:p>
        </p:txBody>
      </p:sp>
      <p:sp>
        <p:nvSpPr>
          <p:cNvPr id="5" name="Text 3"/>
          <p:cNvSpPr txBox="1"/>
          <p:nvPr/>
        </p:nvSpPr>
        <p:spPr>
          <a:xfrm>
            <a:off x="731520" y="1920240"/>
            <a:ext cx="365760" cy="45720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1</a:t>
            </a:r>
            <a:endParaRPr lang="en-US" sz="2600" dirty="0"/>
          </a:p>
        </p:txBody>
      </p:sp>
      <p:sp>
        <p:nvSpPr>
          <p:cNvPr id="6" name="Text 4"/>
          <p:cNvSpPr txBox="1"/>
          <p:nvPr/>
        </p:nvSpPr>
        <p:spPr>
          <a:xfrm>
            <a:off x="1143000" y="1956816"/>
            <a:ext cx="2697480" cy="731520"/>
          </a:xfrm>
          <a:prstGeom prst="rect">
            <a:avLst/>
          </a:prstGeom>
          <a:noFill/>
          <a:ln/>
        </p:spPr>
        <p:txBody>
          <a:bodyPr wrap="square" lIns="0" tIns="0" rIns="0" bIns="0" rtlCol="0" anchor="t"/>
          <a:lstStyle/>
          <a:p>
            <a:pPr indent="0" marL="0">
              <a:buNone/>
            </a:pPr>
            <a:r>
              <a:rPr lang="en-US" sz="1400" dirty="0">
                <a:solidFill>
                  <a:schemeClr val="tx1"/>
                </a:solidFill>
              </a:rPr>
              <a:t>Pemahaman bersama atas tujuan, output, dan lingkup program 12 bulan</a:t>
            </a:r>
            <a:endParaRPr lang="en-US" sz="1400" dirty="0"/>
          </a:p>
        </p:txBody>
      </p:sp>
      <p:sp>
        <p:nvSpPr>
          <p:cNvPr id="7" name="Text 5"/>
          <p:cNvSpPr txBox="1"/>
          <p:nvPr/>
        </p:nvSpPr>
        <p:spPr>
          <a:xfrm>
            <a:off x="731520" y="2743200"/>
            <a:ext cx="365760" cy="45720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2</a:t>
            </a:r>
            <a:endParaRPr lang="en-US" sz="2600" dirty="0"/>
          </a:p>
        </p:txBody>
      </p:sp>
      <p:sp>
        <p:nvSpPr>
          <p:cNvPr id="8" name="Text 6"/>
          <p:cNvSpPr txBox="1"/>
          <p:nvPr/>
        </p:nvSpPr>
        <p:spPr>
          <a:xfrm>
            <a:off x="1143000" y="2779776"/>
            <a:ext cx="2697480" cy="731520"/>
          </a:xfrm>
          <a:prstGeom prst="rect">
            <a:avLst/>
          </a:prstGeom>
          <a:noFill/>
          <a:ln/>
        </p:spPr>
        <p:txBody>
          <a:bodyPr wrap="square" lIns="0" tIns="0" rIns="0" bIns="0" rtlCol="0" anchor="t"/>
          <a:lstStyle/>
          <a:p>
            <a:pPr indent="0" marL="0">
              <a:buNone/>
            </a:pPr>
            <a:r>
              <a:rPr lang="en-US" sz="1400" dirty="0">
                <a:solidFill>
                  <a:schemeClr val="tx1"/>
                </a:solidFill>
              </a:rPr>
              <a:t>Rencana kerja, tonggak capaian, dan indikator yang akan dipantau</a:t>
            </a:r>
            <a:endParaRPr lang="en-US" sz="1400" dirty="0"/>
          </a:p>
        </p:txBody>
      </p:sp>
      <p:sp>
        <p:nvSpPr>
          <p:cNvPr id="9" name="Text 7"/>
          <p:cNvSpPr txBox="1"/>
          <p:nvPr/>
        </p:nvSpPr>
        <p:spPr>
          <a:xfrm>
            <a:off x="731520" y="3566160"/>
            <a:ext cx="365760" cy="45720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3</a:t>
            </a:r>
            <a:endParaRPr lang="en-US" sz="2600" dirty="0"/>
          </a:p>
        </p:txBody>
      </p:sp>
      <p:sp>
        <p:nvSpPr>
          <p:cNvPr id="10" name="Text 8"/>
          <p:cNvSpPr txBox="1"/>
          <p:nvPr/>
        </p:nvSpPr>
        <p:spPr>
          <a:xfrm>
            <a:off x="1143000" y="3602736"/>
            <a:ext cx="2697480" cy="731520"/>
          </a:xfrm>
          <a:prstGeom prst="rect">
            <a:avLst/>
          </a:prstGeom>
          <a:noFill/>
          <a:ln/>
        </p:spPr>
        <p:txBody>
          <a:bodyPr wrap="square" lIns="0" tIns="0" rIns="0" bIns="0" rtlCol="0" anchor="t"/>
          <a:lstStyle/>
          <a:p>
            <a:pPr indent="0" marL="0">
              <a:buNone/>
            </a:pPr>
            <a:r>
              <a:rPr lang="en-US" sz="1400" dirty="0">
                <a:solidFill>
                  <a:schemeClr val="tx1"/>
                </a:solidFill>
              </a:rPr>
              <a:t>Jalur koordinasi, pelaporan, dan dukungan yang dibutuhkan dari TAF</a:t>
            </a:r>
            <a:endParaRPr lang="en-US" sz="1400" dirty="0"/>
          </a:p>
        </p:txBody>
      </p:sp>
      <p:sp>
        <p:nvSpPr>
          <p:cNvPr id="11" name="Text 9"/>
          <p:cNvSpPr txBox="1"/>
          <p:nvPr/>
        </p:nvSpPr>
        <p:spPr>
          <a:xfrm>
            <a:off x="4480560" y="1188720"/>
            <a:ext cx="420624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Agenda</a:t>
            </a:r>
            <a:endParaRPr lang="en-US" sz="1600" dirty="0"/>
          </a:p>
        </p:txBody>
      </p:sp>
      <p:sp>
        <p:nvSpPr>
          <p:cNvPr id="12" name="Shape 10"/>
          <p:cNvSpPr/>
          <p:nvPr/>
        </p:nvSpPr>
        <p:spPr>
          <a:xfrm>
            <a:off x="4480560" y="1682496"/>
            <a:ext cx="292608" cy="292608"/>
          </a:xfrm>
          <a:prstGeom prst="ellipse">
            <a:avLst/>
          </a:prstGeom>
          <a:solidFill>
            <a:schemeClr val="accent1"/>
          </a:solidFill>
          <a:ln/>
        </p:spPr>
      </p:sp>
      <p:sp>
        <p:nvSpPr>
          <p:cNvPr id="13" name="Text 11"/>
          <p:cNvSpPr txBox="1"/>
          <p:nvPr/>
        </p:nvSpPr>
        <p:spPr>
          <a:xfrm>
            <a:off x="4480560" y="1682496"/>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4" name="Text 12"/>
          <p:cNvSpPr txBox="1"/>
          <p:nvPr/>
        </p:nvSpPr>
        <p:spPr>
          <a:xfrm>
            <a:off x="4892040" y="1645920"/>
            <a:ext cx="3794760" cy="457200"/>
          </a:xfrm>
          <a:prstGeom prst="rect">
            <a:avLst/>
          </a:prstGeom>
          <a:noFill/>
          <a:ln/>
        </p:spPr>
        <p:txBody>
          <a:bodyPr wrap="square" lIns="0" tIns="0" rIns="0" bIns="0" rtlCol="0" anchor="t"/>
          <a:lstStyle/>
          <a:p>
            <a:pPr indent="0" marL="0">
              <a:buNone/>
            </a:pPr>
            <a:r>
              <a:rPr lang="en-US" sz="1400" b="1" dirty="0">
                <a:solidFill>
                  <a:schemeClr val="tx1"/>
                </a:solidFill>
              </a:rPr>
              <a:t>Konteks &amp; lokasi</a:t>
            </a:r>
            <a:endParaRPr lang="en-US" sz="1400" dirty="0"/>
          </a:p>
          <a:p>
            <a:pPr indent="0" marL="0">
              <a:buNone/>
            </a:pPr>
            <a:r>
              <a:rPr lang="en-US" sz="1200" dirty="0">
                <a:solidFill>
                  <a:schemeClr val="accent5"/>
                </a:solidFill>
              </a:rPr>
              <a:t>Masalah, Hutan Desa Pasir, potensi karbon</a:t>
            </a:r>
            <a:endParaRPr lang="en-US" sz="1400" dirty="0"/>
          </a:p>
        </p:txBody>
      </p:sp>
      <p:sp>
        <p:nvSpPr>
          <p:cNvPr id="15" name="Shape 13"/>
          <p:cNvSpPr/>
          <p:nvPr/>
        </p:nvSpPr>
        <p:spPr>
          <a:xfrm>
            <a:off x="4480560" y="2157984"/>
            <a:ext cx="292608" cy="292608"/>
          </a:xfrm>
          <a:prstGeom prst="ellipse">
            <a:avLst/>
          </a:prstGeom>
          <a:solidFill>
            <a:schemeClr val="accent1"/>
          </a:solidFill>
          <a:ln/>
        </p:spPr>
      </p:sp>
      <p:sp>
        <p:nvSpPr>
          <p:cNvPr id="16" name="Text 14"/>
          <p:cNvSpPr txBox="1"/>
          <p:nvPr/>
        </p:nvSpPr>
        <p:spPr>
          <a:xfrm>
            <a:off x="4480560" y="2157984"/>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7" name="Text 15"/>
          <p:cNvSpPr txBox="1"/>
          <p:nvPr/>
        </p:nvSpPr>
        <p:spPr>
          <a:xfrm>
            <a:off x="4892040" y="2121408"/>
            <a:ext cx="3794760" cy="457200"/>
          </a:xfrm>
          <a:prstGeom prst="rect">
            <a:avLst/>
          </a:prstGeom>
          <a:noFill/>
          <a:ln/>
        </p:spPr>
        <p:txBody>
          <a:bodyPr wrap="square" lIns="0" tIns="0" rIns="0" bIns="0" rtlCol="0" anchor="t"/>
          <a:lstStyle/>
          <a:p>
            <a:pPr indent="0" marL="0">
              <a:buNone/>
            </a:pPr>
            <a:r>
              <a:rPr lang="en-US" sz="1400" b="1" dirty="0">
                <a:solidFill>
                  <a:schemeClr val="tx1"/>
                </a:solidFill>
              </a:rPr>
              <a:t>Kerangka program</a:t>
            </a:r>
            <a:endParaRPr lang="en-US" sz="1400" dirty="0"/>
          </a:p>
          <a:p>
            <a:pPr indent="0" marL="0">
              <a:buNone/>
            </a:pPr>
            <a:r>
              <a:rPr lang="en-US" sz="1200" dirty="0">
                <a:solidFill>
                  <a:schemeClr val="accent5"/>
                </a:solidFill>
              </a:rPr>
              <a:t>Teori perubahan &amp; peta jalan community carbon</a:t>
            </a:r>
            <a:endParaRPr lang="en-US" sz="1400" dirty="0"/>
          </a:p>
        </p:txBody>
      </p:sp>
      <p:sp>
        <p:nvSpPr>
          <p:cNvPr id="18" name="Shape 16"/>
          <p:cNvSpPr/>
          <p:nvPr/>
        </p:nvSpPr>
        <p:spPr>
          <a:xfrm>
            <a:off x="4480560" y="2633472"/>
            <a:ext cx="292608" cy="292608"/>
          </a:xfrm>
          <a:prstGeom prst="ellipse">
            <a:avLst/>
          </a:prstGeom>
          <a:solidFill>
            <a:schemeClr val="accent1"/>
          </a:solidFill>
          <a:ln/>
        </p:spPr>
      </p:sp>
      <p:sp>
        <p:nvSpPr>
          <p:cNvPr id="19" name="Text 17"/>
          <p:cNvSpPr txBox="1"/>
          <p:nvPr/>
        </p:nvSpPr>
        <p:spPr>
          <a:xfrm>
            <a:off x="4480560" y="2633472"/>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0" name="Text 18"/>
          <p:cNvSpPr txBox="1"/>
          <p:nvPr/>
        </p:nvSpPr>
        <p:spPr>
          <a:xfrm>
            <a:off x="4892040" y="2596896"/>
            <a:ext cx="3794760" cy="457200"/>
          </a:xfrm>
          <a:prstGeom prst="rect">
            <a:avLst/>
          </a:prstGeom>
          <a:noFill/>
          <a:ln/>
        </p:spPr>
        <p:txBody>
          <a:bodyPr wrap="square" lIns="0" tIns="0" rIns="0" bIns="0" rtlCol="0" anchor="t"/>
          <a:lstStyle/>
          <a:p>
            <a:pPr indent="0" marL="0">
              <a:buNone/>
            </a:pPr>
            <a:r>
              <a:rPr lang="en-US" sz="1400" b="1" dirty="0">
                <a:solidFill>
                  <a:schemeClr val="tx1"/>
                </a:solidFill>
              </a:rPr>
              <a:t>Empat output</a:t>
            </a:r>
            <a:endParaRPr lang="en-US" sz="1400" dirty="0"/>
          </a:p>
          <a:p>
            <a:pPr indent="0" marL="0">
              <a:buNone/>
            </a:pPr>
            <a:r>
              <a:rPr lang="en-US" sz="1200" dirty="0">
                <a:solidFill>
                  <a:schemeClr val="accent5"/>
                </a:solidFill>
              </a:rPr>
              <a:t>Strategi dan aktivitas utama</a:t>
            </a:r>
            <a:endParaRPr lang="en-US" sz="1400" dirty="0"/>
          </a:p>
        </p:txBody>
      </p:sp>
      <p:sp>
        <p:nvSpPr>
          <p:cNvPr id="21" name="Shape 19"/>
          <p:cNvSpPr/>
          <p:nvPr/>
        </p:nvSpPr>
        <p:spPr>
          <a:xfrm>
            <a:off x="4480560" y="3108960"/>
            <a:ext cx="292608" cy="292608"/>
          </a:xfrm>
          <a:prstGeom prst="ellipse">
            <a:avLst/>
          </a:prstGeom>
          <a:solidFill>
            <a:schemeClr val="accent1"/>
          </a:solidFill>
          <a:ln/>
        </p:spPr>
      </p:sp>
      <p:sp>
        <p:nvSpPr>
          <p:cNvPr id="22" name="Text 20"/>
          <p:cNvSpPr txBox="1"/>
          <p:nvPr/>
        </p:nvSpPr>
        <p:spPr>
          <a:xfrm>
            <a:off x="4480560" y="310896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3" name="Text 21"/>
          <p:cNvSpPr txBox="1"/>
          <p:nvPr/>
        </p:nvSpPr>
        <p:spPr>
          <a:xfrm>
            <a:off x="4892040" y="3072384"/>
            <a:ext cx="3794760" cy="457200"/>
          </a:xfrm>
          <a:prstGeom prst="rect">
            <a:avLst/>
          </a:prstGeom>
          <a:noFill/>
          <a:ln/>
        </p:spPr>
        <p:txBody>
          <a:bodyPr wrap="square" lIns="0" tIns="0" rIns="0" bIns="0" rtlCol="0" anchor="t"/>
          <a:lstStyle/>
          <a:p>
            <a:pPr indent="0" marL="0">
              <a:buNone/>
            </a:pPr>
            <a:r>
              <a:rPr lang="en-US" sz="1400" b="1" dirty="0">
                <a:solidFill>
                  <a:schemeClr val="tx1"/>
                </a:solidFill>
              </a:rPr>
              <a:t>Rencana kerja</a:t>
            </a:r>
            <a:endParaRPr lang="en-US" sz="1400" dirty="0"/>
          </a:p>
          <a:p>
            <a:pPr indent="0" marL="0">
              <a:buNone/>
            </a:pPr>
            <a:r>
              <a:rPr lang="en-US" sz="1200" dirty="0">
                <a:solidFill>
                  <a:schemeClr val="accent5"/>
                </a:solidFill>
              </a:rPr>
              <a:t>Timeline 12 bulan per kuartal</a:t>
            </a:r>
            <a:endParaRPr lang="en-US" sz="1400" dirty="0"/>
          </a:p>
        </p:txBody>
      </p:sp>
      <p:sp>
        <p:nvSpPr>
          <p:cNvPr id="24" name="Shape 22"/>
          <p:cNvSpPr/>
          <p:nvPr/>
        </p:nvSpPr>
        <p:spPr>
          <a:xfrm>
            <a:off x="4480560" y="3584448"/>
            <a:ext cx="292608" cy="292608"/>
          </a:xfrm>
          <a:prstGeom prst="ellipse">
            <a:avLst/>
          </a:prstGeom>
          <a:solidFill>
            <a:schemeClr val="accent1"/>
          </a:solidFill>
          <a:ln/>
        </p:spPr>
      </p:sp>
      <p:sp>
        <p:nvSpPr>
          <p:cNvPr id="25" name="Text 23"/>
          <p:cNvSpPr txBox="1"/>
          <p:nvPr/>
        </p:nvSpPr>
        <p:spPr>
          <a:xfrm>
            <a:off x="4480560" y="3584448"/>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6" name="Text 24"/>
          <p:cNvSpPr txBox="1"/>
          <p:nvPr/>
        </p:nvSpPr>
        <p:spPr>
          <a:xfrm>
            <a:off x="4892040" y="3547872"/>
            <a:ext cx="3794760" cy="457200"/>
          </a:xfrm>
          <a:prstGeom prst="rect">
            <a:avLst/>
          </a:prstGeom>
          <a:noFill/>
          <a:ln/>
        </p:spPr>
        <p:txBody>
          <a:bodyPr wrap="square" lIns="0" tIns="0" rIns="0" bIns="0" rtlCol="0" anchor="t"/>
          <a:lstStyle/>
          <a:p>
            <a:pPr indent="0" marL="0">
              <a:buNone/>
            </a:pPr>
            <a:r>
              <a:rPr lang="en-US" sz="1400" b="1" dirty="0">
                <a:solidFill>
                  <a:schemeClr val="tx1"/>
                </a:solidFill>
              </a:rPr>
              <a:t>Tata kelola</a:t>
            </a:r>
            <a:endParaRPr lang="en-US" sz="1400" dirty="0"/>
          </a:p>
          <a:p>
            <a:pPr indent="0" marL="0">
              <a:buNone/>
            </a:pPr>
            <a:r>
              <a:rPr lang="en-US" sz="1200" dirty="0">
                <a:solidFill>
                  <a:schemeClr val="accent5"/>
                </a:solidFill>
              </a:rPr>
              <a:t>Tim, para pihak, MEL, dan risiko</a:t>
            </a:r>
            <a:endParaRPr lang="en-US" sz="1400" dirty="0"/>
          </a:p>
        </p:txBody>
      </p:sp>
      <p:sp>
        <p:nvSpPr>
          <p:cNvPr id="27" name="Shape 25"/>
          <p:cNvSpPr/>
          <p:nvPr/>
        </p:nvSpPr>
        <p:spPr>
          <a:xfrm>
            <a:off x="4480560" y="4059936"/>
            <a:ext cx="292608" cy="292608"/>
          </a:xfrm>
          <a:prstGeom prst="ellipse">
            <a:avLst/>
          </a:prstGeom>
          <a:solidFill>
            <a:schemeClr val="accent1"/>
          </a:solidFill>
          <a:ln/>
        </p:spPr>
      </p:sp>
      <p:sp>
        <p:nvSpPr>
          <p:cNvPr id="28" name="Text 26"/>
          <p:cNvSpPr txBox="1"/>
          <p:nvPr/>
        </p:nvSpPr>
        <p:spPr>
          <a:xfrm>
            <a:off x="4480560" y="4059936"/>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9" name="Text 27"/>
          <p:cNvSpPr txBox="1"/>
          <p:nvPr/>
        </p:nvSpPr>
        <p:spPr>
          <a:xfrm>
            <a:off x="4892040" y="4023360"/>
            <a:ext cx="3794760" cy="457200"/>
          </a:xfrm>
          <a:prstGeom prst="rect">
            <a:avLst/>
          </a:prstGeom>
          <a:noFill/>
          <a:ln/>
        </p:spPr>
        <p:txBody>
          <a:bodyPr wrap="square" lIns="0" tIns="0" rIns="0" bIns="0" rtlCol="0" anchor="t"/>
          <a:lstStyle/>
          <a:p>
            <a:pPr indent="0" marL="0">
              <a:buNone/>
            </a:pPr>
            <a:r>
              <a:rPr lang="en-US" sz="1400" b="1" dirty="0">
                <a:solidFill>
                  <a:schemeClr val="tx1"/>
                </a:solidFill>
              </a:rPr>
              <a:t>Diskusi &amp; tindak lanjut</a:t>
            </a:r>
            <a:endParaRPr lang="en-US" sz="1400" dirty="0"/>
          </a:p>
          <a:p>
            <a:pPr indent="0" marL="0">
              <a:buNone/>
            </a:pPr>
            <a:r>
              <a:rPr lang="en-US" sz="1200" dirty="0">
                <a:solidFill>
                  <a:schemeClr val="accent5"/>
                </a:solidFill>
              </a:rPr>
              <a:t>Kesepakatan dan langkah berikutnya</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Program sekilas: satu Hutan Desa, empat output, dua belas bulan</a:t>
            </a:r>
            <a:endParaRPr lang="en-US" sz="2200" dirty="0"/>
          </a:p>
        </p:txBody>
      </p:sp>
      <p:sp>
        <p:nvSpPr>
          <p:cNvPr id="3" name="Stat utama"/>
          <p:cNvSpPr/>
          <p:nvPr/>
        </p:nvSpPr>
        <p:spPr>
          <a:xfrm>
            <a:off x="457200" y="1188720"/>
            <a:ext cx="3291840" cy="3291840"/>
          </a:xfrm>
          <a:prstGeom prst="rect">
            <a:avLst/>
          </a:prstGeom>
          <a:solidFill>
            <a:schemeClr val="tx2"/>
          </a:solidFill>
          <a:ln/>
        </p:spPr>
      </p:sp>
      <p:sp>
        <p:nvSpPr>
          <p:cNvPr id="4" name="Text 2"/>
          <p:cNvSpPr txBox="1"/>
          <p:nvPr/>
        </p:nvSpPr>
        <p:spPr>
          <a:xfrm>
            <a:off x="731520" y="1463040"/>
            <a:ext cx="2834640" cy="82296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±2.468 ha</a:t>
            </a:r>
            <a:endParaRPr lang="en-US" sz="4400" dirty="0"/>
          </a:p>
        </p:txBody>
      </p:sp>
      <p:sp>
        <p:nvSpPr>
          <p:cNvPr id="5" name="Text 3"/>
          <p:cNvSpPr txBox="1"/>
          <p:nvPr/>
        </p:nvSpPr>
        <p:spPr>
          <a:xfrm>
            <a:off x="731520" y="2331720"/>
            <a:ext cx="2743200" cy="822960"/>
          </a:xfrm>
          <a:prstGeom prst="rect">
            <a:avLst/>
          </a:prstGeom>
          <a:noFill/>
          <a:ln/>
        </p:spPr>
        <p:txBody>
          <a:bodyPr wrap="square" lIns="0" tIns="0" rIns="0" bIns="0" rtlCol="0" anchor="t"/>
          <a:lstStyle/>
          <a:p>
            <a:pPr indent="0" marL="0">
              <a:buNone/>
            </a:pPr>
            <a:r>
              <a:rPr lang="en-US" sz="1400" dirty="0">
                <a:solidFill>
                  <a:schemeClr val="bg1"/>
                </a:solidFill>
              </a:rPr>
              <a:t>Hutan Desa Pasir yang dikelola LPHD Pasir</a:t>
            </a:r>
            <a:endParaRPr lang="en-US" sz="1400" dirty="0"/>
          </a:p>
          <a:p>
            <a:pPr indent="0" marL="0">
              <a:buNone/>
            </a:pPr>
            <a:r>
              <a:rPr lang="en-US" sz="1000" dirty="0">
                <a:solidFill>
                  <a:schemeClr val="accent3"/>
                </a:solidFill>
              </a:rPr>
              <a:t>SK.10885/MENLHK-PSKL/PKPS/PSL.0/2019</a:t>
            </a:r>
            <a:endParaRPr lang="en-US" sz="1400" dirty="0"/>
          </a:p>
        </p:txBody>
      </p:sp>
      <p:sp>
        <p:nvSpPr>
          <p:cNvPr id="6" name="Text 4"/>
          <p:cNvSpPr txBox="1"/>
          <p:nvPr/>
        </p:nvSpPr>
        <p:spPr>
          <a:xfrm>
            <a:off x="731520" y="3291840"/>
            <a:ext cx="2743200" cy="1005840"/>
          </a:xfrm>
          <a:prstGeom prst="rect">
            <a:avLst/>
          </a:prstGeom>
          <a:noFill/>
          <a:ln/>
        </p:spPr>
        <p:txBody>
          <a:bodyPr wrap="square" lIns="0" tIns="0" rIns="0" bIns="0" rtlCol="0" anchor="t"/>
          <a:lstStyle/>
          <a:p>
            <a:pPr indent="0" marL="0">
              <a:buNone/>
            </a:pPr>
            <a:r>
              <a:rPr lang="en-US" sz="1200" i="1" dirty="0">
                <a:solidFill>
                  <a:schemeClr val="accent3"/>
                </a:solidFill>
              </a:rPr>
              <a:t>Hutan Desa ini lahir dari pendampingan SAMPAN bersama SETAPAK–TAF periode 2017–2019. Program ini melanjutkannya ke tahap pengelolaan.</a:t>
            </a:r>
            <a:endParaRPr lang="en-US" sz="1200" dirty="0"/>
          </a:p>
        </p:txBody>
      </p:sp>
      <p:sp>
        <p:nvSpPr>
          <p:cNvPr id="7" name="Text 5"/>
          <p:cNvSpPr txBox="1"/>
          <p:nvPr/>
        </p:nvSpPr>
        <p:spPr>
          <a:xfrm>
            <a:off x="4114800" y="1280160"/>
            <a:ext cx="2194560" cy="6400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81,6%</a:t>
            </a:r>
            <a:endParaRPr lang="en-US" sz="3200" dirty="0"/>
          </a:p>
        </p:txBody>
      </p:sp>
      <p:sp>
        <p:nvSpPr>
          <p:cNvPr id="8" name="Text 6"/>
          <p:cNvSpPr txBox="1"/>
          <p:nvPr/>
        </p:nvSpPr>
        <p:spPr>
          <a:xfrm>
            <a:off x="4114800" y="1965960"/>
            <a:ext cx="2103120" cy="640080"/>
          </a:xfrm>
          <a:prstGeom prst="rect">
            <a:avLst/>
          </a:prstGeom>
          <a:noFill/>
          <a:ln/>
        </p:spPr>
        <p:txBody>
          <a:bodyPr wrap="square" lIns="0" tIns="0" rIns="0" bIns="0" rtlCol="0" anchor="t"/>
          <a:lstStyle/>
          <a:p>
            <a:pPr indent="0" marL="0">
              <a:buNone/>
            </a:pPr>
            <a:r>
              <a:rPr lang="en-US" sz="1400" dirty="0">
                <a:solidFill>
                  <a:schemeClr val="tx1"/>
                </a:solidFill>
              </a:rPr>
              <a:t>kawasan berupa ekosistem gambut (2.014 ha)</a:t>
            </a:r>
            <a:endParaRPr lang="en-US" sz="1400" dirty="0"/>
          </a:p>
        </p:txBody>
      </p:sp>
      <p:sp>
        <p:nvSpPr>
          <p:cNvPr id="9" name="Text 7"/>
          <p:cNvSpPr txBox="1"/>
          <p:nvPr/>
        </p:nvSpPr>
        <p:spPr>
          <a:xfrm>
            <a:off x="6446520" y="1280160"/>
            <a:ext cx="2194560" cy="6400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12 bulan</a:t>
            </a:r>
            <a:endParaRPr lang="en-US" sz="3200" dirty="0"/>
          </a:p>
        </p:txBody>
      </p:sp>
      <p:sp>
        <p:nvSpPr>
          <p:cNvPr id="10" name="Text 8"/>
          <p:cNvSpPr txBox="1"/>
          <p:nvPr/>
        </p:nvSpPr>
        <p:spPr>
          <a:xfrm>
            <a:off x="6446520" y="1965960"/>
            <a:ext cx="2103120" cy="640080"/>
          </a:xfrm>
          <a:prstGeom prst="rect">
            <a:avLst/>
          </a:prstGeom>
          <a:noFill/>
          <a:ln/>
        </p:spPr>
        <p:txBody>
          <a:bodyPr wrap="square" lIns="0" tIns="0" rIns="0" bIns="0" rtlCol="0" anchor="t"/>
          <a:lstStyle/>
          <a:p>
            <a:pPr indent="0" marL="0">
              <a:buNone/>
            </a:pPr>
            <a:r>
              <a:rPr lang="en-US" sz="1400" dirty="0">
                <a:solidFill>
                  <a:schemeClr val="tx1"/>
                </a:solidFill>
              </a:rPr>
              <a:t>September 2026 – Agustus 2027</a:t>
            </a:r>
            <a:endParaRPr lang="en-US" sz="1400" dirty="0"/>
          </a:p>
        </p:txBody>
      </p:sp>
      <p:sp>
        <p:nvSpPr>
          <p:cNvPr id="11" name="Text 9"/>
          <p:cNvSpPr txBox="1"/>
          <p:nvPr/>
        </p:nvSpPr>
        <p:spPr>
          <a:xfrm>
            <a:off x="4114800" y="2971800"/>
            <a:ext cx="2194560" cy="6400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4 output</a:t>
            </a:r>
            <a:endParaRPr lang="en-US" sz="3200" dirty="0"/>
          </a:p>
        </p:txBody>
      </p:sp>
      <p:sp>
        <p:nvSpPr>
          <p:cNvPr id="12" name="Text 10"/>
          <p:cNvSpPr txBox="1"/>
          <p:nvPr/>
        </p:nvSpPr>
        <p:spPr>
          <a:xfrm>
            <a:off x="4114800" y="3657600"/>
            <a:ext cx="2103120" cy="640080"/>
          </a:xfrm>
          <a:prstGeom prst="rect">
            <a:avLst/>
          </a:prstGeom>
          <a:noFill/>
          <a:ln/>
        </p:spPr>
        <p:txBody>
          <a:bodyPr wrap="square" lIns="0" tIns="0" rIns="0" bIns="0" rtlCol="0" anchor="t"/>
          <a:lstStyle/>
          <a:p>
            <a:pPr indent="0" marL="0">
              <a:buNone/>
            </a:pPr>
            <a:r>
              <a:rPr lang="en-US" sz="1400" dirty="0">
                <a:solidFill>
                  <a:schemeClr val="tx1"/>
                </a:solidFill>
              </a:rPr>
              <a:t>berkontribusi pada SETAPAK Output 1, 2, dan 4</a:t>
            </a:r>
            <a:endParaRPr lang="en-US" sz="1400" dirty="0"/>
          </a:p>
        </p:txBody>
      </p:sp>
      <p:sp>
        <p:nvSpPr>
          <p:cNvPr id="13" name="Text 11"/>
          <p:cNvSpPr txBox="1"/>
          <p:nvPr/>
        </p:nvSpPr>
        <p:spPr>
          <a:xfrm>
            <a:off x="6446520" y="2971800"/>
            <a:ext cx="2194560" cy="64008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≥40%</a:t>
            </a:r>
            <a:endParaRPr lang="en-US" sz="3200" dirty="0"/>
          </a:p>
        </p:txBody>
      </p:sp>
      <p:sp>
        <p:nvSpPr>
          <p:cNvPr id="14" name="Text 12"/>
          <p:cNvSpPr txBox="1"/>
          <p:nvPr/>
        </p:nvSpPr>
        <p:spPr>
          <a:xfrm>
            <a:off x="6446520" y="3657600"/>
            <a:ext cx="2103120" cy="640080"/>
          </a:xfrm>
          <a:prstGeom prst="rect">
            <a:avLst/>
          </a:prstGeom>
          <a:noFill/>
          <a:ln/>
        </p:spPr>
        <p:txBody>
          <a:bodyPr wrap="square" lIns="0" tIns="0" rIns="0" bIns="0" rtlCol="0" anchor="t"/>
          <a:lstStyle/>
          <a:p>
            <a:pPr indent="0" marL="0">
              <a:buNone/>
            </a:pPr>
            <a:r>
              <a:rPr lang="en-US" sz="1400" dirty="0">
                <a:solidFill>
                  <a:schemeClr val="tx1"/>
                </a:solidFill>
              </a:rPr>
              <a:t>perempuan dalam kepengurusan LPHD dan KUPS</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Hak kelola sudah di tangan, pembiayaan pengelolaannya belum</a:t>
            </a:r>
            <a:endParaRPr lang="en-US" sz="2200" dirty="0"/>
          </a:p>
        </p:txBody>
      </p:sp>
      <p:sp>
        <p:nvSpPr>
          <p:cNvPr id="3" name="Text 1"/>
          <p:cNvSpPr txBox="1"/>
          <p:nvPr/>
        </p:nvSpPr>
        <p:spPr>
          <a:xfrm>
            <a:off x="457200" y="1234440"/>
            <a:ext cx="292608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8,3 juta ha</a:t>
            </a:r>
            <a:endParaRPr lang="en-US" sz="3600" dirty="0"/>
          </a:p>
        </p:txBody>
      </p:sp>
      <p:sp>
        <p:nvSpPr>
          <p:cNvPr id="4" name="Text 2"/>
          <p:cNvSpPr txBox="1"/>
          <p:nvPr/>
        </p:nvSpPr>
        <p:spPr>
          <a:xfrm>
            <a:off x="457200" y="1920240"/>
            <a:ext cx="2743200" cy="914400"/>
          </a:xfrm>
          <a:prstGeom prst="rect">
            <a:avLst/>
          </a:prstGeom>
          <a:noFill/>
          <a:ln/>
        </p:spPr>
        <p:txBody>
          <a:bodyPr wrap="square" lIns="0" tIns="0" rIns="0" bIns="0" rtlCol="0" anchor="t"/>
          <a:lstStyle/>
          <a:p>
            <a:pPr indent="0" marL="0">
              <a:buNone/>
            </a:pPr>
            <a:r>
              <a:rPr lang="en-US" sz="1400" dirty="0">
                <a:solidFill>
                  <a:schemeClr val="tx1"/>
                </a:solidFill>
              </a:rPr>
              <a:t>persetujuan Perhutanan Sosial hingga 2026: 65,9% dari target 12,7 juta ha, melibatkan ±1,4 juta KK</a:t>
            </a:r>
            <a:endParaRPr lang="en-US" sz="1400" dirty="0"/>
          </a:p>
        </p:txBody>
      </p:sp>
      <p:sp>
        <p:nvSpPr>
          <p:cNvPr id="5" name="Kotak peluang"/>
          <p:cNvSpPr/>
          <p:nvPr/>
        </p:nvSpPr>
        <p:spPr>
          <a:xfrm>
            <a:off x="457200" y="3063240"/>
            <a:ext cx="2834640" cy="1417320"/>
          </a:xfrm>
          <a:prstGeom prst="rect">
            <a:avLst/>
          </a:prstGeom>
          <a:solidFill>
            <a:schemeClr val="bg2"/>
          </a:solidFill>
          <a:ln/>
        </p:spPr>
      </p:sp>
      <p:sp>
        <p:nvSpPr>
          <p:cNvPr id="6" name="Text 4"/>
          <p:cNvSpPr txBox="1"/>
          <p:nvPr/>
        </p:nvSpPr>
        <p:spPr>
          <a:xfrm>
            <a:off x="640080" y="3200400"/>
            <a:ext cx="2514600" cy="1188720"/>
          </a:xfrm>
          <a:prstGeom prst="rect">
            <a:avLst/>
          </a:prstGeom>
          <a:noFill/>
          <a:ln/>
        </p:spPr>
        <p:txBody>
          <a:bodyPr wrap="square" lIns="0" tIns="0" rIns="0" bIns="0" rtlCol="0" anchor="t"/>
          <a:lstStyle/>
          <a:p>
            <a:pPr indent="0" marL="0">
              <a:buNone/>
            </a:pPr>
            <a:r>
              <a:rPr lang="en-US" sz="1200" b="1" dirty="0">
                <a:solidFill>
                  <a:schemeClr val="tx2"/>
                </a:solidFill>
              </a:rPr>
              <a:t>Peluang regulasi</a:t>
            </a:r>
            <a:endParaRPr lang="en-US" sz="1200" dirty="0"/>
          </a:p>
          <a:p>
            <a:pPr indent="0" marL="0">
              <a:buNone/>
            </a:pPr>
            <a:r>
              <a:rPr lang="en-US" sz="1200" dirty="0">
                <a:solidFill>
                  <a:schemeClr val="tx1"/>
                </a:solidFill>
              </a:rPr>
              <a:t>Permen LHK 9/2021, Perpres 110/2025, dan Permenhut 6/2026 membuka perdagangan karbon oleh pemegang PS dengan pendamping teregistrasi.</a:t>
            </a:r>
            <a:endParaRPr lang="en-US" sz="1200" dirty="0"/>
          </a:p>
        </p:txBody>
      </p:sp>
      <p:sp>
        <p:nvSpPr>
          <p:cNvPr id="7" name="Masalah 1 lingkaran"/>
          <p:cNvSpPr/>
          <p:nvPr/>
        </p:nvSpPr>
        <p:spPr>
          <a:xfrm>
            <a:off x="3703320" y="1280160"/>
            <a:ext cx="502920" cy="502920"/>
          </a:xfrm>
          <a:prstGeom prst="ellipse">
            <a:avLst/>
          </a:prstGeom>
          <a:solidFill>
            <a:schemeClr val="accent1"/>
          </a:solidFill>
          <a:ln/>
        </p:spPr>
      </p:sp>
      <p:pic>
        <p:nvPicPr>
          <p:cNvPr id="8" name="Masalah 1 ikon" descr="preencoded.png">    </p:cNvPr>
          <p:cNvPicPr>
            <a:picLocks noChangeAspect="1"/>
          </p:cNvPicPr>
          <p:nvPr/>
        </p:nvPicPr>
        <p:blipFill>
          <a:blip r:embed="rId1"/>
          <a:stretch>
            <a:fillRect/>
          </a:stretch>
        </p:blipFill>
        <p:spPr>
          <a:xfrm>
            <a:off x="3834079" y="1410919"/>
            <a:ext cx="241402" cy="241402"/>
          </a:xfrm>
          <a:prstGeom prst="rect">
            <a:avLst/>
          </a:prstGeom>
        </p:spPr>
      </p:pic>
      <p:sp>
        <p:nvSpPr>
          <p:cNvPr id="9" name="Text 6"/>
          <p:cNvSpPr txBox="1"/>
          <p:nvPr/>
        </p:nvSpPr>
        <p:spPr>
          <a:xfrm>
            <a:off x="4389120" y="1234440"/>
            <a:ext cx="4297680" cy="777240"/>
          </a:xfrm>
          <a:prstGeom prst="rect">
            <a:avLst/>
          </a:prstGeom>
          <a:noFill/>
          <a:ln/>
        </p:spPr>
        <p:txBody>
          <a:bodyPr wrap="square" lIns="0" tIns="0" rIns="0" bIns="0" rtlCol="0" anchor="t"/>
          <a:lstStyle/>
          <a:p>
            <a:pPr indent="0" marL="0">
              <a:buNone/>
            </a:pPr>
            <a:r>
              <a:rPr lang="en-US" sz="1400" b="1" dirty="0">
                <a:solidFill>
                  <a:schemeClr val="tx1"/>
                </a:solidFill>
              </a:rPr>
              <a:t>Pembiayaan ad hoc</a:t>
            </a:r>
            <a:endParaRPr lang="en-US" sz="1400" dirty="0"/>
          </a:p>
          <a:p>
            <a:pPr indent="0" marL="0">
              <a:buNone/>
            </a:pPr>
            <a:r>
              <a:rPr lang="en-US" sz="1200" dirty="0">
                <a:solidFill>
                  <a:schemeClr val="tx1"/>
                </a:solidFill>
              </a:rPr>
              <a:t>RKPS dan RKT sudah disusun tetapi tidak berjalan optimal karena bergantung pada hibah jangka pendek.</a:t>
            </a:r>
            <a:endParaRPr lang="en-US" sz="1400" dirty="0"/>
          </a:p>
        </p:txBody>
      </p:sp>
      <p:sp>
        <p:nvSpPr>
          <p:cNvPr id="10" name="Masalah 2 lingkaran"/>
          <p:cNvSpPr/>
          <p:nvPr/>
        </p:nvSpPr>
        <p:spPr>
          <a:xfrm>
            <a:off x="3703320" y="2103120"/>
            <a:ext cx="502920" cy="502920"/>
          </a:xfrm>
          <a:prstGeom prst="ellipse">
            <a:avLst/>
          </a:prstGeom>
          <a:solidFill>
            <a:schemeClr val="accent1"/>
          </a:solidFill>
          <a:ln/>
        </p:spPr>
      </p:sp>
      <p:pic>
        <p:nvPicPr>
          <p:cNvPr id="11" name="Masalah 2 ikon" descr="preencoded.png">    </p:cNvPr>
          <p:cNvPicPr>
            <a:picLocks noChangeAspect="1"/>
          </p:cNvPicPr>
          <p:nvPr/>
        </p:nvPicPr>
        <p:blipFill>
          <a:blip r:embed="rId2"/>
          <a:stretch>
            <a:fillRect/>
          </a:stretch>
        </p:blipFill>
        <p:spPr>
          <a:xfrm>
            <a:off x="3834079" y="2233879"/>
            <a:ext cx="241402" cy="241402"/>
          </a:xfrm>
          <a:prstGeom prst="rect">
            <a:avLst/>
          </a:prstGeom>
        </p:spPr>
      </p:pic>
      <p:sp>
        <p:nvSpPr>
          <p:cNvPr id="12" name="Text 8"/>
          <p:cNvSpPr txBox="1"/>
          <p:nvPr/>
        </p:nvSpPr>
        <p:spPr>
          <a:xfrm>
            <a:off x="4389120" y="2057400"/>
            <a:ext cx="4297680" cy="777240"/>
          </a:xfrm>
          <a:prstGeom prst="rect">
            <a:avLst/>
          </a:prstGeom>
          <a:noFill/>
          <a:ln/>
        </p:spPr>
        <p:txBody>
          <a:bodyPr wrap="square" lIns="0" tIns="0" rIns="0" bIns="0" rtlCol="0" anchor="t"/>
          <a:lstStyle/>
          <a:p>
            <a:pPr indent="0" marL="0">
              <a:buNone/>
            </a:pPr>
            <a:r>
              <a:rPr lang="en-US" sz="1400" b="1" dirty="0">
                <a:solidFill>
                  <a:schemeClr val="tx1"/>
                </a:solidFill>
              </a:rPr>
              <a:t>KUPS belum menopang kawasan</a:t>
            </a:r>
            <a:endParaRPr lang="en-US" sz="1400" dirty="0"/>
          </a:p>
          <a:p>
            <a:pPr indent="0" marL="0">
              <a:buNone/>
            </a:pPr>
            <a:r>
              <a:rPr lang="en-US" sz="1200" dirty="0">
                <a:solidFill>
                  <a:schemeClr val="tx1"/>
                </a:solidFill>
              </a:rPr>
              <a:t>Pendapatan usaha masih untuk tambahan penghasilan anggota, belum untuk perlindungan hutan.</a:t>
            </a:r>
            <a:endParaRPr lang="en-US" sz="1400" dirty="0"/>
          </a:p>
        </p:txBody>
      </p:sp>
      <p:sp>
        <p:nvSpPr>
          <p:cNvPr id="13" name="Masalah 3 lingkaran"/>
          <p:cNvSpPr/>
          <p:nvPr/>
        </p:nvSpPr>
        <p:spPr>
          <a:xfrm>
            <a:off x="3703320" y="2926080"/>
            <a:ext cx="502920" cy="502920"/>
          </a:xfrm>
          <a:prstGeom prst="ellipse">
            <a:avLst/>
          </a:prstGeom>
          <a:solidFill>
            <a:schemeClr val="accent1"/>
          </a:solidFill>
          <a:ln/>
        </p:spPr>
      </p:sp>
      <p:pic>
        <p:nvPicPr>
          <p:cNvPr id="14" name="Masalah 3 ikon" descr="preencoded.png">    </p:cNvPr>
          <p:cNvPicPr>
            <a:picLocks noChangeAspect="1"/>
          </p:cNvPicPr>
          <p:nvPr/>
        </p:nvPicPr>
        <p:blipFill>
          <a:blip r:embed="rId3"/>
          <a:stretch>
            <a:fillRect/>
          </a:stretch>
        </p:blipFill>
        <p:spPr>
          <a:xfrm>
            <a:off x="3834079" y="3056839"/>
            <a:ext cx="241402" cy="241402"/>
          </a:xfrm>
          <a:prstGeom prst="rect">
            <a:avLst/>
          </a:prstGeom>
        </p:spPr>
      </p:pic>
      <p:sp>
        <p:nvSpPr>
          <p:cNvPr id="15" name="Text 10"/>
          <p:cNvSpPr txBox="1"/>
          <p:nvPr/>
        </p:nvSpPr>
        <p:spPr>
          <a:xfrm>
            <a:off x="4389120" y="2880360"/>
            <a:ext cx="4297680" cy="777240"/>
          </a:xfrm>
          <a:prstGeom prst="rect">
            <a:avLst/>
          </a:prstGeom>
          <a:noFill/>
          <a:ln/>
        </p:spPr>
        <p:txBody>
          <a:bodyPr wrap="square" lIns="0" tIns="0" rIns="0" bIns="0" rtlCol="0" anchor="t"/>
          <a:lstStyle/>
          <a:p>
            <a:pPr indent="0" marL="0">
              <a:buNone/>
            </a:pPr>
            <a:r>
              <a:rPr lang="en-US" sz="1400" b="1" dirty="0">
                <a:solidFill>
                  <a:schemeClr val="tx1"/>
                </a:solidFill>
              </a:rPr>
              <a:t>Kesiapan teknis karbon rendah</a:t>
            </a:r>
            <a:endParaRPr lang="en-US" sz="1400" dirty="0"/>
          </a:p>
          <a:p>
            <a:pPr indent="0" marL="0">
              <a:buNone/>
            </a:pPr>
            <a:r>
              <a:rPr lang="en-US" sz="1200" dirty="0">
                <a:solidFill>
                  <a:schemeClr val="tx1"/>
                </a:solidFill>
              </a:rPr>
              <a:t>Data biofisik dan sosial, MRV, safeguards, dan akses registri belum tersedia.</a:t>
            </a:r>
            <a:endParaRPr lang="en-US" sz="1400" dirty="0"/>
          </a:p>
        </p:txBody>
      </p:sp>
      <p:sp>
        <p:nvSpPr>
          <p:cNvPr id="16" name="Masalah 4 lingkaran"/>
          <p:cNvSpPr/>
          <p:nvPr/>
        </p:nvSpPr>
        <p:spPr>
          <a:xfrm>
            <a:off x="3703320" y="3749040"/>
            <a:ext cx="502920" cy="502920"/>
          </a:xfrm>
          <a:prstGeom prst="ellipse">
            <a:avLst/>
          </a:prstGeom>
          <a:solidFill>
            <a:schemeClr val="accent2"/>
          </a:solidFill>
          <a:ln/>
        </p:spPr>
      </p:sp>
      <p:pic>
        <p:nvPicPr>
          <p:cNvPr id="17" name="Masalah 4 ikon" descr="preencoded.png">    </p:cNvPr>
          <p:cNvPicPr>
            <a:picLocks noChangeAspect="1"/>
          </p:cNvPicPr>
          <p:nvPr/>
        </p:nvPicPr>
        <p:blipFill>
          <a:blip r:embed="rId4"/>
          <a:stretch>
            <a:fillRect/>
          </a:stretch>
        </p:blipFill>
        <p:spPr>
          <a:xfrm>
            <a:off x="3834079" y="3879799"/>
            <a:ext cx="241402" cy="241402"/>
          </a:xfrm>
          <a:prstGeom prst="rect">
            <a:avLst/>
          </a:prstGeom>
        </p:spPr>
      </p:pic>
      <p:sp>
        <p:nvSpPr>
          <p:cNvPr id="18" name="Text 12"/>
          <p:cNvSpPr txBox="1"/>
          <p:nvPr/>
        </p:nvSpPr>
        <p:spPr>
          <a:xfrm>
            <a:off x="4389120" y="3703320"/>
            <a:ext cx="4297680" cy="777240"/>
          </a:xfrm>
          <a:prstGeom prst="rect">
            <a:avLst/>
          </a:prstGeom>
          <a:noFill/>
          <a:ln/>
        </p:spPr>
        <p:txBody>
          <a:bodyPr wrap="square" lIns="0" tIns="0" rIns="0" bIns="0" rtlCol="0" anchor="t"/>
          <a:lstStyle/>
          <a:p>
            <a:pPr indent="0" marL="0">
              <a:buNone/>
            </a:pPr>
            <a:r>
              <a:rPr lang="en-US" sz="1400" b="1" dirty="0">
                <a:solidFill>
                  <a:schemeClr val="tx1"/>
                </a:solidFill>
              </a:rPr>
              <a:t>Suara perempuan terbatas</a:t>
            </a:r>
            <a:endParaRPr lang="en-US" sz="1400" dirty="0"/>
          </a:p>
          <a:p>
            <a:pPr indent="0" marL="0">
              <a:buNone/>
            </a:pPr>
            <a:r>
              <a:rPr lang="en-US" sz="1200" dirty="0">
                <a:solidFill>
                  <a:schemeClr val="tx1"/>
                </a:solidFill>
              </a:rPr>
              <a:t>Perempuan hadir sebagai penerima manfaat, belum sebagai pengambil keputusan.</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Hutan Desa Pasir: gambut luas, separuh dilindungi, separuh dipulihkan</a:t>
            </a:r>
            <a:endParaRPr lang="en-US" sz="2200" dirty="0"/>
          </a:p>
        </p:txBody>
      </p:sp>
      <p:pic>
        <p:nvPicPr>
          <p:cNvPr id="3" name="Peta tutupan lahan HD Pasir" descr="map_wide.jpg">    </p:cNvPr>
          <p:cNvPicPr>
            <a:picLocks noChangeAspect="1"/>
          </p:cNvPicPr>
          <p:nvPr/>
        </p:nvPicPr>
        <p:blipFill>
          <a:blip r:embed="rId1"/>
          <a:stretch>
            <a:fillRect/>
          </a:stretch>
        </p:blipFill>
        <p:spPr>
          <a:xfrm>
            <a:off x="457200" y="1188720"/>
            <a:ext cx="4663440" cy="2633472"/>
          </a:xfrm>
          <a:prstGeom prst="rect">
            <a:avLst/>
          </a:prstGeom>
        </p:spPr>
      </p:pic>
      <p:sp>
        <p:nvSpPr>
          <p:cNvPr id="4" name="Shape 1"/>
          <p:cNvSpPr/>
          <p:nvPr/>
        </p:nvSpPr>
        <p:spPr>
          <a:xfrm>
            <a:off x="457200" y="3950208"/>
            <a:ext cx="164592" cy="164592"/>
          </a:xfrm>
          <a:prstGeom prst="rect">
            <a:avLst/>
          </a:prstGeom>
          <a:solidFill>
            <a:srgbClr val="4CC41A"/>
          </a:solidFill>
          <a:ln w="6350">
            <a:solidFill>
              <a:srgbClr val="9AA59F"/>
            </a:solidFill>
            <a:prstDash val="solid"/>
          </a:ln>
        </p:spPr>
      </p:sp>
      <p:sp>
        <p:nvSpPr>
          <p:cNvPr id="5" name="Text 2"/>
          <p:cNvSpPr txBox="1"/>
          <p:nvPr/>
        </p:nvSpPr>
        <p:spPr>
          <a:xfrm>
            <a:off x="685800" y="3913632"/>
            <a:ext cx="914400" cy="237744"/>
          </a:xfrm>
          <a:prstGeom prst="rect">
            <a:avLst/>
          </a:prstGeom>
          <a:noFill/>
          <a:ln/>
        </p:spPr>
        <p:txBody>
          <a:bodyPr wrap="square" lIns="0" tIns="0" rIns="0" bIns="0" rtlCol="0" anchor="t"/>
          <a:lstStyle/>
          <a:p>
            <a:pPr indent="0" marL="0">
              <a:buNone/>
            </a:pPr>
            <a:r>
              <a:rPr lang="en-US" sz="1000" dirty="0">
                <a:solidFill>
                  <a:schemeClr val="accent5"/>
                </a:solidFill>
              </a:rPr>
              <a:t>Hutan</a:t>
            </a:r>
            <a:endParaRPr lang="en-US" sz="1000" dirty="0"/>
          </a:p>
        </p:txBody>
      </p:sp>
      <p:sp>
        <p:nvSpPr>
          <p:cNvPr id="6" name="Shape 3"/>
          <p:cNvSpPr/>
          <p:nvPr/>
        </p:nvSpPr>
        <p:spPr>
          <a:xfrm>
            <a:off x="1627632" y="3950208"/>
            <a:ext cx="164592" cy="164592"/>
          </a:xfrm>
          <a:prstGeom prst="rect">
            <a:avLst/>
          </a:prstGeom>
          <a:solidFill>
            <a:srgbClr val="D6EE8C"/>
          </a:solidFill>
          <a:ln w="6350">
            <a:solidFill>
              <a:srgbClr val="9AA59F"/>
            </a:solidFill>
            <a:prstDash val="solid"/>
          </a:ln>
        </p:spPr>
      </p:sp>
      <p:sp>
        <p:nvSpPr>
          <p:cNvPr id="7" name="Text 4"/>
          <p:cNvSpPr txBox="1"/>
          <p:nvPr/>
        </p:nvSpPr>
        <p:spPr>
          <a:xfrm>
            <a:off x="1856232" y="3913632"/>
            <a:ext cx="914400" cy="237744"/>
          </a:xfrm>
          <a:prstGeom prst="rect">
            <a:avLst/>
          </a:prstGeom>
          <a:noFill/>
          <a:ln/>
        </p:spPr>
        <p:txBody>
          <a:bodyPr wrap="square" lIns="0" tIns="0" rIns="0" bIns="0" rtlCol="0" anchor="t"/>
          <a:lstStyle/>
          <a:p>
            <a:pPr indent="0" marL="0">
              <a:buNone/>
            </a:pPr>
            <a:r>
              <a:rPr lang="en-US" sz="1000" dirty="0">
                <a:solidFill>
                  <a:schemeClr val="accent5"/>
                </a:solidFill>
              </a:rPr>
              <a:t>Lahan terbuka</a:t>
            </a:r>
            <a:endParaRPr lang="en-US" sz="1000" dirty="0"/>
          </a:p>
        </p:txBody>
      </p:sp>
      <p:sp>
        <p:nvSpPr>
          <p:cNvPr id="8" name="Shape 5"/>
          <p:cNvSpPr/>
          <p:nvPr/>
        </p:nvSpPr>
        <p:spPr>
          <a:xfrm>
            <a:off x="2798064" y="3950208"/>
            <a:ext cx="164592" cy="164592"/>
          </a:xfrm>
          <a:prstGeom prst="rect">
            <a:avLst/>
          </a:prstGeom>
          <a:solidFill>
            <a:srgbClr val="E08A1E"/>
          </a:solidFill>
          <a:ln w="6350">
            <a:solidFill>
              <a:srgbClr val="9AA59F"/>
            </a:solidFill>
            <a:prstDash val="solid"/>
          </a:ln>
        </p:spPr>
      </p:sp>
      <p:sp>
        <p:nvSpPr>
          <p:cNvPr id="9" name="Text 6"/>
          <p:cNvSpPr txBox="1"/>
          <p:nvPr/>
        </p:nvSpPr>
        <p:spPr>
          <a:xfrm>
            <a:off x="3026664" y="3913632"/>
            <a:ext cx="914400" cy="237744"/>
          </a:xfrm>
          <a:prstGeom prst="rect">
            <a:avLst/>
          </a:prstGeom>
          <a:noFill/>
          <a:ln/>
        </p:spPr>
        <p:txBody>
          <a:bodyPr wrap="square" lIns="0" tIns="0" rIns="0" bIns="0" rtlCol="0" anchor="t"/>
          <a:lstStyle/>
          <a:p>
            <a:pPr indent="0" marL="0">
              <a:buNone/>
            </a:pPr>
            <a:r>
              <a:rPr lang="en-US" sz="1000" dirty="0">
                <a:solidFill>
                  <a:schemeClr val="accent5"/>
                </a:solidFill>
              </a:rPr>
              <a:t>Sawit</a:t>
            </a:r>
            <a:endParaRPr lang="en-US" sz="1000" dirty="0"/>
          </a:p>
        </p:txBody>
      </p:sp>
      <p:sp>
        <p:nvSpPr>
          <p:cNvPr id="10" name="Shape 7"/>
          <p:cNvSpPr/>
          <p:nvPr/>
        </p:nvSpPr>
        <p:spPr>
          <a:xfrm>
            <a:off x="3968496" y="3950208"/>
            <a:ext cx="164592" cy="164592"/>
          </a:xfrm>
          <a:prstGeom prst="rect">
            <a:avLst/>
          </a:prstGeom>
          <a:solidFill>
            <a:srgbClr val="E6F4C8"/>
          </a:solidFill>
          <a:ln w="6350">
            <a:solidFill>
              <a:srgbClr val="9AA59F"/>
            </a:solidFill>
            <a:prstDash val="solid"/>
          </a:ln>
        </p:spPr>
      </p:sp>
      <p:sp>
        <p:nvSpPr>
          <p:cNvPr id="11" name="Text 8"/>
          <p:cNvSpPr txBox="1"/>
          <p:nvPr/>
        </p:nvSpPr>
        <p:spPr>
          <a:xfrm>
            <a:off x="4197096" y="3913632"/>
            <a:ext cx="914400" cy="237744"/>
          </a:xfrm>
          <a:prstGeom prst="rect">
            <a:avLst/>
          </a:prstGeom>
          <a:noFill/>
          <a:ln/>
        </p:spPr>
        <p:txBody>
          <a:bodyPr wrap="square" lIns="0" tIns="0" rIns="0" bIns="0" rtlCol="0" anchor="t"/>
          <a:lstStyle/>
          <a:p>
            <a:pPr indent="0" marL="0">
              <a:buNone/>
            </a:pPr>
            <a:r>
              <a:rPr lang="en-US" sz="1000" dirty="0">
                <a:solidFill>
                  <a:schemeClr val="accent5"/>
                </a:solidFill>
              </a:rPr>
              <a:t>Semak belukar</a:t>
            </a:r>
            <a:endParaRPr lang="en-US" sz="1000" dirty="0"/>
          </a:p>
        </p:txBody>
      </p:sp>
      <p:sp>
        <p:nvSpPr>
          <p:cNvPr id="12" name="Text 9"/>
          <p:cNvSpPr txBox="1"/>
          <p:nvPr/>
        </p:nvSpPr>
        <p:spPr>
          <a:xfrm>
            <a:off x="457200" y="4224528"/>
            <a:ext cx="4663440" cy="228600"/>
          </a:xfrm>
          <a:prstGeom prst="rect">
            <a:avLst/>
          </a:prstGeom>
          <a:noFill/>
          <a:ln/>
        </p:spPr>
        <p:txBody>
          <a:bodyPr wrap="square" lIns="0" tIns="0" rIns="0" bIns="0" rtlCol="0" anchor="t"/>
          <a:lstStyle/>
          <a:p>
            <a:pPr indent="0" marL="0">
              <a:buNone/>
            </a:pPr>
            <a:r>
              <a:rPr lang="en-US" sz="1000" dirty="0">
                <a:solidFill>
                  <a:schemeClr val="accent5"/>
                </a:solidFill>
              </a:rPr>
              <a:t>Sumber: Peta Tutupan Lahan dan Gambut HD Pasir, SAMPAN Kalimantan (2025)</a:t>
            </a:r>
            <a:endParaRPr lang="en-US" sz="1000" dirty="0"/>
          </a:p>
        </p:txBody>
      </p:sp>
      <p:sp>
        <p:nvSpPr>
          <p:cNvPr id="13" name="Text 10"/>
          <p:cNvSpPr txBox="1"/>
          <p:nvPr/>
        </p:nvSpPr>
        <p:spPr>
          <a:xfrm>
            <a:off x="5486400" y="1188720"/>
            <a:ext cx="3200400" cy="274320"/>
          </a:xfrm>
          <a:prstGeom prst="rect">
            <a:avLst/>
          </a:prstGeom>
          <a:noFill/>
          <a:ln/>
        </p:spPr>
        <p:txBody>
          <a:bodyPr wrap="square" lIns="0" tIns="0" rIns="0" bIns="0" rtlCol="0" anchor="t"/>
          <a:lstStyle/>
          <a:p>
            <a:pPr indent="0" marL="0">
              <a:buNone/>
            </a:pPr>
            <a:r>
              <a:rPr lang="en-US" sz="1400" b="1" dirty="0">
                <a:solidFill>
                  <a:schemeClr val="tx2"/>
                </a:solidFill>
              </a:rPr>
              <a:t>Pembagian kawasan</a:t>
            </a:r>
            <a:endParaRPr lang="en-US" sz="1400" dirty="0"/>
          </a:p>
        </p:txBody>
      </p:sp>
      <p:sp>
        <p:nvSpPr>
          <p:cNvPr id="14" name="Bar perlindungan"/>
          <p:cNvSpPr/>
          <p:nvPr/>
        </p:nvSpPr>
        <p:spPr>
          <a:xfrm>
            <a:off x="5486400" y="1536192"/>
            <a:ext cx="1684050" cy="384048"/>
          </a:xfrm>
          <a:prstGeom prst="rect">
            <a:avLst/>
          </a:prstGeom>
          <a:solidFill>
            <a:schemeClr val="accent1"/>
          </a:solidFill>
          <a:ln/>
        </p:spPr>
      </p:sp>
      <p:sp>
        <p:nvSpPr>
          <p:cNvPr id="15" name="Bar rehabilitasi"/>
          <p:cNvSpPr/>
          <p:nvPr/>
        </p:nvSpPr>
        <p:spPr>
          <a:xfrm>
            <a:off x="7170450" y="1536192"/>
            <a:ext cx="1516350" cy="384048"/>
          </a:xfrm>
          <a:prstGeom prst="rect">
            <a:avLst/>
          </a:prstGeom>
          <a:solidFill>
            <a:schemeClr val="accent2"/>
          </a:solidFill>
          <a:ln/>
        </p:spPr>
      </p:sp>
      <p:sp>
        <p:nvSpPr>
          <p:cNvPr id="16" name="Text 13"/>
          <p:cNvSpPr txBox="1"/>
          <p:nvPr/>
        </p:nvSpPr>
        <p:spPr>
          <a:xfrm>
            <a:off x="5577840" y="1536192"/>
            <a:ext cx="1463040" cy="384048"/>
          </a:xfrm>
          <a:prstGeom prst="rect">
            <a:avLst/>
          </a:prstGeom>
          <a:noFill/>
          <a:ln/>
        </p:spPr>
        <p:txBody>
          <a:bodyPr wrap="square" lIns="0" tIns="0" rIns="0" bIns="0" rtlCol="0" anchor="ctr"/>
          <a:lstStyle/>
          <a:p>
            <a:pPr indent="0" marL="0">
              <a:buNone/>
            </a:pPr>
            <a:r>
              <a:rPr lang="en-US" sz="1400" b="1" dirty="0">
                <a:solidFill>
                  <a:schemeClr val="bg1"/>
                </a:solidFill>
              </a:rPr>
              <a:t>52,6%</a:t>
            </a:r>
            <a:endParaRPr lang="en-US" sz="1400" dirty="0"/>
          </a:p>
        </p:txBody>
      </p:sp>
      <p:sp>
        <p:nvSpPr>
          <p:cNvPr id="17" name="Text 14"/>
          <p:cNvSpPr txBox="1"/>
          <p:nvPr/>
        </p:nvSpPr>
        <p:spPr>
          <a:xfrm>
            <a:off x="7260336" y="1536192"/>
            <a:ext cx="1371600" cy="384048"/>
          </a:xfrm>
          <a:prstGeom prst="rect">
            <a:avLst/>
          </a:prstGeom>
          <a:noFill/>
          <a:ln/>
        </p:spPr>
        <p:txBody>
          <a:bodyPr wrap="square" lIns="0" tIns="0" rIns="0" bIns="0" rtlCol="0" anchor="ctr"/>
          <a:lstStyle/>
          <a:p>
            <a:pPr indent="0" marL="0">
              <a:buNone/>
            </a:pPr>
            <a:r>
              <a:rPr lang="en-US" sz="1400" b="1" dirty="0">
                <a:solidFill>
                  <a:schemeClr val="bg1"/>
                </a:solidFill>
              </a:rPr>
              <a:t>47,4%</a:t>
            </a:r>
            <a:endParaRPr lang="en-US" sz="1400" dirty="0"/>
          </a:p>
        </p:txBody>
      </p:sp>
      <p:sp>
        <p:nvSpPr>
          <p:cNvPr id="18" name="Text 15"/>
          <p:cNvSpPr txBox="1"/>
          <p:nvPr/>
        </p:nvSpPr>
        <p:spPr>
          <a:xfrm>
            <a:off x="5486400" y="1993392"/>
            <a:ext cx="3200400" cy="457200"/>
          </a:xfrm>
          <a:prstGeom prst="rect">
            <a:avLst/>
          </a:prstGeom>
          <a:noFill/>
          <a:ln/>
        </p:spPr>
        <p:txBody>
          <a:bodyPr wrap="square" lIns="0" tIns="0" rIns="0" bIns="0" rtlCol="0" anchor="t"/>
          <a:lstStyle/>
          <a:p>
            <a:pPr indent="0" marL="0">
              <a:buNone/>
            </a:pPr>
            <a:r>
              <a:rPr lang="en-US" sz="1200" dirty="0">
                <a:solidFill>
                  <a:schemeClr val="tx1"/>
                </a:solidFill>
              </a:rPr>
              <a:t>1.299 ha perlindungan (REDD)</a:t>
            </a:r>
            <a:endParaRPr lang="en-US" sz="1200" dirty="0"/>
          </a:p>
          <a:p>
            <a:pPr indent="0" marL="0">
              <a:buNone/>
            </a:pPr>
            <a:r>
              <a:rPr lang="en-US" sz="1200" dirty="0">
                <a:solidFill>
                  <a:schemeClr val="tx1"/>
                </a:solidFill>
              </a:rPr>
              <a:t>1.169 ha rehabilitasi (ARR)</a:t>
            </a:r>
            <a:endParaRPr lang="en-US" sz="1200" dirty="0"/>
          </a:p>
        </p:txBody>
      </p:sp>
      <p:sp>
        <p:nvSpPr>
          <p:cNvPr id="19" name="Text 16"/>
          <p:cNvSpPr txBox="1"/>
          <p:nvPr/>
        </p:nvSpPr>
        <p:spPr>
          <a:xfrm>
            <a:off x="5486400" y="2606040"/>
            <a:ext cx="3200400" cy="1920240"/>
          </a:xfrm>
          <a:prstGeom prst="rect">
            <a:avLst/>
          </a:prstGeom>
          <a:noFill/>
          <a:ln/>
        </p:spPr>
        <p:txBody>
          <a:bodyPr wrap="square" lIns="0" tIns="0" rIns="0" bIns="0" rtlCol="0" anchor="t"/>
          <a:lstStyle/>
          <a:p>
            <a:pPr indent="0" marL="0">
              <a:spcAft>
                <a:spcPts val="600"/>
              </a:spcAft>
              <a:buNone/>
            </a:pPr>
            <a:r>
              <a:rPr lang="en-US" sz="1200" b="1" dirty="0">
                <a:solidFill>
                  <a:schemeClr val="tx1"/>
                </a:solidFill>
              </a:rPr>
              <a:t>Tutupan: </a:t>
            </a:r>
            <a:pPr indent="0" marL="0">
              <a:spcAft>
                <a:spcPts val="600"/>
              </a:spcAft>
              <a:buNone/>
            </a:pPr>
            <a:r>
              <a:rPr lang="en-US" sz="1200" dirty="0">
                <a:solidFill>
                  <a:schemeClr val="tx1"/>
                </a:solidFill>
              </a:rPr>
              <a:t>1.482 ha (60%) masih hutan; ±40% semak, sawit, dan lahan terbuka.</a:t>
            </a:r>
            <a:endParaRPr lang="en-US" sz="1200" dirty="0"/>
          </a:p>
          <a:p>
            <a:pPr indent="0" marL="0">
              <a:spcAft>
                <a:spcPts val="600"/>
              </a:spcAft>
              <a:buNone/>
            </a:pPr>
            <a:r>
              <a:rPr lang="en-US" sz="1200" b="1" dirty="0">
                <a:solidFill>
                  <a:schemeClr val="tx1"/>
                </a:solidFill>
              </a:rPr>
              <a:t>Legalitas: </a:t>
            </a:r>
            <a:pPr indent="0" marL="0">
              <a:spcAft>
                <a:spcPts val="600"/>
              </a:spcAft>
              <a:buNone/>
            </a:pPr>
            <a:r>
              <a:rPr lang="en-US" sz="1200" dirty="0">
                <a:solidFill>
                  <a:schemeClr val="tx1"/>
                </a:solidFill>
              </a:rPr>
              <a:t>RKPS 2020–2029 dan RKT 2026 sudah disahkan, memuat rencana jasa lingkungan karbon.</a:t>
            </a:r>
            <a:endParaRPr lang="en-US" sz="1200" dirty="0"/>
          </a:p>
          <a:p>
            <a:pPr indent="0" marL="0">
              <a:spcAft>
                <a:spcPts val="600"/>
              </a:spcAft>
              <a:buNone/>
            </a:pPr>
            <a:r>
              <a:rPr lang="en-US" sz="1200" b="1" dirty="0">
                <a:solidFill>
                  <a:schemeClr val="tx1"/>
                </a:solidFill>
              </a:rPr>
              <a:t>Satwa kunci: </a:t>
            </a:r>
            <a:pPr indent="0" marL="0">
              <a:spcAft>
                <a:spcPts val="600"/>
              </a:spcAft>
              <a:buNone/>
            </a:pPr>
            <a:r>
              <a:rPr lang="en-US" sz="1200" dirty="0">
                <a:solidFill>
                  <a:schemeClr val="tx1"/>
                </a:solidFill>
              </a:rPr>
              <a:t>orangutan dan trenggiling (CR), beruang madu (VU), rangkong gading.</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bg1"/>
                </a:solidFill>
                <a:latin typeface="Cambria" pitchFamily="34" charset="0"/>
                <a:ea typeface="Cambria" pitchFamily="34" charset="-122"/>
                <a:cs typeface="Cambria" pitchFamily="34" charset="-120"/>
              </a:rPr>
              <a:t>Potensi karbon cukup besar untuk membiayai pengelolaan jangka panjang</a:t>
            </a:r>
            <a:endParaRPr lang="en-US" sz="2200" dirty="0"/>
          </a:p>
        </p:txBody>
      </p:sp>
      <p:sp>
        <p:nvSpPr>
          <p:cNvPr id="3" name="Text 1"/>
          <p:cNvSpPr txBox="1"/>
          <p:nvPr/>
        </p:nvSpPr>
        <p:spPr>
          <a:xfrm>
            <a:off x="457200" y="1463040"/>
            <a:ext cx="2651760" cy="73152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773–835 rb</a:t>
            </a:r>
            <a:endParaRPr lang="en-US" sz="3200" dirty="0"/>
          </a:p>
        </p:txBody>
      </p:sp>
      <p:sp>
        <p:nvSpPr>
          <p:cNvPr id="4" name="Text 2"/>
          <p:cNvSpPr txBox="1"/>
          <p:nvPr/>
        </p:nvSpPr>
        <p:spPr>
          <a:xfrm>
            <a:off x="457200" y="2194560"/>
            <a:ext cx="2560320" cy="320040"/>
          </a:xfrm>
          <a:prstGeom prst="rect">
            <a:avLst/>
          </a:prstGeom>
          <a:noFill/>
          <a:ln/>
        </p:spPr>
        <p:txBody>
          <a:bodyPr wrap="square" lIns="0" tIns="0" rIns="0" bIns="0" rtlCol="0" anchor="t"/>
          <a:lstStyle/>
          <a:p>
            <a:pPr indent="0" marL="0">
              <a:buNone/>
            </a:pPr>
            <a:r>
              <a:rPr lang="en-US" sz="1400" b="1" dirty="0">
                <a:solidFill>
                  <a:schemeClr val="accent3"/>
                </a:solidFill>
              </a:rPr>
              <a:t>tCO₂e</a:t>
            </a:r>
            <a:endParaRPr lang="en-US" sz="1400" dirty="0"/>
          </a:p>
        </p:txBody>
      </p:sp>
      <p:sp>
        <p:nvSpPr>
          <p:cNvPr id="5" name="Text 3"/>
          <p:cNvSpPr txBox="1"/>
          <p:nvPr/>
        </p:nvSpPr>
        <p:spPr>
          <a:xfrm>
            <a:off x="457200" y="2606040"/>
            <a:ext cx="2468880" cy="1005840"/>
          </a:xfrm>
          <a:prstGeom prst="rect">
            <a:avLst/>
          </a:prstGeom>
          <a:noFill/>
          <a:ln/>
        </p:spPr>
        <p:txBody>
          <a:bodyPr wrap="square" lIns="0" tIns="0" rIns="0" bIns="0" rtlCol="0" anchor="t"/>
          <a:lstStyle/>
          <a:p>
            <a:pPr indent="0" marL="0">
              <a:buNone/>
            </a:pPr>
            <a:r>
              <a:rPr lang="en-US" sz="1400" dirty="0">
                <a:solidFill>
                  <a:schemeClr val="bg1"/>
                </a:solidFill>
              </a:rPr>
              <a:t>stok karbon biomassa hidup, belum termasuk karbon tanah gambut</a:t>
            </a:r>
            <a:endParaRPr lang="en-US" sz="1400" dirty="0"/>
          </a:p>
        </p:txBody>
      </p:sp>
      <p:sp>
        <p:nvSpPr>
          <p:cNvPr id="6" name="Text 4"/>
          <p:cNvSpPr txBox="1"/>
          <p:nvPr/>
        </p:nvSpPr>
        <p:spPr>
          <a:xfrm>
            <a:off x="3291840" y="1463040"/>
            <a:ext cx="2651760" cy="731520"/>
          </a:xfrm>
          <a:prstGeom prst="rect">
            <a:avLst/>
          </a:prstGeom>
          <a:noFill/>
          <a:ln/>
        </p:spPr>
        <p:txBody>
          <a:bodyPr wrap="square" lIns="0" tIns="0" rIns="0" bIns="0" rtlCol="0" anchor="t"/>
          <a:lstStyle/>
          <a:p>
            <a:pPr indent="0" marL="0">
              <a:buNone/>
            </a:pPr>
            <a:r>
              <a:rPr lang="en-US" sz="3200" b="1" dirty="0">
                <a:solidFill>
                  <a:schemeClr val="accent6"/>
                </a:solidFill>
                <a:latin typeface="Cambria" pitchFamily="34" charset="0"/>
                <a:ea typeface="Cambria" pitchFamily="34" charset="-122"/>
                <a:cs typeface="Cambria" pitchFamily="34" charset="-120"/>
              </a:rPr>
              <a:t>Rp69–223 M</a:t>
            </a:r>
            <a:endParaRPr lang="en-US" sz="3200" dirty="0"/>
          </a:p>
        </p:txBody>
      </p:sp>
      <p:sp>
        <p:nvSpPr>
          <p:cNvPr id="7" name="Text 5"/>
          <p:cNvSpPr txBox="1"/>
          <p:nvPr/>
        </p:nvSpPr>
        <p:spPr>
          <a:xfrm>
            <a:off x="3291840" y="2194560"/>
            <a:ext cx="2560320" cy="320040"/>
          </a:xfrm>
          <a:prstGeom prst="rect">
            <a:avLst/>
          </a:prstGeom>
          <a:noFill/>
          <a:ln/>
        </p:spPr>
        <p:txBody>
          <a:bodyPr wrap="square" lIns="0" tIns="0" rIns="0" bIns="0" rtlCol="0" anchor="t"/>
          <a:lstStyle/>
          <a:p>
            <a:pPr indent="0" marL="0">
              <a:buNone/>
            </a:pPr>
            <a:r>
              <a:rPr lang="en-US" sz="1400" b="1" dirty="0">
                <a:solidFill>
                  <a:schemeClr val="accent3"/>
                </a:solidFill>
              </a:rPr>
              <a:t>indikatif</a:t>
            </a:r>
            <a:endParaRPr lang="en-US" sz="1400" dirty="0"/>
          </a:p>
        </p:txBody>
      </p:sp>
      <p:sp>
        <p:nvSpPr>
          <p:cNvPr id="8" name="Text 6"/>
          <p:cNvSpPr txBox="1"/>
          <p:nvPr/>
        </p:nvSpPr>
        <p:spPr>
          <a:xfrm>
            <a:off x="3291840" y="2606040"/>
            <a:ext cx="2468880" cy="1005840"/>
          </a:xfrm>
          <a:prstGeom prst="rect">
            <a:avLst/>
          </a:prstGeom>
          <a:noFill/>
          <a:ln/>
        </p:spPr>
        <p:txBody>
          <a:bodyPr wrap="square" lIns="0" tIns="0" rIns="0" bIns="0" rtlCol="0" anchor="t"/>
          <a:lstStyle/>
          <a:p>
            <a:pPr indent="0" marL="0">
              <a:buNone/>
            </a:pPr>
            <a:r>
              <a:rPr lang="en-US" sz="1400" dirty="0">
                <a:solidFill>
                  <a:schemeClr val="bg1"/>
                </a:solidFill>
              </a:rPr>
              <a:t>nilai ekonomi stok biomassa pada harga karbon US$5–15/tCO₂e</a:t>
            </a:r>
            <a:endParaRPr lang="en-US" sz="1400" dirty="0"/>
          </a:p>
        </p:txBody>
      </p:sp>
      <p:sp>
        <p:nvSpPr>
          <p:cNvPr id="9" name="Text 7"/>
          <p:cNvSpPr txBox="1"/>
          <p:nvPr/>
        </p:nvSpPr>
        <p:spPr>
          <a:xfrm>
            <a:off x="6126480" y="1463040"/>
            <a:ext cx="2651760" cy="73152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76.961</a:t>
            </a:r>
            <a:endParaRPr lang="en-US" sz="3200" dirty="0"/>
          </a:p>
        </p:txBody>
      </p:sp>
      <p:sp>
        <p:nvSpPr>
          <p:cNvPr id="10" name="Text 8"/>
          <p:cNvSpPr txBox="1"/>
          <p:nvPr/>
        </p:nvSpPr>
        <p:spPr>
          <a:xfrm>
            <a:off x="6126480" y="2194560"/>
            <a:ext cx="2560320" cy="320040"/>
          </a:xfrm>
          <a:prstGeom prst="rect">
            <a:avLst/>
          </a:prstGeom>
          <a:noFill/>
          <a:ln/>
        </p:spPr>
        <p:txBody>
          <a:bodyPr wrap="square" lIns="0" tIns="0" rIns="0" bIns="0" rtlCol="0" anchor="t"/>
          <a:lstStyle/>
          <a:p>
            <a:pPr indent="0" marL="0">
              <a:buNone/>
            </a:pPr>
            <a:r>
              <a:rPr lang="en-US" sz="1400" b="1" dirty="0">
                <a:solidFill>
                  <a:schemeClr val="accent3"/>
                </a:solidFill>
              </a:rPr>
              <a:t>tCO₂e / tahun</a:t>
            </a:r>
            <a:endParaRPr lang="en-US" sz="1400" dirty="0"/>
          </a:p>
        </p:txBody>
      </p:sp>
      <p:sp>
        <p:nvSpPr>
          <p:cNvPr id="11" name="Text 9"/>
          <p:cNvSpPr txBox="1"/>
          <p:nvPr/>
        </p:nvSpPr>
        <p:spPr>
          <a:xfrm>
            <a:off x="6126480" y="2606040"/>
            <a:ext cx="2468880" cy="1005840"/>
          </a:xfrm>
          <a:prstGeom prst="rect">
            <a:avLst/>
          </a:prstGeom>
          <a:noFill/>
          <a:ln/>
        </p:spPr>
        <p:txBody>
          <a:bodyPr wrap="square" lIns="0" tIns="0" rIns="0" bIns="0" rtlCol="0" anchor="t"/>
          <a:lstStyle/>
          <a:p>
            <a:pPr indent="0" marL="0">
              <a:buNone/>
            </a:pPr>
            <a:r>
              <a:rPr lang="en-US" sz="1400" dirty="0">
                <a:solidFill>
                  <a:schemeClr val="bg1"/>
                </a:solidFill>
              </a:rPr>
              <a:t>potensi emisi dekomposisi gambut yang bisa ditekan lewat perlindungan dan pengelolaan hidrologi</a:t>
            </a:r>
            <a:endParaRPr lang="en-US" sz="1400" dirty="0"/>
          </a:p>
        </p:txBody>
      </p:sp>
      <p:sp>
        <p:nvSpPr>
          <p:cNvPr id="12" name="Text 10"/>
          <p:cNvSpPr txBox="1"/>
          <p:nvPr/>
        </p:nvSpPr>
        <p:spPr>
          <a:xfrm>
            <a:off x="457200" y="3886200"/>
            <a:ext cx="7863840" cy="685800"/>
          </a:xfrm>
          <a:prstGeom prst="rect">
            <a:avLst/>
          </a:prstGeom>
          <a:noFill/>
          <a:ln/>
        </p:spPr>
        <p:txBody>
          <a:bodyPr wrap="square" lIns="0" tIns="0" rIns="0" bIns="0" rtlCol="0" anchor="t"/>
          <a:lstStyle/>
          <a:p>
            <a:pPr indent="0" marL="0">
              <a:buNone/>
            </a:pPr>
            <a:r>
              <a:rPr lang="en-US" sz="1200" i="1" dirty="0">
                <a:solidFill>
                  <a:schemeClr val="accent3"/>
                </a:solidFill>
              </a:rPr>
              <a:t>Angka berasal dari pre-assessment dan masih akan diverifikasi melalui inventarisasi karbon (Output 2). Kinerja aksi mitigasi yang terverifikasi, bukan hak kelola semata, yang menghasilkan pembiayaan.</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Empat output menuju PS yang dibiayai karbon masyarakat</a:t>
            </a:r>
            <a:endParaRPr lang="en-US" sz="2200" dirty="0"/>
          </a:p>
        </p:txBody>
      </p:sp>
      <p:sp>
        <p:nvSpPr>
          <p:cNvPr id="3" name="Text 1"/>
          <p:cNvSpPr txBox="1"/>
          <p:nvPr/>
        </p:nvSpPr>
        <p:spPr>
          <a:xfrm>
            <a:off x="457200" y="1051560"/>
            <a:ext cx="2560320" cy="228600"/>
          </a:xfrm>
          <a:prstGeom prst="rect">
            <a:avLst/>
          </a:prstGeom>
          <a:noFill/>
          <a:ln/>
        </p:spPr>
        <p:txBody>
          <a:bodyPr wrap="square" lIns="0" tIns="0" rIns="0" bIns="0" rtlCol="0" anchor="t"/>
          <a:lstStyle/>
          <a:p>
            <a:pPr indent="0" marL="0">
              <a:buNone/>
            </a:pPr>
            <a:r>
              <a:rPr lang="en-US" sz="1000" b="1" spc="100" kern="0" dirty="0">
                <a:solidFill>
                  <a:schemeClr val="accent5"/>
                </a:solidFill>
              </a:rPr>
              <a:t>OUTPUT PROGRAM</a:t>
            </a:r>
            <a:endParaRPr lang="en-US" sz="1000" dirty="0"/>
          </a:p>
        </p:txBody>
      </p:sp>
      <p:sp>
        <p:nvSpPr>
          <p:cNvPr id="4" name="Text 2"/>
          <p:cNvSpPr txBox="1"/>
          <p:nvPr/>
        </p:nvSpPr>
        <p:spPr>
          <a:xfrm>
            <a:off x="3154680" y="1051560"/>
            <a:ext cx="2560320" cy="228600"/>
          </a:xfrm>
          <a:prstGeom prst="rect">
            <a:avLst/>
          </a:prstGeom>
          <a:noFill/>
          <a:ln/>
        </p:spPr>
        <p:txBody>
          <a:bodyPr wrap="square" lIns="0" tIns="0" rIns="0" bIns="0" rtlCol="0" anchor="t"/>
          <a:lstStyle/>
          <a:p>
            <a:pPr indent="0" marL="0">
              <a:buNone/>
            </a:pPr>
            <a:r>
              <a:rPr lang="en-US" sz="1000" b="1" spc="100" kern="0" dirty="0">
                <a:solidFill>
                  <a:schemeClr val="accent5"/>
                </a:solidFill>
              </a:rPr>
              <a:t>OUTCOME</a:t>
            </a:r>
            <a:endParaRPr lang="en-US" sz="1000" dirty="0"/>
          </a:p>
        </p:txBody>
      </p:sp>
      <p:sp>
        <p:nvSpPr>
          <p:cNvPr id="5" name="Text 3"/>
          <p:cNvSpPr txBox="1"/>
          <p:nvPr/>
        </p:nvSpPr>
        <p:spPr>
          <a:xfrm>
            <a:off x="5852160" y="1051560"/>
            <a:ext cx="822960" cy="228600"/>
          </a:xfrm>
          <a:prstGeom prst="rect">
            <a:avLst/>
          </a:prstGeom>
          <a:noFill/>
          <a:ln/>
        </p:spPr>
        <p:txBody>
          <a:bodyPr wrap="square" lIns="0" tIns="0" rIns="0" bIns="0" rtlCol="0" anchor="t"/>
          <a:lstStyle/>
          <a:p>
            <a:pPr indent="0" marL="0">
              <a:buNone/>
            </a:pPr>
            <a:r>
              <a:rPr lang="en-US" sz="1000" b="1" spc="100" kern="0" dirty="0">
                <a:solidFill>
                  <a:schemeClr val="accent5"/>
                </a:solidFill>
              </a:rPr>
              <a:t>SETAPAK</a:t>
            </a:r>
            <a:endParaRPr lang="en-US" sz="1000" dirty="0"/>
          </a:p>
        </p:txBody>
      </p:sp>
      <p:sp>
        <p:nvSpPr>
          <p:cNvPr id="6" name="Output 1"/>
          <p:cNvSpPr/>
          <p:nvPr/>
        </p:nvSpPr>
        <p:spPr>
          <a:xfrm>
            <a:off x="457200" y="1325880"/>
            <a:ext cx="2560320" cy="713232"/>
          </a:xfrm>
          <a:prstGeom prst="rect">
            <a:avLst/>
          </a:prstGeom>
          <a:solidFill>
            <a:schemeClr val="accent1"/>
          </a:solidFill>
          <a:ln/>
        </p:spPr>
      </p:sp>
      <p:sp>
        <p:nvSpPr>
          <p:cNvPr id="7" name="Text 5"/>
          <p:cNvSpPr txBox="1"/>
          <p:nvPr/>
        </p:nvSpPr>
        <p:spPr>
          <a:xfrm>
            <a:off x="566928" y="1380744"/>
            <a:ext cx="2377440" cy="621792"/>
          </a:xfrm>
          <a:prstGeom prst="rect">
            <a:avLst/>
          </a:prstGeom>
          <a:noFill/>
          <a:ln/>
        </p:spPr>
        <p:txBody>
          <a:bodyPr wrap="square" lIns="0" tIns="0" rIns="0" bIns="0" rtlCol="0" anchor="ctr"/>
          <a:lstStyle/>
          <a:p>
            <a:pPr indent="0" marL="0">
              <a:buNone/>
            </a:pPr>
            <a:r>
              <a:rPr lang="en-US" sz="1100" b="1" dirty="0">
                <a:solidFill>
                  <a:schemeClr val="bg1"/>
                </a:solidFill>
              </a:rPr>
              <a:t>Output 1  </a:t>
            </a:r>
            <a:endParaRPr lang="en-US" sz="1100" dirty="0"/>
          </a:p>
          <a:p>
            <a:pPr indent="0" marL="0">
              <a:buNone/>
            </a:pPr>
            <a:r>
              <a:rPr lang="en-US" sz="1100" dirty="0">
                <a:solidFill>
                  <a:schemeClr val="bg1"/>
                </a:solidFill>
              </a:rPr>
              <a:t>Aksi mitigasi berbasis masyarakat yang terukur dan layak karbon</a:t>
            </a:r>
            <a:endParaRPr lang="en-US" sz="1100" dirty="0"/>
          </a:p>
        </p:txBody>
      </p:sp>
      <p:sp>
        <p:nvSpPr>
          <p:cNvPr id="8" name="Shape 6"/>
          <p:cNvSpPr/>
          <p:nvPr/>
        </p:nvSpPr>
        <p:spPr>
          <a:xfrm>
            <a:off x="3026664" y="1591056"/>
            <a:ext cx="91440" cy="182880"/>
          </a:xfrm>
          <a:prstGeom prst="rtTriangle">
            <a:avLst/>
          </a:prstGeom>
          <a:solidFill>
            <a:schemeClr val="accent1"/>
          </a:solidFill>
          <a:ln/>
        </p:spPr>
      </p:sp>
      <p:sp>
        <p:nvSpPr>
          <p:cNvPr id="9" name="Outcome 1"/>
          <p:cNvSpPr/>
          <p:nvPr/>
        </p:nvSpPr>
        <p:spPr>
          <a:xfrm>
            <a:off x="3154680" y="1325880"/>
            <a:ext cx="2560320" cy="713232"/>
          </a:xfrm>
          <a:prstGeom prst="rect">
            <a:avLst/>
          </a:prstGeom>
          <a:solidFill>
            <a:schemeClr val="bg2"/>
          </a:solidFill>
          <a:ln/>
        </p:spPr>
      </p:sp>
      <p:sp>
        <p:nvSpPr>
          <p:cNvPr id="10" name="Text 8"/>
          <p:cNvSpPr txBox="1"/>
          <p:nvPr/>
        </p:nvSpPr>
        <p:spPr>
          <a:xfrm>
            <a:off x="3264408" y="1380744"/>
            <a:ext cx="2377440" cy="621792"/>
          </a:xfrm>
          <a:prstGeom prst="rect">
            <a:avLst/>
          </a:prstGeom>
          <a:noFill/>
          <a:ln/>
        </p:spPr>
        <p:txBody>
          <a:bodyPr wrap="square" lIns="0" tIns="0" rIns="0" bIns="0" rtlCol="0" anchor="ctr"/>
          <a:lstStyle/>
          <a:p>
            <a:pPr indent="0" marL="0">
              <a:buNone/>
            </a:pPr>
            <a:r>
              <a:rPr lang="en-US" sz="1100" dirty="0">
                <a:solidFill>
                  <a:schemeClr val="tx1"/>
                </a:solidFill>
              </a:rPr>
              <a:t>Kesiapan legal, kelembagaan dan safeguards meningkat; hutan dan gambut terlindungi, area rusak dipulihkan</a:t>
            </a:r>
            <a:endParaRPr lang="en-US" sz="1100" dirty="0"/>
          </a:p>
        </p:txBody>
      </p:sp>
      <p:sp>
        <p:nvSpPr>
          <p:cNvPr id="11" name="Shape 9"/>
          <p:cNvSpPr/>
          <p:nvPr/>
        </p:nvSpPr>
        <p:spPr>
          <a:xfrm>
            <a:off x="5852160" y="1527048"/>
            <a:ext cx="822960" cy="310896"/>
          </a:xfrm>
          <a:prstGeom prst="roundRect">
            <a:avLst>
              <a:gd name="adj" fmla="val 50000"/>
            </a:avLst>
          </a:prstGeom>
          <a:solidFill>
            <a:schemeClr val="bg1"/>
          </a:solidFill>
          <a:ln w="15875">
            <a:solidFill>
              <a:schemeClr val="accent1"/>
            </a:solidFill>
            <a:prstDash val="solid"/>
          </a:ln>
        </p:spPr>
      </p:sp>
      <p:sp>
        <p:nvSpPr>
          <p:cNvPr id="12" name="Text 10"/>
          <p:cNvSpPr txBox="1"/>
          <p:nvPr/>
        </p:nvSpPr>
        <p:spPr>
          <a:xfrm>
            <a:off x="5852160" y="1527048"/>
            <a:ext cx="822960" cy="310896"/>
          </a:xfrm>
          <a:prstGeom prst="rect">
            <a:avLst/>
          </a:prstGeom>
          <a:noFill/>
          <a:ln/>
        </p:spPr>
        <p:txBody>
          <a:bodyPr wrap="square" lIns="0" tIns="0" rIns="0" bIns="0" rtlCol="0" anchor="ctr"/>
          <a:lstStyle/>
          <a:p>
            <a:pPr algn="ctr" indent="0" marL="0">
              <a:buNone/>
            </a:pPr>
            <a:r>
              <a:rPr lang="en-US" sz="1100" b="1" dirty="0">
                <a:solidFill>
                  <a:schemeClr val="tx2"/>
                </a:solidFill>
              </a:rPr>
              <a:t>O1 · O4</a:t>
            </a:r>
            <a:endParaRPr lang="en-US" sz="1100" dirty="0"/>
          </a:p>
        </p:txBody>
      </p:sp>
      <p:sp>
        <p:nvSpPr>
          <p:cNvPr id="13" name="Output 2"/>
          <p:cNvSpPr/>
          <p:nvPr/>
        </p:nvSpPr>
        <p:spPr>
          <a:xfrm>
            <a:off x="457200" y="2130552"/>
            <a:ext cx="2560320" cy="713232"/>
          </a:xfrm>
          <a:prstGeom prst="rect">
            <a:avLst/>
          </a:prstGeom>
          <a:solidFill>
            <a:schemeClr val="accent4"/>
          </a:solidFill>
          <a:ln/>
        </p:spPr>
      </p:sp>
      <p:sp>
        <p:nvSpPr>
          <p:cNvPr id="14" name="Text 12"/>
          <p:cNvSpPr txBox="1"/>
          <p:nvPr/>
        </p:nvSpPr>
        <p:spPr>
          <a:xfrm>
            <a:off x="566928" y="2185416"/>
            <a:ext cx="2377440" cy="621792"/>
          </a:xfrm>
          <a:prstGeom prst="rect">
            <a:avLst/>
          </a:prstGeom>
          <a:noFill/>
          <a:ln/>
        </p:spPr>
        <p:txBody>
          <a:bodyPr wrap="square" lIns="0" tIns="0" rIns="0" bIns="0" rtlCol="0" anchor="ctr"/>
          <a:lstStyle/>
          <a:p>
            <a:pPr indent="0" marL="0">
              <a:buNone/>
            </a:pPr>
            <a:r>
              <a:rPr lang="en-US" sz="1100" b="1" dirty="0">
                <a:solidFill>
                  <a:schemeClr val="bg1"/>
                </a:solidFill>
              </a:rPr>
              <a:t>Output 2  </a:t>
            </a:r>
            <a:endParaRPr lang="en-US" sz="1100" dirty="0"/>
          </a:p>
          <a:p>
            <a:pPr indent="0" marL="0">
              <a:buNone/>
            </a:pPr>
            <a:r>
              <a:rPr lang="en-US" sz="1100" dirty="0">
                <a:solidFill>
                  <a:schemeClr val="bg1"/>
                </a:solidFill>
              </a:rPr>
              <a:t>Proyek karbon siap memenuhi syarat registri nasional dan internasional</a:t>
            </a:r>
            <a:endParaRPr lang="en-US" sz="1100" dirty="0"/>
          </a:p>
        </p:txBody>
      </p:sp>
      <p:sp>
        <p:nvSpPr>
          <p:cNvPr id="15" name="Shape 13"/>
          <p:cNvSpPr/>
          <p:nvPr/>
        </p:nvSpPr>
        <p:spPr>
          <a:xfrm>
            <a:off x="3026664" y="2395728"/>
            <a:ext cx="91440" cy="182880"/>
          </a:xfrm>
          <a:prstGeom prst="rtTriangle">
            <a:avLst/>
          </a:prstGeom>
          <a:solidFill>
            <a:schemeClr val="accent4"/>
          </a:solidFill>
          <a:ln/>
        </p:spPr>
      </p:sp>
      <p:sp>
        <p:nvSpPr>
          <p:cNvPr id="16" name="Outcome 2"/>
          <p:cNvSpPr/>
          <p:nvPr/>
        </p:nvSpPr>
        <p:spPr>
          <a:xfrm>
            <a:off x="3154680" y="2130552"/>
            <a:ext cx="2560320" cy="713232"/>
          </a:xfrm>
          <a:prstGeom prst="rect">
            <a:avLst/>
          </a:prstGeom>
          <a:solidFill>
            <a:schemeClr val="bg2"/>
          </a:solidFill>
          <a:ln/>
        </p:spPr>
      </p:sp>
      <p:sp>
        <p:nvSpPr>
          <p:cNvPr id="17" name="Text 15"/>
          <p:cNvSpPr txBox="1"/>
          <p:nvPr/>
        </p:nvSpPr>
        <p:spPr>
          <a:xfrm>
            <a:off x="3264408" y="2185416"/>
            <a:ext cx="2377440" cy="621792"/>
          </a:xfrm>
          <a:prstGeom prst="rect">
            <a:avLst/>
          </a:prstGeom>
          <a:noFill/>
          <a:ln/>
        </p:spPr>
        <p:txBody>
          <a:bodyPr wrap="square" lIns="0" tIns="0" rIns="0" bIns="0" rtlCol="0" anchor="ctr"/>
          <a:lstStyle/>
          <a:p>
            <a:pPr indent="0" marL="0">
              <a:buNone/>
            </a:pPr>
            <a:r>
              <a:rPr lang="en-US" sz="1100" dirty="0">
                <a:solidFill>
                  <a:schemeClr val="tx1"/>
                </a:solidFill>
              </a:rPr>
              <a:t>Data baseline dan DRAM/PDD tersedia; proyek masuk pipeline SRUK dan Plan Vivo</a:t>
            </a:r>
            <a:endParaRPr lang="en-US" sz="1100" dirty="0"/>
          </a:p>
        </p:txBody>
      </p:sp>
      <p:sp>
        <p:nvSpPr>
          <p:cNvPr id="18" name="Shape 16"/>
          <p:cNvSpPr/>
          <p:nvPr/>
        </p:nvSpPr>
        <p:spPr>
          <a:xfrm>
            <a:off x="5852160" y="2331720"/>
            <a:ext cx="822960" cy="310896"/>
          </a:xfrm>
          <a:prstGeom prst="roundRect">
            <a:avLst>
              <a:gd name="adj" fmla="val 50000"/>
            </a:avLst>
          </a:prstGeom>
          <a:solidFill>
            <a:schemeClr val="bg1"/>
          </a:solidFill>
          <a:ln w="15875">
            <a:solidFill>
              <a:schemeClr val="accent4"/>
            </a:solidFill>
            <a:prstDash val="solid"/>
          </a:ln>
        </p:spPr>
      </p:sp>
      <p:sp>
        <p:nvSpPr>
          <p:cNvPr id="19" name="Text 17"/>
          <p:cNvSpPr txBox="1"/>
          <p:nvPr/>
        </p:nvSpPr>
        <p:spPr>
          <a:xfrm>
            <a:off x="5852160" y="2331720"/>
            <a:ext cx="822960" cy="310896"/>
          </a:xfrm>
          <a:prstGeom prst="rect">
            <a:avLst/>
          </a:prstGeom>
          <a:noFill/>
          <a:ln/>
        </p:spPr>
        <p:txBody>
          <a:bodyPr wrap="square" lIns="0" tIns="0" rIns="0" bIns="0" rtlCol="0" anchor="ctr"/>
          <a:lstStyle/>
          <a:p>
            <a:pPr algn="ctr" indent="0" marL="0">
              <a:buNone/>
            </a:pPr>
            <a:r>
              <a:rPr lang="en-US" sz="1100" b="1" dirty="0">
                <a:solidFill>
                  <a:schemeClr val="tx2"/>
                </a:solidFill>
              </a:rPr>
              <a:t>O2</a:t>
            </a:r>
            <a:endParaRPr lang="en-US" sz="1100" dirty="0"/>
          </a:p>
        </p:txBody>
      </p:sp>
      <p:sp>
        <p:nvSpPr>
          <p:cNvPr id="20" name="Output 3"/>
          <p:cNvSpPr/>
          <p:nvPr/>
        </p:nvSpPr>
        <p:spPr>
          <a:xfrm>
            <a:off x="457200" y="2935224"/>
            <a:ext cx="2560320" cy="713232"/>
          </a:xfrm>
          <a:prstGeom prst="rect">
            <a:avLst/>
          </a:prstGeom>
          <a:solidFill>
            <a:schemeClr val="accent6"/>
          </a:solidFill>
          <a:ln/>
        </p:spPr>
      </p:sp>
      <p:sp>
        <p:nvSpPr>
          <p:cNvPr id="21" name="Text 19"/>
          <p:cNvSpPr txBox="1"/>
          <p:nvPr/>
        </p:nvSpPr>
        <p:spPr>
          <a:xfrm>
            <a:off x="566928" y="2990088"/>
            <a:ext cx="2377440" cy="621792"/>
          </a:xfrm>
          <a:prstGeom prst="rect">
            <a:avLst/>
          </a:prstGeom>
          <a:noFill/>
          <a:ln/>
        </p:spPr>
        <p:txBody>
          <a:bodyPr wrap="square" lIns="0" tIns="0" rIns="0" bIns="0" rtlCol="0" anchor="ctr"/>
          <a:lstStyle/>
          <a:p>
            <a:pPr indent="0" marL="0">
              <a:buNone/>
            </a:pPr>
            <a:r>
              <a:rPr lang="en-US" sz="1100" b="1" dirty="0">
                <a:solidFill>
                  <a:schemeClr val="bg1"/>
                </a:solidFill>
              </a:rPr>
              <a:t>Output 3  </a:t>
            </a:r>
            <a:endParaRPr lang="en-US" sz="1100" dirty="0"/>
          </a:p>
          <a:p>
            <a:pPr indent="0" marL="0">
              <a:buNone/>
            </a:pPr>
            <a:r>
              <a:rPr lang="en-US" sz="1100" dirty="0">
                <a:solidFill>
                  <a:schemeClr val="bg1"/>
                </a:solidFill>
              </a:rPr>
              <a:t>Kemitraan pembiayaan dengan swasta</a:t>
            </a:r>
            <a:endParaRPr lang="en-US" sz="1100" dirty="0"/>
          </a:p>
        </p:txBody>
      </p:sp>
      <p:sp>
        <p:nvSpPr>
          <p:cNvPr id="22" name="Shape 20"/>
          <p:cNvSpPr/>
          <p:nvPr/>
        </p:nvSpPr>
        <p:spPr>
          <a:xfrm>
            <a:off x="3026664" y="3200400"/>
            <a:ext cx="91440" cy="182880"/>
          </a:xfrm>
          <a:prstGeom prst="rtTriangle">
            <a:avLst/>
          </a:prstGeom>
          <a:solidFill>
            <a:schemeClr val="accent6"/>
          </a:solidFill>
          <a:ln/>
        </p:spPr>
      </p:sp>
      <p:sp>
        <p:nvSpPr>
          <p:cNvPr id="23" name="Outcome 3"/>
          <p:cNvSpPr/>
          <p:nvPr/>
        </p:nvSpPr>
        <p:spPr>
          <a:xfrm>
            <a:off x="3154680" y="2935224"/>
            <a:ext cx="2560320" cy="713232"/>
          </a:xfrm>
          <a:prstGeom prst="rect">
            <a:avLst/>
          </a:prstGeom>
          <a:solidFill>
            <a:schemeClr val="bg2"/>
          </a:solidFill>
          <a:ln/>
        </p:spPr>
      </p:sp>
      <p:sp>
        <p:nvSpPr>
          <p:cNvPr id="24" name="Text 22"/>
          <p:cNvSpPr txBox="1"/>
          <p:nvPr/>
        </p:nvSpPr>
        <p:spPr>
          <a:xfrm>
            <a:off x="3264408" y="2990088"/>
            <a:ext cx="2377440" cy="621792"/>
          </a:xfrm>
          <a:prstGeom prst="rect">
            <a:avLst/>
          </a:prstGeom>
          <a:noFill/>
          <a:ln/>
        </p:spPr>
        <p:txBody>
          <a:bodyPr wrap="square" lIns="0" tIns="0" rIns="0" bIns="0" rtlCol="0" anchor="ctr"/>
          <a:lstStyle/>
          <a:p>
            <a:pPr indent="0" marL="0">
              <a:buNone/>
            </a:pPr>
            <a:r>
              <a:rPr lang="en-US" sz="1100" dirty="0">
                <a:solidFill>
                  <a:schemeClr val="tx1"/>
                </a:solidFill>
              </a:rPr>
              <a:t>Mitra swasta berkomitmen membiayai tahap lanjutan proyek karbon</a:t>
            </a:r>
            <a:endParaRPr lang="en-US" sz="1100" dirty="0"/>
          </a:p>
        </p:txBody>
      </p:sp>
      <p:sp>
        <p:nvSpPr>
          <p:cNvPr id="25" name="Shape 23"/>
          <p:cNvSpPr/>
          <p:nvPr/>
        </p:nvSpPr>
        <p:spPr>
          <a:xfrm>
            <a:off x="5852160" y="3136392"/>
            <a:ext cx="822960" cy="310896"/>
          </a:xfrm>
          <a:prstGeom prst="roundRect">
            <a:avLst>
              <a:gd name="adj" fmla="val 50000"/>
            </a:avLst>
          </a:prstGeom>
          <a:solidFill>
            <a:schemeClr val="bg1"/>
          </a:solidFill>
          <a:ln w="15875">
            <a:solidFill>
              <a:schemeClr val="accent6"/>
            </a:solidFill>
            <a:prstDash val="solid"/>
          </a:ln>
        </p:spPr>
      </p:sp>
      <p:sp>
        <p:nvSpPr>
          <p:cNvPr id="26" name="Text 24"/>
          <p:cNvSpPr txBox="1"/>
          <p:nvPr/>
        </p:nvSpPr>
        <p:spPr>
          <a:xfrm>
            <a:off x="5852160" y="3136392"/>
            <a:ext cx="822960" cy="310896"/>
          </a:xfrm>
          <a:prstGeom prst="rect">
            <a:avLst/>
          </a:prstGeom>
          <a:noFill/>
          <a:ln/>
        </p:spPr>
        <p:txBody>
          <a:bodyPr wrap="square" lIns="0" tIns="0" rIns="0" bIns="0" rtlCol="0" anchor="ctr"/>
          <a:lstStyle/>
          <a:p>
            <a:pPr algn="ctr" indent="0" marL="0">
              <a:buNone/>
            </a:pPr>
            <a:r>
              <a:rPr lang="en-US" sz="1100" b="1" dirty="0">
                <a:solidFill>
                  <a:schemeClr val="tx2"/>
                </a:solidFill>
              </a:rPr>
              <a:t>O2</a:t>
            </a:r>
            <a:endParaRPr lang="en-US" sz="1100" dirty="0"/>
          </a:p>
        </p:txBody>
      </p:sp>
      <p:sp>
        <p:nvSpPr>
          <p:cNvPr id="27" name="Output 4"/>
          <p:cNvSpPr/>
          <p:nvPr/>
        </p:nvSpPr>
        <p:spPr>
          <a:xfrm>
            <a:off x="457200" y="3739896"/>
            <a:ext cx="2560320" cy="713232"/>
          </a:xfrm>
          <a:prstGeom prst="rect">
            <a:avLst/>
          </a:prstGeom>
          <a:solidFill>
            <a:schemeClr val="accent2"/>
          </a:solidFill>
          <a:ln/>
        </p:spPr>
      </p:sp>
      <p:sp>
        <p:nvSpPr>
          <p:cNvPr id="28" name="Text 26"/>
          <p:cNvSpPr txBox="1"/>
          <p:nvPr/>
        </p:nvSpPr>
        <p:spPr>
          <a:xfrm>
            <a:off x="566928" y="3794760"/>
            <a:ext cx="2377440" cy="621792"/>
          </a:xfrm>
          <a:prstGeom prst="rect">
            <a:avLst/>
          </a:prstGeom>
          <a:noFill/>
          <a:ln/>
        </p:spPr>
        <p:txBody>
          <a:bodyPr wrap="square" lIns="0" tIns="0" rIns="0" bIns="0" rtlCol="0" anchor="ctr"/>
          <a:lstStyle/>
          <a:p>
            <a:pPr indent="0" marL="0">
              <a:buNone/>
            </a:pPr>
            <a:r>
              <a:rPr lang="en-US" sz="1100" b="1" dirty="0">
                <a:solidFill>
                  <a:schemeClr val="bg1"/>
                </a:solidFill>
              </a:rPr>
              <a:t>Output 4  </a:t>
            </a:r>
            <a:endParaRPr lang="en-US" sz="1100" dirty="0"/>
          </a:p>
          <a:p>
            <a:pPr indent="0" marL="0">
              <a:buNone/>
            </a:pPr>
            <a:r>
              <a:rPr lang="en-US" sz="1100" dirty="0">
                <a:solidFill>
                  <a:schemeClr val="bg1"/>
                </a:solidFill>
              </a:rPr>
              <a:t>Partisipasi dan kepemimpinan perempuan</a:t>
            </a:r>
            <a:endParaRPr lang="en-US" sz="1100" dirty="0"/>
          </a:p>
        </p:txBody>
      </p:sp>
      <p:sp>
        <p:nvSpPr>
          <p:cNvPr id="29" name="Shape 27"/>
          <p:cNvSpPr/>
          <p:nvPr/>
        </p:nvSpPr>
        <p:spPr>
          <a:xfrm>
            <a:off x="3026664" y="4005072"/>
            <a:ext cx="91440" cy="182880"/>
          </a:xfrm>
          <a:prstGeom prst="rtTriangle">
            <a:avLst/>
          </a:prstGeom>
          <a:solidFill>
            <a:schemeClr val="accent2"/>
          </a:solidFill>
          <a:ln/>
        </p:spPr>
      </p:sp>
      <p:sp>
        <p:nvSpPr>
          <p:cNvPr id="30" name="Outcome 4"/>
          <p:cNvSpPr/>
          <p:nvPr/>
        </p:nvSpPr>
        <p:spPr>
          <a:xfrm>
            <a:off x="3154680" y="3739896"/>
            <a:ext cx="2560320" cy="713232"/>
          </a:xfrm>
          <a:prstGeom prst="rect">
            <a:avLst/>
          </a:prstGeom>
          <a:solidFill>
            <a:schemeClr val="bg2"/>
          </a:solidFill>
          <a:ln/>
        </p:spPr>
      </p:sp>
      <p:sp>
        <p:nvSpPr>
          <p:cNvPr id="31" name="Text 29"/>
          <p:cNvSpPr txBox="1"/>
          <p:nvPr/>
        </p:nvSpPr>
        <p:spPr>
          <a:xfrm>
            <a:off x="3264408" y="3794760"/>
            <a:ext cx="2377440" cy="621792"/>
          </a:xfrm>
          <a:prstGeom prst="rect">
            <a:avLst/>
          </a:prstGeom>
          <a:noFill/>
          <a:ln/>
        </p:spPr>
        <p:txBody>
          <a:bodyPr wrap="square" lIns="0" tIns="0" rIns="0" bIns="0" rtlCol="0" anchor="ctr"/>
          <a:lstStyle/>
          <a:p>
            <a:pPr indent="0" marL="0">
              <a:buNone/>
            </a:pPr>
            <a:r>
              <a:rPr lang="en-US" sz="1100" dirty="0">
                <a:solidFill>
                  <a:schemeClr val="tx1"/>
                </a:solidFill>
              </a:rPr>
              <a:t>Perempuan dan kelompok rentan berpengaruh dalam keputusan kawasan dan proyek</a:t>
            </a:r>
            <a:endParaRPr lang="en-US" sz="1100" dirty="0"/>
          </a:p>
        </p:txBody>
      </p:sp>
      <p:sp>
        <p:nvSpPr>
          <p:cNvPr id="32" name="Shape 30"/>
          <p:cNvSpPr/>
          <p:nvPr/>
        </p:nvSpPr>
        <p:spPr>
          <a:xfrm>
            <a:off x="5852160" y="3941064"/>
            <a:ext cx="822960" cy="310896"/>
          </a:xfrm>
          <a:prstGeom prst="roundRect">
            <a:avLst>
              <a:gd name="adj" fmla="val 50000"/>
            </a:avLst>
          </a:prstGeom>
          <a:solidFill>
            <a:schemeClr val="bg1"/>
          </a:solidFill>
          <a:ln w="15875">
            <a:solidFill>
              <a:schemeClr val="accent2"/>
            </a:solidFill>
            <a:prstDash val="solid"/>
          </a:ln>
        </p:spPr>
      </p:sp>
      <p:sp>
        <p:nvSpPr>
          <p:cNvPr id="33" name="Text 31"/>
          <p:cNvSpPr txBox="1"/>
          <p:nvPr/>
        </p:nvSpPr>
        <p:spPr>
          <a:xfrm>
            <a:off x="5852160" y="3941064"/>
            <a:ext cx="822960" cy="310896"/>
          </a:xfrm>
          <a:prstGeom prst="rect">
            <a:avLst/>
          </a:prstGeom>
          <a:noFill/>
          <a:ln/>
        </p:spPr>
        <p:txBody>
          <a:bodyPr wrap="square" lIns="0" tIns="0" rIns="0" bIns="0" rtlCol="0" anchor="ctr"/>
          <a:lstStyle/>
          <a:p>
            <a:pPr algn="ctr" indent="0" marL="0">
              <a:buNone/>
            </a:pPr>
            <a:r>
              <a:rPr lang="en-US" sz="1100" b="1" dirty="0">
                <a:solidFill>
                  <a:schemeClr val="tx2"/>
                </a:solidFill>
              </a:rPr>
              <a:t>O1</a:t>
            </a:r>
            <a:endParaRPr lang="en-US" sz="1100" dirty="0"/>
          </a:p>
        </p:txBody>
      </p:sp>
      <p:sp>
        <p:nvSpPr>
          <p:cNvPr id="34" name="Goal"/>
          <p:cNvSpPr/>
          <p:nvPr/>
        </p:nvSpPr>
        <p:spPr>
          <a:xfrm>
            <a:off x="6903720" y="1325880"/>
            <a:ext cx="1783080" cy="3127248"/>
          </a:xfrm>
          <a:prstGeom prst="rect">
            <a:avLst/>
          </a:prstGeom>
          <a:solidFill>
            <a:schemeClr val="tx2"/>
          </a:solidFill>
          <a:ln/>
        </p:spPr>
      </p:sp>
      <p:sp>
        <p:nvSpPr>
          <p:cNvPr id="35" name="Text 33"/>
          <p:cNvSpPr txBox="1"/>
          <p:nvPr/>
        </p:nvSpPr>
        <p:spPr>
          <a:xfrm>
            <a:off x="7059168" y="1508760"/>
            <a:ext cx="1508760" cy="2743200"/>
          </a:xfrm>
          <a:prstGeom prst="rect">
            <a:avLst/>
          </a:prstGeom>
          <a:noFill/>
          <a:ln/>
        </p:spPr>
        <p:txBody>
          <a:bodyPr wrap="square" lIns="0" tIns="0" rIns="0" bIns="0" rtlCol="0" anchor="t"/>
          <a:lstStyle/>
          <a:p>
            <a:pPr indent="0" marL="0">
              <a:spcAft>
                <a:spcPts val="600"/>
              </a:spcAft>
              <a:buNone/>
            </a:pPr>
            <a:r>
              <a:rPr lang="en-US" sz="1100" b="1" spc="200" kern="0" dirty="0">
                <a:solidFill>
                  <a:schemeClr val="accent6"/>
                </a:solidFill>
              </a:rPr>
              <a:t>GOAL</a:t>
            </a:r>
            <a:endParaRPr lang="en-US" sz="1400" dirty="0"/>
          </a:p>
          <a:p>
            <a:pPr indent="0" marL="0">
              <a:spcAft>
                <a:spcPts val="600"/>
              </a:spcAft>
              <a:buNone/>
            </a:pPr>
            <a:r>
              <a:rPr lang="en-US" sz="1300" dirty="0">
                <a:solidFill>
                  <a:schemeClr val="bg1"/>
                </a:solidFill>
                <a:latin typeface="Cambria" pitchFamily="34" charset="0"/>
                <a:ea typeface="Cambria" pitchFamily="34" charset="-122"/>
                <a:cs typeface="Cambria" pitchFamily="34" charset="-120"/>
              </a:rPr>
              <a:t>Pengelolaan Perhutanan Sosial yang lestari, inklusif, dan berkeadilan melalui pembiayaan karbon berbasis masyarakat</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Program ini menempuh 8 dari 16 tahap community carbon</a:t>
            </a:r>
            <a:endParaRPr lang="en-US" sz="2200" dirty="0"/>
          </a:p>
        </p:txBody>
      </p:sp>
      <p:sp>
        <p:nvSpPr>
          <p:cNvPr id="3" name="Zona SETAPAK"/>
          <p:cNvSpPr/>
          <p:nvPr/>
        </p:nvSpPr>
        <p:spPr>
          <a:xfrm>
            <a:off x="457200" y="1097280"/>
            <a:ext cx="8229600" cy="1600200"/>
          </a:xfrm>
          <a:prstGeom prst="rect">
            <a:avLst/>
          </a:prstGeom>
          <a:solidFill>
            <a:schemeClr val="bg2"/>
          </a:solidFill>
          <a:ln/>
        </p:spPr>
      </p:sp>
      <p:sp>
        <p:nvSpPr>
          <p:cNvPr id="4" name="Text 2"/>
          <p:cNvSpPr txBox="1"/>
          <p:nvPr/>
        </p:nvSpPr>
        <p:spPr>
          <a:xfrm>
            <a:off x="594360" y="1170432"/>
            <a:ext cx="5486400"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DALAM PROGRAM SETAPAK  ·  SEP 2026 – AGT 2027</a:t>
            </a:r>
            <a:endParaRPr lang="en-US" sz="1000" dirty="0"/>
          </a:p>
        </p:txBody>
      </p:sp>
      <p:sp>
        <p:nvSpPr>
          <p:cNvPr id="5" name="Text 3"/>
          <p:cNvSpPr txBox="1"/>
          <p:nvPr/>
        </p:nvSpPr>
        <p:spPr>
          <a:xfrm>
            <a:off x="594360" y="2788920"/>
            <a:ext cx="5943600" cy="228600"/>
          </a:xfrm>
          <a:prstGeom prst="rect">
            <a:avLst/>
          </a:prstGeom>
          <a:noFill/>
          <a:ln/>
        </p:spPr>
        <p:txBody>
          <a:bodyPr wrap="square" lIns="0" tIns="0" rIns="0" bIns="0" rtlCol="0" anchor="t"/>
          <a:lstStyle/>
          <a:p>
            <a:pPr indent="0" marL="0">
              <a:buNone/>
            </a:pPr>
            <a:r>
              <a:rPr lang="en-US" sz="1000" b="1" spc="100" kern="0" dirty="0">
                <a:solidFill>
                  <a:schemeClr val="accent5"/>
                </a:solidFill>
              </a:rPr>
              <a:t>TAHAP LANJUTAN  ·  DIBIAYAI KEMITRAAN SWASTA (OUTPUT 3)</a:t>
            </a:r>
            <a:endParaRPr lang="en-US" sz="1000" dirty="0"/>
          </a:p>
        </p:txBody>
      </p:sp>
      <p:sp>
        <p:nvSpPr>
          <p:cNvPr id="6" name="Shape 4"/>
          <p:cNvSpPr/>
          <p:nvPr/>
        </p:nvSpPr>
        <p:spPr>
          <a:xfrm>
            <a:off x="971550" y="1664208"/>
            <a:ext cx="7200900" cy="0"/>
          </a:xfrm>
          <a:prstGeom prst="line">
            <a:avLst/>
          </a:prstGeom>
          <a:noFill/>
          <a:ln w="19050">
            <a:solidFill>
              <a:srgbClr val="2E7D5B"/>
            </a:solidFill>
            <a:prstDash val="solid"/>
          </a:ln>
        </p:spPr>
      </p:sp>
      <p:sp>
        <p:nvSpPr>
          <p:cNvPr id="7" name="Tahap 1"/>
          <p:cNvSpPr/>
          <p:nvPr/>
        </p:nvSpPr>
        <p:spPr>
          <a:xfrm>
            <a:off x="788670" y="1481328"/>
            <a:ext cx="365760" cy="365760"/>
          </a:xfrm>
          <a:prstGeom prst="ellipse">
            <a:avLst/>
          </a:prstGeom>
          <a:solidFill>
            <a:schemeClr val="accent1"/>
          </a:solidFill>
          <a:ln/>
        </p:spPr>
      </p:sp>
      <p:sp>
        <p:nvSpPr>
          <p:cNvPr id="8" name="Text 6"/>
          <p:cNvSpPr txBox="1"/>
          <p:nvPr/>
        </p:nvSpPr>
        <p:spPr>
          <a:xfrm>
            <a:off x="788670" y="148132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7"/>
          <p:cNvSpPr txBox="1"/>
          <p:nvPr/>
        </p:nvSpPr>
        <p:spPr>
          <a:xfrm>
            <a:off x="493776" y="1938528"/>
            <a:ext cx="955548" cy="640080"/>
          </a:xfrm>
          <a:prstGeom prst="rect">
            <a:avLst/>
          </a:prstGeom>
          <a:noFill/>
          <a:ln/>
        </p:spPr>
        <p:txBody>
          <a:bodyPr wrap="square" lIns="0" tIns="0" rIns="0" bIns="0" rtlCol="0" anchor="t"/>
          <a:lstStyle/>
          <a:p>
            <a:pPr algn="ctr" indent="0" marL="0">
              <a:buNone/>
            </a:pPr>
            <a:r>
              <a:rPr lang="en-US" sz="1000" dirty="0">
                <a:solidFill>
                  <a:schemeClr val="tx1"/>
                </a:solidFill>
              </a:rPr>
              <a:t>Legalitas &amp; kesiapan PS</a:t>
            </a:r>
            <a:endParaRPr lang="en-US" sz="1000" dirty="0"/>
          </a:p>
        </p:txBody>
      </p:sp>
      <p:sp>
        <p:nvSpPr>
          <p:cNvPr id="10" name="Tahap 2"/>
          <p:cNvSpPr/>
          <p:nvPr/>
        </p:nvSpPr>
        <p:spPr>
          <a:xfrm>
            <a:off x="1817370" y="1481328"/>
            <a:ext cx="365760" cy="365760"/>
          </a:xfrm>
          <a:prstGeom prst="ellipse">
            <a:avLst/>
          </a:prstGeom>
          <a:solidFill>
            <a:schemeClr val="accent1"/>
          </a:solidFill>
          <a:ln/>
        </p:spPr>
      </p:sp>
      <p:sp>
        <p:nvSpPr>
          <p:cNvPr id="11" name="Text 9"/>
          <p:cNvSpPr txBox="1"/>
          <p:nvPr/>
        </p:nvSpPr>
        <p:spPr>
          <a:xfrm>
            <a:off x="1817370" y="148132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 10"/>
          <p:cNvSpPr txBox="1"/>
          <p:nvPr/>
        </p:nvSpPr>
        <p:spPr>
          <a:xfrm>
            <a:off x="1522476" y="1938528"/>
            <a:ext cx="955548" cy="640080"/>
          </a:xfrm>
          <a:prstGeom prst="rect">
            <a:avLst/>
          </a:prstGeom>
          <a:noFill/>
          <a:ln/>
        </p:spPr>
        <p:txBody>
          <a:bodyPr wrap="square" lIns="0" tIns="0" rIns="0" bIns="0" rtlCol="0" anchor="t"/>
          <a:lstStyle/>
          <a:p>
            <a:pPr algn="ctr" indent="0" marL="0">
              <a:buNone/>
            </a:pPr>
            <a:r>
              <a:rPr lang="en-US" sz="1000" dirty="0">
                <a:solidFill>
                  <a:schemeClr val="tx1"/>
                </a:solidFill>
              </a:rPr>
              <a:t>Persetujuan pendampingan LPHD–SAMPAN</a:t>
            </a:r>
            <a:endParaRPr lang="en-US" sz="1000" dirty="0"/>
          </a:p>
        </p:txBody>
      </p:sp>
      <p:sp>
        <p:nvSpPr>
          <p:cNvPr id="13" name="Tahap 3"/>
          <p:cNvSpPr/>
          <p:nvPr/>
        </p:nvSpPr>
        <p:spPr>
          <a:xfrm>
            <a:off x="2846070" y="1481328"/>
            <a:ext cx="365760" cy="365760"/>
          </a:xfrm>
          <a:prstGeom prst="ellipse">
            <a:avLst/>
          </a:prstGeom>
          <a:solidFill>
            <a:schemeClr val="accent1"/>
          </a:solidFill>
          <a:ln/>
        </p:spPr>
      </p:sp>
      <p:sp>
        <p:nvSpPr>
          <p:cNvPr id="14" name="Text 12"/>
          <p:cNvSpPr txBox="1"/>
          <p:nvPr/>
        </p:nvSpPr>
        <p:spPr>
          <a:xfrm>
            <a:off x="2846070" y="148132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5" name="Text 13"/>
          <p:cNvSpPr txBox="1"/>
          <p:nvPr/>
        </p:nvSpPr>
        <p:spPr>
          <a:xfrm>
            <a:off x="2551176" y="1938528"/>
            <a:ext cx="955548" cy="640080"/>
          </a:xfrm>
          <a:prstGeom prst="rect">
            <a:avLst/>
          </a:prstGeom>
          <a:noFill/>
          <a:ln/>
        </p:spPr>
        <p:txBody>
          <a:bodyPr wrap="square" lIns="0" tIns="0" rIns="0" bIns="0" rtlCol="0" anchor="t"/>
          <a:lstStyle/>
          <a:p>
            <a:pPr algn="ctr" indent="0" marL="0">
              <a:buNone/>
            </a:pPr>
            <a:r>
              <a:rPr lang="en-US" sz="1000" dirty="0">
                <a:solidFill>
                  <a:schemeClr val="tx1"/>
                </a:solidFill>
              </a:rPr>
              <a:t>Pelaksanaan FPIC</a:t>
            </a:r>
            <a:endParaRPr lang="en-US" sz="1000" dirty="0"/>
          </a:p>
        </p:txBody>
      </p:sp>
      <p:sp>
        <p:nvSpPr>
          <p:cNvPr id="16" name="Tahap 4"/>
          <p:cNvSpPr/>
          <p:nvPr/>
        </p:nvSpPr>
        <p:spPr>
          <a:xfrm>
            <a:off x="3874770" y="1481328"/>
            <a:ext cx="365760" cy="365760"/>
          </a:xfrm>
          <a:prstGeom prst="ellipse">
            <a:avLst/>
          </a:prstGeom>
          <a:solidFill>
            <a:schemeClr val="accent1"/>
          </a:solidFill>
          <a:ln/>
        </p:spPr>
      </p:sp>
      <p:sp>
        <p:nvSpPr>
          <p:cNvPr id="17" name="Text 15"/>
          <p:cNvSpPr txBox="1"/>
          <p:nvPr/>
        </p:nvSpPr>
        <p:spPr>
          <a:xfrm>
            <a:off x="3874770" y="148132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8" name="Text 16"/>
          <p:cNvSpPr txBox="1"/>
          <p:nvPr/>
        </p:nvSpPr>
        <p:spPr>
          <a:xfrm>
            <a:off x="3579876" y="1938528"/>
            <a:ext cx="955548" cy="640080"/>
          </a:xfrm>
          <a:prstGeom prst="rect">
            <a:avLst/>
          </a:prstGeom>
          <a:noFill/>
          <a:ln/>
        </p:spPr>
        <p:txBody>
          <a:bodyPr wrap="square" lIns="0" tIns="0" rIns="0" bIns="0" rtlCol="0" anchor="t"/>
          <a:lstStyle/>
          <a:p>
            <a:pPr algn="ctr" indent="0" marL="0">
              <a:buNone/>
            </a:pPr>
            <a:r>
              <a:rPr lang="en-US" sz="1000" dirty="0">
                <a:solidFill>
                  <a:schemeClr val="tx1"/>
                </a:solidFill>
              </a:rPr>
              <a:t>SAMPAN terdaftar sbg mitra pendamping</a:t>
            </a:r>
            <a:endParaRPr lang="en-US" sz="1000" dirty="0"/>
          </a:p>
        </p:txBody>
      </p:sp>
      <p:sp>
        <p:nvSpPr>
          <p:cNvPr id="19" name="Tahap 5"/>
          <p:cNvSpPr/>
          <p:nvPr/>
        </p:nvSpPr>
        <p:spPr>
          <a:xfrm>
            <a:off x="4903470" y="1481328"/>
            <a:ext cx="365760" cy="365760"/>
          </a:xfrm>
          <a:prstGeom prst="ellipse">
            <a:avLst/>
          </a:prstGeom>
          <a:solidFill>
            <a:schemeClr val="accent1"/>
          </a:solidFill>
          <a:ln/>
        </p:spPr>
      </p:sp>
      <p:sp>
        <p:nvSpPr>
          <p:cNvPr id="20" name="Text 18"/>
          <p:cNvSpPr txBox="1"/>
          <p:nvPr/>
        </p:nvSpPr>
        <p:spPr>
          <a:xfrm>
            <a:off x="4903470" y="148132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1" name="Text 19"/>
          <p:cNvSpPr txBox="1"/>
          <p:nvPr/>
        </p:nvSpPr>
        <p:spPr>
          <a:xfrm>
            <a:off x="4608576" y="1938528"/>
            <a:ext cx="955548" cy="640080"/>
          </a:xfrm>
          <a:prstGeom prst="rect">
            <a:avLst/>
          </a:prstGeom>
          <a:noFill/>
          <a:ln/>
        </p:spPr>
        <p:txBody>
          <a:bodyPr wrap="square" lIns="0" tIns="0" rIns="0" bIns="0" rtlCol="0" anchor="t"/>
          <a:lstStyle/>
          <a:p>
            <a:pPr algn="ctr" indent="0" marL="0">
              <a:buNone/>
            </a:pPr>
            <a:r>
              <a:rPr lang="en-US" sz="1000" dirty="0">
                <a:solidFill>
                  <a:schemeClr val="tx1"/>
                </a:solidFill>
              </a:rPr>
              <a:t>Pengambilan data baseline</a:t>
            </a:r>
            <a:endParaRPr lang="en-US" sz="1000" dirty="0"/>
          </a:p>
        </p:txBody>
      </p:sp>
      <p:sp>
        <p:nvSpPr>
          <p:cNvPr id="22" name="Tahap 6"/>
          <p:cNvSpPr/>
          <p:nvPr/>
        </p:nvSpPr>
        <p:spPr>
          <a:xfrm>
            <a:off x="5932170" y="1481328"/>
            <a:ext cx="365760" cy="365760"/>
          </a:xfrm>
          <a:prstGeom prst="ellipse">
            <a:avLst/>
          </a:prstGeom>
          <a:solidFill>
            <a:schemeClr val="accent1"/>
          </a:solidFill>
          <a:ln/>
        </p:spPr>
      </p:sp>
      <p:sp>
        <p:nvSpPr>
          <p:cNvPr id="23" name="Text 21"/>
          <p:cNvSpPr txBox="1"/>
          <p:nvPr/>
        </p:nvSpPr>
        <p:spPr>
          <a:xfrm>
            <a:off x="5932170" y="148132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4" name="Text 22"/>
          <p:cNvSpPr txBox="1"/>
          <p:nvPr/>
        </p:nvSpPr>
        <p:spPr>
          <a:xfrm>
            <a:off x="5637276" y="1938528"/>
            <a:ext cx="955548" cy="640080"/>
          </a:xfrm>
          <a:prstGeom prst="rect">
            <a:avLst/>
          </a:prstGeom>
          <a:noFill/>
          <a:ln/>
        </p:spPr>
        <p:txBody>
          <a:bodyPr wrap="square" lIns="0" tIns="0" rIns="0" bIns="0" rtlCol="0" anchor="t"/>
          <a:lstStyle/>
          <a:p>
            <a:pPr algn="ctr" indent="0" marL="0">
              <a:buNone/>
            </a:pPr>
            <a:r>
              <a:rPr lang="en-US" sz="1000" dirty="0">
                <a:solidFill>
                  <a:schemeClr val="tx1"/>
                </a:solidFill>
              </a:rPr>
              <a:t>Penyusunan PDD / DRAM</a:t>
            </a:r>
            <a:endParaRPr lang="en-US" sz="1000" dirty="0"/>
          </a:p>
        </p:txBody>
      </p:sp>
      <p:sp>
        <p:nvSpPr>
          <p:cNvPr id="25" name="Tahap 7"/>
          <p:cNvSpPr/>
          <p:nvPr/>
        </p:nvSpPr>
        <p:spPr>
          <a:xfrm>
            <a:off x="6960870" y="1481328"/>
            <a:ext cx="365760" cy="365760"/>
          </a:xfrm>
          <a:prstGeom prst="ellipse">
            <a:avLst/>
          </a:prstGeom>
          <a:solidFill>
            <a:schemeClr val="accent1"/>
          </a:solidFill>
          <a:ln/>
        </p:spPr>
      </p:sp>
      <p:sp>
        <p:nvSpPr>
          <p:cNvPr id="26" name="Text 24"/>
          <p:cNvSpPr txBox="1"/>
          <p:nvPr/>
        </p:nvSpPr>
        <p:spPr>
          <a:xfrm>
            <a:off x="6960870" y="148132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27" name="Text 25"/>
          <p:cNvSpPr txBox="1"/>
          <p:nvPr/>
        </p:nvSpPr>
        <p:spPr>
          <a:xfrm>
            <a:off x="6665976" y="1938528"/>
            <a:ext cx="955548" cy="640080"/>
          </a:xfrm>
          <a:prstGeom prst="rect">
            <a:avLst/>
          </a:prstGeom>
          <a:noFill/>
          <a:ln/>
        </p:spPr>
        <p:txBody>
          <a:bodyPr wrap="square" lIns="0" tIns="0" rIns="0" bIns="0" rtlCol="0" anchor="t"/>
          <a:lstStyle/>
          <a:p>
            <a:pPr algn="ctr" indent="0" marL="0">
              <a:buNone/>
            </a:pPr>
            <a:r>
              <a:rPr lang="en-US" sz="1000" dirty="0">
                <a:solidFill>
                  <a:schemeClr val="tx1"/>
                </a:solidFill>
              </a:rPr>
              <a:t>Pendaftaran ke SRUK</a:t>
            </a:r>
            <a:endParaRPr lang="en-US" sz="1000" dirty="0"/>
          </a:p>
        </p:txBody>
      </p:sp>
      <p:sp>
        <p:nvSpPr>
          <p:cNvPr id="28" name="Tahap 8"/>
          <p:cNvSpPr/>
          <p:nvPr/>
        </p:nvSpPr>
        <p:spPr>
          <a:xfrm>
            <a:off x="7989570" y="1481328"/>
            <a:ext cx="365760" cy="365760"/>
          </a:xfrm>
          <a:prstGeom prst="ellipse">
            <a:avLst/>
          </a:prstGeom>
          <a:solidFill>
            <a:schemeClr val="accent1"/>
          </a:solidFill>
          <a:ln/>
        </p:spPr>
      </p:sp>
      <p:sp>
        <p:nvSpPr>
          <p:cNvPr id="29" name="Text 27"/>
          <p:cNvSpPr txBox="1"/>
          <p:nvPr/>
        </p:nvSpPr>
        <p:spPr>
          <a:xfrm>
            <a:off x="7989570" y="148132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30" name="Text 28"/>
          <p:cNvSpPr txBox="1"/>
          <p:nvPr/>
        </p:nvSpPr>
        <p:spPr>
          <a:xfrm>
            <a:off x="7694676" y="1938528"/>
            <a:ext cx="955548" cy="640080"/>
          </a:xfrm>
          <a:prstGeom prst="rect">
            <a:avLst/>
          </a:prstGeom>
          <a:noFill/>
          <a:ln/>
        </p:spPr>
        <p:txBody>
          <a:bodyPr wrap="square" lIns="0" tIns="0" rIns="0" bIns="0" rtlCol="0" anchor="t"/>
          <a:lstStyle/>
          <a:p>
            <a:pPr algn="ctr" indent="0" marL="0">
              <a:buNone/>
            </a:pPr>
            <a:r>
              <a:rPr lang="en-US" sz="1000" dirty="0">
                <a:solidFill>
                  <a:schemeClr val="tx1"/>
                </a:solidFill>
              </a:rPr>
              <a:t>Kerja sama investor swasta</a:t>
            </a:r>
            <a:endParaRPr lang="en-US" sz="1000" dirty="0"/>
          </a:p>
        </p:txBody>
      </p:sp>
      <p:sp>
        <p:nvSpPr>
          <p:cNvPr id="31" name="Shape 29"/>
          <p:cNvSpPr/>
          <p:nvPr/>
        </p:nvSpPr>
        <p:spPr>
          <a:xfrm>
            <a:off x="971550" y="3291840"/>
            <a:ext cx="7200900" cy="0"/>
          </a:xfrm>
          <a:prstGeom prst="line">
            <a:avLst/>
          </a:prstGeom>
          <a:noFill/>
          <a:ln w="19050">
            <a:solidFill>
              <a:srgbClr val="B9C4BE"/>
            </a:solidFill>
            <a:prstDash val="solid"/>
          </a:ln>
        </p:spPr>
      </p:sp>
      <p:sp>
        <p:nvSpPr>
          <p:cNvPr id="32" name="Tahap 9"/>
          <p:cNvSpPr/>
          <p:nvPr/>
        </p:nvSpPr>
        <p:spPr>
          <a:xfrm>
            <a:off x="788670" y="3108960"/>
            <a:ext cx="365760" cy="365760"/>
          </a:xfrm>
          <a:prstGeom prst="ellipse">
            <a:avLst/>
          </a:prstGeom>
          <a:solidFill>
            <a:schemeClr val="bg1"/>
          </a:solidFill>
          <a:ln w="15875">
            <a:solidFill>
              <a:srgbClr val="9AA59F"/>
            </a:solidFill>
            <a:prstDash val="solid"/>
          </a:ln>
        </p:spPr>
      </p:sp>
      <p:sp>
        <p:nvSpPr>
          <p:cNvPr id="33" name="Text 31"/>
          <p:cNvSpPr txBox="1"/>
          <p:nvPr/>
        </p:nvSpPr>
        <p:spPr>
          <a:xfrm>
            <a:off x="788670" y="3108960"/>
            <a:ext cx="365760" cy="365760"/>
          </a:xfrm>
          <a:prstGeom prst="rect">
            <a:avLst/>
          </a:prstGeom>
          <a:noFill/>
          <a:ln/>
        </p:spPr>
        <p:txBody>
          <a:bodyPr wrap="square" lIns="0" tIns="0" rIns="0" bIns="0" rtlCol="0" anchor="ctr"/>
          <a:lstStyle/>
          <a:p>
            <a:pPr algn="ctr" indent="0" marL="0">
              <a:buNone/>
            </a:pPr>
            <a:r>
              <a:rPr lang="en-US" sz="1200" b="1" dirty="0">
                <a:solidFill>
                  <a:schemeClr val="accent5"/>
                </a:solidFill>
              </a:rPr>
              <a:t>9</a:t>
            </a:r>
            <a:endParaRPr lang="en-US" sz="1200" dirty="0"/>
          </a:p>
        </p:txBody>
      </p:sp>
      <p:sp>
        <p:nvSpPr>
          <p:cNvPr id="34" name="Text 32"/>
          <p:cNvSpPr txBox="1"/>
          <p:nvPr/>
        </p:nvSpPr>
        <p:spPr>
          <a:xfrm>
            <a:off x="493776" y="3566160"/>
            <a:ext cx="955548" cy="640080"/>
          </a:xfrm>
          <a:prstGeom prst="rect">
            <a:avLst/>
          </a:prstGeom>
          <a:noFill/>
          <a:ln/>
        </p:spPr>
        <p:txBody>
          <a:bodyPr wrap="square" lIns="0" tIns="0" rIns="0" bIns="0" rtlCol="0" anchor="t"/>
          <a:lstStyle/>
          <a:p>
            <a:pPr algn="ctr" indent="0" marL="0">
              <a:buNone/>
            </a:pPr>
            <a:r>
              <a:rPr lang="en-US" sz="1000" dirty="0">
                <a:solidFill>
                  <a:schemeClr val="accent5"/>
                </a:solidFill>
              </a:rPr>
              <a:t>Listing registri internasional</a:t>
            </a:r>
            <a:endParaRPr lang="en-US" sz="1000" dirty="0"/>
          </a:p>
        </p:txBody>
      </p:sp>
      <p:sp>
        <p:nvSpPr>
          <p:cNvPr id="35" name="Tahap 10"/>
          <p:cNvSpPr/>
          <p:nvPr/>
        </p:nvSpPr>
        <p:spPr>
          <a:xfrm>
            <a:off x="1817370" y="3108960"/>
            <a:ext cx="365760" cy="365760"/>
          </a:xfrm>
          <a:prstGeom prst="ellipse">
            <a:avLst/>
          </a:prstGeom>
          <a:solidFill>
            <a:schemeClr val="bg1"/>
          </a:solidFill>
          <a:ln w="15875">
            <a:solidFill>
              <a:srgbClr val="9AA59F"/>
            </a:solidFill>
            <a:prstDash val="solid"/>
          </a:ln>
        </p:spPr>
      </p:sp>
      <p:sp>
        <p:nvSpPr>
          <p:cNvPr id="36" name="Text 34"/>
          <p:cNvSpPr txBox="1"/>
          <p:nvPr/>
        </p:nvSpPr>
        <p:spPr>
          <a:xfrm>
            <a:off x="1817370" y="3108960"/>
            <a:ext cx="365760" cy="365760"/>
          </a:xfrm>
          <a:prstGeom prst="rect">
            <a:avLst/>
          </a:prstGeom>
          <a:noFill/>
          <a:ln/>
        </p:spPr>
        <p:txBody>
          <a:bodyPr wrap="square" lIns="0" tIns="0" rIns="0" bIns="0" rtlCol="0" anchor="ctr"/>
          <a:lstStyle/>
          <a:p>
            <a:pPr algn="ctr" indent="0" marL="0">
              <a:buNone/>
            </a:pPr>
            <a:r>
              <a:rPr lang="en-US" sz="1200" b="1" dirty="0">
                <a:solidFill>
                  <a:schemeClr val="accent5"/>
                </a:solidFill>
              </a:rPr>
              <a:t>10</a:t>
            </a:r>
            <a:endParaRPr lang="en-US" sz="1200" dirty="0"/>
          </a:p>
        </p:txBody>
      </p:sp>
      <p:sp>
        <p:nvSpPr>
          <p:cNvPr id="37" name="Text 35"/>
          <p:cNvSpPr txBox="1"/>
          <p:nvPr/>
        </p:nvSpPr>
        <p:spPr>
          <a:xfrm>
            <a:off x="1522476" y="3566160"/>
            <a:ext cx="955548" cy="640080"/>
          </a:xfrm>
          <a:prstGeom prst="rect">
            <a:avLst/>
          </a:prstGeom>
          <a:noFill/>
          <a:ln/>
        </p:spPr>
        <p:txBody>
          <a:bodyPr wrap="square" lIns="0" tIns="0" rIns="0" bIns="0" rtlCol="0" anchor="t"/>
          <a:lstStyle/>
          <a:p>
            <a:pPr algn="ctr" indent="0" marL="0">
              <a:buNone/>
            </a:pPr>
            <a:r>
              <a:rPr lang="en-US" sz="1000" dirty="0">
                <a:solidFill>
                  <a:schemeClr val="accent5"/>
                </a:solidFill>
              </a:rPr>
              <a:t>Persetujuan registrasi proyek</a:t>
            </a:r>
            <a:endParaRPr lang="en-US" sz="1000" dirty="0"/>
          </a:p>
        </p:txBody>
      </p:sp>
      <p:sp>
        <p:nvSpPr>
          <p:cNvPr id="38" name="Tahap 11"/>
          <p:cNvSpPr/>
          <p:nvPr/>
        </p:nvSpPr>
        <p:spPr>
          <a:xfrm>
            <a:off x="2846070" y="3108960"/>
            <a:ext cx="365760" cy="365760"/>
          </a:xfrm>
          <a:prstGeom prst="ellipse">
            <a:avLst/>
          </a:prstGeom>
          <a:solidFill>
            <a:schemeClr val="bg1"/>
          </a:solidFill>
          <a:ln w="15875">
            <a:solidFill>
              <a:srgbClr val="9AA59F"/>
            </a:solidFill>
            <a:prstDash val="solid"/>
          </a:ln>
        </p:spPr>
      </p:sp>
      <p:sp>
        <p:nvSpPr>
          <p:cNvPr id="39" name="Text 37"/>
          <p:cNvSpPr txBox="1"/>
          <p:nvPr/>
        </p:nvSpPr>
        <p:spPr>
          <a:xfrm>
            <a:off x="2846070" y="3108960"/>
            <a:ext cx="365760" cy="365760"/>
          </a:xfrm>
          <a:prstGeom prst="rect">
            <a:avLst/>
          </a:prstGeom>
          <a:noFill/>
          <a:ln/>
        </p:spPr>
        <p:txBody>
          <a:bodyPr wrap="square" lIns="0" tIns="0" rIns="0" bIns="0" rtlCol="0" anchor="ctr"/>
          <a:lstStyle/>
          <a:p>
            <a:pPr algn="ctr" indent="0" marL="0">
              <a:buNone/>
            </a:pPr>
            <a:r>
              <a:rPr lang="en-US" sz="1200" b="1" dirty="0">
                <a:solidFill>
                  <a:schemeClr val="accent5"/>
                </a:solidFill>
              </a:rPr>
              <a:t>11</a:t>
            </a:r>
            <a:endParaRPr lang="en-US" sz="1200" dirty="0"/>
          </a:p>
        </p:txBody>
      </p:sp>
      <p:sp>
        <p:nvSpPr>
          <p:cNvPr id="40" name="Text 38"/>
          <p:cNvSpPr txBox="1"/>
          <p:nvPr/>
        </p:nvSpPr>
        <p:spPr>
          <a:xfrm>
            <a:off x="2551176" y="3566160"/>
            <a:ext cx="955548" cy="640080"/>
          </a:xfrm>
          <a:prstGeom prst="rect">
            <a:avLst/>
          </a:prstGeom>
          <a:noFill/>
          <a:ln/>
        </p:spPr>
        <p:txBody>
          <a:bodyPr wrap="square" lIns="0" tIns="0" rIns="0" bIns="0" rtlCol="0" anchor="t"/>
          <a:lstStyle/>
          <a:p>
            <a:pPr algn="ctr" indent="0" marL="0">
              <a:buNone/>
            </a:pPr>
            <a:r>
              <a:rPr lang="en-US" sz="1000" dirty="0">
                <a:solidFill>
                  <a:schemeClr val="accent5"/>
                </a:solidFill>
              </a:rPr>
              <a:t>Monitoring report</a:t>
            </a:r>
            <a:endParaRPr lang="en-US" sz="1000" dirty="0"/>
          </a:p>
        </p:txBody>
      </p:sp>
      <p:sp>
        <p:nvSpPr>
          <p:cNvPr id="41" name="Tahap 12"/>
          <p:cNvSpPr/>
          <p:nvPr/>
        </p:nvSpPr>
        <p:spPr>
          <a:xfrm>
            <a:off x="3874770" y="3108960"/>
            <a:ext cx="365760" cy="365760"/>
          </a:xfrm>
          <a:prstGeom prst="ellipse">
            <a:avLst/>
          </a:prstGeom>
          <a:solidFill>
            <a:schemeClr val="bg1"/>
          </a:solidFill>
          <a:ln w="15875">
            <a:solidFill>
              <a:srgbClr val="9AA59F"/>
            </a:solidFill>
            <a:prstDash val="solid"/>
          </a:ln>
        </p:spPr>
      </p:sp>
      <p:sp>
        <p:nvSpPr>
          <p:cNvPr id="42" name="Text 40"/>
          <p:cNvSpPr txBox="1"/>
          <p:nvPr/>
        </p:nvSpPr>
        <p:spPr>
          <a:xfrm>
            <a:off x="3874770" y="3108960"/>
            <a:ext cx="365760" cy="365760"/>
          </a:xfrm>
          <a:prstGeom prst="rect">
            <a:avLst/>
          </a:prstGeom>
          <a:noFill/>
          <a:ln/>
        </p:spPr>
        <p:txBody>
          <a:bodyPr wrap="square" lIns="0" tIns="0" rIns="0" bIns="0" rtlCol="0" anchor="ctr"/>
          <a:lstStyle/>
          <a:p>
            <a:pPr algn="ctr" indent="0" marL="0">
              <a:buNone/>
            </a:pPr>
            <a:r>
              <a:rPr lang="en-US" sz="1200" b="1" dirty="0">
                <a:solidFill>
                  <a:schemeClr val="accent5"/>
                </a:solidFill>
              </a:rPr>
              <a:t>12</a:t>
            </a:r>
            <a:endParaRPr lang="en-US" sz="1200" dirty="0"/>
          </a:p>
        </p:txBody>
      </p:sp>
      <p:sp>
        <p:nvSpPr>
          <p:cNvPr id="43" name="Text 41"/>
          <p:cNvSpPr txBox="1"/>
          <p:nvPr/>
        </p:nvSpPr>
        <p:spPr>
          <a:xfrm>
            <a:off x="3579876" y="3566160"/>
            <a:ext cx="955548" cy="640080"/>
          </a:xfrm>
          <a:prstGeom prst="rect">
            <a:avLst/>
          </a:prstGeom>
          <a:noFill/>
          <a:ln/>
        </p:spPr>
        <p:txBody>
          <a:bodyPr wrap="square" lIns="0" tIns="0" rIns="0" bIns="0" rtlCol="0" anchor="t"/>
          <a:lstStyle/>
          <a:p>
            <a:pPr algn="ctr" indent="0" marL="0">
              <a:buNone/>
            </a:pPr>
            <a:r>
              <a:rPr lang="en-US" sz="1000" dirty="0">
                <a:solidFill>
                  <a:schemeClr val="accent5"/>
                </a:solidFill>
              </a:rPr>
              <a:t>Verifikasi &amp; validasi (LVV)</a:t>
            </a:r>
            <a:endParaRPr lang="en-US" sz="1000" dirty="0"/>
          </a:p>
        </p:txBody>
      </p:sp>
      <p:sp>
        <p:nvSpPr>
          <p:cNvPr id="44" name="Tahap 13"/>
          <p:cNvSpPr/>
          <p:nvPr/>
        </p:nvSpPr>
        <p:spPr>
          <a:xfrm>
            <a:off x="4903470" y="3108960"/>
            <a:ext cx="365760" cy="365760"/>
          </a:xfrm>
          <a:prstGeom prst="ellipse">
            <a:avLst/>
          </a:prstGeom>
          <a:solidFill>
            <a:schemeClr val="bg1"/>
          </a:solidFill>
          <a:ln w="15875">
            <a:solidFill>
              <a:srgbClr val="9AA59F"/>
            </a:solidFill>
            <a:prstDash val="solid"/>
          </a:ln>
        </p:spPr>
      </p:sp>
      <p:sp>
        <p:nvSpPr>
          <p:cNvPr id="45" name="Text 43"/>
          <p:cNvSpPr txBox="1"/>
          <p:nvPr/>
        </p:nvSpPr>
        <p:spPr>
          <a:xfrm>
            <a:off x="4903470" y="3108960"/>
            <a:ext cx="365760" cy="365760"/>
          </a:xfrm>
          <a:prstGeom prst="rect">
            <a:avLst/>
          </a:prstGeom>
          <a:noFill/>
          <a:ln/>
        </p:spPr>
        <p:txBody>
          <a:bodyPr wrap="square" lIns="0" tIns="0" rIns="0" bIns="0" rtlCol="0" anchor="ctr"/>
          <a:lstStyle/>
          <a:p>
            <a:pPr algn="ctr" indent="0" marL="0">
              <a:buNone/>
            </a:pPr>
            <a:r>
              <a:rPr lang="en-US" sz="1200" b="1" dirty="0">
                <a:solidFill>
                  <a:schemeClr val="accent5"/>
                </a:solidFill>
              </a:rPr>
              <a:t>13</a:t>
            </a:r>
            <a:endParaRPr lang="en-US" sz="1200" dirty="0"/>
          </a:p>
        </p:txBody>
      </p:sp>
      <p:sp>
        <p:nvSpPr>
          <p:cNvPr id="46" name="Text 44"/>
          <p:cNvSpPr txBox="1"/>
          <p:nvPr/>
        </p:nvSpPr>
        <p:spPr>
          <a:xfrm>
            <a:off x="4608576" y="3566160"/>
            <a:ext cx="955548" cy="640080"/>
          </a:xfrm>
          <a:prstGeom prst="rect">
            <a:avLst/>
          </a:prstGeom>
          <a:noFill/>
          <a:ln/>
        </p:spPr>
        <p:txBody>
          <a:bodyPr wrap="square" lIns="0" tIns="0" rIns="0" bIns="0" rtlCol="0" anchor="t"/>
          <a:lstStyle/>
          <a:p>
            <a:pPr algn="ctr" indent="0" marL="0">
              <a:buNone/>
            </a:pPr>
            <a:r>
              <a:rPr lang="en-US" sz="1000" dirty="0">
                <a:solidFill>
                  <a:schemeClr val="accent5"/>
                </a:solidFill>
              </a:rPr>
              <a:t>Rekomendasi unit karbon</a:t>
            </a:r>
            <a:endParaRPr lang="en-US" sz="1000" dirty="0"/>
          </a:p>
        </p:txBody>
      </p:sp>
      <p:sp>
        <p:nvSpPr>
          <p:cNvPr id="47" name="Tahap 14"/>
          <p:cNvSpPr/>
          <p:nvPr/>
        </p:nvSpPr>
        <p:spPr>
          <a:xfrm>
            <a:off x="5932170" y="3108960"/>
            <a:ext cx="365760" cy="365760"/>
          </a:xfrm>
          <a:prstGeom prst="ellipse">
            <a:avLst/>
          </a:prstGeom>
          <a:solidFill>
            <a:schemeClr val="bg1"/>
          </a:solidFill>
          <a:ln w="15875">
            <a:solidFill>
              <a:srgbClr val="9AA59F"/>
            </a:solidFill>
            <a:prstDash val="solid"/>
          </a:ln>
        </p:spPr>
      </p:sp>
      <p:sp>
        <p:nvSpPr>
          <p:cNvPr id="48" name="Text 46"/>
          <p:cNvSpPr txBox="1"/>
          <p:nvPr/>
        </p:nvSpPr>
        <p:spPr>
          <a:xfrm>
            <a:off x="5932170" y="3108960"/>
            <a:ext cx="365760" cy="365760"/>
          </a:xfrm>
          <a:prstGeom prst="rect">
            <a:avLst/>
          </a:prstGeom>
          <a:noFill/>
          <a:ln/>
        </p:spPr>
        <p:txBody>
          <a:bodyPr wrap="square" lIns="0" tIns="0" rIns="0" bIns="0" rtlCol="0" anchor="ctr"/>
          <a:lstStyle/>
          <a:p>
            <a:pPr algn="ctr" indent="0" marL="0">
              <a:buNone/>
            </a:pPr>
            <a:r>
              <a:rPr lang="en-US" sz="1200" b="1" dirty="0">
                <a:solidFill>
                  <a:schemeClr val="accent5"/>
                </a:solidFill>
              </a:rPr>
              <a:t>14</a:t>
            </a:r>
            <a:endParaRPr lang="en-US" sz="1200" dirty="0"/>
          </a:p>
        </p:txBody>
      </p:sp>
      <p:sp>
        <p:nvSpPr>
          <p:cNvPr id="49" name="Text 47"/>
          <p:cNvSpPr txBox="1"/>
          <p:nvPr/>
        </p:nvSpPr>
        <p:spPr>
          <a:xfrm>
            <a:off x="5637276" y="3566160"/>
            <a:ext cx="955548" cy="640080"/>
          </a:xfrm>
          <a:prstGeom prst="rect">
            <a:avLst/>
          </a:prstGeom>
          <a:noFill/>
          <a:ln/>
        </p:spPr>
        <p:txBody>
          <a:bodyPr wrap="square" lIns="0" tIns="0" rIns="0" bIns="0" rtlCol="0" anchor="t"/>
          <a:lstStyle/>
          <a:p>
            <a:pPr algn="ctr" indent="0" marL="0">
              <a:buNone/>
            </a:pPr>
            <a:r>
              <a:rPr lang="en-US" sz="1000" dirty="0">
                <a:solidFill>
                  <a:schemeClr val="accent5"/>
                </a:solidFill>
              </a:rPr>
              <a:t>Penerbitan sertifikat unit</a:t>
            </a:r>
            <a:endParaRPr lang="en-US" sz="1000" dirty="0"/>
          </a:p>
        </p:txBody>
      </p:sp>
      <p:sp>
        <p:nvSpPr>
          <p:cNvPr id="50" name="Tahap 15"/>
          <p:cNvSpPr/>
          <p:nvPr/>
        </p:nvSpPr>
        <p:spPr>
          <a:xfrm>
            <a:off x="6960870" y="3108960"/>
            <a:ext cx="365760" cy="365760"/>
          </a:xfrm>
          <a:prstGeom prst="ellipse">
            <a:avLst/>
          </a:prstGeom>
          <a:solidFill>
            <a:schemeClr val="bg1"/>
          </a:solidFill>
          <a:ln w="15875">
            <a:solidFill>
              <a:srgbClr val="9AA59F"/>
            </a:solidFill>
            <a:prstDash val="solid"/>
          </a:ln>
        </p:spPr>
      </p:sp>
      <p:sp>
        <p:nvSpPr>
          <p:cNvPr id="51" name="Text 49"/>
          <p:cNvSpPr txBox="1"/>
          <p:nvPr/>
        </p:nvSpPr>
        <p:spPr>
          <a:xfrm>
            <a:off x="6960870" y="3108960"/>
            <a:ext cx="365760" cy="365760"/>
          </a:xfrm>
          <a:prstGeom prst="rect">
            <a:avLst/>
          </a:prstGeom>
          <a:noFill/>
          <a:ln/>
        </p:spPr>
        <p:txBody>
          <a:bodyPr wrap="square" lIns="0" tIns="0" rIns="0" bIns="0" rtlCol="0" anchor="ctr"/>
          <a:lstStyle/>
          <a:p>
            <a:pPr algn="ctr" indent="0" marL="0">
              <a:buNone/>
            </a:pPr>
            <a:r>
              <a:rPr lang="en-US" sz="1200" b="1" dirty="0">
                <a:solidFill>
                  <a:schemeClr val="accent5"/>
                </a:solidFill>
              </a:rPr>
              <a:t>15</a:t>
            </a:r>
            <a:endParaRPr lang="en-US" sz="1200" dirty="0"/>
          </a:p>
        </p:txBody>
      </p:sp>
      <p:sp>
        <p:nvSpPr>
          <p:cNvPr id="52" name="Text 50"/>
          <p:cNvSpPr txBox="1"/>
          <p:nvPr/>
        </p:nvSpPr>
        <p:spPr>
          <a:xfrm>
            <a:off x="6665976" y="3566160"/>
            <a:ext cx="955548" cy="640080"/>
          </a:xfrm>
          <a:prstGeom prst="rect">
            <a:avLst/>
          </a:prstGeom>
          <a:noFill/>
          <a:ln/>
        </p:spPr>
        <p:txBody>
          <a:bodyPr wrap="square" lIns="0" tIns="0" rIns="0" bIns="0" rtlCol="0" anchor="t"/>
          <a:lstStyle/>
          <a:p>
            <a:pPr algn="ctr" indent="0" marL="0">
              <a:buNone/>
            </a:pPr>
            <a:r>
              <a:rPr lang="en-US" sz="1000" dirty="0">
                <a:solidFill>
                  <a:schemeClr val="accent5"/>
                </a:solidFill>
              </a:rPr>
              <a:t>Penjualan unit karbon</a:t>
            </a:r>
            <a:endParaRPr lang="en-US" sz="1000" dirty="0"/>
          </a:p>
        </p:txBody>
      </p:sp>
      <p:sp>
        <p:nvSpPr>
          <p:cNvPr id="53" name="Tahap 16"/>
          <p:cNvSpPr/>
          <p:nvPr/>
        </p:nvSpPr>
        <p:spPr>
          <a:xfrm>
            <a:off x="7989570" y="3108960"/>
            <a:ext cx="365760" cy="365760"/>
          </a:xfrm>
          <a:prstGeom prst="ellipse">
            <a:avLst/>
          </a:prstGeom>
          <a:solidFill>
            <a:schemeClr val="bg1"/>
          </a:solidFill>
          <a:ln w="15875">
            <a:solidFill>
              <a:srgbClr val="9AA59F"/>
            </a:solidFill>
            <a:prstDash val="solid"/>
          </a:ln>
        </p:spPr>
      </p:sp>
      <p:sp>
        <p:nvSpPr>
          <p:cNvPr id="54" name="Text 52"/>
          <p:cNvSpPr txBox="1"/>
          <p:nvPr/>
        </p:nvSpPr>
        <p:spPr>
          <a:xfrm>
            <a:off x="7989570" y="3108960"/>
            <a:ext cx="365760" cy="365760"/>
          </a:xfrm>
          <a:prstGeom prst="rect">
            <a:avLst/>
          </a:prstGeom>
          <a:noFill/>
          <a:ln/>
        </p:spPr>
        <p:txBody>
          <a:bodyPr wrap="square" lIns="0" tIns="0" rIns="0" bIns="0" rtlCol="0" anchor="ctr"/>
          <a:lstStyle/>
          <a:p>
            <a:pPr algn="ctr" indent="0" marL="0">
              <a:buNone/>
            </a:pPr>
            <a:r>
              <a:rPr lang="en-US" sz="1200" b="1" dirty="0">
                <a:solidFill>
                  <a:schemeClr val="accent5"/>
                </a:solidFill>
              </a:rPr>
              <a:t>16</a:t>
            </a:r>
            <a:endParaRPr lang="en-US" sz="1200" dirty="0"/>
          </a:p>
        </p:txBody>
      </p:sp>
      <p:sp>
        <p:nvSpPr>
          <p:cNvPr id="55" name="Text 53"/>
          <p:cNvSpPr txBox="1"/>
          <p:nvPr/>
        </p:nvSpPr>
        <p:spPr>
          <a:xfrm>
            <a:off x="7694676" y="3566160"/>
            <a:ext cx="955548" cy="640080"/>
          </a:xfrm>
          <a:prstGeom prst="rect">
            <a:avLst/>
          </a:prstGeom>
          <a:noFill/>
          <a:ln/>
        </p:spPr>
        <p:txBody>
          <a:bodyPr wrap="square" lIns="0" tIns="0" rIns="0" bIns="0" rtlCol="0" anchor="t"/>
          <a:lstStyle/>
          <a:p>
            <a:pPr algn="ctr" indent="0" marL="0">
              <a:buNone/>
            </a:pPr>
            <a:r>
              <a:rPr lang="en-US" sz="1000" dirty="0">
                <a:solidFill>
                  <a:schemeClr val="accent5"/>
                </a:solidFill>
              </a:rPr>
              <a:t>Pembagian manfaat &amp; pelaporan</a:t>
            </a:r>
            <a:endParaRPr lang="en-US" sz="1000" dirty="0"/>
          </a:p>
        </p:txBody>
      </p:sp>
      <p:sp>
        <p:nvSpPr>
          <p:cNvPr id="56" name="Jalur paralel"/>
          <p:cNvSpPr/>
          <p:nvPr/>
        </p:nvSpPr>
        <p:spPr>
          <a:xfrm>
            <a:off x="457200" y="4224528"/>
            <a:ext cx="8229600" cy="438912"/>
          </a:xfrm>
          <a:prstGeom prst="rect">
            <a:avLst/>
          </a:prstGeom>
          <a:solidFill>
            <a:schemeClr val="tx2"/>
          </a:solidFill>
          <a:ln/>
        </p:spPr>
      </p:sp>
      <p:sp>
        <p:nvSpPr>
          <p:cNvPr id="57" name="Text 55"/>
          <p:cNvSpPr txBox="1"/>
          <p:nvPr/>
        </p:nvSpPr>
        <p:spPr>
          <a:xfrm>
            <a:off x="594360" y="4224528"/>
            <a:ext cx="7955280" cy="438912"/>
          </a:xfrm>
          <a:prstGeom prst="rect">
            <a:avLst/>
          </a:prstGeom>
          <a:noFill/>
          <a:ln/>
        </p:spPr>
        <p:txBody>
          <a:bodyPr wrap="square" lIns="0" tIns="0" rIns="0" bIns="0" rtlCol="0" anchor="ctr"/>
          <a:lstStyle/>
          <a:p>
            <a:pPr indent="0" marL="0">
              <a:buNone/>
            </a:pPr>
            <a:r>
              <a:rPr lang="en-US" sz="1200" b="1" dirty="0">
                <a:solidFill>
                  <a:schemeClr val="accent6"/>
                </a:solidFill>
              </a:rPr>
              <a:t>Paralel sejak FPIC:  </a:t>
            </a:r>
            <a:pPr indent="0" marL="0">
              <a:buNone/>
            </a:pPr>
            <a:r>
              <a:rPr lang="en-US" sz="1200" dirty="0">
                <a:solidFill>
                  <a:schemeClr val="bg1"/>
                </a:solidFill>
              </a:rPr>
              <a:t>patroli hutan, pengendalian karhutla, rehabilitasi mangrove dan gambut, perlindungan biodiversitas, penguatan KUPS</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Output 1 · Aksi mitigasi berbasis masyarakat yang terukur dan terkelola</a:t>
            </a:r>
            <a:endParaRPr lang="en-US" sz="2200" dirty="0"/>
          </a:p>
        </p:txBody>
      </p:sp>
      <p:sp>
        <p:nvSpPr>
          <p:cNvPr id="3" name="Strategi 1.1"/>
          <p:cNvSpPr/>
          <p:nvPr/>
        </p:nvSpPr>
        <p:spPr>
          <a:xfrm>
            <a:off x="457200" y="1143000"/>
            <a:ext cx="4023360" cy="1371600"/>
          </a:xfrm>
          <a:prstGeom prst="rect">
            <a:avLst/>
          </a:prstGeom>
          <a:solidFill>
            <a:schemeClr val="bg2"/>
          </a:solidFill>
          <a:ln/>
        </p:spPr>
      </p:sp>
      <p:sp>
        <p:nvSpPr>
          <p:cNvPr id="4" name="Strategi 1.1 lingkaran"/>
          <p:cNvSpPr/>
          <p:nvPr/>
        </p:nvSpPr>
        <p:spPr>
          <a:xfrm>
            <a:off x="621792" y="1307592"/>
            <a:ext cx="457200" cy="457200"/>
          </a:xfrm>
          <a:prstGeom prst="ellipse">
            <a:avLst/>
          </a:prstGeom>
          <a:solidFill>
            <a:schemeClr val="accent1"/>
          </a:solidFill>
          <a:ln/>
        </p:spPr>
      </p:sp>
      <p:pic>
        <p:nvPicPr>
          <p:cNvPr id="5" name="Strategi 1.1 ikon" descr="preencoded.png">    </p:cNvPr>
          <p:cNvPicPr>
            <a:picLocks noChangeAspect="1"/>
          </p:cNvPicPr>
          <p:nvPr/>
        </p:nvPicPr>
        <p:blipFill>
          <a:blip r:embed="rId1"/>
          <a:stretch>
            <a:fillRect/>
          </a:stretch>
        </p:blipFill>
        <p:spPr>
          <a:xfrm>
            <a:off x="740664" y="1426464"/>
            <a:ext cx="219456" cy="219456"/>
          </a:xfrm>
          <a:prstGeom prst="rect">
            <a:avLst/>
          </a:prstGeom>
        </p:spPr>
      </p:pic>
      <p:sp>
        <p:nvSpPr>
          <p:cNvPr id="6" name="Text 3"/>
          <p:cNvSpPr txBox="1"/>
          <p:nvPr/>
        </p:nvSpPr>
        <p:spPr>
          <a:xfrm>
            <a:off x="1207008" y="1307592"/>
            <a:ext cx="3154680" cy="320040"/>
          </a:xfrm>
          <a:prstGeom prst="rect">
            <a:avLst/>
          </a:prstGeom>
          <a:noFill/>
          <a:ln/>
        </p:spPr>
        <p:txBody>
          <a:bodyPr wrap="square" lIns="0" tIns="0" rIns="0" bIns="0" rtlCol="0" anchor="t"/>
          <a:lstStyle/>
          <a:p>
            <a:pPr indent="0" marL="0">
              <a:buNone/>
            </a:pPr>
            <a:r>
              <a:rPr lang="en-US" sz="1400" b="1" dirty="0">
                <a:solidFill>
                  <a:schemeClr val="tx2"/>
                </a:solidFill>
              </a:rPr>
              <a:t>1.1 Kesiapan legal &amp; kelembagaan</a:t>
            </a:r>
            <a:endParaRPr lang="en-US" sz="1400" dirty="0"/>
          </a:p>
        </p:txBody>
      </p:sp>
      <p:sp>
        <p:nvSpPr>
          <p:cNvPr id="7" name="Text 4"/>
          <p:cNvSpPr txBox="1"/>
          <p:nvPr/>
        </p:nvSpPr>
        <p:spPr>
          <a:xfrm>
            <a:off x="1207008" y="1645920"/>
            <a:ext cx="3154680" cy="822960"/>
          </a:xfrm>
          <a:prstGeom prst="rect">
            <a:avLst/>
          </a:prstGeom>
          <a:noFill/>
          <a:ln/>
        </p:spPr>
        <p:txBody>
          <a:bodyPr wrap="square" lIns="0" tIns="0" rIns="0" bIns="0" rtlCol="0" anchor="t"/>
          <a:lstStyle/>
          <a:p>
            <a:pPr indent="0" marL="0">
              <a:buNone/>
            </a:pPr>
            <a:r>
              <a:rPr lang="en-US" sz="1200" dirty="0">
                <a:solidFill>
                  <a:schemeClr val="tx1"/>
                </a:solidFill>
              </a:rPr>
              <a:t>Konsultasi awal &amp; persetujuan pendampingan LPHD–SAMPAN; pelatihan kepemimpinan aksi mitigasi berbasis GEDSI; pendampingan PS mandiri</a:t>
            </a:r>
            <a:endParaRPr lang="en-US" sz="1200" dirty="0"/>
          </a:p>
        </p:txBody>
      </p:sp>
      <p:sp>
        <p:nvSpPr>
          <p:cNvPr id="8" name="Strategi 1.2"/>
          <p:cNvSpPr/>
          <p:nvPr/>
        </p:nvSpPr>
        <p:spPr>
          <a:xfrm>
            <a:off x="4663440" y="1143000"/>
            <a:ext cx="4023360" cy="1371600"/>
          </a:xfrm>
          <a:prstGeom prst="rect">
            <a:avLst/>
          </a:prstGeom>
          <a:solidFill>
            <a:schemeClr val="bg2"/>
          </a:solidFill>
          <a:ln/>
        </p:spPr>
      </p:sp>
      <p:sp>
        <p:nvSpPr>
          <p:cNvPr id="9" name="Strategi 1.2 lingkaran"/>
          <p:cNvSpPr/>
          <p:nvPr/>
        </p:nvSpPr>
        <p:spPr>
          <a:xfrm>
            <a:off x="4828032" y="1307592"/>
            <a:ext cx="457200" cy="457200"/>
          </a:xfrm>
          <a:prstGeom prst="ellipse">
            <a:avLst/>
          </a:prstGeom>
          <a:solidFill>
            <a:schemeClr val="accent1"/>
          </a:solidFill>
          <a:ln/>
        </p:spPr>
      </p:sp>
      <p:pic>
        <p:nvPicPr>
          <p:cNvPr id="10" name="Strategi 1.2 ikon" descr="preencoded.png">    </p:cNvPr>
          <p:cNvPicPr>
            <a:picLocks noChangeAspect="1"/>
          </p:cNvPicPr>
          <p:nvPr/>
        </p:nvPicPr>
        <p:blipFill>
          <a:blip r:embed="rId2"/>
          <a:stretch>
            <a:fillRect/>
          </a:stretch>
        </p:blipFill>
        <p:spPr>
          <a:xfrm>
            <a:off x="4946904" y="1426464"/>
            <a:ext cx="219456" cy="219456"/>
          </a:xfrm>
          <a:prstGeom prst="rect">
            <a:avLst/>
          </a:prstGeom>
        </p:spPr>
      </p:pic>
      <p:sp>
        <p:nvSpPr>
          <p:cNvPr id="11" name="Text 7"/>
          <p:cNvSpPr txBox="1"/>
          <p:nvPr/>
        </p:nvSpPr>
        <p:spPr>
          <a:xfrm>
            <a:off x="5413248" y="1307592"/>
            <a:ext cx="3154680" cy="320040"/>
          </a:xfrm>
          <a:prstGeom prst="rect">
            <a:avLst/>
          </a:prstGeom>
          <a:noFill/>
          <a:ln/>
        </p:spPr>
        <p:txBody>
          <a:bodyPr wrap="square" lIns="0" tIns="0" rIns="0" bIns="0" rtlCol="0" anchor="t"/>
          <a:lstStyle/>
          <a:p>
            <a:pPr indent="0" marL="0">
              <a:buNone/>
            </a:pPr>
            <a:r>
              <a:rPr lang="en-US" sz="1400" b="1" dirty="0">
                <a:solidFill>
                  <a:schemeClr val="tx2"/>
                </a:solidFill>
              </a:rPr>
              <a:t>1.2 Persetujuan &amp; safeguards sosial</a:t>
            </a:r>
            <a:endParaRPr lang="en-US" sz="1400" dirty="0"/>
          </a:p>
        </p:txBody>
      </p:sp>
      <p:sp>
        <p:nvSpPr>
          <p:cNvPr id="12" name="Text 8"/>
          <p:cNvSpPr txBox="1"/>
          <p:nvPr/>
        </p:nvSpPr>
        <p:spPr>
          <a:xfrm>
            <a:off x="5413248" y="1645920"/>
            <a:ext cx="3154680" cy="822960"/>
          </a:xfrm>
          <a:prstGeom prst="rect">
            <a:avLst/>
          </a:prstGeom>
          <a:noFill/>
          <a:ln/>
        </p:spPr>
        <p:txBody>
          <a:bodyPr wrap="square" lIns="0" tIns="0" rIns="0" bIns="0" rtlCol="0" anchor="t"/>
          <a:lstStyle/>
          <a:p>
            <a:pPr indent="0" marL="0">
              <a:buNone/>
            </a:pPr>
            <a:r>
              <a:rPr lang="en-US" sz="1200" dirty="0">
                <a:solidFill>
                  <a:schemeClr val="tx1"/>
                </a:solidFill>
              </a:rPr>
              <a:t>Rapat bulanan LPHD; Pra-FPIC di setiap RT; FPIC melalui LSC; dokumen GRM &amp; penyelesaian konflik; sosialisasi safeguards</a:t>
            </a:r>
            <a:endParaRPr lang="en-US" sz="1200" dirty="0"/>
          </a:p>
        </p:txBody>
      </p:sp>
      <p:sp>
        <p:nvSpPr>
          <p:cNvPr id="13" name="Strategi 1.3"/>
          <p:cNvSpPr/>
          <p:nvPr/>
        </p:nvSpPr>
        <p:spPr>
          <a:xfrm>
            <a:off x="457200" y="2651760"/>
            <a:ext cx="4023360" cy="1371600"/>
          </a:xfrm>
          <a:prstGeom prst="rect">
            <a:avLst/>
          </a:prstGeom>
          <a:solidFill>
            <a:schemeClr val="bg2"/>
          </a:solidFill>
          <a:ln/>
        </p:spPr>
      </p:sp>
      <p:sp>
        <p:nvSpPr>
          <p:cNvPr id="14" name="Strategi 1.3 lingkaran"/>
          <p:cNvSpPr/>
          <p:nvPr/>
        </p:nvSpPr>
        <p:spPr>
          <a:xfrm>
            <a:off x="621792" y="2816352"/>
            <a:ext cx="457200" cy="457200"/>
          </a:xfrm>
          <a:prstGeom prst="ellipse">
            <a:avLst/>
          </a:prstGeom>
          <a:solidFill>
            <a:schemeClr val="accent1"/>
          </a:solidFill>
          <a:ln/>
        </p:spPr>
      </p:sp>
      <p:pic>
        <p:nvPicPr>
          <p:cNvPr id="15" name="Strategi 1.3 ikon" descr="preencoded.png">    </p:cNvPr>
          <p:cNvPicPr>
            <a:picLocks noChangeAspect="1"/>
          </p:cNvPicPr>
          <p:nvPr/>
        </p:nvPicPr>
        <p:blipFill>
          <a:blip r:embed="rId3"/>
          <a:stretch>
            <a:fillRect/>
          </a:stretch>
        </p:blipFill>
        <p:spPr>
          <a:xfrm>
            <a:off x="740664" y="2935224"/>
            <a:ext cx="219456" cy="219456"/>
          </a:xfrm>
          <a:prstGeom prst="rect">
            <a:avLst/>
          </a:prstGeom>
        </p:spPr>
      </p:pic>
      <p:sp>
        <p:nvSpPr>
          <p:cNvPr id="16" name="Text 11"/>
          <p:cNvSpPr txBox="1"/>
          <p:nvPr/>
        </p:nvSpPr>
        <p:spPr>
          <a:xfrm>
            <a:off x="1207008" y="2816352"/>
            <a:ext cx="3154680" cy="320040"/>
          </a:xfrm>
          <a:prstGeom prst="rect">
            <a:avLst/>
          </a:prstGeom>
          <a:noFill/>
          <a:ln/>
        </p:spPr>
        <p:txBody>
          <a:bodyPr wrap="square" lIns="0" tIns="0" rIns="0" bIns="0" rtlCol="0" anchor="t"/>
          <a:lstStyle/>
          <a:p>
            <a:pPr indent="0" marL="0">
              <a:buNone/>
            </a:pPr>
            <a:r>
              <a:rPr lang="en-US" sz="1400" b="1" dirty="0">
                <a:solidFill>
                  <a:schemeClr val="tx2"/>
                </a:solidFill>
              </a:rPr>
              <a:t>1.3–1.4 Perlindungan &amp; rehabilitasi</a:t>
            </a:r>
            <a:endParaRPr lang="en-US" sz="1400" dirty="0"/>
          </a:p>
        </p:txBody>
      </p:sp>
      <p:sp>
        <p:nvSpPr>
          <p:cNvPr id="17" name="Text 12"/>
          <p:cNvSpPr txBox="1"/>
          <p:nvPr/>
        </p:nvSpPr>
        <p:spPr>
          <a:xfrm>
            <a:off x="1207008" y="3154680"/>
            <a:ext cx="3154680" cy="822960"/>
          </a:xfrm>
          <a:prstGeom prst="rect">
            <a:avLst/>
          </a:prstGeom>
          <a:noFill/>
          <a:ln/>
        </p:spPr>
        <p:txBody>
          <a:bodyPr wrap="square" lIns="0" tIns="0" rIns="0" bIns="0" rtlCol="0" anchor="t"/>
          <a:lstStyle/>
          <a:p>
            <a:pPr indent="0" marL="0">
              <a:buNone/>
            </a:pPr>
            <a:r>
              <a:rPr lang="en-US" sz="1200" dirty="0">
                <a:solidFill>
                  <a:schemeClr val="tx1"/>
                </a:solidFill>
              </a:rPr>
              <a:t>Pelatihan patroli, Avenza &amp; keselamatan lapangan; patroli perlindungan hutan; rehabilitasi 5 ha gambut (50% ANR, 50% tanam)</a:t>
            </a:r>
            <a:endParaRPr lang="en-US" sz="1200" dirty="0"/>
          </a:p>
        </p:txBody>
      </p:sp>
      <p:sp>
        <p:nvSpPr>
          <p:cNvPr id="18" name="Strategi 1.5"/>
          <p:cNvSpPr/>
          <p:nvPr/>
        </p:nvSpPr>
        <p:spPr>
          <a:xfrm>
            <a:off x="4663440" y="2651760"/>
            <a:ext cx="4023360" cy="1371600"/>
          </a:xfrm>
          <a:prstGeom prst="rect">
            <a:avLst/>
          </a:prstGeom>
          <a:solidFill>
            <a:schemeClr val="bg2"/>
          </a:solidFill>
          <a:ln/>
        </p:spPr>
      </p:sp>
      <p:sp>
        <p:nvSpPr>
          <p:cNvPr id="19" name="Strategi 1.5 lingkaran"/>
          <p:cNvSpPr/>
          <p:nvPr/>
        </p:nvSpPr>
        <p:spPr>
          <a:xfrm>
            <a:off x="4828032" y="2816352"/>
            <a:ext cx="457200" cy="457200"/>
          </a:xfrm>
          <a:prstGeom prst="ellipse">
            <a:avLst/>
          </a:prstGeom>
          <a:solidFill>
            <a:schemeClr val="accent1"/>
          </a:solidFill>
          <a:ln/>
        </p:spPr>
      </p:sp>
      <p:pic>
        <p:nvPicPr>
          <p:cNvPr id="20" name="Strategi 1.5 ikon" descr="preencoded.png">    </p:cNvPr>
          <p:cNvPicPr>
            <a:picLocks noChangeAspect="1"/>
          </p:cNvPicPr>
          <p:nvPr/>
        </p:nvPicPr>
        <p:blipFill>
          <a:blip r:embed="rId4"/>
          <a:stretch>
            <a:fillRect/>
          </a:stretch>
        </p:blipFill>
        <p:spPr>
          <a:xfrm>
            <a:off x="4946904" y="2935224"/>
            <a:ext cx="219456" cy="219456"/>
          </a:xfrm>
          <a:prstGeom prst="rect">
            <a:avLst/>
          </a:prstGeom>
        </p:spPr>
      </p:pic>
      <p:sp>
        <p:nvSpPr>
          <p:cNvPr id="21" name="Text 15"/>
          <p:cNvSpPr txBox="1"/>
          <p:nvPr/>
        </p:nvSpPr>
        <p:spPr>
          <a:xfrm>
            <a:off x="5413248" y="2816352"/>
            <a:ext cx="3154680" cy="320040"/>
          </a:xfrm>
          <a:prstGeom prst="rect">
            <a:avLst/>
          </a:prstGeom>
          <a:noFill/>
          <a:ln/>
        </p:spPr>
        <p:txBody>
          <a:bodyPr wrap="square" lIns="0" tIns="0" rIns="0" bIns="0" rtlCol="0" anchor="t"/>
          <a:lstStyle/>
          <a:p>
            <a:pPr indent="0" marL="0">
              <a:buNone/>
            </a:pPr>
            <a:r>
              <a:rPr lang="en-US" sz="1400" b="1" dirty="0">
                <a:solidFill>
                  <a:schemeClr val="tx2"/>
                </a:solidFill>
              </a:rPr>
              <a:t>1.5 Usaha pendukung hutan</a:t>
            </a:r>
            <a:endParaRPr lang="en-US" sz="1400" dirty="0"/>
          </a:p>
        </p:txBody>
      </p:sp>
      <p:sp>
        <p:nvSpPr>
          <p:cNvPr id="22" name="Text 16"/>
          <p:cNvSpPr txBox="1"/>
          <p:nvPr/>
        </p:nvSpPr>
        <p:spPr>
          <a:xfrm>
            <a:off x="5413248" y="3154680"/>
            <a:ext cx="3154680" cy="822960"/>
          </a:xfrm>
          <a:prstGeom prst="rect">
            <a:avLst/>
          </a:prstGeom>
          <a:noFill/>
          <a:ln/>
        </p:spPr>
        <p:txBody>
          <a:bodyPr wrap="square" lIns="0" tIns="0" rIns="0" bIns="0" rtlCol="0" anchor="t"/>
          <a:lstStyle/>
          <a:p>
            <a:pPr indent="0" marL="0">
              <a:buNone/>
            </a:pPr>
            <a:r>
              <a:rPr lang="en-US" sz="1200" dirty="0">
                <a:solidFill>
                  <a:schemeClr val="tx1"/>
                </a:solidFill>
              </a:rPr>
              <a:t>Identifikasi potensi usaha; orientasi &amp; pembentukan KUPS; pelatihan KUPS berbasis iklim dan gender</a:t>
            </a:r>
            <a:endParaRPr lang="en-US" sz="1200" dirty="0"/>
          </a:p>
        </p:txBody>
      </p:sp>
      <p:sp>
        <p:nvSpPr>
          <p:cNvPr id="23" name="Text 17"/>
          <p:cNvSpPr txBox="1"/>
          <p:nvPr/>
        </p:nvSpPr>
        <p:spPr>
          <a:xfrm>
            <a:off x="457200" y="4224528"/>
            <a:ext cx="8229600" cy="411480"/>
          </a:xfrm>
          <a:prstGeom prst="rect">
            <a:avLst/>
          </a:prstGeom>
          <a:noFill/>
          <a:ln/>
        </p:spPr>
        <p:txBody>
          <a:bodyPr wrap="square" lIns="0" tIns="0" rIns="0" bIns="0" rtlCol="0" anchor="ctr"/>
          <a:lstStyle/>
          <a:p>
            <a:pPr indent="0" marL="0">
              <a:buNone/>
            </a:pPr>
            <a:r>
              <a:rPr lang="en-US" sz="1200" b="1" dirty="0">
                <a:solidFill>
                  <a:schemeClr val="accent1"/>
                </a:solidFill>
              </a:rPr>
              <a:t>Hasil yang dituju:  </a:t>
            </a:r>
            <a:pPr indent="0" marL="0">
              <a:buNone/>
            </a:pPr>
            <a:r>
              <a:rPr lang="en-US" sz="1200" dirty="0">
                <a:solidFill>
                  <a:schemeClr val="tx1"/>
                </a:solidFill>
              </a:rPr>
              <a:t>persetujuan masyarakat (FPIC/LSC), perangkat safeguards berjalan, ±2.468 ha terpatroli, 5 ha gambut terpulihkan, KUPS terbentuk</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Output 2 · Proyek karbon masyarakat siap masuk registri</a:t>
            </a:r>
            <a:endParaRPr lang="en-US" sz="2200" dirty="0"/>
          </a:p>
        </p:txBody>
      </p:sp>
      <p:sp>
        <p:nvSpPr>
          <p:cNvPr id="3" name="Tahap 2.1"/>
          <p:cNvSpPr/>
          <p:nvPr/>
        </p:nvSpPr>
        <p:spPr>
          <a:xfrm>
            <a:off x="457200" y="1188720"/>
            <a:ext cx="1645920" cy="548640"/>
          </a:xfrm>
          <a:prstGeom prst="chevron">
            <a:avLst/>
          </a:prstGeom>
          <a:solidFill>
            <a:schemeClr val="accent4"/>
          </a:solidFill>
          <a:ln/>
        </p:spPr>
      </p:sp>
      <p:sp>
        <p:nvSpPr>
          <p:cNvPr id="4" name="Text 2"/>
          <p:cNvSpPr txBox="1"/>
          <p:nvPr/>
        </p:nvSpPr>
        <p:spPr>
          <a:xfrm>
            <a:off x="640080" y="1188720"/>
            <a:ext cx="1280160" cy="548640"/>
          </a:xfrm>
          <a:prstGeom prst="rect">
            <a:avLst/>
          </a:prstGeom>
          <a:noFill/>
          <a:ln/>
        </p:spPr>
        <p:txBody>
          <a:bodyPr wrap="square" lIns="0" tIns="0" rIns="0" bIns="0" rtlCol="0" anchor="ctr"/>
          <a:lstStyle/>
          <a:p>
            <a:pPr algn="ctr" indent="0" marL="0">
              <a:buNone/>
            </a:pPr>
            <a:r>
              <a:rPr lang="en-US" sz="1400" b="1" dirty="0">
                <a:solidFill>
                  <a:schemeClr val="bg1"/>
                </a:solidFill>
              </a:rPr>
              <a:t>2.1</a:t>
            </a:r>
            <a:endParaRPr lang="en-US" sz="1400" dirty="0"/>
          </a:p>
        </p:txBody>
      </p:sp>
      <p:sp>
        <p:nvSpPr>
          <p:cNvPr id="5" name="Text 3"/>
          <p:cNvSpPr txBox="1"/>
          <p:nvPr/>
        </p:nvSpPr>
        <p:spPr>
          <a:xfrm>
            <a:off x="457200" y="1874520"/>
            <a:ext cx="1554480" cy="320040"/>
          </a:xfrm>
          <a:prstGeom prst="rect">
            <a:avLst/>
          </a:prstGeom>
          <a:noFill/>
          <a:ln/>
        </p:spPr>
        <p:txBody>
          <a:bodyPr wrap="square" lIns="0" tIns="0" rIns="0" bIns="0" rtlCol="0" anchor="t"/>
          <a:lstStyle/>
          <a:p>
            <a:pPr indent="0" marL="0">
              <a:buNone/>
            </a:pPr>
            <a:r>
              <a:rPr lang="en-US" sz="1400" b="1" dirty="0">
                <a:solidFill>
                  <a:schemeClr val="tx2"/>
                </a:solidFill>
              </a:rPr>
              <a:t>Bentuk CCAL</a:t>
            </a:r>
            <a:endParaRPr lang="en-US" sz="1400" dirty="0"/>
          </a:p>
        </p:txBody>
      </p:sp>
      <p:sp>
        <p:nvSpPr>
          <p:cNvPr id="6" name="Text 4"/>
          <p:cNvSpPr txBox="1"/>
          <p:nvPr/>
        </p:nvSpPr>
        <p:spPr>
          <a:xfrm>
            <a:off x="457200" y="2212848"/>
            <a:ext cx="1508760" cy="822960"/>
          </a:xfrm>
          <a:prstGeom prst="rect">
            <a:avLst/>
          </a:prstGeom>
          <a:noFill/>
          <a:ln/>
        </p:spPr>
        <p:txBody>
          <a:bodyPr wrap="square" lIns="0" tIns="0" rIns="0" bIns="0" rtlCol="0" anchor="t"/>
          <a:lstStyle/>
          <a:p>
            <a:pPr indent="0" marL="0">
              <a:buNone/>
            </a:pPr>
            <a:r>
              <a:rPr lang="en-US" sz="1200" dirty="0">
                <a:solidFill>
                  <a:schemeClr val="tx1"/>
                </a:solidFill>
              </a:rPr>
              <a:t>Community Carbon Action Leaders: kader teknis dari masyarakat</a:t>
            </a:r>
            <a:endParaRPr lang="en-US" sz="1200" dirty="0"/>
          </a:p>
        </p:txBody>
      </p:sp>
      <p:sp>
        <p:nvSpPr>
          <p:cNvPr id="7" name="Tahap 2.2"/>
          <p:cNvSpPr/>
          <p:nvPr/>
        </p:nvSpPr>
        <p:spPr>
          <a:xfrm>
            <a:off x="2125980" y="1188720"/>
            <a:ext cx="1645920" cy="548640"/>
          </a:xfrm>
          <a:prstGeom prst="chevron">
            <a:avLst/>
          </a:prstGeom>
          <a:solidFill>
            <a:schemeClr val="accent4"/>
          </a:solidFill>
          <a:ln/>
        </p:spPr>
      </p:sp>
      <p:sp>
        <p:nvSpPr>
          <p:cNvPr id="8" name="Text 6"/>
          <p:cNvSpPr txBox="1"/>
          <p:nvPr/>
        </p:nvSpPr>
        <p:spPr>
          <a:xfrm>
            <a:off x="2308860" y="1188720"/>
            <a:ext cx="1280160" cy="548640"/>
          </a:xfrm>
          <a:prstGeom prst="rect">
            <a:avLst/>
          </a:prstGeom>
          <a:noFill/>
          <a:ln/>
        </p:spPr>
        <p:txBody>
          <a:bodyPr wrap="square" lIns="0" tIns="0" rIns="0" bIns="0" rtlCol="0" anchor="ctr"/>
          <a:lstStyle/>
          <a:p>
            <a:pPr algn="ctr" indent="0" marL="0">
              <a:buNone/>
            </a:pPr>
            <a:r>
              <a:rPr lang="en-US" sz="1400" b="1" dirty="0">
                <a:solidFill>
                  <a:schemeClr val="bg1"/>
                </a:solidFill>
              </a:rPr>
              <a:t>2.2</a:t>
            </a:r>
            <a:endParaRPr lang="en-US" sz="1400" dirty="0"/>
          </a:p>
        </p:txBody>
      </p:sp>
      <p:sp>
        <p:nvSpPr>
          <p:cNvPr id="9" name="Text 7"/>
          <p:cNvSpPr txBox="1"/>
          <p:nvPr/>
        </p:nvSpPr>
        <p:spPr>
          <a:xfrm>
            <a:off x="2125980" y="1874520"/>
            <a:ext cx="1554480" cy="320040"/>
          </a:xfrm>
          <a:prstGeom prst="rect">
            <a:avLst/>
          </a:prstGeom>
          <a:noFill/>
          <a:ln/>
        </p:spPr>
        <p:txBody>
          <a:bodyPr wrap="square" lIns="0" tIns="0" rIns="0" bIns="0" rtlCol="0" anchor="t"/>
          <a:lstStyle/>
          <a:p>
            <a:pPr indent="0" marL="0">
              <a:buNone/>
            </a:pPr>
            <a:r>
              <a:rPr lang="en-US" sz="1400" b="1" dirty="0">
                <a:solidFill>
                  <a:schemeClr val="tx2"/>
                </a:solidFill>
              </a:rPr>
              <a:t>Data baseline</a:t>
            </a:r>
            <a:endParaRPr lang="en-US" sz="1400" dirty="0"/>
          </a:p>
        </p:txBody>
      </p:sp>
      <p:sp>
        <p:nvSpPr>
          <p:cNvPr id="10" name="Text 8"/>
          <p:cNvSpPr txBox="1"/>
          <p:nvPr/>
        </p:nvSpPr>
        <p:spPr>
          <a:xfrm>
            <a:off x="2125980" y="2212848"/>
            <a:ext cx="1508760" cy="822960"/>
          </a:xfrm>
          <a:prstGeom prst="rect">
            <a:avLst/>
          </a:prstGeom>
          <a:noFill/>
          <a:ln/>
        </p:spPr>
        <p:txBody>
          <a:bodyPr wrap="square" lIns="0" tIns="0" rIns="0" bIns="0" rtlCol="0" anchor="t"/>
          <a:lstStyle/>
          <a:p>
            <a:pPr indent="0" marL="0">
              <a:buNone/>
            </a:pPr>
            <a:r>
              <a:rPr lang="en-US" sz="1200" dirty="0">
                <a:solidFill>
                  <a:schemeClr val="tx1"/>
                </a:solidFill>
              </a:rPr>
              <a:t>Lima survei lapangan dijalankan bersama CCAL</a:t>
            </a:r>
            <a:endParaRPr lang="en-US" sz="1200" dirty="0"/>
          </a:p>
        </p:txBody>
      </p:sp>
      <p:sp>
        <p:nvSpPr>
          <p:cNvPr id="11" name="Tahap 2.3.1"/>
          <p:cNvSpPr/>
          <p:nvPr/>
        </p:nvSpPr>
        <p:spPr>
          <a:xfrm>
            <a:off x="3794760" y="1188720"/>
            <a:ext cx="1645920" cy="548640"/>
          </a:xfrm>
          <a:prstGeom prst="chevron">
            <a:avLst/>
          </a:prstGeom>
          <a:solidFill>
            <a:schemeClr val="tx2"/>
          </a:solidFill>
          <a:ln/>
        </p:spPr>
      </p:sp>
      <p:sp>
        <p:nvSpPr>
          <p:cNvPr id="12" name="Text 10"/>
          <p:cNvSpPr txBox="1"/>
          <p:nvPr/>
        </p:nvSpPr>
        <p:spPr>
          <a:xfrm>
            <a:off x="3977640" y="1188720"/>
            <a:ext cx="1280160" cy="548640"/>
          </a:xfrm>
          <a:prstGeom prst="rect">
            <a:avLst/>
          </a:prstGeom>
          <a:noFill/>
          <a:ln/>
        </p:spPr>
        <p:txBody>
          <a:bodyPr wrap="square" lIns="0" tIns="0" rIns="0" bIns="0" rtlCol="0" anchor="ctr"/>
          <a:lstStyle/>
          <a:p>
            <a:pPr algn="ctr" indent="0" marL="0">
              <a:buNone/>
            </a:pPr>
            <a:r>
              <a:rPr lang="en-US" sz="1400" b="1" dirty="0">
                <a:solidFill>
                  <a:schemeClr val="bg1"/>
                </a:solidFill>
              </a:rPr>
              <a:t>2.3.1</a:t>
            </a:r>
            <a:endParaRPr lang="en-US" sz="1400" dirty="0"/>
          </a:p>
        </p:txBody>
      </p:sp>
      <p:sp>
        <p:nvSpPr>
          <p:cNvPr id="13" name="Text 11"/>
          <p:cNvSpPr txBox="1"/>
          <p:nvPr/>
        </p:nvSpPr>
        <p:spPr>
          <a:xfrm>
            <a:off x="3794760" y="1874520"/>
            <a:ext cx="1554480" cy="320040"/>
          </a:xfrm>
          <a:prstGeom prst="rect">
            <a:avLst/>
          </a:prstGeom>
          <a:noFill/>
          <a:ln/>
        </p:spPr>
        <p:txBody>
          <a:bodyPr wrap="square" lIns="0" tIns="0" rIns="0" bIns="0" rtlCol="0" anchor="t"/>
          <a:lstStyle/>
          <a:p>
            <a:pPr indent="0" marL="0">
              <a:buNone/>
            </a:pPr>
            <a:r>
              <a:rPr lang="en-US" sz="1400" b="1" dirty="0">
                <a:solidFill>
                  <a:schemeClr val="tx2"/>
                </a:solidFill>
              </a:rPr>
              <a:t>DRAM / PDD</a:t>
            </a:r>
            <a:endParaRPr lang="en-US" sz="1400" dirty="0"/>
          </a:p>
        </p:txBody>
      </p:sp>
      <p:sp>
        <p:nvSpPr>
          <p:cNvPr id="14" name="Text 12"/>
          <p:cNvSpPr txBox="1"/>
          <p:nvPr/>
        </p:nvSpPr>
        <p:spPr>
          <a:xfrm>
            <a:off x="3794760" y="2212848"/>
            <a:ext cx="1508760" cy="822960"/>
          </a:xfrm>
          <a:prstGeom prst="rect">
            <a:avLst/>
          </a:prstGeom>
          <a:noFill/>
          <a:ln/>
        </p:spPr>
        <p:txBody>
          <a:bodyPr wrap="square" lIns="0" tIns="0" rIns="0" bIns="0" rtlCol="0" anchor="t"/>
          <a:lstStyle/>
          <a:p>
            <a:pPr indent="0" marL="0">
              <a:buNone/>
            </a:pPr>
            <a:r>
              <a:rPr lang="en-US" sz="1200" dirty="0">
                <a:solidFill>
                  <a:schemeClr val="tx1"/>
                </a:solidFill>
              </a:rPr>
              <a:t>Disusun sesuai standar yang dipilih</a:t>
            </a:r>
            <a:endParaRPr lang="en-US" sz="1200" dirty="0"/>
          </a:p>
        </p:txBody>
      </p:sp>
      <p:sp>
        <p:nvSpPr>
          <p:cNvPr id="15" name="Tahap 2.3.2"/>
          <p:cNvSpPr/>
          <p:nvPr/>
        </p:nvSpPr>
        <p:spPr>
          <a:xfrm>
            <a:off x="5463540" y="1188720"/>
            <a:ext cx="1645920" cy="548640"/>
          </a:xfrm>
          <a:prstGeom prst="chevron">
            <a:avLst/>
          </a:prstGeom>
          <a:solidFill>
            <a:schemeClr val="tx2"/>
          </a:solidFill>
          <a:ln/>
        </p:spPr>
      </p:sp>
      <p:sp>
        <p:nvSpPr>
          <p:cNvPr id="16" name="Text 14"/>
          <p:cNvSpPr txBox="1"/>
          <p:nvPr/>
        </p:nvSpPr>
        <p:spPr>
          <a:xfrm>
            <a:off x="5646420" y="1188720"/>
            <a:ext cx="1280160" cy="548640"/>
          </a:xfrm>
          <a:prstGeom prst="rect">
            <a:avLst/>
          </a:prstGeom>
          <a:noFill/>
          <a:ln/>
        </p:spPr>
        <p:txBody>
          <a:bodyPr wrap="square" lIns="0" tIns="0" rIns="0" bIns="0" rtlCol="0" anchor="ctr"/>
          <a:lstStyle/>
          <a:p>
            <a:pPr algn="ctr" indent="0" marL="0">
              <a:buNone/>
            </a:pPr>
            <a:r>
              <a:rPr lang="en-US" sz="1400" b="1" dirty="0">
                <a:solidFill>
                  <a:schemeClr val="bg1"/>
                </a:solidFill>
              </a:rPr>
              <a:t>2.3.2</a:t>
            </a:r>
            <a:endParaRPr lang="en-US" sz="1400" dirty="0"/>
          </a:p>
        </p:txBody>
      </p:sp>
      <p:sp>
        <p:nvSpPr>
          <p:cNvPr id="17" name="Text 15"/>
          <p:cNvSpPr txBox="1"/>
          <p:nvPr/>
        </p:nvSpPr>
        <p:spPr>
          <a:xfrm>
            <a:off x="5463540" y="1874520"/>
            <a:ext cx="1554480" cy="320040"/>
          </a:xfrm>
          <a:prstGeom prst="rect">
            <a:avLst/>
          </a:prstGeom>
          <a:noFill/>
          <a:ln/>
        </p:spPr>
        <p:txBody>
          <a:bodyPr wrap="square" lIns="0" tIns="0" rIns="0" bIns="0" rtlCol="0" anchor="t"/>
          <a:lstStyle/>
          <a:p>
            <a:pPr indent="0" marL="0">
              <a:buNone/>
            </a:pPr>
            <a:r>
              <a:rPr lang="en-US" sz="1400" b="1" dirty="0">
                <a:solidFill>
                  <a:schemeClr val="tx2"/>
                </a:solidFill>
              </a:rPr>
              <a:t>Persetujuan</a:t>
            </a:r>
            <a:endParaRPr lang="en-US" sz="1400" dirty="0"/>
          </a:p>
        </p:txBody>
      </p:sp>
      <p:sp>
        <p:nvSpPr>
          <p:cNvPr id="18" name="Text 16"/>
          <p:cNvSpPr txBox="1"/>
          <p:nvPr/>
        </p:nvSpPr>
        <p:spPr>
          <a:xfrm>
            <a:off x="5463540" y="2212848"/>
            <a:ext cx="1508760" cy="822960"/>
          </a:xfrm>
          <a:prstGeom prst="rect">
            <a:avLst/>
          </a:prstGeom>
          <a:noFill/>
          <a:ln/>
        </p:spPr>
        <p:txBody>
          <a:bodyPr wrap="square" lIns="0" tIns="0" rIns="0" bIns="0" rtlCol="0" anchor="t"/>
          <a:lstStyle/>
          <a:p>
            <a:pPr indent="0" marL="0">
              <a:buNone/>
            </a:pPr>
            <a:r>
              <a:rPr lang="en-US" sz="1200" dirty="0">
                <a:solidFill>
                  <a:schemeClr val="tx1"/>
                </a:solidFill>
              </a:rPr>
              <a:t>Persetujuan Perdagangan Karbon dari Kemenhut</a:t>
            </a:r>
            <a:endParaRPr lang="en-US" sz="1200" dirty="0"/>
          </a:p>
        </p:txBody>
      </p:sp>
      <p:sp>
        <p:nvSpPr>
          <p:cNvPr id="19" name="Tahap 2.3.3"/>
          <p:cNvSpPr/>
          <p:nvPr/>
        </p:nvSpPr>
        <p:spPr>
          <a:xfrm>
            <a:off x="7132320" y="1188720"/>
            <a:ext cx="1645920" cy="548640"/>
          </a:xfrm>
          <a:prstGeom prst="chevron">
            <a:avLst/>
          </a:prstGeom>
          <a:solidFill>
            <a:schemeClr val="tx2"/>
          </a:solidFill>
          <a:ln/>
        </p:spPr>
      </p:sp>
      <p:sp>
        <p:nvSpPr>
          <p:cNvPr id="20" name="Text 18"/>
          <p:cNvSpPr txBox="1"/>
          <p:nvPr/>
        </p:nvSpPr>
        <p:spPr>
          <a:xfrm>
            <a:off x="7315200" y="1188720"/>
            <a:ext cx="1280160" cy="548640"/>
          </a:xfrm>
          <a:prstGeom prst="rect">
            <a:avLst/>
          </a:prstGeom>
          <a:noFill/>
          <a:ln/>
        </p:spPr>
        <p:txBody>
          <a:bodyPr wrap="square" lIns="0" tIns="0" rIns="0" bIns="0" rtlCol="0" anchor="ctr"/>
          <a:lstStyle/>
          <a:p>
            <a:pPr algn="ctr" indent="0" marL="0">
              <a:buNone/>
            </a:pPr>
            <a:r>
              <a:rPr lang="en-US" sz="1400" b="1" dirty="0">
                <a:solidFill>
                  <a:schemeClr val="bg1"/>
                </a:solidFill>
              </a:rPr>
              <a:t>2.3.3</a:t>
            </a:r>
            <a:endParaRPr lang="en-US" sz="1400" dirty="0"/>
          </a:p>
        </p:txBody>
      </p:sp>
      <p:sp>
        <p:nvSpPr>
          <p:cNvPr id="21" name="Text 19"/>
          <p:cNvSpPr txBox="1"/>
          <p:nvPr/>
        </p:nvSpPr>
        <p:spPr>
          <a:xfrm>
            <a:off x="7132320" y="1874520"/>
            <a:ext cx="1554480" cy="320040"/>
          </a:xfrm>
          <a:prstGeom prst="rect">
            <a:avLst/>
          </a:prstGeom>
          <a:noFill/>
          <a:ln/>
        </p:spPr>
        <p:txBody>
          <a:bodyPr wrap="square" lIns="0" tIns="0" rIns="0" bIns="0" rtlCol="0" anchor="t"/>
          <a:lstStyle/>
          <a:p>
            <a:pPr indent="0" marL="0">
              <a:buNone/>
            </a:pPr>
            <a:r>
              <a:rPr lang="en-US" sz="1400" b="1" dirty="0">
                <a:solidFill>
                  <a:schemeClr val="tx2"/>
                </a:solidFill>
              </a:rPr>
              <a:t>Registri</a:t>
            </a:r>
            <a:endParaRPr lang="en-US" sz="1400" dirty="0"/>
          </a:p>
        </p:txBody>
      </p:sp>
      <p:sp>
        <p:nvSpPr>
          <p:cNvPr id="22" name="Text 20"/>
          <p:cNvSpPr txBox="1"/>
          <p:nvPr/>
        </p:nvSpPr>
        <p:spPr>
          <a:xfrm>
            <a:off x="7132320" y="2212848"/>
            <a:ext cx="1508760" cy="822960"/>
          </a:xfrm>
          <a:prstGeom prst="rect">
            <a:avLst/>
          </a:prstGeom>
          <a:noFill/>
          <a:ln/>
        </p:spPr>
        <p:txBody>
          <a:bodyPr wrap="square" lIns="0" tIns="0" rIns="0" bIns="0" rtlCol="0" anchor="t"/>
          <a:lstStyle/>
          <a:p>
            <a:pPr indent="0" marL="0">
              <a:buNone/>
            </a:pPr>
            <a:r>
              <a:rPr lang="en-US" sz="1200" dirty="0">
                <a:solidFill>
                  <a:schemeClr val="tx1"/>
                </a:solidFill>
              </a:rPr>
              <a:t>SRUK (KLH), lalu Plan Vivo PV Climate</a:t>
            </a:r>
            <a:endParaRPr lang="en-US" sz="1200" dirty="0"/>
          </a:p>
        </p:txBody>
      </p:sp>
      <p:sp>
        <p:nvSpPr>
          <p:cNvPr id="23" name="Text 21"/>
          <p:cNvSpPr txBox="1"/>
          <p:nvPr/>
        </p:nvSpPr>
        <p:spPr>
          <a:xfrm>
            <a:off x="457200" y="3154680"/>
            <a:ext cx="4572000" cy="274320"/>
          </a:xfrm>
          <a:prstGeom prst="rect">
            <a:avLst/>
          </a:prstGeom>
          <a:noFill/>
          <a:ln/>
        </p:spPr>
        <p:txBody>
          <a:bodyPr wrap="square" lIns="0" tIns="0" rIns="0" bIns="0" rtlCol="0" anchor="t"/>
          <a:lstStyle/>
          <a:p>
            <a:pPr indent="0" marL="0">
              <a:buNone/>
            </a:pPr>
            <a:r>
              <a:rPr lang="en-US" sz="1400" b="1" dirty="0">
                <a:solidFill>
                  <a:schemeClr val="tx2"/>
                </a:solidFill>
              </a:rPr>
              <a:t>Komponen data baseline (2.2.1)</a:t>
            </a:r>
            <a:endParaRPr lang="en-US" sz="1400" dirty="0"/>
          </a:p>
        </p:txBody>
      </p:sp>
      <p:sp>
        <p:nvSpPr>
          <p:cNvPr id="24" name="Shape 22"/>
          <p:cNvSpPr/>
          <p:nvPr/>
        </p:nvSpPr>
        <p:spPr>
          <a:xfrm>
            <a:off x="457200" y="3520440"/>
            <a:ext cx="2249424" cy="347472"/>
          </a:xfrm>
          <a:prstGeom prst="roundRect">
            <a:avLst>
              <a:gd name="adj" fmla="val 50000"/>
            </a:avLst>
          </a:prstGeom>
          <a:solidFill>
            <a:schemeClr val="bg2"/>
          </a:solidFill>
          <a:ln w="12700">
            <a:solidFill>
              <a:srgbClr val="2F7183"/>
            </a:solidFill>
            <a:prstDash val="solid"/>
          </a:ln>
        </p:spPr>
      </p:sp>
      <p:sp>
        <p:nvSpPr>
          <p:cNvPr id="25" name="Text 23"/>
          <p:cNvSpPr txBox="1"/>
          <p:nvPr/>
        </p:nvSpPr>
        <p:spPr>
          <a:xfrm>
            <a:off x="457200" y="3520440"/>
            <a:ext cx="2249424" cy="347472"/>
          </a:xfrm>
          <a:prstGeom prst="rect">
            <a:avLst/>
          </a:prstGeom>
          <a:noFill/>
          <a:ln/>
        </p:spPr>
        <p:txBody>
          <a:bodyPr wrap="square" lIns="0" tIns="0" rIns="0" bIns="0" rtlCol="0" anchor="ctr"/>
          <a:lstStyle/>
          <a:p>
            <a:pPr algn="ctr" indent="0" marL="0">
              <a:buNone/>
            </a:pPr>
            <a:r>
              <a:rPr lang="en-US" sz="1200" dirty="0">
                <a:solidFill>
                  <a:schemeClr val="tx2"/>
                </a:solidFill>
              </a:rPr>
              <a:t>Inventarisasi karbon hutan</a:t>
            </a:r>
            <a:endParaRPr lang="en-US" sz="1200" dirty="0"/>
          </a:p>
        </p:txBody>
      </p:sp>
      <p:sp>
        <p:nvSpPr>
          <p:cNvPr id="26" name="Shape 24"/>
          <p:cNvSpPr/>
          <p:nvPr/>
        </p:nvSpPr>
        <p:spPr>
          <a:xfrm>
            <a:off x="2843784" y="3520440"/>
            <a:ext cx="2016252" cy="347472"/>
          </a:xfrm>
          <a:prstGeom prst="roundRect">
            <a:avLst>
              <a:gd name="adj" fmla="val 50000"/>
            </a:avLst>
          </a:prstGeom>
          <a:solidFill>
            <a:schemeClr val="bg2"/>
          </a:solidFill>
          <a:ln w="12700">
            <a:solidFill>
              <a:srgbClr val="2F7183"/>
            </a:solidFill>
            <a:prstDash val="solid"/>
          </a:ln>
        </p:spPr>
      </p:sp>
      <p:sp>
        <p:nvSpPr>
          <p:cNvPr id="27" name="Text 25"/>
          <p:cNvSpPr txBox="1"/>
          <p:nvPr/>
        </p:nvSpPr>
        <p:spPr>
          <a:xfrm>
            <a:off x="2843784" y="3520440"/>
            <a:ext cx="2016252" cy="347472"/>
          </a:xfrm>
          <a:prstGeom prst="rect">
            <a:avLst/>
          </a:prstGeom>
          <a:noFill/>
          <a:ln/>
        </p:spPr>
        <p:txBody>
          <a:bodyPr wrap="square" lIns="0" tIns="0" rIns="0" bIns="0" rtlCol="0" anchor="ctr"/>
          <a:lstStyle/>
          <a:p>
            <a:pPr algn="ctr" indent="0" marL="0">
              <a:buNone/>
            </a:pPr>
            <a:r>
              <a:rPr lang="en-US" sz="1200" dirty="0">
                <a:solidFill>
                  <a:schemeClr val="tx2"/>
                </a:solidFill>
              </a:rPr>
              <a:t>Nilai Konservasi Tinggi</a:t>
            </a:r>
            <a:endParaRPr lang="en-US" sz="1200" dirty="0"/>
          </a:p>
        </p:txBody>
      </p:sp>
      <p:sp>
        <p:nvSpPr>
          <p:cNvPr id="28" name="Shape 26"/>
          <p:cNvSpPr/>
          <p:nvPr/>
        </p:nvSpPr>
        <p:spPr>
          <a:xfrm>
            <a:off x="4997196" y="3520440"/>
            <a:ext cx="2638044" cy="347472"/>
          </a:xfrm>
          <a:prstGeom prst="roundRect">
            <a:avLst>
              <a:gd name="adj" fmla="val 50000"/>
            </a:avLst>
          </a:prstGeom>
          <a:solidFill>
            <a:schemeClr val="bg2"/>
          </a:solidFill>
          <a:ln w="12700">
            <a:solidFill>
              <a:srgbClr val="2F7183"/>
            </a:solidFill>
            <a:prstDash val="solid"/>
          </a:ln>
        </p:spPr>
      </p:sp>
      <p:sp>
        <p:nvSpPr>
          <p:cNvPr id="29" name="Text 27"/>
          <p:cNvSpPr txBox="1"/>
          <p:nvPr/>
        </p:nvSpPr>
        <p:spPr>
          <a:xfrm>
            <a:off x="4997196" y="3520440"/>
            <a:ext cx="2638044" cy="347472"/>
          </a:xfrm>
          <a:prstGeom prst="rect">
            <a:avLst/>
          </a:prstGeom>
          <a:noFill/>
          <a:ln/>
        </p:spPr>
        <p:txBody>
          <a:bodyPr wrap="square" lIns="0" tIns="0" rIns="0" bIns="0" rtlCol="0" anchor="ctr"/>
          <a:lstStyle/>
          <a:p>
            <a:pPr algn="ctr" indent="0" marL="0">
              <a:buNone/>
            </a:pPr>
            <a:r>
              <a:rPr lang="en-US" sz="1200" dirty="0">
                <a:solidFill>
                  <a:schemeClr val="tx2"/>
                </a:solidFill>
              </a:rPr>
              <a:t>Karakteristik gambut &amp; mangrove</a:t>
            </a:r>
            <a:endParaRPr lang="en-US" sz="1200" dirty="0"/>
          </a:p>
        </p:txBody>
      </p:sp>
      <p:sp>
        <p:nvSpPr>
          <p:cNvPr id="30" name="Shape 28"/>
          <p:cNvSpPr/>
          <p:nvPr/>
        </p:nvSpPr>
        <p:spPr>
          <a:xfrm>
            <a:off x="457200" y="3977640"/>
            <a:ext cx="2404872" cy="347472"/>
          </a:xfrm>
          <a:prstGeom prst="roundRect">
            <a:avLst>
              <a:gd name="adj" fmla="val 50000"/>
            </a:avLst>
          </a:prstGeom>
          <a:solidFill>
            <a:schemeClr val="bg2"/>
          </a:solidFill>
          <a:ln w="12700">
            <a:solidFill>
              <a:srgbClr val="2F7183"/>
            </a:solidFill>
            <a:prstDash val="solid"/>
          </a:ln>
        </p:spPr>
      </p:sp>
      <p:sp>
        <p:nvSpPr>
          <p:cNvPr id="31" name="Text 29"/>
          <p:cNvSpPr txBox="1"/>
          <p:nvPr/>
        </p:nvSpPr>
        <p:spPr>
          <a:xfrm>
            <a:off x="457200" y="3977640"/>
            <a:ext cx="2404872" cy="347472"/>
          </a:xfrm>
          <a:prstGeom prst="rect">
            <a:avLst/>
          </a:prstGeom>
          <a:noFill/>
          <a:ln/>
        </p:spPr>
        <p:txBody>
          <a:bodyPr wrap="square" lIns="0" tIns="0" rIns="0" bIns="0" rtlCol="0" anchor="ctr"/>
          <a:lstStyle/>
          <a:p>
            <a:pPr algn="ctr" indent="0" marL="0">
              <a:buNone/>
            </a:pPr>
            <a:r>
              <a:rPr lang="en-US" sz="1200" dirty="0">
                <a:solidFill>
                  <a:schemeClr val="tx2"/>
                </a:solidFill>
              </a:rPr>
              <a:t>Flora, fauna &amp; biodiversitas</a:t>
            </a:r>
            <a:endParaRPr lang="en-US" sz="1200" dirty="0"/>
          </a:p>
        </p:txBody>
      </p:sp>
      <p:sp>
        <p:nvSpPr>
          <p:cNvPr id="32" name="Shape 30"/>
          <p:cNvSpPr/>
          <p:nvPr/>
        </p:nvSpPr>
        <p:spPr>
          <a:xfrm>
            <a:off x="2999232" y="3977640"/>
            <a:ext cx="1239012" cy="347472"/>
          </a:xfrm>
          <a:prstGeom prst="roundRect">
            <a:avLst>
              <a:gd name="adj" fmla="val 50000"/>
            </a:avLst>
          </a:prstGeom>
          <a:solidFill>
            <a:schemeClr val="bg2"/>
          </a:solidFill>
          <a:ln w="12700">
            <a:solidFill>
              <a:srgbClr val="2F7183"/>
            </a:solidFill>
            <a:prstDash val="solid"/>
          </a:ln>
        </p:spPr>
      </p:sp>
      <p:sp>
        <p:nvSpPr>
          <p:cNvPr id="33" name="Text 31"/>
          <p:cNvSpPr txBox="1"/>
          <p:nvPr/>
        </p:nvSpPr>
        <p:spPr>
          <a:xfrm>
            <a:off x="2999232" y="3977640"/>
            <a:ext cx="1239012" cy="347472"/>
          </a:xfrm>
          <a:prstGeom prst="rect">
            <a:avLst/>
          </a:prstGeom>
          <a:noFill/>
          <a:ln/>
        </p:spPr>
        <p:txBody>
          <a:bodyPr wrap="square" lIns="0" tIns="0" rIns="0" bIns="0" rtlCol="0" anchor="ctr"/>
          <a:lstStyle/>
          <a:p>
            <a:pPr algn="ctr" indent="0" marL="0">
              <a:buNone/>
            </a:pPr>
            <a:r>
              <a:rPr lang="en-US" sz="1200" dirty="0">
                <a:solidFill>
                  <a:schemeClr val="tx2"/>
                </a:solidFill>
              </a:rPr>
              <a:t>Survei sosial</a:t>
            </a:r>
            <a:endParaRPr lang="en-US" sz="1200" dirty="0"/>
          </a:p>
        </p:txBody>
      </p:sp>
      <p:sp>
        <p:nvSpPr>
          <p:cNvPr id="34" name="Text 32"/>
          <p:cNvSpPr txBox="1"/>
          <p:nvPr/>
        </p:nvSpPr>
        <p:spPr>
          <a:xfrm>
            <a:off x="457200" y="4224528"/>
            <a:ext cx="8229600" cy="411480"/>
          </a:xfrm>
          <a:prstGeom prst="rect">
            <a:avLst/>
          </a:prstGeom>
          <a:noFill/>
          <a:ln/>
        </p:spPr>
        <p:txBody>
          <a:bodyPr wrap="square" lIns="0" tIns="0" rIns="0" bIns="0" rtlCol="0" anchor="ctr"/>
          <a:lstStyle/>
          <a:p>
            <a:pPr indent="0" marL="0">
              <a:buNone/>
            </a:pPr>
            <a:r>
              <a:rPr lang="en-US" sz="1200" i="1" dirty="0">
                <a:solidFill>
                  <a:schemeClr val="accent5"/>
                </a:solidFill>
              </a:rPr>
              <a:t>Hasil yang dituju: data baseline, DRAM/PDD, dan proyek masuk pipeline SRUK serta registri internasional</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Output 3 · Kemitraan swasta untuk membiayai tahap setelah registrasi</a:t>
            </a:r>
            <a:endParaRPr lang="en-US" sz="2200" dirty="0"/>
          </a:p>
        </p:txBody>
      </p:sp>
      <p:sp>
        <p:nvSpPr>
          <p:cNvPr id="3" name="Panel alasan"/>
          <p:cNvSpPr/>
          <p:nvPr/>
        </p:nvSpPr>
        <p:spPr>
          <a:xfrm>
            <a:off x="457200" y="1188720"/>
            <a:ext cx="3657600" cy="3291840"/>
          </a:xfrm>
          <a:prstGeom prst="rect">
            <a:avLst/>
          </a:prstGeom>
          <a:solidFill>
            <a:schemeClr val="tx2"/>
          </a:solidFill>
          <a:ln/>
        </p:spPr>
      </p:sp>
      <p:sp>
        <p:nvSpPr>
          <p:cNvPr id="4" name="Text 2"/>
          <p:cNvSpPr txBox="1"/>
          <p:nvPr/>
        </p:nvSpPr>
        <p:spPr>
          <a:xfrm>
            <a:off x="731520" y="1417320"/>
            <a:ext cx="3108960" cy="365760"/>
          </a:xfrm>
          <a:prstGeom prst="rect">
            <a:avLst/>
          </a:prstGeom>
          <a:noFill/>
          <a:ln/>
        </p:spPr>
        <p:txBody>
          <a:bodyPr wrap="square" lIns="0" tIns="0" rIns="0" bIns="0" rtlCol="0" anchor="t"/>
          <a:lstStyle/>
          <a:p>
            <a:pPr indent="0" marL="0">
              <a:buNone/>
            </a:pPr>
            <a:r>
              <a:rPr lang="en-US" sz="1600" b="1" dirty="0">
                <a:solidFill>
                  <a:schemeClr val="accent6"/>
                </a:solidFill>
                <a:latin typeface="Cambria" pitchFamily="34" charset="0"/>
                <a:ea typeface="Cambria" pitchFamily="34" charset="-122"/>
                <a:cs typeface="Cambria" pitchFamily="34" charset="-120"/>
              </a:rPr>
              <a:t>Mengapa perlu mitra swasta?</a:t>
            </a:r>
            <a:endParaRPr lang="en-US" sz="1600" dirty="0"/>
          </a:p>
        </p:txBody>
      </p:sp>
      <p:sp>
        <p:nvSpPr>
          <p:cNvPr id="5" name="Text 3"/>
          <p:cNvSpPr txBox="1"/>
          <p:nvPr/>
        </p:nvSpPr>
        <p:spPr>
          <a:xfrm>
            <a:off x="731520" y="1874520"/>
            <a:ext cx="3108960" cy="1371600"/>
          </a:xfrm>
          <a:prstGeom prst="rect">
            <a:avLst/>
          </a:prstGeom>
          <a:noFill/>
          <a:ln/>
        </p:spPr>
        <p:txBody>
          <a:bodyPr wrap="square" lIns="0" tIns="0" rIns="0" bIns="0" rtlCol="0" anchor="t"/>
          <a:lstStyle/>
          <a:p>
            <a:pPr indent="0" marL="0">
              <a:buNone/>
            </a:pPr>
            <a:r>
              <a:rPr lang="en-US" sz="1400" dirty="0">
                <a:solidFill>
                  <a:schemeClr val="bg1"/>
                </a:solidFill>
              </a:rPr>
              <a:t>Dukungan SETAPAK membawa proyek sampai terdaftar di SRUK dan registri. Dari registrasi ke penjualan unit karbon masih ada monitoring, verifikasi, dan penerbitan sertifikat, yang semuanya butuh biaya.</a:t>
            </a:r>
            <a:endParaRPr lang="en-US" sz="1400" dirty="0"/>
          </a:p>
        </p:txBody>
      </p:sp>
      <p:sp>
        <p:nvSpPr>
          <p:cNvPr id="6" name="Text 4"/>
          <p:cNvSpPr txBox="1"/>
          <p:nvPr/>
        </p:nvSpPr>
        <p:spPr>
          <a:xfrm>
            <a:off x="731520" y="3291840"/>
            <a:ext cx="3108960" cy="1005840"/>
          </a:xfrm>
          <a:prstGeom prst="rect">
            <a:avLst/>
          </a:prstGeom>
          <a:noFill/>
          <a:ln/>
        </p:spPr>
        <p:txBody>
          <a:bodyPr wrap="square" lIns="0" tIns="0" rIns="0" bIns="0" rtlCol="0" anchor="t"/>
          <a:lstStyle/>
          <a:p>
            <a:pPr indent="0" marL="0">
              <a:buNone/>
            </a:pPr>
            <a:r>
              <a:rPr lang="en-US" sz="1200" i="1" dirty="0">
                <a:solidFill>
                  <a:schemeClr val="accent3"/>
                </a:solidFill>
              </a:rPr>
              <a:t>Mitra yang dicari: swasta dengan komitmen lingkungan yang berpihak pada KPS, mendukung transfer pengetahuan, investasi awal, dan akses pasar.</a:t>
            </a:r>
            <a:endParaRPr lang="en-US" sz="1200" dirty="0"/>
          </a:p>
        </p:txBody>
      </p:sp>
      <p:sp>
        <p:nvSpPr>
          <p:cNvPr id="7" name="Langkah O3 1 lingkaran"/>
          <p:cNvSpPr/>
          <p:nvPr/>
        </p:nvSpPr>
        <p:spPr>
          <a:xfrm>
            <a:off x="4526280" y="1234440"/>
            <a:ext cx="548640" cy="548640"/>
          </a:xfrm>
          <a:prstGeom prst="ellipse">
            <a:avLst/>
          </a:prstGeom>
          <a:solidFill>
            <a:schemeClr val="accent6"/>
          </a:solidFill>
          <a:ln/>
        </p:spPr>
      </p:sp>
      <p:pic>
        <p:nvPicPr>
          <p:cNvPr id="8" name="Langkah O3 1 ikon" descr="preencoded.png">    </p:cNvPr>
          <p:cNvPicPr>
            <a:picLocks noChangeAspect="1"/>
          </p:cNvPicPr>
          <p:nvPr/>
        </p:nvPicPr>
        <p:blipFill>
          <a:blip r:embed="rId1"/>
          <a:stretch>
            <a:fillRect/>
          </a:stretch>
        </p:blipFill>
        <p:spPr>
          <a:xfrm>
            <a:off x="4668926" y="1377086"/>
            <a:ext cx="263347" cy="263347"/>
          </a:xfrm>
          <a:prstGeom prst="rect">
            <a:avLst/>
          </a:prstGeom>
        </p:spPr>
      </p:pic>
      <p:sp>
        <p:nvSpPr>
          <p:cNvPr id="9" name="Shape 6"/>
          <p:cNvSpPr/>
          <p:nvPr/>
        </p:nvSpPr>
        <p:spPr>
          <a:xfrm>
            <a:off x="4800600" y="1828800"/>
            <a:ext cx="0" cy="457200"/>
          </a:xfrm>
          <a:prstGeom prst="line">
            <a:avLst/>
          </a:prstGeom>
          <a:noFill/>
          <a:ln w="19050">
            <a:solidFill>
              <a:srgbClr val="C99A2E"/>
            </a:solidFill>
            <a:prstDash val="dash"/>
          </a:ln>
        </p:spPr>
      </p:sp>
      <p:sp>
        <p:nvSpPr>
          <p:cNvPr id="10" name="Text 7"/>
          <p:cNvSpPr txBox="1"/>
          <p:nvPr/>
        </p:nvSpPr>
        <p:spPr>
          <a:xfrm>
            <a:off x="5257800" y="1252728"/>
            <a:ext cx="3429000" cy="868680"/>
          </a:xfrm>
          <a:prstGeom prst="rect">
            <a:avLst/>
          </a:prstGeom>
          <a:noFill/>
          <a:ln/>
        </p:spPr>
        <p:txBody>
          <a:bodyPr wrap="square" lIns="0" tIns="0" rIns="0" bIns="0" rtlCol="0" anchor="t"/>
          <a:lstStyle/>
          <a:p>
            <a:pPr indent="0" marL="0">
              <a:buNone/>
            </a:pPr>
            <a:r>
              <a:rPr lang="en-US" sz="1400" b="1" dirty="0">
                <a:solidFill>
                  <a:schemeClr val="tx1"/>
                </a:solidFill>
              </a:rPr>
              <a:t>Feasibility study proyek</a:t>
            </a:r>
            <a:endParaRPr lang="en-US" sz="1400" dirty="0"/>
          </a:p>
          <a:p>
            <a:pPr indent="0" marL="0">
              <a:buNone/>
            </a:pPr>
            <a:r>
              <a:rPr lang="en-US" sz="1200" dirty="0">
                <a:solidFill>
                  <a:schemeClr val="tx1"/>
                </a:solidFill>
              </a:rPr>
              <a:t>Kelayakan teknis dan finansial sebagai bahan negosiasi</a:t>
            </a:r>
            <a:endParaRPr lang="en-US" sz="1400" dirty="0"/>
          </a:p>
        </p:txBody>
      </p:sp>
      <p:sp>
        <p:nvSpPr>
          <p:cNvPr id="11" name="Langkah O3 2 lingkaran"/>
          <p:cNvSpPr/>
          <p:nvPr/>
        </p:nvSpPr>
        <p:spPr>
          <a:xfrm>
            <a:off x="4526280" y="2331720"/>
            <a:ext cx="548640" cy="548640"/>
          </a:xfrm>
          <a:prstGeom prst="ellipse">
            <a:avLst/>
          </a:prstGeom>
          <a:solidFill>
            <a:schemeClr val="accent6"/>
          </a:solidFill>
          <a:ln/>
        </p:spPr>
      </p:sp>
      <p:pic>
        <p:nvPicPr>
          <p:cNvPr id="12" name="Langkah O3 2 ikon" descr="preencoded.png">    </p:cNvPr>
          <p:cNvPicPr>
            <a:picLocks noChangeAspect="1"/>
          </p:cNvPicPr>
          <p:nvPr/>
        </p:nvPicPr>
        <p:blipFill>
          <a:blip r:embed="rId2"/>
          <a:stretch>
            <a:fillRect/>
          </a:stretch>
        </p:blipFill>
        <p:spPr>
          <a:xfrm>
            <a:off x="4668926" y="2474366"/>
            <a:ext cx="263347" cy="263347"/>
          </a:xfrm>
          <a:prstGeom prst="rect">
            <a:avLst/>
          </a:prstGeom>
        </p:spPr>
      </p:pic>
      <p:sp>
        <p:nvSpPr>
          <p:cNvPr id="13" name="Shape 9"/>
          <p:cNvSpPr/>
          <p:nvPr/>
        </p:nvSpPr>
        <p:spPr>
          <a:xfrm>
            <a:off x="4800600" y="2926080"/>
            <a:ext cx="0" cy="457200"/>
          </a:xfrm>
          <a:prstGeom prst="line">
            <a:avLst/>
          </a:prstGeom>
          <a:noFill/>
          <a:ln w="19050">
            <a:solidFill>
              <a:srgbClr val="C99A2E"/>
            </a:solidFill>
            <a:prstDash val="dash"/>
          </a:ln>
        </p:spPr>
      </p:sp>
      <p:sp>
        <p:nvSpPr>
          <p:cNvPr id="14" name="Text 10"/>
          <p:cNvSpPr txBox="1"/>
          <p:nvPr/>
        </p:nvSpPr>
        <p:spPr>
          <a:xfrm>
            <a:off x="5257800" y="2350008"/>
            <a:ext cx="3429000" cy="868680"/>
          </a:xfrm>
          <a:prstGeom prst="rect">
            <a:avLst/>
          </a:prstGeom>
          <a:noFill/>
          <a:ln/>
        </p:spPr>
        <p:txBody>
          <a:bodyPr wrap="square" lIns="0" tIns="0" rIns="0" bIns="0" rtlCol="0" anchor="t"/>
          <a:lstStyle/>
          <a:p>
            <a:pPr indent="0" marL="0">
              <a:buNone/>
            </a:pPr>
            <a:r>
              <a:rPr lang="en-US" sz="1400" b="1" dirty="0">
                <a:solidFill>
                  <a:schemeClr val="tx1"/>
                </a:solidFill>
              </a:rPr>
              <a:t>Series High-Level Meeting (3.1.1)</a:t>
            </a:r>
            <a:endParaRPr lang="en-US" sz="1400" dirty="0"/>
          </a:p>
          <a:p>
            <a:pPr indent="0" marL="0">
              <a:buNone/>
            </a:pPr>
            <a:r>
              <a:rPr lang="en-US" sz="1200" dirty="0">
                <a:solidFill>
                  <a:schemeClr val="tx1"/>
                </a:solidFill>
              </a:rPr>
              <a:t>Forum bisnis dan pertemuan tingkat tinggi dengan calon mitra</a:t>
            </a:r>
            <a:endParaRPr lang="en-US" sz="1400" dirty="0"/>
          </a:p>
        </p:txBody>
      </p:sp>
      <p:sp>
        <p:nvSpPr>
          <p:cNvPr id="15" name="Langkah O3 3 lingkaran"/>
          <p:cNvSpPr/>
          <p:nvPr/>
        </p:nvSpPr>
        <p:spPr>
          <a:xfrm>
            <a:off x="4526280" y="3429000"/>
            <a:ext cx="548640" cy="548640"/>
          </a:xfrm>
          <a:prstGeom prst="ellipse">
            <a:avLst/>
          </a:prstGeom>
          <a:solidFill>
            <a:schemeClr val="accent6"/>
          </a:solidFill>
          <a:ln/>
        </p:spPr>
      </p:sp>
      <p:pic>
        <p:nvPicPr>
          <p:cNvPr id="16" name="Langkah O3 3 ikon" descr="preencoded.png">    </p:cNvPr>
          <p:cNvPicPr>
            <a:picLocks noChangeAspect="1"/>
          </p:cNvPicPr>
          <p:nvPr/>
        </p:nvPicPr>
        <p:blipFill>
          <a:blip r:embed="rId3"/>
          <a:stretch>
            <a:fillRect/>
          </a:stretch>
        </p:blipFill>
        <p:spPr>
          <a:xfrm>
            <a:off x="4668926" y="3571646"/>
            <a:ext cx="263347" cy="263347"/>
          </a:xfrm>
          <a:prstGeom prst="rect">
            <a:avLst/>
          </a:prstGeom>
        </p:spPr>
      </p:pic>
      <p:sp>
        <p:nvSpPr>
          <p:cNvPr id="17" name="Text 12"/>
          <p:cNvSpPr txBox="1"/>
          <p:nvPr/>
        </p:nvSpPr>
        <p:spPr>
          <a:xfrm>
            <a:off x="5257800" y="3447288"/>
            <a:ext cx="3429000" cy="868680"/>
          </a:xfrm>
          <a:prstGeom prst="rect">
            <a:avLst/>
          </a:prstGeom>
          <a:noFill/>
          <a:ln/>
        </p:spPr>
        <p:txBody>
          <a:bodyPr wrap="square" lIns="0" tIns="0" rIns="0" bIns="0" rtlCol="0" anchor="t"/>
          <a:lstStyle/>
          <a:p>
            <a:pPr indent="0" marL="0">
              <a:buNone/>
            </a:pPr>
            <a:r>
              <a:rPr lang="en-US" sz="1400" b="1" dirty="0">
                <a:solidFill>
                  <a:schemeClr val="tx1"/>
                </a:solidFill>
              </a:rPr>
              <a:t>Penandatanganan kerja sama (3.1.2)</a:t>
            </a:r>
            <a:endParaRPr lang="en-US" sz="1400" dirty="0"/>
          </a:p>
          <a:p>
            <a:pPr indent="0" marL="0">
              <a:buNone/>
            </a:pPr>
            <a:r>
              <a:rPr lang="en-US" sz="1200" dirty="0">
                <a:solidFill>
                  <a:schemeClr val="tx1"/>
                </a:solidFill>
              </a:rPr>
              <a:t>Perjanjian pengembangan proyek, offtake, dan/atau pembelian unit karbon</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Output 4 · Perempuan ikut menentukan arah proyek, bukan sekadar hadir</a:t>
            </a:r>
            <a:endParaRPr lang="en-US" sz="2200" dirty="0"/>
          </a:p>
        </p:txBody>
      </p:sp>
      <p:sp>
        <p:nvSpPr>
          <p:cNvPr id="3" name="Text 1"/>
          <p:cNvSpPr txBox="1"/>
          <p:nvPr/>
        </p:nvSpPr>
        <p:spPr>
          <a:xfrm>
            <a:off x="457200" y="1188720"/>
            <a:ext cx="2926080" cy="100584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≥40%</a:t>
            </a:r>
            <a:endParaRPr lang="en-US" sz="6000" dirty="0"/>
          </a:p>
        </p:txBody>
      </p:sp>
      <p:sp>
        <p:nvSpPr>
          <p:cNvPr id="4" name="Text 2"/>
          <p:cNvSpPr txBox="1"/>
          <p:nvPr/>
        </p:nvSpPr>
        <p:spPr>
          <a:xfrm>
            <a:off x="457200" y="2240280"/>
            <a:ext cx="2743200" cy="640080"/>
          </a:xfrm>
          <a:prstGeom prst="rect">
            <a:avLst/>
          </a:prstGeom>
          <a:noFill/>
          <a:ln/>
        </p:spPr>
        <p:txBody>
          <a:bodyPr wrap="square" lIns="0" tIns="0" rIns="0" bIns="0" rtlCol="0" anchor="t"/>
          <a:lstStyle/>
          <a:p>
            <a:pPr indent="0" marL="0">
              <a:buNone/>
            </a:pPr>
            <a:r>
              <a:rPr lang="en-US" sz="1600" b="1" dirty="0">
                <a:solidFill>
                  <a:schemeClr val="tx2"/>
                </a:solidFill>
              </a:rPr>
              <a:t>perempuan dalam kepengurusan LPHD dan KUPS</a:t>
            </a:r>
            <a:endParaRPr lang="en-US" sz="1600" dirty="0"/>
          </a:p>
        </p:txBody>
      </p:sp>
      <p:sp>
        <p:nvSpPr>
          <p:cNvPr id="5" name="Text 3"/>
          <p:cNvSpPr txBox="1"/>
          <p:nvPr/>
        </p:nvSpPr>
        <p:spPr>
          <a:xfrm>
            <a:off x="457200" y="3017520"/>
            <a:ext cx="2834640" cy="1371600"/>
          </a:xfrm>
          <a:prstGeom prst="rect">
            <a:avLst/>
          </a:prstGeom>
          <a:noFill/>
          <a:ln/>
        </p:spPr>
        <p:txBody>
          <a:bodyPr wrap="square" lIns="0" tIns="0" rIns="0" bIns="0" rtlCol="0" anchor="t"/>
          <a:lstStyle/>
          <a:p>
            <a:pPr indent="0" marL="0">
              <a:buNone/>
            </a:pPr>
            <a:r>
              <a:rPr lang="en-US" sz="1200" i="1" dirty="0">
                <a:solidFill>
                  <a:schemeClr val="accent5"/>
                </a:solidFill>
              </a:rPr>
              <a:t>Keterlibatan perempuan, orang muda, penyandang disabilitas, dan kelompok rentan memperkuat kualitas dan kredibilitas karbon masyarakat yang dihasilkan.</a:t>
            </a:r>
            <a:endParaRPr lang="en-US" sz="1200" dirty="0"/>
          </a:p>
        </p:txBody>
      </p:sp>
      <p:sp>
        <p:nvSpPr>
          <p:cNvPr id="6" name="Aktivitas O4 1"/>
          <p:cNvSpPr/>
          <p:nvPr/>
        </p:nvSpPr>
        <p:spPr>
          <a:xfrm>
            <a:off x="3749040" y="1188720"/>
            <a:ext cx="4937760" cy="713232"/>
          </a:xfrm>
          <a:prstGeom prst="rect">
            <a:avLst/>
          </a:prstGeom>
          <a:solidFill>
            <a:schemeClr val="bg2"/>
          </a:solidFill>
          <a:ln/>
        </p:spPr>
      </p:sp>
      <p:sp>
        <p:nvSpPr>
          <p:cNvPr id="7" name="Aktivitas O4 1 lingkaran"/>
          <p:cNvSpPr/>
          <p:nvPr/>
        </p:nvSpPr>
        <p:spPr>
          <a:xfrm>
            <a:off x="3886200" y="1316736"/>
            <a:ext cx="457200" cy="457200"/>
          </a:xfrm>
          <a:prstGeom prst="ellipse">
            <a:avLst/>
          </a:prstGeom>
          <a:solidFill>
            <a:schemeClr val="accent2"/>
          </a:solidFill>
          <a:ln/>
        </p:spPr>
      </p:sp>
      <p:pic>
        <p:nvPicPr>
          <p:cNvPr id="8" name="Aktivitas O4 1 ikon" descr="preencoded.png">    </p:cNvPr>
          <p:cNvPicPr>
            <a:picLocks noChangeAspect="1"/>
          </p:cNvPicPr>
          <p:nvPr/>
        </p:nvPicPr>
        <p:blipFill>
          <a:blip r:embed="rId1"/>
          <a:stretch>
            <a:fillRect/>
          </a:stretch>
        </p:blipFill>
        <p:spPr>
          <a:xfrm>
            <a:off x="4005072" y="1435608"/>
            <a:ext cx="219456" cy="219456"/>
          </a:xfrm>
          <a:prstGeom prst="rect">
            <a:avLst/>
          </a:prstGeom>
        </p:spPr>
      </p:pic>
      <p:sp>
        <p:nvSpPr>
          <p:cNvPr id="9" name="Text 6"/>
          <p:cNvSpPr txBox="1"/>
          <p:nvPr/>
        </p:nvSpPr>
        <p:spPr>
          <a:xfrm>
            <a:off x="4480560" y="1243584"/>
            <a:ext cx="4114800" cy="640080"/>
          </a:xfrm>
          <a:prstGeom prst="rect">
            <a:avLst/>
          </a:prstGeom>
          <a:noFill/>
          <a:ln/>
        </p:spPr>
        <p:txBody>
          <a:bodyPr wrap="square" lIns="0" tIns="0" rIns="0" bIns="0" rtlCol="0" anchor="ctr"/>
          <a:lstStyle/>
          <a:p>
            <a:pPr indent="0" marL="0">
              <a:buNone/>
            </a:pPr>
            <a:r>
              <a:rPr lang="en-US" sz="1400" b="1" dirty="0">
                <a:solidFill>
                  <a:schemeClr val="tx2"/>
                </a:solidFill>
              </a:rPr>
              <a:t>GEDSI Action Plan (4.1.1)</a:t>
            </a:r>
            <a:endParaRPr lang="en-US" sz="1400" dirty="0"/>
          </a:p>
          <a:p>
            <a:pPr indent="0" marL="0">
              <a:buNone/>
            </a:pPr>
            <a:r>
              <a:rPr lang="en-US" sz="1200" dirty="0">
                <a:solidFill>
                  <a:schemeClr val="tx1"/>
                </a:solidFill>
              </a:rPr>
              <a:t>Acuan pelibatan kelompok rentan, pembagian manfaat, pengaduan, dan pemantauan keterwakilan</a:t>
            </a:r>
            <a:endParaRPr lang="en-US" sz="1400" dirty="0"/>
          </a:p>
        </p:txBody>
      </p:sp>
      <p:sp>
        <p:nvSpPr>
          <p:cNvPr id="10" name="Aktivitas O4 2"/>
          <p:cNvSpPr/>
          <p:nvPr/>
        </p:nvSpPr>
        <p:spPr>
          <a:xfrm>
            <a:off x="3749040" y="2011680"/>
            <a:ext cx="4937760" cy="713232"/>
          </a:xfrm>
          <a:prstGeom prst="rect">
            <a:avLst/>
          </a:prstGeom>
          <a:solidFill>
            <a:schemeClr val="bg2"/>
          </a:solidFill>
          <a:ln/>
        </p:spPr>
      </p:sp>
      <p:sp>
        <p:nvSpPr>
          <p:cNvPr id="11" name="Aktivitas O4 2 lingkaran"/>
          <p:cNvSpPr/>
          <p:nvPr/>
        </p:nvSpPr>
        <p:spPr>
          <a:xfrm>
            <a:off x="3886200" y="2139696"/>
            <a:ext cx="457200" cy="457200"/>
          </a:xfrm>
          <a:prstGeom prst="ellipse">
            <a:avLst/>
          </a:prstGeom>
          <a:solidFill>
            <a:schemeClr val="accent2"/>
          </a:solidFill>
          <a:ln/>
        </p:spPr>
      </p:sp>
      <p:pic>
        <p:nvPicPr>
          <p:cNvPr id="12" name="Aktivitas O4 2 ikon" descr="preencoded.png">    </p:cNvPr>
          <p:cNvPicPr>
            <a:picLocks noChangeAspect="1"/>
          </p:cNvPicPr>
          <p:nvPr/>
        </p:nvPicPr>
        <p:blipFill>
          <a:blip r:embed="rId2"/>
          <a:stretch>
            <a:fillRect/>
          </a:stretch>
        </p:blipFill>
        <p:spPr>
          <a:xfrm>
            <a:off x="4005072" y="2258568"/>
            <a:ext cx="219456" cy="219456"/>
          </a:xfrm>
          <a:prstGeom prst="rect">
            <a:avLst/>
          </a:prstGeom>
        </p:spPr>
      </p:pic>
      <p:sp>
        <p:nvSpPr>
          <p:cNvPr id="13" name="Text 9"/>
          <p:cNvSpPr txBox="1"/>
          <p:nvPr/>
        </p:nvSpPr>
        <p:spPr>
          <a:xfrm>
            <a:off x="4480560" y="2066544"/>
            <a:ext cx="4114800" cy="640080"/>
          </a:xfrm>
          <a:prstGeom prst="rect">
            <a:avLst/>
          </a:prstGeom>
          <a:noFill/>
          <a:ln/>
        </p:spPr>
        <p:txBody>
          <a:bodyPr wrap="square" lIns="0" tIns="0" rIns="0" bIns="0" rtlCol="0" anchor="ctr"/>
          <a:lstStyle/>
          <a:p>
            <a:pPr indent="0" marL="0">
              <a:buNone/>
            </a:pPr>
            <a:r>
              <a:rPr lang="en-US" sz="1400" b="1" dirty="0">
                <a:solidFill>
                  <a:schemeClr val="tx2"/>
                </a:solidFill>
              </a:rPr>
              <a:t>Women Forest Defender (4.1.2)</a:t>
            </a:r>
            <a:endParaRPr lang="en-US" sz="1400" dirty="0"/>
          </a:p>
          <a:p>
            <a:pPr indent="0" marL="0">
              <a:buNone/>
            </a:pPr>
            <a:r>
              <a:rPr lang="en-US" sz="1200" dirty="0">
                <a:solidFill>
                  <a:schemeClr val="tx1"/>
                </a:solidFill>
              </a:rPr>
              <a:t>Wadah perempuan untuk patroli, pemantauan kawasan, pencegahan karhutla, dan rehabilitasi</a:t>
            </a:r>
            <a:endParaRPr lang="en-US" sz="1400" dirty="0"/>
          </a:p>
        </p:txBody>
      </p:sp>
      <p:sp>
        <p:nvSpPr>
          <p:cNvPr id="14" name="Aktivitas O4 3"/>
          <p:cNvSpPr/>
          <p:nvPr/>
        </p:nvSpPr>
        <p:spPr>
          <a:xfrm>
            <a:off x="3749040" y="2834640"/>
            <a:ext cx="4937760" cy="713232"/>
          </a:xfrm>
          <a:prstGeom prst="rect">
            <a:avLst/>
          </a:prstGeom>
          <a:solidFill>
            <a:schemeClr val="bg2"/>
          </a:solidFill>
          <a:ln/>
        </p:spPr>
      </p:sp>
      <p:sp>
        <p:nvSpPr>
          <p:cNvPr id="15" name="Aktivitas O4 3 lingkaran"/>
          <p:cNvSpPr/>
          <p:nvPr/>
        </p:nvSpPr>
        <p:spPr>
          <a:xfrm>
            <a:off x="3886200" y="2962656"/>
            <a:ext cx="457200" cy="457200"/>
          </a:xfrm>
          <a:prstGeom prst="ellipse">
            <a:avLst/>
          </a:prstGeom>
          <a:solidFill>
            <a:schemeClr val="accent2"/>
          </a:solidFill>
          <a:ln/>
        </p:spPr>
      </p:sp>
      <p:pic>
        <p:nvPicPr>
          <p:cNvPr id="16" name="Aktivitas O4 3 ikon" descr="preencoded.png">    </p:cNvPr>
          <p:cNvPicPr>
            <a:picLocks noChangeAspect="1"/>
          </p:cNvPicPr>
          <p:nvPr/>
        </p:nvPicPr>
        <p:blipFill>
          <a:blip r:embed="rId3"/>
          <a:stretch>
            <a:fillRect/>
          </a:stretch>
        </p:blipFill>
        <p:spPr>
          <a:xfrm>
            <a:off x="4005072" y="3081528"/>
            <a:ext cx="219456" cy="219456"/>
          </a:xfrm>
          <a:prstGeom prst="rect">
            <a:avLst/>
          </a:prstGeom>
        </p:spPr>
      </p:pic>
      <p:sp>
        <p:nvSpPr>
          <p:cNvPr id="17" name="Text 12"/>
          <p:cNvSpPr txBox="1"/>
          <p:nvPr/>
        </p:nvSpPr>
        <p:spPr>
          <a:xfrm>
            <a:off x="4480560" y="2889504"/>
            <a:ext cx="4114800" cy="640080"/>
          </a:xfrm>
          <a:prstGeom prst="rect">
            <a:avLst/>
          </a:prstGeom>
          <a:noFill/>
          <a:ln/>
        </p:spPr>
        <p:txBody>
          <a:bodyPr wrap="square" lIns="0" tIns="0" rIns="0" bIns="0" rtlCol="0" anchor="ctr"/>
          <a:lstStyle/>
          <a:p>
            <a:pPr indent="0" marL="0">
              <a:buNone/>
            </a:pPr>
            <a:r>
              <a:rPr lang="en-US" sz="1400" b="1" dirty="0">
                <a:solidFill>
                  <a:schemeClr val="tx2"/>
                </a:solidFill>
              </a:rPr>
              <a:t>Pelatihan kepemimpinan perempuan (4.2.1)</a:t>
            </a:r>
            <a:endParaRPr lang="en-US" sz="1400" dirty="0"/>
          </a:p>
          <a:p>
            <a:pPr indent="0" marL="0">
              <a:buNone/>
            </a:pPr>
            <a:r>
              <a:rPr lang="en-US" sz="1200" dirty="0">
                <a:solidFill>
                  <a:schemeClr val="tx1"/>
                </a:solidFill>
              </a:rPr>
              <a:t>Memperkuat kapasitas dan keterwakilan perempuan di posisi strategis</a:t>
            </a:r>
            <a:endParaRPr lang="en-US" sz="1400" dirty="0"/>
          </a:p>
        </p:txBody>
      </p:sp>
      <p:sp>
        <p:nvSpPr>
          <p:cNvPr id="18" name="Aktivitas O4 4"/>
          <p:cNvSpPr/>
          <p:nvPr/>
        </p:nvSpPr>
        <p:spPr>
          <a:xfrm>
            <a:off x="3749040" y="3657600"/>
            <a:ext cx="4937760" cy="713232"/>
          </a:xfrm>
          <a:prstGeom prst="rect">
            <a:avLst/>
          </a:prstGeom>
          <a:solidFill>
            <a:schemeClr val="bg2"/>
          </a:solidFill>
          <a:ln/>
        </p:spPr>
      </p:sp>
      <p:sp>
        <p:nvSpPr>
          <p:cNvPr id="19" name="Aktivitas O4 4 lingkaran"/>
          <p:cNvSpPr/>
          <p:nvPr/>
        </p:nvSpPr>
        <p:spPr>
          <a:xfrm>
            <a:off x="3886200" y="3785616"/>
            <a:ext cx="457200" cy="457200"/>
          </a:xfrm>
          <a:prstGeom prst="ellipse">
            <a:avLst/>
          </a:prstGeom>
          <a:solidFill>
            <a:schemeClr val="accent2"/>
          </a:solidFill>
          <a:ln/>
        </p:spPr>
      </p:sp>
      <p:pic>
        <p:nvPicPr>
          <p:cNvPr id="20" name="Aktivitas O4 4 ikon" descr="preencoded.png">    </p:cNvPr>
          <p:cNvPicPr>
            <a:picLocks noChangeAspect="1"/>
          </p:cNvPicPr>
          <p:nvPr/>
        </p:nvPicPr>
        <p:blipFill>
          <a:blip r:embed="rId4"/>
          <a:stretch>
            <a:fillRect/>
          </a:stretch>
        </p:blipFill>
        <p:spPr>
          <a:xfrm>
            <a:off x="4005072" y="3904488"/>
            <a:ext cx="219456" cy="219456"/>
          </a:xfrm>
          <a:prstGeom prst="rect">
            <a:avLst/>
          </a:prstGeom>
        </p:spPr>
      </p:pic>
      <p:sp>
        <p:nvSpPr>
          <p:cNvPr id="21" name="Text 15"/>
          <p:cNvSpPr txBox="1"/>
          <p:nvPr/>
        </p:nvSpPr>
        <p:spPr>
          <a:xfrm>
            <a:off x="4480560" y="3712464"/>
            <a:ext cx="4114800" cy="640080"/>
          </a:xfrm>
          <a:prstGeom prst="rect">
            <a:avLst/>
          </a:prstGeom>
          <a:noFill/>
          <a:ln/>
        </p:spPr>
        <p:txBody>
          <a:bodyPr wrap="square" lIns="0" tIns="0" rIns="0" bIns="0" rtlCol="0" anchor="ctr"/>
          <a:lstStyle/>
          <a:p>
            <a:pPr indent="0" marL="0">
              <a:buNone/>
            </a:pPr>
            <a:r>
              <a:rPr lang="en-US" sz="1400" b="1" dirty="0">
                <a:solidFill>
                  <a:schemeClr val="tx2"/>
                </a:solidFill>
              </a:rPr>
              <a:t>KUPS perempuan (bersama 1.4)</a:t>
            </a:r>
            <a:endParaRPr lang="en-US" sz="1400" dirty="0"/>
          </a:p>
          <a:p>
            <a:pPr indent="0" marL="0">
              <a:buNone/>
            </a:pPr>
            <a:r>
              <a:rPr lang="en-US" sz="1200" dirty="0">
                <a:solidFill>
                  <a:schemeClr val="tx1"/>
                </a:solidFill>
              </a:rPr>
              <a:t>Usaha berbasis potensi desa yang mendukung perlindungan hutan dan gambut</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Timeline Output 1: fondasi sosial dikejar di Q1</a:t>
            </a:r>
            <a:endParaRPr lang="en-US" sz="2200" dirty="0"/>
          </a:p>
        </p:txBody>
      </p:sp>
      <p:sp>
        <p:nvSpPr>
          <p:cNvPr id="3" name="Shape 1"/>
          <p:cNvSpPr/>
          <p:nvPr/>
        </p:nvSpPr>
        <p:spPr>
          <a:xfrm>
            <a:off x="3950208" y="960120"/>
            <a:ext cx="1152144" cy="182880"/>
          </a:xfrm>
          <a:prstGeom prst="rect">
            <a:avLst/>
          </a:prstGeom>
          <a:solidFill>
            <a:schemeClr val="tx2"/>
          </a:solidFill>
          <a:ln/>
        </p:spPr>
      </p:sp>
      <p:sp>
        <p:nvSpPr>
          <p:cNvPr id="4" name="Text 2"/>
          <p:cNvSpPr txBox="1"/>
          <p:nvPr/>
        </p:nvSpPr>
        <p:spPr>
          <a:xfrm>
            <a:off x="3931920" y="960120"/>
            <a:ext cx="1188720" cy="182880"/>
          </a:xfrm>
          <a:prstGeom prst="rect">
            <a:avLst/>
          </a:prstGeom>
          <a:noFill/>
          <a:ln/>
        </p:spPr>
        <p:txBody>
          <a:bodyPr wrap="square" lIns="0" tIns="0" rIns="0" bIns="0" rtlCol="0" anchor="ctr"/>
          <a:lstStyle/>
          <a:p>
            <a:pPr algn="ctr" indent="0" marL="0">
              <a:buNone/>
            </a:pPr>
            <a:r>
              <a:rPr lang="en-US" sz="1000" b="1" dirty="0">
                <a:solidFill>
                  <a:schemeClr val="bg1"/>
                </a:solidFill>
              </a:rPr>
              <a:t>Q1</a:t>
            </a:r>
            <a:endParaRPr lang="en-US" sz="1000" dirty="0"/>
          </a:p>
        </p:txBody>
      </p:sp>
      <p:sp>
        <p:nvSpPr>
          <p:cNvPr id="5" name="Shape 3"/>
          <p:cNvSpPr/>
          <p:nvPr/>
        </p:nvSpPr>
        <p:spPr>
          <a:xfrm>
            <a:off x="5138928" y="960120"/>
            <a:ext cx="1152144" cy="182880"/>
          </a:xfrm>
          <a:prstGeom prst="rect">
            <a:avLst/>
          </a:prstGeom>
          <a:solidFill>
            <a:schemeClr val="tx2"/>
          </a:solidFill>
          <a:ln/>
        </p:spPr>
      </p:sp>
      <p:sp>
        <p:nvSpPr>
          <p:cNvPr id="6" name="Text 4"/>
          <p:cNvSpPr txBox="1"/>
          <p:nvPr/>
        </p:nvSpPr>
        <p:spPr>
          <a:xfrm>
            <a:off x="5120640" y="960120"/>
            <a:ext cx="1188720" cy="182880"/>
          </a:xfrm>
          <a:prstGeom prst="rect">
            <a:avLst/>
          </a:prstGeom>
          <a:noFill/>
          <a:ln/>
        </p:spPr>
        <p:txBody>
          <a:bodyPr wrap="square" lIns="0" tIns="0" rIns="0" bIns="0" rtlCol="0" anchor="ctr"/>
          <a:lstStyle/>
          <a:p>
            <a:pPr algn="ctr" indent="0" marL="0">
              <a:buNone/>
            </a:pPr>
            <a:r>
              <a:rPr lang="en-US" sz="1000" b="1" dirty="0">
                <a:solidFill>
                  <a:schemeClr val="bg1"/>
                </a:solidFill>
              </a:rPr>
              <a:t>Q2</a:t>
            </a:r>
            <a:endParaRPr lang="en-US" sz="1000" dirty="0"/>
          </a:p>
        </p:txBody>
      </p:sp>
      <p:sp>
        <p:nvSpPr>
          <p:cNvPr id="7" name="Shape 5"/>
          <p:cNvSpPr/>
          <p:nvPr/>
        </p:nvSpPr>
        <p:spPr>
          <a:xfrm>
            <a:off x="6327648" y="960120"/>
            <a:ext cx="1152144" cy="182880"/>
          </a:xfrm>
          <a:prstGeom prst="rect">
            <a:avLst/>
          </a:prstGeom>
          <a:solidFill>
            <a:schemeClr val="tx2"/>
          </a:solidFill>
          <a:ln/>
        </p:spPr>
      </p:sp>
      <p:sp>
        <p:nvSpPr>
          <p:cNvPr id="8" name="Text 6"/>
          <p:cNvSpPr txBox="1"/>
          <p:nvPr/>
        </p:nvSpPr>
        <p:spPr>
          <a:xfrm>
            <a:off x="6309360" y="960120"/>
            <a:ext cx="1188720" cy="182880"/>
          </a:xfrm>
          <a:prstGeom prst="rect">
            <a:avLst/>
          </a:prstGeom>
          <a:noFill/>
          <a:ln/>
        </p:spPr>
        <p:txBody>
          <a:bodyPr wrap="square" lIns="0" tIns="0" rIns="0" bIns="0" rtlCol="0" anchor="ctr"/>
          <a:lstStyle/>
          <a:p>
            <a:pPr algn="ctr" indent="0" marL="0">
              <a:buNone/>
            </a:pPr>
            <a:r>
              <a:rPr lang="en-US" sz="1000" b="1" dirty="0">
                <a:solidFill>
                  <a:schemeClr val="bg1"/>
                </a:solidFill>
              </a:rPr>
              <a:t>Q3</a:t>
            </a:r>
            <a:endParaRPr lang="en-US" sz="1000" dirty="0"/>
          </a:p>
        </p:txBody>
      </p:sp>
      <p:sp>
        <p:nvSpPr>
          <p:cNvPr id="9" name="Shape 7"/>
          <p:cNvSpPr/>
          <p:nvPr/>
        </p:nvSpPr>
        <p:spPr>
          <a:xfrm>
            <a:off x="7516368" y="960120"/>
            <a:ext cx="1152144" cy="182880"/>
          </a:xfrm>
          <a:prstGeom prst="rect">
            <a:avLst/>
          </a:prstGeom>
          <a:solidFill>
            <a:schemeClr val="tx2"/>
          </a:solidFill>
          <a:ln/>
        </p:spPr>
      </p:sp>
      <p:sp>
        <p:nvSpPr>
          <p:cNvPr id="10" name="Text 8"/>
          <p:cNvSpPr txBox="1"/>
          <p:nvPr/>
        </p:nvSpPr>
        <p:spPr>
          <a:xfrm>
            <a:off x="7498080" y="960120"/>
            <a:ext cx="1188720" cy="182880"/>
          </a:xfrm>
          <a:prstGeom prst="rect">
            <a:avLst/>
          </a:prstGeom>
          <a:noFill/>
          <a:ln/>
        </p:spPr>
        <p:txBody>
          <a:bodyPr wrap="square" lIns="0" tIns="0" rIns="0" bIns="0" rtlCol="0" anchor="ctr"/>
          <a:lstStyle/>
          <a:p>
            <a:pPr algn="ctr" indent="0" marL="0">
              <a:buNone/>
            </a:pPr>
            <a:r>
              <a:rPr lang="en-US" sz="1000" b="1" dirty="0">
                <a:solidFill>
                  <a:schemeClr val="bg1"/>
                </a:solidFill>
              </a:rPr>
              <a:t>Q4</a:t>
            </a:r>
            <a:endParaRPr lang="en-US" sz="1000" dirty="0"/>
          </a:p>
        </p:txBody>
      </p:sp>
      <p:sp>
        <p:nvSpPr>
          <p:cNvPr id="11" name="Text 9"/>
          <p:cNvSpPr txBox="1"/>
          <p:nvPr/>
        </p:nvSpPr>
        <p:spPr>
          <a:xfrm>
            <a:off x="388620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Sep 26</a:t>
            </a:r>
            <a:endParaRPr lang="en-US" sz="1000" dirty="0"/>
          </a:p>
        </p:txBody>
      </p:sp>
      <p:sp>
        <p:nvSpPr>
          <p:cNvPr id="12" name="Text 10"/>
          <p:cNvSpPr txBox="1"/>
          <p:nvPr/>
        </p:nvSpPr>
        <p:spPr>
          <a:xfrm>
            <a:off x="428244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Okt</a:t>
            </a:r>
            <a:endParaRPr lang="en-US" sz="1000" dirty="0"/>
          </a:p>
        </p:txBody>
      </p:sp>
      <p:sp>
        <p:nvSpPr>
          <p:cNvPr id="13" name="Text 11"/>
          <p:cNvSpPr txBox="1"/>
          <p:nvPr/>
        </p:nvSpPr>
        <p:spPr>
          <a:xfrm>
            <a:off x="467868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Nov</a:t>
            </a:r>
            <a:endParaRPr lang="en-US" sz="1000" dirty="0"/>
          </a:p>
        </p:txBody>
      </p:sp>
      <p:sp>
        <p:nvSpPr>
          <p:cNvPr id="14" name="Text 12"/>
          <p:cNvSpPr txBox="1"/>
          <p:nvPr/>
        </p:nvSpPr>
        <p:spPr>
          <a:xfrm>
            <a:off x="507492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Des</a:t>
            </a:r>
            <a:endParaRPr lang="en-US" sz="1000" dirty="0"/>
          </a:p>
        </p:txBody>
      </p:sp>
      <p:sp>
        <p:nvSpPr>
          <p:cNvPr id="15" name="Text 13"/>
          <p:cNvSpPr txBox="1"/>
          <p:nvPr/>
        </p:nvSpPr>
        <p:spPr>
          <a:xfrm>
            <a:off x="547116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Jan 27</a:t>
            </a:r>
            <a:endParaRPr lang="en-US" sz="1000" dirty="0"/>
          </a:p>
        </p:txBody>
      </p:sp>
      <p:sp>
        <p:nvSpPr>
          <p:cNvPr id="16" name="Text 14"/>
          <p:cNvSpPr txBox="1"/>
          <p:nvPr/>
        </p:nvSpPr>
        <p:spPr>
          <a:xfrm>
            <a:off x="586740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Feb</a:t>
            </a:r>
            <a:endParaRPr lang="en-US" sz="1000" dirty="0"/>
          </a:p>
        </p:txBody>
      </p:sp>
      <p:sp>
        <p:nvSpPr>
          <p:cNvPr id="17" name="Text 15"/>
          <p:cNvSpPr txBox="1"/>
          <p:nvPr/>
        </p:nvSpPr>
        <p:spPr>
          <a:xfrm>
            <a:off x="626364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Mar</a:t>
            </a:r>
            <a:endParaRPr lang="en-US" sz="1000" dirty="0"/>
          </a:p>
        </p:txBody>
      </p:sp>
      <p:sp>
        <p:nvSpPr>
          <p:cNvPr id="18" name="Text 16"/>
          <p:cNvSpPr txBox="1"/>
          <p:nvPr/>
        </p:nvSpPr>
        <p:spPr>
          <a:xfrm>
            <a:off x="665988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Apr</a:t>
            </a:r>
            <a:endParaRPr lang="en-US" sz="1000" dirty="0"/>
          </a:p>
        </p:txBody>
      </p:sp>
      <p:sp>
        <p:nvSpPr>
          <p:cNvPr id="19" name="Text 17"/>
          <p:cNvSpPr txBox="1"/>
          <p:nvPr/>
        </p:nvSpPr>
        <p:spPr>
          <a:xfrm>
            <a:off x="705612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Mei</a:t>
            </a:r>
            <a:endParaRPr lang="en-US" sz="1000" dirty="0"/>
          </a:p>
        </p:txBody>
      </p:sp>
      <p:sp>
        <p:nvSpPr>
          <p:cNvPr id="20" name="Text 18"/>
          <p:cNvSpPr txBox="1"/>
          <p:nvPr/>
        </p:nvSpPr>
        <p:spPr>
          <a:xfrm>
            <a:off x="745236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Jun</a:t>
            </a:r>
            <a:endParaRPr lang="en-US" sz="1000" dirty="0"/>
          </a:p>
        </p:txBody>
      </p:sp>
      <p:sp>
        <p:nvSpPr>
          <p:cNvPr id="21" name="Text 19"/>
          <p:cNvSpPr txBox="1"/>
          <p:nvPr/>
        </p:nvSpPr>
        <p:spPr>
          <a:xfrm>
            <a:off x="784860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Jul</a:t>
            </a:r>
            <a:endParaRPr lang="en-US" sz="1000" dirty="0"/>
          </a:p>
        </p:txBody>
      </p:sp>
      <p:sp>
        <p:nvSpPr>
          <p:cNvPr id="22" name="Text 20"/>
          <p:cNvSpPr txBox="1"/>
          <p:nvPr/>
        </p:nvSpPr>
        <p:spPr>
          <a:xfrm>
            <a:off x="824484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Agt</a:t>
            </a:r>
            <a:endParaRPr lang="en-US" sz="1000" dirty="0"/>
          </a:p>
        </p:txBody>
      </p:sp>
      <p:sp>
        <p:nvSpPr>
          <p:cNvPr id="23" name="Shape 21"/>
          <p:cNvSpPr/>
          <p:nvPr/>
        </p:nvSpPr>
        <p:spPr>
          <a:xfrm>
            <a:off x="457200" y="1325880"/>
            <a:ext cx="8229600" cy="175661"/>
          </a:xfrm>
          <a:prstGeom prst="rect">
            <a:avLst/>
          </a:prstGeom>
          <a:solidFill>
            <a:schemeClr val="bg2"/>
          </a:solidFill>
          <a:ln/>
        </p:spPr>
      </p:sp>
      <p:sp>
        <p:nvSpPr>
          <p:cNvPr id="24" name="Text 22"/>
          <p:cNvSpPr txBox="1"/>
          <p:nvPr/>
        </p:nvSpPr>
        <p:spPr>
          <a:xfrm>
            <a:off x="530352" y="1325880"/>
            <a:ext cx="3383280" cy="175661"/>
          </a:xfrm>
          <a:prstGeom prst="rect">
            <a:avLst/>
          </a:prstGeom>
          <a:noFill/>
          <a:ln/>
        </p:spPr>
        <p:txBody>
          <a:bodyPr wrap="square" lIns="0" tIns="0" rIns="0" bIns="0" rtlCol="0" anchor="ctr"/>
          <a:lstStyle/>
          <a:p>
            <a:pPr indent="0" marL="0">
              <a:buNone/>
            </a:pPr>
            <a:r>
              <a:rPr lang="en-US" sz="1000" b="1" dirty="0">
                <a:solidFill>
                  <a:schemeClr val="accent1"/>
                </a:solidFill>
              </a:rPr>
              <a:t>1.1  Kesiapan legal &amp; kelembagaan</a:t>
            </a:r>
            <a:endParaRPr lang="en-US" sz="1000" dirty="0"/>
          </a:p>
        </p:txBody>
      </p:sp>
      <p:sp>
        <p:nvSpPr>
          <p:cNvPr id="25" name="Text 23"/>
          <p:cNvSpPr txBox="1"/>
          <p:nvPr/>
        </p:nvSpPr>
        <p:spPr>
          <a:xfrm>
            <a:off x="530352" y="1501541"/>
            <a:ext cx="3383280" cy="175661"/>
          </a:xfrm>
          <a:prstGeom prst="rect">
            <a:avLst/>
          </a:prstGeom>
          <a:noFill/>
          <a:ln/>
        </p:spPr>
        <p:txBody>
          <a:bodyPr wrap="square" lIns="0" tIns="0" rIns="0" bIns="0" rtlCol="0" anchor="ctr"/>
          <a:lstStyle/>
          <a:p>
            <a:pPr indent="0" marL="0">
              <a:buNone/>
            </a:pPr>
            <a:r>
              <a:rPr lang="en-US" sz="1000" dirty="0">
                <a:solidFill>
                  <a:schemeClr val="accent5"/>
                </a:solidFill>
              </a:rPr>
              <a:t>1.1.1  </a:t>
            </a:r>
            <a:pPr indent="0" marL="0">
              <a:buNone/>
            </a:pPr>
            <a:r>
              <a:rPr lang="en-US" sz="1000" dirty="0">
                <a:solidFill>
                  <a:schemeClr val="tx1"/>
                </a:solidFill>
              </a:rPr>
              <a:t>Konsultasi awal &amp; persetujuan pendampingan</a:t>
            </a:r>
            <a:endParaRPr lang="en-US" sz="1000" dirty="0"/>
          </a:p>
        </p:txBody>
      </p:sp>
      <p:sp>
        <p:nvSpPr>
          <p:cNvPr id="26" name="Shape 24"/>
          <p:cNvSpPr/>
          <p:nvPr/>
        </p:nvSpPr>
        <p:spPr>
          <a:xfrm>
            <a:off x="3954780" y="1533545"/>
            <a:ext cx="350520" cy="111653"/>
          </a:xfrm>
          <a:prstGeom prst="rect">
            <a:avLst/>
          </a:prstGeom>
          <a:solidFill>
            <a:schemeClr val="accent1"/>
          </a:solidFill>
          <a:ln/>
        </p:spPr>
      </p:sp>
      <p:sp>
        <p:nvSpPr>
          <p:cNvPr id="27" name="Shape 25"/>
          <p:cNvSpPr/>
          <p:nvPr/>
        </p:nvSpPr>
        <p:spPr>
          <a:xfrm>
            <a:off x="4351020" y="1533545"/>
            <a:ext cx="350520" cy="111653"/>
          </a:xfrm>
          <a:prstGeom prst="rect">
            <a:avLst/>
          </a:prstGeom>
          <a:solidFill>
            <a:schemeClr val="bg1"/>
          </a:solidFill>
          <a:ln w="6350">
            <a:solidFill>
              <a:srgbClr val="E1E7E3"/>
            </a:solidFill>
            <a:prstDash val="solid"/>
          </a:ln>
        </p:spPr>
      </p:sp>
      <p:sp>
        <p:nvSpPr>
          <p:cNvPr id="28" name="Shape 26"/>
          <p:cNvSpPr/>
          <p:nvPr/>
        </p:nvSpPr>
        <p:spPr>
          <a:xfrm>
            <a:off x="4747260" y="1533545"/>
            <a:ext cx="350520" cy="111653"/>
          </a:xfrm>
          <a:prstGeom prst="rect">
            <a:avLst/>
          </a:prstGeom>
          <a:solidFill>
            <a:schemeClr val="bg1"/>
          </a:solidFill>
          <a:ln w="6350">
            <a:solidFill>
              <a:srgbClr val="E1E7E3"/>
            </a:solidFill>
            <a:prstDash val="solid"/>
          </a:ln>
        </p:spPr>
      </p:sp>
      <p:sp>
        <p:nvSpPr>
          <p:cNvPr id="29" name="Shape 27"/>
          <p:cNvSpPr/>
          <p:nvPr/>
        </p:nvSpPr>
        <p:spPr>
          <a:xfrm>
            <a:off x="5143500" y="1533545"/>
            <a:ext cx="350520" cy="111653"/>
          </a:xfrm>
          <a:prstGeom prst="rect">
            <a:avLst/>
          </a:prstGeom>
          <a:solidFill>
            <a:schemeClr val="bg1"/>
          </a:solidFill>
          <a:ln w="6350">
            <a:solidFill>
              <a:srgbClr val="E1E7E3"/>
            </a:solidFill>
            <a:prstDash val="solid"/>
          </a:ln>
        </p:spPr>
      </p:sp>
      <p:sp>
        <p:nvSpPr>
          <p:cNvPr id="30" name="Shape 28"/>
          <p:cNvSpPr/>
          <p:nvPr/>
        </p:nvSpPr>
        <p:spPr>
          <a:xfrm>
            <a:off x="5539740" y="1533545"/>
            <a:ext cx="350520" cy="111653"/>
          </a:xfrm>
          <a:prstGeom prst="rect">
            <a:avLst/>
          </a:prstGeom>
          <a:solidFill>
            <a:schemeClr val="bg1"/>
          </a:solidFill>
          <a:ln w="6350">
            <a:solidFill>
              <a:srgbClr val="E1E7E3"/>
            </a:solidFill>
            <a:prstDash val="solid"/>
          </a:ln>
        </p:spPr>
      </p:sp>
      <p:sp>
        <p:nvSpPr>
          <p:cNvPr id="31" name="Shape 29"/>
          <p:cNvSpPr/>
          <p:nvPr/>
        </p:nvSpPr>
        <p:spPr>
          <a:xfrm>
            <a:off x="5935980" y="1533545"/>
            <a:ext cx="350520" cy="111653"/>
          </a:xfrm>
          <a:prstGeom prst="rect">
            <a:avLst/>
          </a:prstGeom>
          <a:solidFill>
            <a:schemeClr val="bg1"/>
          </a:solidFill>
          <a:ln w="6350">
            <a:solidFill>
              <a:srgbClr val="E1E7E3"/>
            </a:solidFill>
            <a:prstDash val="solid"/>
          </a:ln>
        </p:spPr>
      </p:sp>
      <p:sp>
        <p:nvSpPr>
          <p:cNvPr id="32" name="Shape 30"/>
          <p:cNvSpPr/>
          <p:nvPr/>
        </p:nvSpPr>
        <p:spPr>
          <a:xfrm>
            <a:off x="6332220" y="1533545"/>
            <a:ext cx="350520" cy="111653"/>
          </a:xfrm>
          <a:prstGeom prst="rect">
            <a:avLst/>
          </a:prstGeom>
          <a:solidFill>
            <a:schemeClr val="bg1"/>
          </a:solidFill>
          <a:ln w="6350">
            <a:solidFill>
              <a:srgbClr val="E1E7E3"/>
            </a:solidFill>
            <a:prstDash val="solid"/>
          </a:ln>
        </p:spPr>
      </p:sp>
      <p:sp>
        <p:nvSpPr>
          <p:cNvPr id="33" name="Shape 31"/>
          <p:cNvSpPr/>
          <p:nvPr/>
        </p:nvSpPr>
        <p:spPr>
          <a:xfrm>
            <a:off x="6728460" y="1533545"/>
            <a:ext cx="350520" cy="111653"/>
          </a:xfrm>
          <a:prstGeom prst="rect">
            <a:avLst/>
          </a:prstGeom>
          <a:solidFill>
            <a:schemeClr val="bg1"/>
          </a:solidFill>
          <a:ln w="6350">
            <a:solidFill>
              <a:srgbClr val="E1E7E3"/>
            </a:solidFill>
            <a:prstDash val="solid"/>
          </a:ln>
        </p:spPr>
      </p:sp>
      <p:sp>
        <p:nvSpPr>
          <p:cNvPr id="34" name="Shape 32"/>
          <p:cNvSpPr/>
          <p:nvPr/>
        </p:nvSpPr>
        <p:spPr>
          <a:xfrm>
            <a:off x="7124700" y="1533545"/>
            <a:ext cx="350520" cy="111653"/>
          </a:xfrm>
          <a:prstGeom prst="rect">
            <a:avLst/>
          </a:prstGeom>
          <a:solidFill>
            <a:schemeClr val="bg1"/>
          </a:solidFill>
          <a:ln w="6350">
            <a:solidFill>
              <a:srgbClr val="E1E7E3"/>
            </a:solidFill>
            <a:prstDash val="solid"/>
          </a:ln>
        </p:spPr>
      </p:sp>
      <p:sp>
        <p:nvSpPr>
          <p:cNvPr id="35" name="Shape 33"/>
          <p:cNvSpPr/>
          <p:nvPr/>
        </p:nvSpPr>
        <p:spPr>
          <a:xfrm>
            <a:off x="7520940" y="1533545"/>
            <a:ext cx="350520" cy="111653"/>
          </a:xfrm>
          <a:prstGeom prst="rect">
            <a:avLst/>
          </a:prstGeom>
          <a:solidFill>
            <a:schemeClr val="bg1"/>
          </a:solidFill>
          <a:ln w="6350">
            <a:solidFill>
              <a:srgbClr val="E1E7E3"/>
            </a:solidFill>
            <a:prstDash val="solid"/>
          </a:ln>
        </p:spPr>
      </p:sp>
      <p:sp>
        <p:nvSpPr>
          <p:cNvPr id="36" name="Shape 34"/>
          <p:cNvSpPr/>
          <p:nvPr/>
        </p:nvSpPr>
        <p:spPr>
          <a:xfrm>
            <a:off x="7917180" y="1533545"/>
            <a:ext cx="350520" cy="111653"/>
          </a:xfrm>
          <a:prstGeom prst="rect">
            <a:avLst/>
          </a:prstGeom>
          <a:solidFill>
            <a:schemeClr val="bg1"/>
          </a:solidFill>
          <a:ln w="6350">
            <a:solidFill>
              <a:srgbClr val="E1E7E3"/>
            </a:solidFill>
            <a:prstDash val="solid"/>
          </a:ln>
        </p:spPr>
      </p:sp>
      <p:sp>
        <p:nvSpPr>
          <p:cNvPr id="37" name="Shape 35"/>
          <p:cNvSpPr/>
          <p:nvPr/>
        </p:nvSpPr>
        <p:spPr>
          <a:xfrm>
            <a:off x="8313420" y="1533545"/>
            <a:ext cx="350520" cy="111653"/>
          </a:xfrm>
          <a:prstGeom prst="rect">
            <a:avLst/>
          </a:prstGeom>
          <a:solidFill>
            <a:schemeClr val="bg1"/>
          </a:solidFill>
          <a:ln w="6350">
            <a:solidFill>
              <a:srgbClr val="E1E7E3"/>
            </a:solidFill>
            <a:prstDash val="solid"/>
          </a:ln>
        </p:spPr>
      </p:sp>
      <p:sp>
        <p:nvSpPr>
          <p:cNvPr id="38" name="Text 36"/>
          <p:cNvSpPr txBox="1"/>
          <p:nvPr/>
        </p:nvSpPr>
        <p:spPr>
          <a:xfrm>
            <a:off x="530352" y="1677202"/>
            <a:ext cx="3383280" cy="175661"/>
          </a:xfrm>
          <a:prstGeom prst="rect">
            <a:avLst/>
          </a:prstGeom>
          <a:noFill/>
          <a:ln/>
        </p:spPr>
        <p:txBody>
          <a:bodyPr wrap="square" lIns="0" tIns="0" rIns="0" bIns="0" rtlCol="0" anchor="ctr"/>
          <a:lstStyle/>
          <a:p>
            <a:pPr indent="0" marL="0">
              <a:buNone/>
            </a:pPr>
            <a:r>
              <a:rPr lang="en-US" sz="1000" dirty="0">
                <a:solidFill>
                  <a:schemeClr val="accent5"/>
                </a:solidFill>
              </a:rPr>
              <a:t>1.1.2  </a:t>
            </a:r>
            <a:pPr indent="0" marL="0">
              <a:buNone/>
            </a:pPr>
            <a:r>
              <a:rPr lang="en-US" sz="1000" dirty="0">
                <a:solidFill>
                  <a:schemeClr val="tx1"/>
                </a:solidFill>
              </a:rPr>
              <a:t>Pelatihan kepemimpinan aksi mitigasi berbasis GEDSI</a:t>
            </a:r>
            <a:endParaRPr lang="en-US" sz="1000" dirty="0"/>
          </a:p>
        </p:txBody>
      </p:sp>
      <p:sp>
        <p:nvSpPr>
          <p:cNvPr id="39" name="Shape 37"/>
          <p:cNvSpPr/>
          <p:nvPr/>
        </p:nvSpPr>
        <p:spPr>
          <a:xfrm>
            <a:off x="3954780" y="1709206"/>
            <a:ext cx="350520" cy="111653"/>
          </a:xfrm>
          <a:prstGeom prst="rect">
            <a:avLst/>
          </a:prstGeom>
          <a:solidFill>
            <a:schemeClr val="bg1"/>
          </a:solidFill>
          <a:ln w="6350">
            <a:solidFill>
              <a:srgbClr val="E1E7E3"/>
            </a:solidFill>
            <a:prstDash val="solid"/>
          </a:ln>
        </p:spPr>
      </p:sp>
      <p:sp>
        <p:nvSpPr>
          <p:cNvPr id="40" name="Shape 38"/>
          <p:cNvSpPr/>
          <p:nvPr/>
        </p:nvSpPr>
        <p:spPr>
          <a:xfrm>
            <a:off x="4351020" y="1709206"/>
            <a:ext cx="350520" cy="111653"/>
          </a:xfrm>
          <a:prstGeom prst="rect">
            <a:avLst/>
          </a:prstGeom>
          <a:solidFill>
            <a:schemeClr val="bg1"/>
          </a:solidFill>
          <a:ln w="6350">
            <a:solidFill>
              <a:srgbClr val="E1E7E3"/>
            </a:solidFill>
            <a:prstDash val="solid"/>
          </a:ln>
        </p:spPr>
      </p:sp>
      <p:sp>
        <p:nvSpPr>
          <p:cNvPr id="41" name="Shape 39"/>
          <p:cNvSpPr/>
          <p:nvPr/>
        </p:nvSpPr>
        <p:spPr>
          <a:xfrm>
            <a:off x="4747260" y="1709206"/>
            <a:ext cx="350520" cy="111653"/>
          </a:xfrm>
          <a:prstGeom prst="rect">
            <a:avLst/>
          </a:prstGeom>
          <a:solidFill>
            <a:schemeClr val="accent1"/>
          </a:solidFill>
          <a:ln/>
        </p:spPr>
      </p:sp>
      <p:sp>
        <p:nvSpPr>
          <p:cNvPr id="42" name="Shape 40"/>
          <p:cNvSpPr/>
          <p:nvPr/>
        </p:nvSpPr>
        <p:spPr>
          <a:xfrm>
            <a:off x="5143500" y="1709206"/>
            <a:ext cx="350520" cy="111653"/>
          </a:xfrm>
          <a:prstGeom prst="rect">
            <a:avLst/>
          </a:prstGeom>
          <a:solidFill>
            <a:schemeClr val="bg1"/>
          </a:solidFill>
          <a:ln w="6350">
            <a:solidFill>
              <a:srgbClr val="E1E7E3"/>
            </a:solidFill>
            <a:prstDash val="solid"/>
          </a:ln>
        </p:spPr>
      </p:sp>
      <p:sp>
        <p:nvSpPr>
          <p:cNvPr id="43" name="Shape 41"/>
          <p:cNvSpPr/>
          <p:nvPr/>
        </p:nvSpPr>
        <p:spPr>
          <a:xfrm>
            <a:off x="5539740" y="1709206"/>
            <a:ext cx="350520" cy="111653"/>
          </a:xfrm>
          <a:prstGeom prst="rect">
            <a:avLst/>
          </a:prstGeom>
          <a:solidFill>
            <a:schemeClr val="bg1"/>
          </a:solidFill>
          <a:ln w="6350">
            <a:solidFill>
              <a:srgbClr val="E1E7E3"/>
            </a:solidFill>
            <a:prstDash val="solid"/>
          </a:ln>
        </p:spPr>
      </p:sp>
      <p:sp>
        <p:nvSpPr>
          <p:cNvPr id="44" name="Shape 42"/>
          <p:cNvSpPr/>
          <p:nvPr/>
        </p:nvSpPr>
        <p:spPr>
          <a:xfrm>
            <a:off x="5935980" y="1709206"/>
            <a:ext cx="350520" cy="111653"/>
          </a:xfrm>
          <a:prstGeom prst="rect">
            <a:avLst/>
          </a:prstGeom>
          <a:solidFill>
            <a:schemeClr val="bg1"/>
          </a:solidFill>
          <a:ln w="6350">
            <a:solidFill>
              <a:srgbClr val="E1E7E3"/>
            </a:solidFill>
            <a:prstDash val="solid"/>
          </a:ln>
        </p:spPr>
      </p:sp>
      <p:sp>
        <p:nvSpPr>
          <p:cNvPr id="45" name="Shape 43"/>
          <p:cNvSpPr/>
          <p:nvPr/>
        </p:nvSpPr>
        <p:spPr>
          <a:xfrm>
            <a:off x="6332220" y="1709206"/>
            <a:ext cx="350520" cy="111653"/>
          </a:xfrm>
          <a:prstGeom prst="rect">
            <a:avLst/>
          </a:prstGeom>
          <a:solidFill>
            <a:schemeClr val="bg1"/>
          </a:solidFill>
          <a:ln w="6350">
            <a:solidFill>
              <a:srgbClr val="E1E7E3"/>
            </a:solidFill>
            <a:prstDash val="solid"/>
          </a:ln>
        </p:spPr>
      </p:sp>
      <p:sp>
        <p:nvSpPr>
          <p:cNvPr id="46" name="Shape 44"/>
          <p:cNvSpPr/>
          <p:nvPr/>
        </p:nvSpPr>
        <p:spPr>
          <a:xfrm>
            <a:off x="6728460" y="1709206"/>
            <a:ext cx="350520" cy="111653"/>
          </a:xfrm>
          <a:prstGeom prst="rect">
            <a:avLst/>
          </a:prstGeom>
          <a:solidFill>
            <a:schemeClr val="bg1"/>
          </a:solidFill>
          <a:ln w="6350">
            <a:solidFill>
              <a:srgbClr val="E1E7E3"/>
            </a:solidFill>
            <a:prstDash val="solid"/>
          </a:ln>
        </p:spPr>
      </p:sp>
      <p:sp>
        <p:nvSpPr>
          <p:cNvPr id="47" name="Shape 45"/>
          <p:cNvSpPr/>
          <p:nvPr/>
        </p:nvSpPr>
        <p:spPr>
          <a:xfrm>
            <a:off x="7124700" y="1709206"/>
            <a:ext cx="350520" cy="111653"/>
          </a:xfrm>
          <a:prstGeom prst="rect">
            <a:avLst/>
          </a:prstGeom>
          <a:solidFill>
            <a:schemeClr val="bg1"/>
          </a:solidFill>
          <a:ln w="6350">
            <a:solidFill>
              <a:srgbClr val="E1E7E3"/>
            </a:solidFill>
            <a:prstDash val="solid"/>
          </a:ln>
        </p:spPr>
      </p:sp>
      <p:sp>
        <p:nvSpPr>
          <p:cNvPr id="48" name="Shape 46"/>
          <p:cNvSpPr/>
          <p:nvPr/>
        </p:nvSpPr>
        <p:spPr>
          <a:xfrm>
            <a:off x="7520940" y="1709206"/>
            <a:ext cx="350520" cy="111653"/>
          </a:xfrm>
          <a:prstGeom prst="rect">
            <a:avLst/>
          </a:prstGeom>
          <a:solidFill>
            <a:schemeClr val="bg1"/>
          </a:solidFill>
          <a:ln w="6350">
            <a:solidFill>
              <a:srgbClr val="E1E7E3"/>
            </a:solidFill>
            <a:prstDash val="solid"/>
          </a:ln>
        </p:spPr>
      </p:sp>
      <p:sp>
        <p:nvSpPr>
          <p:cNvPr id="49" name="Shape 47"/>
          <p:cNvSpPr/>
          <p:nvPr/>
        </p:nvSpPr>
        <p:spPr>
          <a:xfrm>
            <a:off x="7917180" y="1709206"/>
            <a:ext cx="350520" cy="111653"/>
          </a:xfrm>
          <a:prstGeom prst="rect">
            <a:avLst/>
          </a:prstGeom>
          <a:solidFill>
            <a:schemeClr val="bg1"/>
          </a:solidFill>
          <a:ln w="6350">
            <a:solidFill>
              <a:srgbClr val="E1E7E3"/>
            </a:solidFill>
            <a:prstDash val="solid"/>
          </a:ln>
        </p:spPr>
      </p:sp>
      <p:sp>
        <p:nvSpPr>
          <p:cNvPr id="50" name="Shape 48"/>
          <p:cNvSpPr/>
          <p:nvPr/>
        </p:nvSpPr>
        <p:spPr>
          <a:xfrm>
            <a:off x="8313420" y="1709206"/>
            <a:ext cx="350520" cy="111653"/>
          </a:xfrm>
          <a:prstGeom prst="rect">
            <a:avLst/>
          </a:prstGeom>
          <a:solidFill>
            <a:schemeClr val="bg1"/>
          </a:solidFill>
          <a:ln w="6350">
            <a:solidFill>
              <a:srgbClr val="E1E7E3"/>
            </a:solidFill>
            <a:prstDash val="solid"/>
          </a:ln>
        </p:spPr>
      </p:sp>
      <p:sp>
        <p:nvSpPr>
          <p:cNvPr id="51" name="Text 49"/>
          <p:cNvSpPr txBox="1"/>
          <p:nvPr/>
        </p:nvSpPr>
        <p:spPr>
          <a:xfrm>
            <a:off x="530352" y="1852863"/>
            <a:ext cx="3383280" cy="175661"/>
          </a:xfrm>
          <a:prstGeom prst="rect">
            <a:avLst/>
          </a:prstGeom>
          <a:noFill/>
          <a:ln/>
        </p:spPr>
        <p:txBody>
          <a:bodyPr wrap="square" lIns="0" tIns="0" rIns="0" bIns="0" rtlCol="0" anchor="ctr"/>
          <a:lstStyle/>
          <a:p>
            <a:pPr indent="0" marL="0">
              <a:buNone/>
            </a:pPr>
            <a:r>
              <a:rPr lang="en-US" sz="1000" dirty="0">
                <a:solidFill>
                  <a:schemeClr val="accent5"/>
                </a:solidFill>
              </a:rPr>
              <a:t>1.1.3  </a:t>
            </a:r>
            <a:pPr indent="0" marL="0">
              <a:buNone/>
            </a:pPr>
            <a:r>
              <a:rPr lang="en-US" sz="1000" dirty="0">
                <a:solidFill>
                  <a:schemeClr val="tx1"/>
                </a:solidFill>
              </a:rPr>
              <a:t>Pendampingan PS Mandiri</a:t>
            </a:r>
            <a:endParaRPr lang="en-US" sz="1000" dirty="0"/>
          </a:p>
        </p:txBody>
      </p:sp>
      <p:sp>
        <p:nvSpPr>
          <p:cNvPr id="52" name="Shape 50"/>
          <p:cNvSpPr/>
          <p:nvPr/>
        </p:nvSpPr>
        <p:spPr>
          <a:xfrm>
            <a:off x="3954780" y="1884867"/>
            <a:ext cx="350520" cy="111653"/>
          </a:xfrm>
          <a:prstGeom prst="rect">
            <a:avLst/>
          </a:prstGeom>
          <a:solidFill>
            <a:schemeClr val="bg1"/>
          </a:solidFill>
          <a:ln w="6350">
            <a:solidFill>
              <a:srgbClr val="E1E7E3"/>
            </a:solidFill>
            <a:prstDash val="solid"/>
          </a:ln>
        </p:spPr>
      </p:sp>
      <p:sp>
        <p:nvSpPr>
          <p:cNvPr id="53" name="Shape 51"/>
          <p:cNvSpPr/>
          <p:nvPr/>
        </p:nvSpPr>
        <p:spPr>
          <a:xfrm>
            <a:off x="4351020" y="1884867"/>
            <a:ext cx="350520" cy="111653"/>
          </a:xfrm>
          <a:prstGeom prst="rect">
            <a:avLst/>
          </a:prstGeom>
          <a:solidFill>
            <a:schemeClr val="accent1"/>
          </a:solidFill>
          <a:ln/>
        </p:spPr>
      </p:sp>
      <p:sp>
        <p:nvSpPr>
          <p:cNvPr id="54" name="Shape 52"/>
          <p:cNvSpPr/>
          <p:nvPr/>
        </p:nvSpPr>
        <p:spPr>
          <a:xfrm>
            <a:off x="4747260" y="1884867"/>
            <a:ext cx="350520" cy="111653"/>
          </a:xfrm>
          <a:prstGeom prst="rect">
            <a:avLst/>
          </a:prstGeom>
          <a:solidFill>
            <a:schemeClr val="accent1"/>
          </a:solidFill>
          <a:ln/>
        </p:spPr>
      </p:sp>
      <p:sp>
        <p:nvSpPr>
          <p:cNvPr id="55" name="Shape 53"/>
          <p:cNvSpPr/>
          <p:nvPr/>
        </p:nvSpPr>
        <p:spPr>
          <a:xfrm>
            <a:off x="5143500" y="1884867"/>
            <a:ext cx="350520" cy="111653"/>
          </a:xfrm>
          <a:prstGeom prst="rect">
            <a:avLst/>
          </a:prstGeom>
          <a:solidFill>
            <a:schemeClr val="accent1"/>
          </a:solidFill>
          <a:ln/>
        </p:spPr>
      </p:sp>
      <p:sp>
        <p:nvSpPr>
          <p:cNvPr id="56" name="Shape 54"/>
          <p:cNvSpPr/>
          <p:nvPr/>
        </p:nvSpPr>
        <p:spPr>
          <a:xfrm>
            <a:off x="5539740" y="1884867"/>
            <a:ext cx="350520" cy="111653"/>
          </a:xfrm>
          <a:prstGeom prst="rect">
            <a:avLst/>
          </a:prstGeom>
          <a:solidFill>
            <a:schemeClr val="accent1"/>
          </a:solidFill>
          <a:ln/>
        </p:spPr>
      </p:sp>
      <p:sp>
        <p:nvSpPr>
          <p:cNvPr id="57" name="Shape 55"/>
          <p:cNvSpPr/>
          <p:nvPr/>
        </p:nvSpPr>
        <p:spPr>
          <a:xfrm>
            <a:off x="5935980" y="1884867"/>
            <a:ext cx="350520" cy="111653"/>
          </a:xfrm>
          <a:prstGeom prst="rect">
            <a:avLst/>
          </a:prstGeom>
          <a:solidFill>
            <a:schemeClr val="accent1"/>
          </a:solidFill>
          <a:ln/>
        </p:spPr>
      </p:sp>
      <p:sp>
        <p:nvSpPr>
          <p:cNvPr id="58" name="Shape 56"/>
          <p:cNvSpPr/>
          <p:nvPr/>
        </p:nvSpPr>
        <p:spPr>
          <a:xfrm>
            <a:off x="6332220" y="1884867"/>
            <a:ext cx="350520" cy="111653"/>
          </a:xfrm>
          <a:prstGeom prst="rect">
            <a:avLst/>
          </a:prstGeom>
          <a:solidFill>
            <a:schemeClr val="accent1"/>
          </a:solidFill>
          <a:ln/>
        </p:spPr>
      </p:sp>
      <p:sp>
        <p:nvSpPr>
          <p:cNvPr id="59" name="Shape 57"/>
          <p:cNvSpPr/>
          <p:nvPr/>
        </p:nvSpPr>
        <p:spPr>
          <a:xfrm>
            <a:off x="6728460" y="1884867"/>
            <a:ext cx="350520" cy="111653"/>
          </a:xfrm>
          <a:prstGeom prst="rect">
            <a:avLst/>
          </a:prstGeom>
          <a:solidFill>
            <a:schemeClr val="accent1"/>
          </a:solidFill>
          <a:ln/>
        </p:spPr>
      </p:sp>
      <p:sp>
        <p:nvSpPr>
          <p:cNvPr id="60" name="Shape 58"/>
          <p:cNvSpPr/>
          <p:nvPr/>
        </p:nvSpPr>
        <p:spPr>
          <a:xfrm>
            <a:off x="7124700" y="1884867"/>
            <a:ext cx="350520" cy="111653"/>
          </a:xfrm>
          <a:prstGeom prst="rect">
            <a:avLst/>
          </a:prstGeom>
          <a:solidFill>
            <a:schemeClr val="accent1"/>
          </a:solidFill>
          <a:ln/>
        </p:spPr>
      </p:sp>
      <p:sp>
        <p:nvSpPr>
          <p:cNvPr id="61" name="Shape 59"/>
          <p:cNvSpPr/>
          <p:nvPr/>
        </p:nvSpPr>
        <p:spPr>
          <a:xfrm>
            <a:off x="7520940" y="1884867"/>
            <a:ext cx="350520" cy="111653"/>
          </a:xfrm>
          <a:prstGeom prst="rect">
            <a:avLst/>
          </a:prstGeom>
          <a:solidFill>
            <a:schemeClr val="accent1"/>
          </a:solidFill>
          <a:ln/>
        </p:spPr>
      </p:sp>
      <p:sp>
        <p:nvSpPr>
          <p:cNvPr id="62" name="Shape 60"/>
          <p:cNvSpPr/>
          <p:nvPr/>
        </p:nvSpPr>
        <p:spPr>
          <a:xfrm>
            <a:off x="7917180" y="1884867"/>
            <a:ext cx="350520" cy="111653"/>
          </a:xfrm>
          <a:prstGeom prst="rect">
            <a:avLst/>
          </a:prstGeom>
          <a:solidFill>
            <a:schemeClr val="accent1"/>
          </a:solidFill>
          <a:ln/>
        </p:spPr>
      </p:sp>
      <p:sp>
        <p:nvSpPr>
          <p:cNvPr id="63" name="Shape 61"/>
          <p:cNvSpPr/>
          <p:nvPr/>
        </p:nvSpPr>
        <p:spPr>
          <a:xfrm>
            <a:off x="8313420" y="1884867"/>
            <a:ext cx="350520" cy="111653"/>
          </a:xfrm>
          <a:prstGeom prst="rect">
            <a:avLst/>
          </a:prstGeom>
          <a:solidFill>
            <a:schemeClr val="bg1"/>
          </a:solidFill>
          <a:ln w="6350">
            <a:solidFill>
              <a:srgbClr val="E1E7E3"/>
            </a:solidFill>
            <a:prstDash val="solid"/>
          </a:ln>
        </p:spPr>
      </p:sp>
      <p:sp>
        <p:nvSpPr>
          <p:cNvPr id="64" name="Shape 62"/>
          <p:cNvSpPr/>
          <p:nvPr/>
        </p:nvSpPr>
        <p:spPr>
          <a:xfrm>
            <a:off x="457200" y="2028524"/>
            <a:ext cx="8229600" cy="175661"/>
          </a:xfrm>
          <a:prstGeom prst="rect">
            <a:avLst/>
          </a:prstGeom>
          <a:solidFill>
            <a:schemeClr val="bg2"/>
          </a:solidFill>
          <a:ln/>
        </p:spPr>
      </p:sp>
      <p:sp>
        <p:nvSpPr>
          <p:cNvPr id="65" name="Text 63"/>
          <p:cNvSpPr txBox="1"/>
          <p:nvPr/>
        </p:nvSpPr>
        <p:spPr>
          <a:xfrm>
            <a:off x="530352" y="2028524"/>
            <a:ext cx="3383280" cy="175661"/>
          </a:xfrm>
          <a:prstGeom prst="rect">
            <a:avLst/>
          </a:prstGeom>
          <a:noFill/>
          <a:ln/>
        </p:spPr>
        <p:txBody>
          <a:bodyPr wrap="square" lIns="0" tIns="0" rIns="0" bIns="0" rtlCol="0" anchor="ctr"/>
          <a:lstStyle/>
          <a:p>
            <a:pPr indent="0" marL="0">
              <a:buNone/>
            </a:pPr>
            <a:r>
              <a:rPr lang="en-US" sz="1000" b="1" dirty="0">
                <a:solidFill>
                  <a:schemeClr val="accent1"/>
                </a:solidFill>
              </a:rPr>
              <a:t>1.2  Persetujuan masyarakat &amp; safeguards</a:t>
            </a:r>
            <a:endParaRPr lang="en-US" sz="1000" dirty="0"/>
          </a:p>
        </p:txBody>
      </p:sp>
      <p:sp>
        <p:nvSpPr>
          <p:cNvPr id="66" name="Text 64"/>
          <p:cNvSpPr txBox="1"/>
          <p:nvPr/>
        </p:nvSpPr>
        <p:spPr>
          <a:xfrm>
            <a:off x="530352" y="2204185"/>
            <a:ext cx="3383280" cy="175661"/>
          </a:xfrm>
          <a:prstGeom prst="rect">
            <a:avLst/>
          </a:prstGeom>
          <a:noFill/>
          <a:ln/>
        </p:spPr>
        <p:txBody>
          <a:bodyPr wrap="square" lIns="0" tIns="0" rIns="0" bIns="0" rtlCol="0" anchor="ctr"/>
          <a:lstStyle/>
          <a:p>
            <a:pPr indent="0" marL="0">
              <a:buNone/>
            </a:pPr>
            <a:r>
              <a:rPr lang="en-US" sz="1000" dirty="0">
                <a:solidFill>
                  <a:schemeClr val="accent5"/>
                </a:solidFill>
              </a:rPr>
              <a:t>1.2.1  </a:t>
            </a:r>
            <a:pPr indent="0" marL="0">
              <a:buNone/>
            </a:pPr>
            <a:r>
              <a:rPr lang="en-US" sz="1000" dirty="0">
                <a:solidFill>
                  <a:schemeClr val="tx1"/>
                </a:solidFill>
              </a:rPr>
              <a:t>Rapat koordinasi bulanan LPHD</a:t>
            </a:r>
            <a:endParaRPr lang="en-US" sz="1000" dirty="0"/>
          </a:p>
        </p:txBody>
      </p:sp>
      <p:sp>
        <p:nvSpPr>
          <p:cNvPr id="67" name="Shape 65"/>
          <p:cNvSpPr/>
          <p:nvPr/>
        </p:nvSpPr>
        <p:spPr>
          <a:xfrm>
            <a:off x="3954780" y="2236189"/>
            <a:ext cx="350520" cy="111653"/>
          </a:xfrm>
          <a:prstGeom prst="rect">
            <a:avLst/>
          </a:prstGeom>
          <a:solidFill>
            <a:schemeClr val="bg1"/>
          </a:solidFill>
          <a:ln w="6350">
            <a:solidFill>
              <a:srgbClr val="E1E7E3"/>
            </a:solidFill>
            <a:prstDash val="solid"/>
          </a:ln>
        </p:spPr>
      </p:sp>
      <p:sp>
        <p:nvSpPr>
          <p:cNvPr id="68" name="Shape 66"/>
          <p:cNvSpPr/>
          <p:nvPr/>
        </p:nvSpPr>
        <p:spPr>
          <a:xfrm>
            <a:off x="4351020" y="2236189"/>
            <a:ext cx="350520" cy="111653"/>
          </a:xfrm>
          <a:prstGeom prst="rect">
            <a:avLst/>
          </a:prstGeom>
          <a:solidFill>
            <a:schemeClr val="accent1"/>
          </a:solidFill>
          <a:ln/>
        </p:spPr>
      </p:sp>
      <p:sp>
        <p:nvSpPr>
          <p:cNvPr id="69" name="Shape 67"/>
          <p:cNvSpPr/>
          <p:nvPr/>
        </p:nvSpPr>
        <p:spPr>
          <a:xfrm>
            <a:off x="4747260" y="2236189"/>
            <a:ext cx="350520" cy="111653"/>
          </a:xfrm>
          <a:prstGeom prst="rect">
            <a:avLst/>
          </a:prstGeom>
          <a:solidFill>
            <a:schemeClr val="accent1"/>
          </a:solidFill>
          <a:ln/>
        </p:spPr>
      </p:sp>
      <p:sp>
        <p:nvSpPr>
          <p:cNvPr id="70" name="Shape 68"/>
          <p:cNvSpPr/>
          <p:nvPr/>
        </p:nvSpPr>
        <p:spPr>
          <a:xfrm>
            <a:off x="5143500" y="2236189"/>
            <a:ext cx="350520" cy="111653"/>
          </a:xfrm>
          <a:prstGeom prst="rect">
            <a:avLst/>
          </a:prstGeom>
          <a:solidFill>
            <a:schemeClr val="accent1"/>
          </a:solidFill>
          <a:ln/>
        </p:spPr>
      </p:sp>
      <p:sp>
        <p:nvSpPr>
          <p:cNvPr id="71" name="Shape 69"/>
          <p:cNvSpPr/>
          <p:nvPr/>
        </p:nvSpPr>
        <p:spPr>
          <a:xfrm>
            <a:off x="5539740" y="2236189"/>
            <a:ext cx="350520" cy="111653"/>
          </a:xfrm>
          <a:prstGeom prst="rect">
            <a:avLst/>
          </a:prstGeom>
          <a:solidFill>
            <a:schemeClr val="accent1"/>
          </a:solidFill>
          <a:ln/>
        </p:spPr>
      </p:sp>
      <p:sp>
        <p:nvSpPr>
          <p:cNvPr id="72" name="Shape 70"/>
          <p:cNvSpPr/>
          <p:nvPr/>
        </p:nvSpPr>
        <p:spPr>
          <a:xfrm>
            <a:off x="5935980" y="2236189"/>
            <a:ext cx="350520" cy="111653"/>
          </a:xfrm>
          <a:prstGeom prst="rect">
            <a:avLst/>
          </a:prstGeom>
          <a:solidFill>
            <a:schemeClr val="accent1"/>
          </a:solidFill>
          <a:ln/>
        </p:spPr>
      </p:sp>
      <p:sp>
        <p:nvSpPr>
          <p:cNvPr id="73" name="Shape 71"/>
          <p:cNvSpPr/>
          <p:nvPr/>
        </p:nvSpPr>
        <p:spPr>
          <a:xfrm>
            <a:off x="6332220" y="2236189"/>
            <a:ext cx="350520" cy="111653"/>
          </a:xfrm>
          <a:prstGeom prst="rect">
            <a:avLst/>
          </a:prstGeom>
          <a:solidFill>
            <a:schemeClr val="accent1"/>
          </a:solidFill>
          <a:ln/>
        </p:spPr>
      </p:sp>
      <p:sp>
        <p:nvSpPr>
          <p:cNvPr id="74" name="Shape 72"/>
          <p:cNvSpPr/>
          <p:nvPr/>
        </p:nvSpPr>
        <p:spPr>
          <a:xfrm>
            <a:off x="6728460" y="2236189"/>
            <a:ext cx="350520" cy="111653"/>
          </a:xfrm>
          <a:prstGeom prst="rect">
            <a:avLst/>
          </a:prstGeom>
          <a:solidFill>
            <a:schemeClr val="accent1"/>
          </a:solidFill>
          <a:ln/>
        </p:spPr>
      </p:sp>
      <p:sp>
        <p:nvSpPr>
          <p:cNvPr id="75" name="Shape 73"/>
          <p:cNvSpPr/>
          <p:nvPr/>
        </p:nvSpPr>
        <p:spPr>
          <a:xfrm>
            <a:off x="7124700" y="2236189"/>
            <a:ext cx="350520" cy="111653"/>
          </a:xfrm>
          <a:prstGeom prst="rect">
            <a:avLst/>
          </a:prstGeom>
          <a:solidFill>
            <a:schemeClr val="accent1"/>
          </a:solidFill>
          <a:ln/>
        </p:spPr>
      </p:sp>
      <p:sp>
        <p:nvSpPr>
          <p:cNvPr id="76" name="Shape 74"/>
          <p:cNvSpPr/>
          <p:nvPr/>
        </p:nvSpPr>
        <p:spPr>
          <a:xfrm>
            <a:off x="7520940" y="2236189"/>
            <a:ext cx="350520" cy="111653"/>
          </a:xfrm>
          <a:prstGeom prst="rect">
            <a:avLst/>
          </a:prstGeom>
          <a:solidFill>
            <a:schemeClr val="accent1"/>
          </a:solidFill>
          <a:ln/>
        </p:spPr>
      </p:sp>
      <p:sp>
        <p:nvSpPr>
          <p:cNvPr id="77" name="Shape 75"/>
          <p:cNvSpPr/>
          <p:nvPr/>
        </p:nvSpPr>
        <p:spPr>
          <a:xfrm>
            <a:off x="7917180" y="2236189"/>
            <a:ext cx="350520" cy="111653"/>
          </a:xfrm>
          <a:prstGeom prst="rect">
            <a:avLst/>
          </a:prstGeom>
          <a:solidFill>
            <a:schemeClr val="accent1"/>
          </a:solidFill>
          <a:ln/>
        </p:spPr>
      </p:sp>
      <p:sp>
        <p:nvSpPr>
          <p:cNvPr id="78" name="Shape 76"/>
          <p:cNvSpPr/>
          <p:nvPr/>
        </p:nvSpPr>
        <p:spPr>
          <a:xfrm>
            <a:off x="8313420" y="2236189"/>
            <a:ext cx="350520" cy="111653"/>
          </a:xfrm>
          <a:prstGeom prst="rect">
            <a:avLst/>
          </a:prstGeom>
          <a:solidFill>
            <a:schemeClr val="bg1"/>
          </a:solidFill>
          <a:ln w="6350">
            <a:solidFill>
              <a:srgbClr val="E1E7E3"/>
            </a:solidFill>
            <a:prstDash val="solid"/>
          </a:ln>
        </p:spPr>
      </p:sp>
      <p:sp>
        <p:nvSpPr>
          <p:cNvPr id="79" name="Text 77"/>
          <p:cNvSpPr txBox="1"/>
          <p:nvPr/>
        </p:nvSpPr>
        <p:spPr>
          <a:xfrm>
            <a:off x="530352" y="2379846"/>
            <a:ext cx="3383280" cy="175661"/>
          </a:xfrm>
          <a:prstGeom prst="rect">
            <a:avLst/>
          </a:prstGeom>
          <a:noFill/>
          <a:ln/>
        </p:spPr>
        <p:txBody>
          <a:bodyPr wrap="square" lIns="0" tIns="0" rIns="0" bIns="0" rtlCol="0" anchor="ctr"/>
          <a:lstStyle/>
          <a:p>
            <a:pPr indent="0" marL="0">
              <a:buNone/>
            </a:pPr>
            <a:r>
              <a:rPr lang="en-US" sz="1000" dirty="0">
                <a:solidFill>
                  <a:schemeClr val="accent5"/>
                </a:solidFill>
              </a:rPr>
              <a:t>1.2.2  </a:t>
            </a:r>
            <a:pPr indent="0" marL="0">
              <a:buNone/>
            </a:pPr>
            <a:r>
              <a:rPr lang="en-US" sz="1000" dirty="0">
                <a:solidFill>
                  <a:schemeClr val="tx1"/>
                </a:solidFill>
              </a:rPr>
              <a:t>Series Pra-FPIC di setiap RT</a:t>
            </a:r>
            <a:endParaRPr lang="en-US" sz="1000" dirty="0"/>
          </a:p>
        </p:txBody>
      </p:sp>
      <p:sp>
        <p:nvSpPr>
          <p:cNvPr id="80" name="Shape 78"/>
          <p:cNvSpPr/>
          <p:nvPr/>
        </p:nvSpPr>
        <p:spPr>
          <a:xfrm>
            <a:off x="3954780" y="2411850"/>
            <a:ext cx="350520" cy="111653"/>
          </a:xfrm>
          <a:prstGeom prst="rect">
            <a:avLst/>
          </a:prstGeom>
          <a:solidFill>
            <a:schemeClr val="bg1"/>
          </a:solidFill>
          <a:ln w="6350">
            <a:solidFill>
              <a:srgbClr val="E1E7E3"/>
            </a:solidFill>
            <a:prstDash val="solid"/>
          </a:ln>
        </p:spPr>
      </p:sp>
      <p:sp>
        <p:nvSpPr>
          <p:cNvPr id="81" name="Shape 79"/>
          <p:cNvSpPr/>
          <p:nvPr/>
        </p:nvSpPr>
        <p:spPr>
          <a:xfrm>
            <a:off x="4351020" y="2411850"/>
            <a:ext cx="350520" cy="111653"/>
          </a:xfrm>
          <a:prstGeom prst="rect">
            <a:avLst/>
          </a:prstGeom>
          <a:solidFill>
            <a:schemeClr val="bg1"/>
          </a:solidFill>
          <a:ln w="6350">
            <a:solidFill>
              <a:srgbClr val="E1E7E3"/>
            </a:solidFill>
            <a:prstDash val="solid"/>
          </a:ln>
        </p:spPr>
      </p:sp>
      <p:sp>
        <p:nvSpPr>
          <p:cNvPr id="82" name="Shape 80"/>
          <p:cNvSpPr/>
          <p:nvPr/>
        </p:nvSpPr>
        <p:spPr>
          <a:xfrm>
            <a:off x="4747260" y="2411850"/>
            <a:ext cx="350520" cy="111653"/>
          </a:xfrm>
          <a:prstGeom prst="rect">
            <a:avLst/>
          </a:prstGeom>
          <a:solidFill>
            <a:schemeClr val="accent1"/>
          </a:solidFill>
          <a:ln/>
        </p:spPr>
      </p:sp>
      <p:sp>
        <p:nvSpPr>
          <p:cNvPr id="83" name="Shape 81"/>
          <p:cNvSpPr/>
          <p:nvPr/>
        </p:nvSpPr>
        <p:spPr>
          <a:xfrm>
            <a:off x="5143500" y="2411850"/>
            <a:ext cx="350520" cy="111653"/>
          </a:xfrm>
          <a:prstGeom prst="rect">
            <a:avLst/>
          </a:prstGeom>
          <a:solidFill>
            <a:schemeClr val="bg1"/>
          </a:solidFill>
          <a:ln w="6350">
            <a:solidFill>
              <a:srgbClr val="E1E7E3"/>
            </a:solidFill>
            <a:prstDash val="solid"/>
          </a:ln>
        </p:spPr>
      </p:sp>
      <p:sp>
        <p:nvSpPr>
          <p:cNvPr id="84" name="Shape 82"/>
          <p:cNvSpPr/>
          <p:nvPr/>
        </p:nvSpPr>
        <p:spPr>
          <a:xfrm>
            <a:off x="5539740" y="2411850"/>
            <a:ext cx="350520" cy="111653"/>
          </a:xfrm>
          <a:prstGeom prst="rect">
            <a:avLst/>
          </a:prstGeom>
          <a:solidFill>
            <a:schemeClr val="bg1"/>
          </a:solidFill>
          <a:ln w="6350">
            <a:solidFill>
              <a:srgbClr val="E1E7E3"/>
            </a:solidFill>
            <a:prstDash val="solid"/>
          </a:ln>
        </p:spPr>
      </p:sp>
      <p:sp>
        <p:nvSpPr>
          <p:cNvPr id="85" name="Shape 83"/>
          <p:cNvSpPr/>
          <p:nvPr/>
        </p:nvSpPr>
        <p:spPr>
          <a:xfrm>
            <a:off x="5935980" y="2411850"/>
            <a:ext cx="350520" cy="111653"/>
          </a:xfrm>
          <a:prstGeom prst="rect">
            <a:avLst/>
          </a:prstGeom>
          <a:solidFill>
            <a:schemeClr val="bg1"/>
          </a:solidFill>
          <a:ln w="6350">
            <a:solidFill>
              <a:srgbClr val="E1E7E3"/>
            </a:solidFill>
            <a:prstDash val="solid"/>
          </a:ln>
        </p:spPr>
      </p:sp>
      <p:sp>
        <p:nvSpPr>
          <p:cNvPr id="86" name="Shape 84"/>
          <p:cNvSpPr/>
          <p:nvPr/>
        </p:nvSpPr>
        <p:spPr>
          <a:xfrm>
            <a:off x="6332220" y="2411850"/>
            <a:ext cx="350520" cy="111653"/>
          </a:xfrm>
          <a:prstGeom prst="rect">
            <a:avLst/>
          </a:prstGeom>
          <a:solidFill>
            <a:schemeClr val="bg1"/>
          </a:solidFill>
          <a:ln w="6350">
            <a:solidFill>
              <a:srgbClr val="E1E7E3"/>
            </a:solidFill>
            <a:prstDash val="solid"/>
          </a:ln>
        </p:spPr>
      </p:sp>
      <p:sp>
        <p:nvSpPr>
          <p:cNvPr id="87" name="Shape 85"/>
          <p:cNvSpPr/>
          <p:nvPr/>
        </p:nvSpPr>
        <p:spPr>
          <a:xfrm>
            <a:off x="6728460" y="2411850"/>
            <a:ext cx="350520" cy="111653"/>
          </a:xfrm>
          <a:prstGeom prst="rect">
            <a:avLst/>
          </a:prstGeom>
          <a:solidFill>
            <a:schemeClr val="bg1"/>
          </a:solidFill>
          <a:ln w="6350">
            <a:solidFill>
              <a:srgbClr val="E1E7E3"/>
            </a:solidFill>
            <a:prstDash val="solid"/>
          </a:ln>
        </p:spPr>
      </p:sp>
      <p:sp>
        <p:nvSpPr>
          <p:cNvPr id="88" name="Shape 86"/>
          <p:cNvSpPr/>
          <p:nvPr/>
        </p:nvSpPr>
        <p:spPr>
          <a:xfrm>
            <a:off x="7124700" y="2411850"/>
            <a:ext cx="350520" cy="111653"/>
          </a:xfrm>
          <a:prstGeom prst="rect">
            <a:avLst/>
          </a:prstGeom>
          <a:solidFill>
            <a:schemeClr val="bg1"/>
          </a:solidFill>
          <a:ln w="6350">
            <a:solidFill>
              <a:srgbClr val="E1E7E3"/>
            </a:solidFill>
            <a:prstDash val="solid"/>
          </a:ln>
        </p:spPr>
      </p:sp>
      <p:sp>
        <p:nvSpPr>
          <p:cNvPr id="89" name="Shape 87"/>
          <p:cNvSpPr/>
          <p:nvPr/>
        </p:nvSpPr>
        <p:spPr>
          <a:xfrm>
            <a:off x="7520940" y="2411850"/>
            <a:ext cx="350520" cy="111653"/>
          </a:xfrm>
          <a:prstGeom prst="rect">
            <a:avLst/>
          </a:prstGeom>
          <a:solidFill>
            <a:schemeClr val="bg1"/>
          </a:solidFill>
          <a:ln w="6350">
            <a:solidFill>
              <a:srgbClr val="E1E7E3"/>
            </a:solidFill>
            <a:prstDash val="solid"/>
          </a:ln>
        </p:spPr>
      </p:sp>
      <p:sp>
        <p:nvSpPr>
          <p:cNvPr id="90" name="Shape 88"/>
          <p:cNvSpPr/>
          <p:nvPr/>
        </p:nvSpPr>
        <p:spPr>
          <a:xfrm>
            <a:off x="7917180" y="2411850"/>
            <a:ext cx="350520" cy="111653"/>
          </a:xfrm>
          <a:prstGeom prst="rect">
            <a:avLst/>
          </a:prstGeom>
          <a:solidFill>
            <a:schemeClr val="bg1"/>
          </a:solidFill>
          <a:ln w="6350">
            <a:solidFill>
              <a:srgbClr val="E1E7E3"/>
            </a:solidFill>
            <a:prstDash val="solid"/>
          </a:ln>
        </p:spPr>
      </p:sp>
      <p:sp>
        <p:nvSpPr>
          <p:cNvPr id="91" name="Shape 89"/>
          <p:cNvSpPr/>
          <p:nvPr/>
        </p:nvSpPr>
        <p:spPr>
          <a:xfrm>
            <a:off x="8313420" y="2411850"/>
            <a:ext cx="350520" cy="111653"/>
          </a:xfrm>
          <a:prstGeom prst="rect">
            <a:avLst/>
          </a:prstGeom>
          <a:solidFill>
            <a:schemeClr val="bg1"/>
          </a:solidFill>
          <a:ln w="6350">
            <a:solidFill>
              <a:srgbClr val="E1E7E3"/>
            </a:solidFill>
            <a:prstDash val="solid"/>
          </a:ln>
        </p:spPr>
      </p:sp>
      <p:sp>
        <p:nvSpPr>
          <p:cNvPr id="92" name="Text 90"/>
          <p:cNvSpPr txBox="1"/>
          <p:nvPr/>
        </p:nvSpPr>
        <p:spPr>
          <a:xfrm>
            <a:off x="530352" y="2555507"/>
            <a:ext cx="3383280" cy="175661"/>
          </a:xfrm>
          <a:prstGeom prst="rect">
            <a:avLst/>
          </a:prstGeom>
          <a:noFill/>
          <a:ln/>
        </p:spPr>
        <p:txBody>
          <a:bodyPr wrap="square" lIns="0" tIns="0" rIns="0" bIns="0" rtlCol="0" anchor="ctr"/>
          <a:lstStyle/>
          <a:p>
            <a:pPr indent="0" marL="0">
              <a:buNone/>
            </a:pPr>
            <a:r>
              <a:rPr lang="en-US" sz="1000" dirty="0">
                <a:solidFill>
                  <a:schemeClr val="accent5"/>
                </a:solidFill>
              </a:rPr>
              <a:t>1.2.3  </a:t>
            </a:r>
            <a:pPr indent="0" marL="0">
              <a:buNone/>
            </a:pPr>
            <a:r>
              <a:rPr lang="en-US" sz="1000" dirty="0">
                <a:solidFill>
                  <a:schemeClr val="tx1"/>
                </a:solidFill>
              </a:rPr>
              <a:t>Pelaksanaan FPIC dan LSC</a:t>
            </a:r>
            <a:endParaRPr lang="en-US" sz="1000" dirty="0"/>
          </a:p>
        </p:txBody>
      </p:sp>
      <p:sp>
        <p:nvSpPr>
          <p:cNvPr id="93" name="Shape 91"/>
          <p:cNvSpPr/>
          <p:nvPr/>
        </p:nvSpPr>
        <p:spPr>
          <a:xfrm>
            <a:off x="3954780" y="2587511"/>
            <a:ext cx="350520" cy="111653"/>
          </a:xfrm>
          <a:prstGeom prst="rect">
            <a:avLst/>
          </a:prstGeom>
          <a:solidFill>
            <a:schemeClr val="bg1"/>
          </a:solidFill>
          <a:ln w="6350">
            <a:solidFill>
              <a:srgbClr val="E1E7E3"/>
            </a:solidFill>
            <a:prstDash val="solid"/>
          </a:ln>
        </p:spPr>
      </p:sp>
      <p:sp>
        <p:nvSpPr>
          <p:cNvPr id="94" name="Shape 92"/>
          <p:cNvSpPr/>
          <p:nvPr/>
        </p:nvSpPr>
        <p:spPr>
          <a:xfrm>
            <a:off x="4351020" y="2587511"/>
            <a:ext cx="350520" cy="111653"/>
          </a:xfrm>
          <a:prstGeom prst="rect">
            <a:avLst/>
          </a:prstGeom>
          <a:solidFill>
            <a:schemeClr val="bg1"/>
          </a:solidFill>
          <a:ln w="6350">
            <a:solidFill>
              <a:srgbClr val="E1E7E3"/>
            </a:solidFill>
            <a:prstDash val="solid"/>
          </a:ln>
        </p:spPr>
      </p:sp>
      <p:sp>
        <p:nvSpPr>
          <p:cNvPr id="95" name="Shape 93"/>
          <p:cNvSpPr/>
          <p:nvPr/>
        </p:nvSpPr>
        <p:spPr>
          <a:xfrm>
            <a:off x="4747260" y="2587511"/>
            <a:ext cx="350520" cy="111653"/>
          </a:xfrm>
          <a:prstGeom prst="rect">
            <a:avLst/>
          </a:prstGeom>
          <a:solidFill>
            <a:schemeClr val="accent1"/>
          </a:solidFill>
          <a:ln/>
        </p:spPr>
      </p:sp>
      <p:sp>
        <p:nvSpPr>
          <p:cNvPr id="96" name="Shape 94"/>
          <p:cNvSpPr/>
          <p:nvPr/>
        </p:nvSpPr>
        <p:spPr>
          <a:xfrm>
            <a:off x="5143500" y="2587511"/>
            <a:ext cx="350520" cy="111653"/>
          </a:xfrm>
          <a:prstGeom prst="rect">
            <a:avLst/>
          </a:prstGeom>
          <a:solidFill>
            <a:schemeClr val="accent1"/>
          </a:solidFill>
          <a:ln/>
        </p:spPr>
      </p:sp>
      <p:sp>
        <p:nvSpPr>
          <p:cNvPr id="97" name="Shape 95"/>
          <p:cNvSpPr/>
          <p:nvPr/>
        </p:nvSpPr>
        <p:spPr>
          <a:xfrm>
            <a:off x="5539740" y="2587511"/>
            <a:ext cx="350520" cy="111653"/>
          </a:xfrm>
          <a:prstGeom prst="rect">
            <a:avLst/>
          </a:prstGeom>
          <a:solidFill>
            <a:schemeClr val="bg1"/>
          </a:solidFill>
          <a:ln w="6350">
            <a:solidFill>
              <a:srgbClr val="E1E7E3"/>
            </a:solidFill>
            <a:prstDash val="solid"/>
          </a:ln>
        </p:spPr>
      </p:sp>
      <p:sp>
        <p:nvSpPr>
          <p:cNvPr id="98" name="Shape 96"/>
          <p:cNvSpPr/>
          <p:nvPr/>
        </p:nvSpPr>
        <p:spPr>
          <a:xfrm>
            <a:off x="5935980" y="2587511"/>
            <a:ext cx="350520" cy="111653"/>
          </a:xfrm>
          <a:prstGeom prst="rect">
            <a:avLst/>
          </a:prstGeom>
          <a:solidFill>
            <a:schemeClr val="bg1"/>
          </a:solidFill>
          <a:ln w="6350">
            <a:solidFill>
              <a:srgbClr val="E1E7E3"/>
            </a:solidFill>
            <a:prstDash val="solid"/>
          </a:ln>
        </p:spPr>
      </p:sp>
      <p:sp>
        <p:nvSpPr>
          <p:cNvPr id="99" name="Shape 97"/>
          <p:cNvSpPr/>
          <p:nvPr/>
        </p:nvSpPr>
        <p:spPr>
          <a:xfrm>
            <a:off x="6332220" y="2587511"/>
            <a:ext cx="350520" cy="111653"/>
          </a:xfrm>
          <a:prstGeom prst="rect">
            <a:avLst/>
          </a:prstGeom>
          <a:solidFill>
            <a:schemeClr val="bg1"/>
          </a:solidFill>
          <a:ln w="6350">
            <a:solidFill>
              <a:srgbClr val="E1E7E3"/>
            </a:solidFill>
            <a:prstDash val="solid"/>
          </a:ln>
        </p:spPr>
      </p:sp>
      <p:sp>
        <p:nvSpPr>
          <p:cNvPr id="100" name="Shape 98"/>
          <p:cNvSpPr/>
          <p:nvPr/>
        </p:nvSpPr>
        <p:spPr>
          <a:xfrm>
            <a:off x="6728460" y="2587511"/>
            <a:ext cx="350520" cy="111653"/>
          </a:xfrm>
          <a:prstGeom prst="rect">
            <a:avLst/>
          </a:prstGeom>
          <a:solidFill>
            <a:schemeClr val="bg1"/>
          </a:solidFill>
          <a:ln w="6350">
            <a:solidFill>
              <a:srgbClr val="E1E7E3"/>
            </a:solidFill>
            <a:prstDash val="solid"/>
          </a:ln>
        </p:spPr>
      </p:sp>
      <p:sp>
        <p:nvSpPr>
          <p:cNvPr id="101" name="Shape 99"/>
          <p:cNvSpPr/>
          <p:nvPr/>
        </p:nvSpPr>
        <p:spPr>
          <a:xfrm>
            <a:off x="7124700" y="2587511"/>
            <a:ext cx="350520" cy="111653"/>
          </a:xfrm>
          <a:prstGeom prst="rect">
            <a:avLst/>
          </a:prstGeom>
          <a:solidFill>
            <a:schemeClr val="bg1"/>
          </a:solidFill>
          <a:ln w="6350">
            <a:solidFill>
              <a:srgbClr val="E1E7E3"/>
            </a:solidFill>
            <a:prstDash val="solid"/>
          </a:ln>
        </p:spPr>
      </p:sp>
      <p:sp>
        <p:nvSpPr>
          <p:cNvPr id="102" name="Shape 100"/>
          <p:cNvSpPr/>
          <p:nvPr/>
        </p:nvSpPr>
        <p:spPr>
          <a:xfrm>
            <a:off x="7520940" y="2587511"/>
            <a:ext cx="350520" cy="111653"/>
          </a:xfrm>
          <a:prstGeom prst="rect">
            <a:avLst/>
          </a:prstGeom>
          <a:solidFill>
            <a:schemeClr val="bg1"/>
          </a:solidFill>
          <a:ln w="6350">
            <a:solidFill>
              <a:srgbClr val="E1E7E3"/>
            </a:solidFill>
            <a:prstDash val="solid"/>
          </a:ln>
        </p:spPr>
      </p:sp>
      <p:sp>
        <p:nvSpPr>
          <p:cNvPr id="103" name="Shape 101"/>
          <p:cNvSpPr/>
          <p:nvPr/>
        </p:nvSpPr>
        <p:spPr>
          <a:xfrm>
            <a:off x="7917180" y="2587511"/>
            <a:ext cx="350520" cy="111653"/>
          </a:xfrm>
          <a:prstGeom prst="rect">
            <a:avLst/>
          </a:prstGeom>
          <a:solidFill>
            <a:schemeClr val="bg1"/>
          </a:solidFill>
          <a:ln w="6350">
            <a:solidFill>
              <a:srgbClr val="E1E7E3"/>
            </a:solidFill>
            <a:prstDash val="solid"/>
          </a:ln>
        </p:spPr>
      </p:sp>
      <p:sp>
        <p:nvSpPr>
          <p:cNvPr id="104" name="Shape 102"/>
          <p:cNvSpPr/>
          <p:nvPr/>
        </p:nvSpPr>
        <p:spPr>
          <a:xfrm>
            <a:off x="8313420" y="2587511"/>
            <a:ext cx="350520" cy="111653"/>
          </a:xfrm>
          <a:prstGeom prst="rect">
            <a:avLst/>
          </a:prstGeom>
          <a:solidFill>
            <a:schemeClr val="bg1"/>
          </a:solidFill>
          <a:ln w="6350">
            <a:solidFill>
              <a:srgbClr val="E1E7E3"/>
            </a:solidFill>
            <a:prstDash val="solid"/>
          </a:ln>
        </p:spPr>
      </p:sp>
      <p:sp>
        <p:nvSpPr>
          <p:cNvPr id="105" name="Text 103"/>
          <p:cNvSpPr txBox="1"/>
          <p:nvPr/>
        </p:nvSpPr>
        <p:spPr>
          <a:xfrm>
            <a:off x="530352" y="2731168"/>
            <a:ext cx="3383280" cy="175661"/>
          </a:xfrm>
          <a:prstGeom prst="rect">
            <a:avLst/>
          </a:prstGeom>
          <a:noFill/>
          <a:ln/>
        </p:spPr>
        <p:txBody>
          <a:bodyPr wrap="square" lIns="0" tIns="0" rIns="0" bIns="0" rtlCol="0" anchor="ctr"/>
          <a:lstStyle/>
          <a:p>
            <a:pPr indent="0" marL="0">
              <a:buNone/>
            </a:pPr>
            <a:r>
              <a:rPr lang="en-US" sz="1000" dirty="0">
                <a:solidFill>
                  <a:schemeClr val="accent5"/>
                </a:solidFill>
              </a:rPr>
              <a:t>1.2.4  </a:t>
            </a:r>
            <a:pPr indent="0" marL="0">
              <a:buNone/>
            </a:pPr>
            <a:r>
              <a:rPr lang="en-US" sz="1000" dirty="0">
                <a:solidFill>
                  <a:schemeClr val="tx1"/>
                </a:solidFill>
              </a:rPr>
              <a:t>Dokumen penanganan keluhan &amp; penyelesaian konflik</a:t>
            </a:r>
            <a:endParaRPr lang="en-US" sz="1000" dirty="0"/>
          </a:p>
        </p:txBody>
      </p:sp>
      <p:sp>
        <p:nvSpPr>
          <p:cNvPr id="106" name="Shape 104"/>
          <p:cNvSpPr/>
          <p:nvPr/>
        </p:nvSpPr>
        <p:spPr>
          <a:xfrm>
            <a:off x="3954780" y="2763172"/>
            <a:ext cx="350520" cy="111653"/>
          </a:xfrm>
          <a:prstGeom prst="rect">
            <a:avLst/>
          </a:prstGeom>
          <a:solidFill>
            <a:schemeClr val="bg1"/>
          </a:solidFill>
          <a:ln w="6350">
            <a:solidFill>
              <a:srgbClr val="E1E7E3"/>
            </a:solidFill>
            <a:prstDash val="solid"/>
          </a:ln>
        </p:spPr>
      </p:sp>
      <p:sp>
        <p:nvSpPr>
          <p:cNvPr id="107" name="Shape 105"/>
          <p:cNvSpPr/>
          <p:nvPr/>
        </p:nvSpPr>
        <p:spPr>
          <a:xfrm>
            <a:off x="4351020" y="2763172"/>
            <a:ext cx="350520" cy="111653"/>
          </a:xfrm>
          <a:prstGeom prst="rect">
            <a:avLst/>
          </a:prstGeom>
          <a:solidFill>
            <a:schemeClr val="bg1"/>
          </a:solidFill>
          <a:ln w="6350">
            <a:solidFill>
              <a:srgbClr val="E1E7E3"/>
            </a:solidFill>
            <a:prstDash val="solid"/>
          </a:ln>
        </p:spPr>
      </p:sp>
      <p:sp>
        <p:nvSpPr>
          <p:cNvPr id="108" name="Shape 106"/>
          <p:cNvSpPr/>
          <p:nvPr/>
        </p:nvSpPr>
        <p:spPr>
          <a:xfrm>
            <a:off x="4747260" y="2763172"/>
            <a:ext cx="350520" cy="111653"/>
          </a:xfrm>
          <a:prstGeom prst="rect">
            <a:avLst/>
          </a:prstGeom>
          <a:solidFill>
            <a:schemeClr val="accent1"/>
          </a:solidFill>
          <a:ln/>
        </p:spPr>
      </p:sp>
      <p:sp>
        <p:nvSpPr>
          <p:cNvPr id="109" name="Shape 107"/>
          <p:cNvSpPr/>
          <p:nvPr/>
        </p:nvSpPr>
        <p:spPr>
          <a:xfrm>
            <a:off x="5143500" y="2763172"/>
            <a:ext cx="350520" cy="111653"/>
          </a:xfrm>
          <a:prstGeom prst="rect">
            <a:avLst/>
          </a:prstGeom>
          <a:solidFill>
            <a:schemeClr val="bg1"/>
          </a:solidFill>
          <a:ln w="6350">
            <a:solidFill>
              <a:srgbClr val="E1E7E3"/>
            </a:solidFill>
            <a:prstDash val="solid"/>
          </a:ln>
        </p:spPr>
      </p:sp>
      <p:sp>
        <p:nvSpPr>
          <p:cNvPr id="110" name="Shape 108"/>
          <p:cNvSpPr/>
          <p:nvPr/>
        </p:nvSpPr>
        <p:spPr>
          <a:xfrm>
            <a:off x="5539740" y="2763172"/>
            <a:ext cx="350520" cy="111653"/>
          </a:xfrm>
          <a:prstGeom prst="rect">
            <a:avLst/>
          </a:prstGeom>
          <a:solidFill>
            <a:schemeClr val="bg1"/>
          </a:solidFill>
          <a:ln w="6350">
            <a:solidFill>
              <a:srgbClr val="E1E7E3"/>
            </a:solidFill>
            <a:prstDash val="solid"/>
          </a:ln>
        </p:spPr>
      </p:sp>
      <p:sp>
        <p:nvSpPr>
          <p:cNvPr id="111" name="Shape 109"/>
          <p:cNvSpPr/>
          <p:nvPr/>
        </p:nvSpPr>
        <p:spPr>
          <a:xfrm>
            <a:off x="5935980" y="2763172"/>
            <a:ext cx="350520" cy="111653"/>
          </a:xfrm>
          <a:prstGeom prst="rect">
            <a:avLst/>
          </a:prstGeom>
          <a:solidFill>
            <a:schemeClr val="bg1"/>
          </a:solidFill>
          <a:ln w="6350">
            <a:solidFill>
              <a:srgbClr val="E1E7E3"/>
            </a:solidFill>
            <a:prstDash val="solid"/>
          </a:ln>
        </p:spPr>
      </p:sp>
      <p:sp>
        <p:nvSpPr>
          <p:cNvPr id="112" name="Shape 110"/>
          <p:cNvSpPr/>
          <p:nvPr/>
        </p:nvSpPr>
        <p:spPr>
          <a:xfrm>
            <a:off x="6332220" y="2763172"/>
            <a:ext cx="350520" cy="111653"/>
          </a:xfrm>
          <a:prstGeom prst="rect">
            <a:avLst/>
          </a:prstGeom>
          <a:solidFill>
            <a:schemeClr val="bg1"/>
          </a:solidFill>
          <a:ln w="6350">
            <a:solidFill>
              <a:srgbClr val="E1E7E3"/>
            </a:solidFill>
            <a:prstDash val="solid"/>
          </a:ln>
        </p:spPr>
      </p:sp>
      <p:sp>
        <p:nvSpPr>
          <p:cNvPr id="113" name="Shape 111"/>
          <p:cNvSpPr/>
          <p:nvPr/>
        </p:nvSpPr>
        <p:spPr>
          <a:xfrm>
            <a:off x="6728460" y="2763172"/>
            <a:ext cx="350520" cy="111653"/>
          </a:xfrm>
          <a:prstGeom prst="rect">
            <a:avLst/>
          </a:prstGeom>
          <a:solidFill>
            <a:schemeClr val="bg1"/>
          </a:solidFill>
          <a:ln w="6350">
            <a:solidFill>
              <a:srgbClr val="E1E7E3"/>
            </a:solidFill>
            <a:prstDash val="solid"/>
          </a:ln>
        </p:spPr>
      </p:sp>
      <p:sp>
        <p:nvSpPr>
          <p:cNvPr id="114" name="Shape 112"/>
          <p:cNvSpPr/>
          <p:nvPr/>
        </p:nvSpPr>
        <p:spPr>
          <a:xfrm>
            <a:off x="7124700" y="2763172"/>
            <a:ext cx="350520" cy="111653"/>
          </a:xfrm>
          <a:prstGeom prst="rect">
            <a:avLst/>
          </a:prstGeom>
          <a:solidFill>
            <a:schemeClr val="bg1"/>
          </a:solidFill>
          <a:ln w="6350">
            <a:solidFill>
              <a:srgbClr val="E1E7E3"/>
            </a:solidFill>
            <a:prstDash val="solid"/>
          </a:ln>
        </p:spPr>
      </p:sp>
      <p:sp>
        <p:nvSpPr>
          <p:cNvPr id="115" name="Shape 113"/>
          <p:cNvSpPr/>
          <p:nvPr/>
        </p:nvSpPr>
        <p:spPr>
          <a:xfrm>
            <a:off x="7520940" y="2763172"/>
            <a:ext cx="350520" cy="111653"/>
          </a:xfrm>
          <a:prstGeom prst="rect">
            <a:avLst/>
          </a:prstGeom>
          <a:solidFill>
            <a:schemeClr val="bg1"/>
          </a:solidFill>
          <a:ln w="6350">
            <a:solidFill>
              <a:srgbClr val="E1E7E3"/>
            </a:solidFill>
            <a:prstDash val="solid"/>
          </a:ln>
        </p:spPr>
      </p:sp>
      <p:sp>
        <p:nvSpPr>
          <p:cNvPr id="116" name="Shape 114"/>
          <p:cNvSpPr/>
          <p:nvPr/>
        </p:nvSpPr>
        <p:spPr>
          <a:xfrm>
            <a:off x="7917180" y="2763172"/>
            <a:ext cx="350520" cy="111653"/>
          </a:xfrm>
          <a:prstGeom prst="rect">
            <a:avLst/>
          </a:prstGeom>
          <a:solidFill>
            <a:schemeClr val="bg1"/>
          </a:solidFill>
          <a:ln w="6350">
            <a:solidFill>
              <a:srgbClr val="E1E7E3"/>
            </a:solidFill>
            <a:prstDash val="solid"/>
          </a:ln>
        </p:spPr>
      </p:sp>
      <p:sp>
        <p:nvSpPr>
          <p:cNvPr id="117" name="Shape 115"/>
          <p:cNvSpPr/>
          <p:nvPr/>
        </p:nvSpPr>
        <p:spPr>
          <a:xfrm>
            <a:off x="8313420" y="2763172"/>
            <a:ext cx="350520" cy="111653"/>
          </a:xfrm>
          <a:prstGeom prst="rect">
            <a:avLst/>
          </a:prstGeom>
          <a:solidFill>
            <a:schemeClr val="bg1"/>
          </a:solidFill>
          <a:ln w="6350">
            <a:solidFill>
              <a:srgbClr val="E1E7E3"/>
            </a:solidFill>
            <a:prstDash val="solid"/>
          </a:ln>
        </p:spPr>
      </p:sp>
      <p:sp>
        <p:nvSpPr>
          <p:cNvPr id="118" name="Text 116"/>
          <p:cNvSpPr txBox="1"/>
          <p:nvPr/>
        </p:nvSpPr>
        <p:spPr>
          <a:xfrm>
            <a:off x="530352" y="2906829"/>
            <a:ext cx="3383280" cy="175661"/>
          </a:xfrm>
          <a:prstGeom prst="rect">
            <a:avLst/>
          </a:prstGeom>
          <a:noFill/>
          <a:ln/>
        </p:spPr>
        <p:txBody>
          <a:bodyPr wrap="square" lIns="0" tIns="0" rIns="0" bIns="0" rtlCol="0" anchor="ctr"/>
          <a:lstStyle/>
          <a:p>
            <a:pPr indent="0" marL="0">
              <a:buNone/>
            </a:pPr>
            <a:r>
              <a:rPr lang="en-US" sz="1000" dirty="0">
                <a:solidFill>
                  <a:schemeClr val="accent5"/>
                </a:solidFill>
              </a:rPr>
              <a:t>1.2.5  </a:t>
            </a:r>
            <a:pPr indent="0" marL="0">
              <a:buNone/>
            </a:pPr>
            <a:r>
              <a:rPr lang="en-US" sz="1000" dirty="0">
                <a:solidFill>
                  <a:schemeClr val="tx1"/>
                </a:solidFill>
              </a:rPr>
              <a:t>Sosialisasi &amp; diseminasi safeguards</a:t>
            </a:r>
            <a:endParaRPr lang="en-US" sz="1000" dirty="0"/>
          </a:p>
        </p:txBody>
      </p:sp>
      <p:sp>
        <p:nvSpPr>
          <p:cNvPr id="119" name="Shape 117"/>
          <p:cNvSpPr/>
          <p:nvPr/>
        </p:nvSpPr>
        <p:spPr>
          <a:xfrm>
            <a:off x="3954780" y="2938833"/>
            <a:ext cx="350520" cy="111653"/>
          </a:xfrm>
          <a:prstGeom prst="rect">
            <a:avLst/>
          </a:prstGeom>
          <a:solidFill>
            <a:schemeClr val="bg1"/>
          </a:solidFill>
          <a:ln w="6350">
            <a:solidFill>
              <a:srgbClr val="E1E7E3"/>
            </a:solidFill>
            <a:prstDash val="solid"/>
          </a:ln>
        </p:spPr>
      </p:sp>
      <p:sp>
        <p:nvSpPr>
          <p:cNvPr id="120" name="Shape 118"/>
          <p:cNvSpPr/>
          <p:nvPr/>
        </p:nvSpPr>
        <p:spPr>
          <a:xfrm>
            <a:off x="4351020" y="2938833"/>
            <a:ext cx="350520" cy="111653"/>
          </a:xfrm>
          <a:prstGeom prst="rect">
            <a:avLst/>
          </a:prstGeom>
          <a:solidFill>
            <a:schemeClr val="accent1"/>
          </a:solidFill>
          <a:ln/>
        </p:spPr>
      </p:sp>
      <p:sp>
        <p:nvSpPr>
          <p:cNvPr id="121" name="Shape 119"/>
          <p:cNvSpPr/>
          <p:nvPr/>
        </p:nvSpPr>
        <p:spPr>
          <a:xfrm>
            <a:off x="4747260" y="2938833"/>
            <a:ext cx="350520" cy="111653"/>
          </a:xfrm>
          <a:prstGeom prst="rect">
            <a:avLst/>
          </a:prstGeom>
          <a:solidFill>
            <a:schemeClr val="bg1"/>
          </a:solidFill>
          <a:ln w="6350">
            <a:solidFill>
              <a:srgbClr val="E1E7E3"/>
            </a:solidFill>
            <a:prstDash val="solid"/>
          </a:ln>
        </p:spPr>
      </p:sp>
      <p:sp>
        <p:nvSpPr>
          <p:cNvPr id="122" name="Shape 120"/>
          <p:cNvSpPr/>
          <p:nvPr/>
        </p:nvSpPr>
        <p:spPr>
          <a:xfrm>
            <a:off x="5143500" y="2938833"/>
            <a:ext cx="350520" cy="111653"/>
          </a:xfrm>
          <a:prstGeom prst="rect">
            <a:avLst/>
          </a:prstGeom>
          <a:solidFill>
            <a:schemeClr val="bg1"/>
          </a:solidFill>
          <a:ln w="6350">
            <a:solidFill>
              <a:srgbClr val="E1E7E3"/>
            </a:solidFill>
            <a:prstDash val="solid"/>
          </a:ln>
        </p:spPr>
      </p:sp>
      <p:sp>
        <p:nvSpPr>
          <p:cNvPr id="123" name="Shape 121"/>
          <p:cNvSpPr/>
          <p:nvPr/>
        </p:nvSpPr>
        <p:spPr>
          <a:xfrm>
            <a:off x="5539740" y="2938833"/>
            <a:ext cx="350520" cy="111653"/>
          </a:xfrm>
          <a:prstGeom prst="rect">
            <a:avLst/>
          </a:prstGeom>
          <a:solidFill>
            <a:schemeClr val="bg1"/>
          </a:solidFill>
          <a:ln w="6350">
            <a:solidFill>
              <a:srgbClr val="E1E7E3"/>
            </a:solidFill>
            <a:prstDash val="solid"/>
          </a:ln>
        </p:spPr>
      </p:sp>
      <p:sp>
        <p:nvSpPr>
          <p:cNvPr id="124" name="Shape 122"/>
          <p:cNvSpPr/>
          <p:nvPr/>
        </p:nvSpPr>
        <p:spPr>
          <a:xfrm>
            <a:off x="5935980" y="2938833"/>
            <a:ext cx="350520" cy="111653"/>
          </a:xfrm>
          <a:prstGeom prst="rect">
            <a:avLst/>
          </a:prstGeom>
          <a:solidFill>
            <a:schemeClr val="bg1"/>
          </a:solidFill>
          <a:ln w="6350">
            <a:solidFill>
              <a:srgbClr val="E1E7E3"/>
            </a:solidFill>
            <a:prstDash val="solid"/>
          </a:ln>
        </p:spPr>
      </p:sp>
      <p:sp>
        <p:nvSpPr>
          <p:cNvPr id="125" name="Shape 123"/>
          <p:cNvSpPr/>
          <p:nvPr/>
        </p:nvSpPr>
        <p:spPr>
          <a:xfrm>
            <a:off x="6332220" y="2938833"/>
            <a:ext cx="350520" cy="111653"/>
          </a:xfrm>
          <a:prstGeom prst="rect">
            <a:avLst/>
          </a:prstGeom>
          <a:solidFill>
            <a:schemeClr val="bg1"/>
          </a:solidFill>
          <a:ln w="6350">
            <a:solidFill>
              <a:srgbClr val="E1E7E3"/>
            </a:solidFill>
            <a:prstDash val="solid"/>
          </a:ln>
        </p:spPr>
      </p:sp>
      <p:sp>
        <p:nvSpPr>
          <p:cNvPr id="126" name="Shape 124"/>
          <p:cNvSpPr/>
          <p:nvPr/>
        </p:nvSpPr>
        <p:spPr>
          <a:xfrm>
            <a:off x="6728460" y="2938833"/>
            <a:ext cx="350520" cy="111653"/>
          </a:xfrm>
          <a:prstGeom prst="rect">
            <a:avLst/>
          </a:prstGeom>
          <a:solidFill>
            <a:schemeClr val="bg1"/>
          </a:solidFill>
          <a:ln w="6350">
            <a:solidFill>
              <a:srgbClr val="E1E7E3"/>
            </a:solidFill>
            <a:prstDash val="solid"/>
          </a:ln>
        </p:spPr>
      </p:sp>
      <p:sp>
        <p:nvSpPr>
          <p:cNvPr id="127" name="Shape 125"/>
          <p:cNvSpPr/>
          <p:nvPr/>
        </p:nvSpPr>
        <p:spPr>
          <a:xfrm>
            <a:off x="7124700" y="2938833"/>
            <a:ext cx="350520" cy="111653"/>
          </a:xfrm>
          <a:prstGeom prst="rect">
            <a:avLst/>
          </a:prstGeom>
          <a:solidFill>
            <a:schemeClr val="bg1"/>
          </a:solidFill>
          <a:ln w="6350">
            <a:solidFill>
              <a:srgbClr val="E1E7E3"/>
            </a:solidFill>
            <a:prstDash val="solid"/>
          </a:ln>
        </p:spPr>
      </p:sp>
      <p:sp>
        <p:nvSpPr>
          <p:cNvPr id="128" name="Shape 126"/>
          <p:cNvSpPr/>
          <p:nvPr/>
        </p:nvSpPr>
        <p:spPr>
          <a:xfrm>
            <a:off x="7520940" y="2938833"/>
            <a:ext cx="350520" cy="111653"/>
          </a:xfrm>
          <a:prstGeom prst="rect">
            <a:avLst/>
          </a:prstGeom>
          <a:solidFill>
            <a:schemeClr val="bg1"/>
          </a:solidFill>
          <a:ln w="6350">
            <a:solidFill>
              <a:srgbClr val="E1E7E3"/>
            </a:solidFill>
            <a:prstDash val="solid"/>
          </a:ln>
        </p:spPr>
      </p:sp>
      <p:sp>
        <p:nvSpPr>
          <p:cNvPr id="129" name="Shape 127"/>
          <p:cNvSpPr/>
          <p:nvPr/>
        </p:nvSpPr>
        <p:spPr>
          <a:xfrm>
            <a:off x="7917180" y="2938833"/>
            <a:ext cx="350520" cy="111653"/>
          </a:xfrm>
          <a:prstGeom prst="rect">
            <a:avLst/>
          </a:prstGeom>
          <a:solidFill>
            <a:schemeClr val="bg1"/>
          </a:solidFill>
          <a:ln w="6350">
            <a:solidFill>
              <a:srgbClr val="E1E7E3"/>
            </a:solidFill>
            <a:prstDash val="solid"/>
          </a:ln>
        </p:spPr>
      </p:sp>
      <p:sp>
        <p:nvSpPr>
          <p:cNvPr id="130" name="Shape 128"/>
          <p:cNvSpPr/>
          <p:nvPr/>
        </p:nvSpPr>
        <p:spPr>
          <a:xfrm>
            <a:off x="8313420" y="2938833"/>
            <a:ext cx="350520" cy="111653"/>
          </a:xfrm>
          <a:prstGeom prst="rect">
            <a:avLst/>
          </a:prstGeom>
          <a:solidFill>
            <a:schemeClr val="bg1"/>
          </a:solidFill>
          <a:ln w="6350">
            <a:solidFill>
              <a:srgbClr val="E1E7E3"/>
            </a:solidFill>
            <a:prstDash val="solid"/>
          </a:ln>
        </p:spPr>
      </p:sp>
      <p:sp>
        <p:nvSpPr>
          <p:cNvPr id="131" name="Shape 129"/>
          <p:cNvSpPr/>
          <p:nvPr/>
        </p:nvSpPr>
        <p:spPr>
          <a:xfrm>
            <a:off x="457200" y="3082491"/>
            <a:ext cx="8229600" cy="175661"/>
          </a:xfrm>
          <a:prstGeom prst="rect">
            <a:avLst/>
          </a:prstGeom>
          <a:solidFill>
            <a:schemeClr val="bg2"/>
          </a:solidFill>
          <a:ln/>
        </p:spPr>
      </p:sp>
      <p:sp>
        <p:nvSpPr>
          <p:cNvPr id="132" name="Text 130"/>
          <p:cNvSpPr txBox="1"/>
          <p:nvPr/>
        </p:nvSpPr>
        <p:spPr>
          <a:xfrm>
            <a:off x="530352" y="3082491"/>
            <a:ext cx="3383280" cy="175661"/>
          </a:xfrm>
          <a:prstGeom prst="rect">
            <a:avLst/>
          </a:prstGeom>
          <a:noFill/>
          <a:ln/>
        </p:spPr>
        <p:txBody>
          <a:bodyPr wrap="square" lIns="0" tIns="0" rIns="0" bIns="0" rtlCol="0" anchor="ctr"/>
          <a:lstStyle/>
          <a:p>
            <a:pPr indent="0" marL="0">
              <a:buNone/>
            </a:pPr>
            <a:r>
              <a:rPr lang="en-US" sz="1000" b="1" dirty="0">
                <a:solidFill>
                  <a:schemeClr val="accent1"/>
                </a:solidFill>
              </a:rPr>
              <a:t>1.3–1.4  Perlindungan &amp; rehabilitasi kawasan</a:t>
            </a:r>
            <a:endParaRPr lang="en-US" sz="1000" dirty="0"/>
          </a:p>
        </p:txBody>
      </p:sp>
      <p:sp>
        <p:nvSpPr>
          <p:cNvPr id="133" name="Text 131"/>
          <p:cNvSpPr txBox="1"/>
          <p:nvPr/>
        </p:nvSpPr>
        <p:spPr>
          <a:xfrm>
            <a:off x="530352" y="3258152"/>
            <a:ext cx="3383280" cy="175661"/>
          </a:xfrm>
          <a:prstGeom prst="rect">
            <a:avLst/>
          </a:prstGeom>
          <a:noFill/>
          <a:ln/>
        </p:spPr>
        <p:txBody>
          <a:bodyPr wrap="square" lIns="0" tIns="0" rIns="0" bIns="0" rtlCol="0" anchor="ctr"/>
          <a:lstStyle/>
          <a:p>
            <a:pPr indent="0" marL="0">
              <a:buNone/>
            </a:pPr>
            <a:r>
              <a:rPr lang="en-US" sz="1000" dirty="0">
                <a:solidFill>
                  <a:schemeClr val="accent5"/>
                </a:solidFill>
              </a:rPr>
              <a:t>1.3.1  </a:t>
            </a:r>
            <a:pPr indent="0" marL="0">
              <a:buNone/>
            </a:pPr>
            <a:r>
              <a:rPr lang="en-US" sz="1000" dirty="0">
                <a:solidFill>
                  <a:schemeClr val="tx1"/>
                </a:solidFill>
              </a:rPr>
              <a:t>Pelatihan patroli, Avenza &amp; keselamatan lapangan</a:t>
            </a:r>
            <a:endParaRPr lang="en-US" sz="1000" dirty="0"/>
          </a:p>
        </p:txBody>
      </p:sp>
      <p:sp>
        <p:nvSpPr>
          <p:cNvPr id="134" name="Shape 132"/>
          <p:cNvSpPr/>
          <p:nvPr/>
        </p:nvSpPr>
        <p:spPr>
          <a:xfrm>
            <a:off x="3954780" y="3290156"/>
            <a:ext cx="350520" cy="111653"/>
          </a:xfrm>
          <a:prstGeom prst="rect">
            <a:avLst/>
          </a:prstGeom>
          <a:solidFill>
            <a:schemeClr val="accent1"/>
          </a:solidFill>
          <a:ln/>
        </p:spPr>
      </p:sp>
      <p:sp>
        <p:nvSpPr>
          <p:cNvPr id="135" name="Shape 133"/>
          <p:cNvSpPr/>
          <p:nvPr/>
        </p:nvSpPr>
        <p:spPr>
          <a:xfrm>
            <a:off x="4351020" y="3290156"/>
            <a:ext cx="350520" cy="111653"/>
          </a:xfrm>
          <a:prstGeom prst="rect">
            <a:avLst/>
          </a:prstGeom>
          <a:solidFill>
            <a:schemeClr val="bg1"/>
          </a:solidFill>
          <a:ln w="6350">
            <a:solidFill>
              <a:srgbClr val="E1E7E3"/>
            </a:solidFill>
            <a:prstDash val="solid"/>
          </a:ln>
        </p:spPr>
      </p:sp>
      <p:sp>
        <p:nvSpPr>
          <p:cNvPr id="136" name="Shape 134"/>
          <p:cNvSpPr/>
          <p:nvPr/>
        </p:nvSpPr>
        <p:spPr>
          <a:xfrm>
            <a:off x="4747260" y="3290156"/>
            <a:ext cx="350520" cy="111653"/>
          </a:xfrm>
          <a:prstGeom prst="rect">
            <a:avLst/>
          </a:prstGeom>
          <a:solidFill>
            <a:schemeClr val="bg1"/>
          </a:solidFill>
          <a:ln w="6350">
            <a:solidFill>
              <a:srgbClr val="E1E7E3"/>
            </a:solidFill>
            <a:prstDash val="solid"/>
          </a:ln>
        </p:spPr>
      </p:sp>
      <p:sp>
        <p:nvSpPr>
          <p:cNvPr id="137" name="Shape 135"/>
          <p:cNvSpPr/>
          <p:nvPr/>
        </p:nvSpPr>
        <p:spPr>
          <a:xfrm>
            <a:off x="5143500" y="3290156"/>
            <a:ext cx="350520" cy="111653"/>
          </a:xfrm>
          <a:prstGeom prst="rect">
            <a:avLst/>
          </a:prstGeom>
          <a:solidFill>
            <a:schemeClr val="bg1"/>
          </a:solidFill>
          <a:ln w="6350">
            <a:solidFill>
              <a:srgbClr val="E1E7E3"/>
            </a:solidFill>
            <a:prstDash val="solid"/>
          </a:ln>
        </p:spPr>
      </p:sp>
      <p:sp>
        <p:nvSpPr>
          <p:cNvPr id="138" name="Shape 136"/>
          <p:cNvSpPr/>
          <p:nvPr/>
        </p:nvSpPr>
        <p:spPr>
          <a:xfrm>
            <a:off x="5539740" y="3290156"/>
            <a:ext cx="350520" cy="111653"/>
          </a:xfrm>
          <a:prstGeom prst="rect">
            <a:avLst/>
          </a:prstGeom>
          <a:solidFill>
            <a:schemeClr val="bg1"/>
          </a:solidFill>
          <a:ln w="6350">
            <a:solidFill>
              <a:srgbClr val="E1E7E3"/>
            </a:solidFill>
            <a:prstDash val="solid"/>
          </a:ln>
        </p:spPr>
      </p:sp>
      <p:sp>
        <p:nvSpPr>
          <p:cNvPr id="139" name="Shape 137"/>
          <p:cNvSpPr/>
          <p:nvPr/>
        </p:nvSpPr>
        <p:spPr>
          <a:xfrm>
            <a:off x="5935980" y="3290156"/>
            <a:ext cx="350520" cy="111653"/>
          </a:xfrm>
          <a:prstGeom prst="rect">
            <a:avLst/>
          </a:prstGeom>
          <a:solidFill>
            <a:schemeClr val="bg1"/>
          </a:solidFill>
          <a:ln w="6350">
            <a:solidFill>
              <a:srgbClr val="E1E7E3"/>
            </a:solidFill>
            <a:prstDash val="solid"/>
          </a:ln>
        </p:spPr>
      </p:sp>
      <p:sp>
        <p:nvSpPr>
          <p:cNvPr id="140" name="Shape 138"/>
          <p:cNvSpPr/>
          <p:nvPr/>
        </p:nvSpPr>
        <p:spPr>
          <a:xfrm>
            <a:off x="6332220" y="3290156"/>
            <a:ext cx="350520" cy="111653"/>
          </a:xfrm>
          <a:prstGeom prst="rect">
            <a:avLst/>
          </a:prstGeom>
          <a:solidFill>
            <a:schemeClr val="bg1"/>
          </a:solidFill>
          <a:ln w="6350">
            <a:solidFill>
              <a:srgbClr val="E1E7E3"/>
            </a:solidFill>
            <a:prstDash val="solid"/>
          </a:ln>
        </p:spPr>
      </p:sp>
      <p:sp>
        <p:nvSpPr>
          <p:cNvPr id="141" name="Shape 139"/>
          <p:cNvSpPr/>
          <p:nvPr/>
        </p:nvSpPr>
        <p:spPr>
          <a:xfrm>
            <a:off x="6728460" y="3290156"/>
            <a:ext cx="350520" cy="111653"/>
          </a:xfrm>
          <a:prstGeom prst="rect">
            <a:avLst/>
          </a:prstGeom>
          <a:solidFill>
            <a:schemeClr val="bg1"/>
          </a:solidFill>
          <a:ln w="6350">
            <a:solidFill>
              <a:srgbClr val="E1E7E3"/>
            </a:solidFill>
            <a:prstDash val="solid"/>
          </a:ln>
        </p:spPr>
      </p:sp>
      <p:sp>
        <p:nvSpPr>
          <p:cNvPr id="142" name="Shape 140"/>
          <p:cNvSpPr/>
          <p:nvPr/>
        </p:nvSpPr>
        <p:spPr>
          <a:xfrm>
            <a:off x="7124700" y="3290156"/>
            <a:ext cx="350520" cy="111653"/>
          </a:xfrm>
          <a:prstGeom prst="rect">
            <a:avLst/>
          </a:prstGeom>
          <a:solidFill>
            <a:schemeClr val="bg1"/>
          </a:solidFill>
          <a:ln w="6350">
            <a:solidFill>
              <a:srgbClr val="E1E7E3"/>
            </a:solidFill>
            <a:prstDash val="solid"/>
          </a:ln>
        </p:spPr>
      </p:sp>
      <p:sp>
        <p:nvSpPr>
          <p:cNvPr id="143" name="Shape 141"/>
          <p:cNvSpPr/>
          <p:nvPr/>
        </p:nvSpPr>
        <p:spPr>
          <a:xfrm>
            <a:off x="7520940" y="3290156"/>
            <a:ext cx="350520" cy="111653"/>
          </a:xfrm>
          <a:prstGeom prst="rect">
            <a:avLst/>
          </a:prstGeom>
          <a:solidFill>
            <a:schemeClr val="bg1"/>
          </a:solidFill>
          <a:ln w="6350">
            <a:solidFill>
              <a:srgbClr val="E1E7E3"/>
            </a:solidFill>
            <a:prstDash val="solid"/>
          </a:ln>
        </p:spPr>
      </p:sp>
      <p:sp>
        <p:nvSpPr>
          <p:cNvPr id="144" name="Shape 142"/>
          <p:cNvSpPr/>
          <p:nvPr/>
        </p:nvSpPr>
        <p:spPr>
          <a:xfrm>
            <a:off x="7917180" y="3290156"/>
            <a:ext cx="350520" cy="111653"/>
          </a:xfrm>
          <a:prstGeom prst="rect">
            <a:avLst/>
          </a:prstGeom>
          <a:solidFill>
            <a:schemeClr val="bg1"/>
          </a:solidFill>
          <a:ln w="6350">
            <a:solidFill>
              <a:srgbClr val="E1E7E3"/>
            </a:solidFill>
            <a:prstDash val="solid"/>
          </a:ln>
        </p:spPr>
      </p:sp>
      <p:sp>
        <p:nvSpPr>
          <p:cNvPr id="145" name="Shape 143"/>
          <p:cNvSpPr/>
          <p:nvPr/>
        </p:nvSpPr>
        <p:spPr>
          <a:xfrm>
            <a:off x="8313420" y="3290156"/>
            <a:ext cx="350520" cy="111653"/>
          </a:xfrm>
          <a:prstGeom prst="rect">
            <a:avLst/>
          </a:prstGeom>
          <a:solidFill>
            <a:schemeClr val="bg1"/>
          </a:solidFill>
          <a:ln w="6350">
            <a:solidFill>
              <a:srgbClr val="E1E7E3"/>
            </a:solidFill>
            <a:prstDash val="solid"/>
          </a:ln>
        </p:spPr>
      </p:sp>
      <p:sp>
        <p:nvSpPr>
          <p:cNvPr id="146" name="Text 144"/>
          <p:cNvSpPr txBox="1"/>
          <p:nvPr/>
        </p:nvSpPr>
        <p:spPr>
          <a:xfrm>
            <a:off x="530352" y="3433813"/>
            <a:ext cx="3383280" cy="175661"/>
          </a:xfrm>
          <a:prstGeom prst="rect">
            <a:avLst/>
          </a:prstGeom>
          <a:noFill/>
          <a:ln/>
        </p:spPr>
        <p:txBody>
          <a:bodyPr wrap="square" lIns="0" tIns="0" rIns="0" bIns="0" rtlCol="0" anchor="ctr"/>
          <a:lstStyle/>
          <a:p>
            <a:pPr indent="0" marL="0">
              <a:buNone/>
            </a:pPr>
            <a:r>
              <a:rPr lang="en-US" sz="1000" dirty="0">
                <a:solidFill>
                  <a:schemeClr val="accent5"/>
                </a:solidFill>
              </a:rPr>
              <a:t>1.3.2  </a:t>
            </a:r>
            <a:pPr indent="0" marL="0">
              <a:buNone/>
            </a:pPr>
            <a:r>
              <a:rPr lang="en-US" sz="1000" dirty="0">
                <a:solidFill>
                  <a:schemeClr val="tx1"/>
                </a:solidFill>
              </a:rPr>
              <a:t>Patroli perlindungan hutan</a:t>
            </a:r>
            <a:endParaRPr lang="en-US" sz="1000" dirty="0"/>
          </a:p>
        </p:txBody>
      </p:sp>
      <p:sp>
        <p:nvSpPr>
          <p:cNvPr id="147" name="Shape 145"/>
          <p:cNvSpPr/>
          <p:nvPr/>
        </p:nvSpPr>
        <p:spPr>
          <a:xfrm>
            <a:off x="3954780" y="3465817"/>
            <a:ext cx="350520" cy="111653"/>
          </a:xfrm>
          <a:prstGeom prst="rect">
            <a:avLst/>
          </a:prstGeom>
          <a:solidFill>
            <a:schemeClr val="accent1"/>
          </a:solidFill>
          <a:ln/>
        </p:spPr>
      </p:sp>
      <p:sp>
        <p:nvSpPr>
          <p:cNvPr id="148" name="Shape 146"/>
          <p:cNvSpPr/>
          <p:nvPr/>
        </p:nvSpPr>
        <p:spPr>
          <a:xfrm>
            <a:off x="4351020" y="3465817"/>
            <a:ext cx="350520" cy="111653"/>
          </a:xfrm>
          <a:prstGeom prst="rect">
            <a:avLst/>
          </a:prstGeom>
          <a:solidFill>
            <a:schemeClr val="accent1"/>
          </a:solidFill>
          <a:ln/>
        </p:spPr>
      </p:sp>
      <p:sp>
        <p:nvSpPr>
          <p:cNvPr id="149" name="Shape 147"/>
          <p:cNvSpPr/>
          <p:nvPr/>
        </p:nvSpPr>
        <p:spPr>
          <a:xfrm>
            <a:off x="4747260" y="3465817"/>
            <a:ext cx="350520" cy="111653"/>
          </a:xfrm>
          <a:prstGeom prst="rect">
            <a:avLst/>
          </a:prstGeom>
          <a:solidFill>
            <a:schemeClr val="accent1"/>
          </a:solidFill>
          <a:ln/>
        </p:spPr>
      </p:sp>
      <p:sp>
        <p:nvSpPr>
          <p:cNvPr id="150" name="Shape 148"/>
          <p:cNvSpPr/>
          <p:nvPr/>
        </p:nvSpPr>
        <p:spPr>
          <a:xfrm>
            <a:off x="5143500" y="3465817"/>
            <a:ext cx="350520" cy="111653"/>
          </a:xfrm>
          <a:prstGeom prst="rect">
            <a:avLst/>
          </a:prstGeom>
          <a:solidFill>
            <a:schemeClr val="accent1"/>
          </a:solidFill>
          <a:ln/>
        </p:spPr>
      </p:sp>
      <p:sp>
        <p:nvSpPr>
          <p:cNvPr id="151" name="Shape 149"/>
          <p:cNvSpPr/>
          <p:nvPr/>
        </p:nvSpPr>
        <p:spPr>
          <a:xfrm>
            <a:off x="5539740" y="3465817"/>
            <a:ext cx="350520" cy="111653"/>
          </a:xfrm>
          <a:prstGeom prst="rect">
            <a:avLst/>
          </a:prstGeom>
          <a:solidFill>
            <a:schemeClr val="accent1"/>
          </a:solidFill>
          <a:ln/>
        </p:spPr>
      </p:sp>
      <p:sp>
        <p:nvSpPr>
          <p:cNvPr id="152" name="Shape 150"/>
          <p:cNvSpPr/>
          <p:nvPr/>
        </p:nvSpPr>
        <p:spPr>
          <a:xfrm>
            <a:off x="5935980" y="3465817"/>
            <a:ext cx="350520" cy="111653"/>
          </a:xfrm>
          <a:prstGeom prst="rect">
            <a:avLst/>
          </a:prstGeom>
          <a:solidFill>
            <a:schemeClr val="accent1"/>
          </a:solidFill>
          <a:ln/>
        </p:spPr>
      </p:sp>
      <p:sp>
        <p:nvSpPr>
          <p:cNvPr id="153" name="Shape 151"/>
          <p:cNvSpPr/>
          <p:nvPr/>
        </p:nvSpPr>
        <p:spPr>
          <a:xfrm>
            <a:off x="6332220" y="3465817"/>
            <a:ext cx="350520" cy="111653"/>
          </a:xfrm>
          <a:prstGeom prst="rect">
            <a:avLst/>
          </a:prstGeom>
          <a:solidFill>
            <a:schemeClr val="accent1"/>
          </a:solidFill>
          <a:ln/>
        </p:spPr>
      </p:sp>
      <p:sp>
        <p:nvSpPr>
          <p:cNvPr id="154" name="Shape 152"/>
          <p:cNvSpPr/>
          <p:nvPr/>
        </p:nvSpPr>
        <p:spPr>
          <a:xfrm>
            <a:off x="6728460" y="3465817"/>
            <a:ext cx="350520" cy="111653"/>
          </a:xfrm>
          <a:prstGeom prst="rect">
            <a:avLst/>
          </a:prstGeom>
          <a:solidFill>
            <a:schemeClr val="accent1"/>
          </a:solidFill>
          <a:ln/>
        </p:spPr>
      </p:sp>
      <p:sp>
        <p:nvSpPr>
          <p:cNvPr id="155" name="Shape 153"/>
          <p:cNvSpPr/>
          <p:nvPr/>
        </p:nvSpPr>
        <p:spPr>
          <a:xfrm>
            <a:off x="7124700" y="3465817"/>
            <a:ext cx="350520" cy="111653"/>
          </a:xfrm>
          <a:prstGeom prst="rect">
            <a:avLst/>
          </a:prstGeom>
          <a:solidFill>
            <a:schemeClr val="accent1"/>
          </a:solidFill>
          <a:ln/>
        </p:spPr>
      </p:sp>
      <p:sp>
        <p:nvSpPr>
          <p:cNvPr id="156" name="Shape 154"/>
          <p:cNvSpPr/>
          <p:nvPr/>
        </p:nvSpPr>
        <p:spPr>
          <a:xfrm>
            <a:off x="7520940" y="3465817"/>
            <a:ext cx="350520" cy="111653"/>
          </a:xfrm>
          <a:prstGeom prst="rect">
            <a:avLst/>
          </a:prstGeom>
          <a:solidFill>
            <a:schemeClr val="accent1"/>
          </a:solidFill>
          <a:ln/>
        </p:spPr>
      </p:sp>
      <p:sp>
        <p:nvSpPr>
          <p:cNvPr id="157" name="Shape 155"/>
          <p:cNvSpPr/>
          <p:nvPr/>
        </p:nvSpPr>
        <p:spPr>
          <a:xfrm>
            <a:off x="7917180" y="3465817"/>
            <a:ext cx="350520" cy="111653"/>
          </a:xfrm>
          <a:prstGeom prst="rect">
            <a:avLst/>
          </a:prstGeom>
          <a:solidFill>
            <a:schemeClr val="accent1"/>
          </a:solidFill>
          <a:ln/>
        </p:spPr>
      </p:sp>
      <p:sp>
        <p:nvSpPr>
          <p:cNvPr id="158" name="Shape 156"/>
          <p:cNvSpPr/>
          <p:nvPr/>
        </p:nvSpPr>
        <p:spPr>
          <a:xfrm>
            <a:off x="8313420" y="3465817"/>
            <a:ext cx="350520" cy="111653"/>
          </a:xfrm>
          <a:prstGeom prst="rect">
            <a:avLst/>
          </a:prstGeom>
          <a:solidFill>
            <a:schemeClr val="bg1"/>
          </a:solidFill>
          <a:ln w="6350">
            <a:solidFill>
              <a:srgbClr val="E1E7E3"/>
            </a:solidFill>
            <a:prstDash val="solid"/>
          </a:ln>
        </p:spPr>
      </p:sp>
      <p:sp>
        <p:nvSpPr>
          <p:cNvPr id="159" name="Text 157"/>
          <p:cNvSpPr txBox="1"/>
          <p:nvPr/>
        </p:nvSpPr>
        <p:spPr>
          <a:xfrm>
            <a:off x="530352" y="3609474"/>
            <a:ext cx="3383280" cy="175661"/>
          </a:xfrm>
          <a:prstGeom prst="rect">
            <a:avLst/>
          </a:prstGeom>
          <a:noFill/>
          <a:ln/>
        </p:spPr>
        <p:txBody>
          <a:bodyPr wrap="square" lIns="0" tIns="0" rIns="0" bIns="0" rtlCol="0" anchor="ctr"/>
          <a:lstStyle/>
          <a:p>
            <a:pPr indent="0" marL="0">
              <a:buNone/>
            </a:pPr>
            <a:r>
              <a:rPr lang="en-US" sz="1000" dirty="0">
                <a:solidFill>
                  <a:schemeClr val="accent5"/>
                </a:solidFill>
              </a:rPr>
              <a:t>1.4.1  </a:t>
            </a:r>
            <a:pPr indent="0" marL="0">
              <a:buNone/>
            </a:pPr>
            <a:r>
              <a:rPr lang="en-US" sz="1000" dirty="0">
                <a:solidFill>
                  <a:schemeClr val="tx1"/>
                </a:solidFill>
              </a:rPr>
              <a:t>Survei dan FPIC untuk rehabilitasi</a:t>
            </a:r>
            <a:endParaRPr lang="en-US" sz="1000" dirty="0"/>
          </a:p>
        </p:txBody>
      </p:sp>
      <p:sp>
        <p:nvSpPr>
          <p:cNvPr id="160" name="Shape 158"/>
          <p:cNvSpPr/>
          <p:nvPr/>
        </p:nvSpPr>
        <p:spPr>
          <a:xfrm>
            <a:off x="3954780" y="3641478"/>
            <a:ext cx="350520" cy="111653"/>
          </a:xfrm>
          <a:prstGeom prst="rect">
            <a:avLst/>
          </a:prstGeom>
          <a:solidFill>
            <a:schemeClr val="bg1"/>
          </a:solidFill>
          <a:ln w="6350">
            <a:solidFill>
              <a:srgbClr val="E1E7E3"/>
            </a:solidFill>
            <a:prstDash val="solid"/>
          </a:ln>
        </p:spPr>
      </p:sp>
      <p:sp>
        <p:nvSpPr>
          <p:cNvPr id="161" name="Shape 159"/>
          <p:cNvSpPr/>
          <p:nvPr/>
        </p:nvSpPr>
        <p:spPr>
          <a:xfrm>
            <a:off x="4351020" y="3641478"/>
            <a:ext cx="350520" cy="111653"/>
          </a:xfrm>
          <a:prstGeom prst="rect">
            <a:avLst/>
          </a:prstGeom>
          <a:solidFill>
            <a:schemeClr val="bg1"/>
          </a:solidFill>
          <a:ln w="6350">
            <a:solidFill>
              <a:srgbClr val="E1E7E3"/>
            </a:solidFill>
            <a:prstDash val="solid"/>
          </a:ln>
        </p:spPr>
      </p:sp>
      <p:sp>
        <p:nvSpPr>
          <p:cNvPr id="162" name="Shape 160"/>
          <p:cNvSpPr/>
          <p:nvPr/>
        </p:nvSpPr>
        <p:spPr>
          <a:xfrm>
            <a:off x="4747260" y="3641478"/>
            <a:ext cx="350520" cy="111653"/>
          </a:xfrm>
          <a:prstGeom prst="rect">
            <a:avLst/>
          </a:prstGeom>
          <a:solidFill>
            <a:schemeClr val="bg1"/>
          </a:solidFill>
          <a:ln w="6350">
            <a:solidFill>
              <a:srgbClr val="E1E7E3"/>
            </a:solidFill>
            <a:prstDash val="solid"/>
          </a:ln>
        </p:spPr>
      </p:sp>
      <p:sp>
        <p:nvSpPr>
          <p:cNvPr id="163" name="Shape 161"/>
          <p:cNvSpPr/>
          <p:nvPr/>
        </p:nvSpPr>
        <p:spPr>
          <a:xfrm>
            <a:off x="5143500" y="3641478"/>
            <a:ext cx="350520" cy="111653"/>
          </a:xfrm>
          <a:prstGeom prst="rect">
            <a:avLst/>
          </a:prstGeom>
          <a:solidFill>
            <a:schemeClr val="bg1"/>
          </a:solidFill>
          <a:ln w="6350">
            <a:solidFill>
              <a:srgbClr val="E1E7E3"/>
            </a:solidFill>
            <a:prstDash val="solid"/>
          </a:ln>
        </p:spPr>
      </p:sp>
      <p:sp>
        <p:nvSpPr>
          <p:cNvPr id="164" name="Shape 162"/>
          <p:cNvSpPr/>
          <p:nvPr/>
        </p:nvSpPr>
        <p:spPr>
          <a:xfrm>
            <a:off x="5539740" y="3641478"/>
            <a:ext cx="350520" cy="111653"/>
          </a:xfrm>
          <a:prstGeom prst="rect">
            <a:avLst/>
          </a:prstGeom>
          <a:solidFill>
            <a:schemeClr val="bg1"/>
          </a:solidFill>
          <a:ln w="6350">
            <a:solidFill>
              <a:srgbClr val="E1E7E3"/>
            </a:solidFill>
            <a:prstDash val="solid"/>
          </a:ln>
        </p:spPr>
      </p:sp>
      <p:sp>
        <p:nvSpPr>
          <p:cNvPr id="165" name="Shape 163"/>
          <p:cNvSpPr/>
          <p:nvPr/>
        </p:nvSpPr>
        <p:spPr>
          <a:xfrm>
            <a:off x="5935980" y="3641478"/>
            <a:ext cx="350520" cy="111653"/>
          </a:xfrm>
          <a:prstGeom prst="rect">
            <a:avLst/>
          </a:prstGeom>
          <a:solidFill>
            <a:schemeClr val="bg1"/>
          </a:solidFill>
          <a:ln w="6350">
            <a:solidFill>
              <a:srgbClr val="E1E7E3"/>
            </a:solidFill>
            <a:prstDash val="solid"/>
          </a:ln>
        </p:spPr>
      </p:sp>
      <p:sp>
        <p:nvSpPr>
          <p:cNvPr id="166" name="Shape 164"/>
          <p:cNvSpPr/>
          <p:nvPr/>
        </p:nvSpPr>
        <p:spPr>
          <a:xfrm>
            <a:off x="6332220" y="3641478"/>
            <a:ext cx="350520" cy="111653"/>
          </a:xfrm>
          <a:prstGeom prst="rect">
            <a:avLst/>
          </a:prstGeom>
          <a:solidFill>
            <a:schemeClr val="accent1"/>
          </a:solidFill>
          <a:ln/>
        </p:spPr>
      </p:sp>
      <p:sp>
        <p:nvSpPr>
          <p:cNvPr id="167" name="Shape 165"/>
          <p:cNvSpPr/>
          <p:nvPr/>
        </p:nvSpPr>
        <p:spPr>
          <a:xfrm>
            <a:off x="6728460" y="3641478"/>
            <a:ext cx="350520" cy="111653"/>
          </a:xfrm>
          <a:prstGeom prst="rect">
            <a:avLst/>
          </a:prstGeom>
          <a:solidFill>
            <a:schemeClr val="bg1"/>
          </a:solidFill>
          <a:ln w="6350">
            <a:solidFill>
              <a:srgbClr val="E1E7E3"/>
            </a:solidFill>
            <a:prstDash val="solid"/>
          </a:ln>
        </p:spPr>
      </p:sp>
      <p:sp>
        <p:nvSpPr>
          <p:cNvPr id="168" name="Shape 166"/>
          <p:cNvSpPr/>
          <p:nvPr/>
        </p:nvSpPr>
        <p:spPr>
          <a:xfrm>
            <a:off x="7124700" y="3641478"/>
            <a:ext cx="350520" cy="111653"/>
          </a:xfrm>
          <a:prstGeom prst="rect">
            <a:avLst/>
          </a:prstGeom>
          <a:solidFill>
            <a:schemeClr val="bg1"/>
          </a:solidFill>
          <a:ln w="6350">
            <a:solidFill>
              <a:srgbClr val="E1E7E3"/>
            </a:solidFill>
            <a:prstDash val="solid"/>
          </a:ln>
        </p:spPr>
      </p:sp>
      <p:sp>
        <p:nvSpPr>
          <p:cNvPr id="169" name="Shape 167"/>
          <p:cNvSpPr/>
          <p:nvPr/>
        </p:nvSpPr>
        <p:spPr>
          <a:xfrm>
            <a:off x="7520940" y="3641478"/>
            <a:ext cx="350520" cy="111653"/>
          </a:xfrm>
          <a:prstGeom prst="rect">
            <a:avLst/>
          </a:prstGeom>
          <a:solidFill>
            <a:schemeClr val="accent1"/>
          </a:solidFill>
          <a:ln/>
        </p:spPr>
      </p:sp>
      <p:sp>
        <p:nvSpPr>
          <p:cNvPr id="170" name="Shape 168"/>
          <p:cNvSpPr/>
          <p:nvPr/>
        </p:nvSpPr>
        <p:spPr>
          <a:xfrm>
            <a:off x="7917180" y="3641478"/>
            <a:ext cx="350520" cy="111653"/>
          </a:xfrm>
          <a:prstGeom prst="rect">
            <a:avLst/>
          </a:prstGeom>
          <a:solidFill>
            <a:schemeClr val="bg1"/>
          </a:solidFill>
          <a:ln w="6350">
            <a:solidFill>
              <a:srgbClr val="E1E7E3"/>
            </a:solidFill>
            <a:prstDash val="solid"/>
          </a:ln>
        </p:spPr>
      </p:sp>
      <p:sp>
        <p:nvSpPr>
          <p:cNvPr id="171" name="Shape 169"/>
          <p:cNvSpPr/>
          <p:nvPr/>
        </p:nvSpPr>
        <p:spPr>
          <a:xfrm>
            <a:off x="8313420" y="3641478"/>
            <a:ext cx="350520" cy="111653"/>
          </a:xfrm>
          <a:prstGeom prst="rect">
            <a:avLst/>
          </a:prstGeom>
          <a:solidFill>
            <a:schemeClr val="bg1"/>
          </a:solidFill>
          <a:ln w="6350">
            <a:solidFill>
              <a:srgbClr val="E1E7E3"/>
            </a:solidFill>
            <a:prstDash val="solid"/>
          </a:ln>
        </p:spPr>
      </p:sp>
      <p:sp>
        <p:nvSpPr>
          <p:cNvPr id="172" name="Text 170"/>
          <p:cNvSpPr txBox="1"/>
          <p:nvPr/>
        </p:nvSpPr>
        <p:spPr>
          <a:xfrm>
            <a:off x="530352" y="3785135"/>
            <a:ext cx="3383280" cy="175661"/>
          </a:xfrm>
          <a:prstGeom prst="rect">
            <a:avLst/>
          </a:prstGeom>
          <a:noFill/>
          <a:ln/>
        </p:spPr>
        <p:txBody>
          <a:bodyPr wrap="square" lIns="0" tIns="0" rIns="0" bIns="0" rtlCol="0" anchor="ctr"/>
          <a:lstStyle/>
          <a:p>
            <a:pPr indent="0" marL="0">
              <a:buNone/>
            </a:pPr>
            <a:r>
              <a:rPr lang="en-US" sz="1000" dirty="0">
                <a:solidFill>
                  <a:schemeClr val="accent5"/>
                </a:solidFill>
              </a:rPr>
              <a:t>1.4.2  </a:t>
            </a:r>
            <a:pPr indent="0" marL="0">
              <a:buNone/>
            </a:pPr>
            <a:r>
              <a:rPr lang="en-US" sz="1000" dirty="0">
                <a:solidFill>
                  <a:schemeClr val="tx1"/>
                </a:solidFill>
              </a:rPr>
              <a:t>Rehabilitasi 5 ha gambut (50% ANR, 50% tanam)</a:t>
            </a:r>
            <a:endParaRPr lang="en-US" sz="1000" dirty="0"/>
          </a:p>
        </p:txBody>
      </p:sp>
      <p:sp>
        <p:nvSpPr>
          <p:cNvPr id="173" name="Shape 171"/>
          <p:cNvSpPr/>
          <p:nvPr/>
        </p:nvSpPr>
        <p:spPr>
          <a:xfrm>
            <a:off x="3954780" y="3817139"/>
            <a:ext cx="350520" cy="111653"/>
          </a:xfrm>
          <a:prstGeom prst="rect">
            <a:avLst/>
          </a:prstGeom>
          <a:solidFill>
            <a:schemeClr val="bg1"/>
          </a:solidFill>
          <a:ln w="6350">
            <a:solidFill>
              <a:srgbClr val="E1E7E3"/>
            </a:solidFill>
            <a:prstDash val="solid"/>
          </a:ln>
        </p:spPr>
      </p:sp>
      <p:sp>
        <p:nvSpPr>
          <p:cNvPr id="174" name="Shape 172"/>
          <p:cNvSpPr/>
          <p:nvPr/>
        </p:nvSpPr>
        <p:spPr>
          <a:xfrm>
            <a:off x="4351020" y="3817139"/>
            <a:ext cx="350520" cy="111653"/>
          </a:xfrm>
          <a:prstGeom prst="rect">
            <a:avLst/>
          </a:prstGeom>
          <a:solidFill>
            <a:schemeClr val="bg1"/>
          </a:solidFill>
          <a:ln w="6350">
            <a:solidFill>
              <a:srgbClr val="E1E7E3"/>
            </a:solidFill>
            <a:prstDash val="solid"/>
          </a:ln>
        </p:spPr>
      </p:sp>
      <p:sp>
        <p:nvSpPr>
          <p:cNvPr id="175" name="Shape 173"/>
          <p:cNvSpPr/>
          <p:nvPr/>
        </p:nvSpPr>
        <p:spPr>
          <a:xfrm>
            <a:off x="4747260" y="3817139"/>
            <a:ext cx="350520" cy="111653"/>
          </a:xfrm>
          <a:prstGeom prst="rect">
            <a:avLst/>
          </a:prstGeom>
          <a:solidFill>
            <a:schemeClr val="bg1"/>
          </a:solidFill>
          <a:ln w="6350">
            <a:solidFill>
              <a:srgbClr val="E1E7E3"/>
            </a:solidFill>
            <a:prstDash val="solid"/>
          </a:ln>
        </p:spPr>
      </p:sp>
      <p:sp>
        <p:nvSpPr>
          <p:cNvPr id="176" name="Shape 174"/>
          <p:cNvSpPr/>
          <p:nvPr/>
        </p:nvSpPr>
        <p:spPr>
          <a:xfrm>
            <a:off x="5143500" y="3817139"/>
            <a:ext cx="350520" cy="111653"/>
          </a:xfrm>
          <a:prstGeom prst="rect">
            <a:avLst/>
          </a:prstGeom>
          <a:solidFill>
            <a:schemeClr val="bg1"/>
          </a:solidFill>
          <a:ln w="6350">
            <a:solidFill>
              <a:srgbClr val="E1E7E3"/>
            </a:solidFill>
            <a:prstDash val="solid"/>
          </a:ln>
        </p:spPr>
      </p:sp>
      <p:sp>
        <p:nvSpPr>
          <p:cNvPr id="177" name="Shape 175"/>
          <p:cNvSpPr/>
          <p:nvPr/>
        </p:nvSpPr>
        <p:spPr>
          <a:xfrm>
            <a:off x="5539740" y="3817139"/>
            <a:ext cx="350520" cy="111653"/>
          </a:xfrm>
          <a:prstGeom prst="rect">
            <a:avLst/>
          </a:prstGeom>
          <a:solidFill>
            <a:schemeClr val="bg1"/>
          </a:solidFill>
          <a:ln w="6350">
            <a:solidFill>
              <a:srgbClr val="E1E7E3"/>
            </a:solidFill>
            <a:prstDash val="solid"/>
          </a:ln>
        </p:spPr>
      </p:sp>
      <p:sp>
        <p:nvSpPr>
          <p:cNvPr id="178" name="Shape 176"/>
          <p:cNvSpPr/>
          <p:nvPr/>
        </p:nvSpPr>
        <p:spPr>
          <a:xfrm>
            <a:off x="5935980" y="3817139"/>
            <a:ext cx="350520" cy="111653"/>
          </a:xfrm>
          <a:prstGeom prst="rect">
            <a:avLst/>
          </a:prstGeom>
          <a:solidFill>
            <a:schemeClr val="bg1"/>
          </a:solidFill>
          <a:ln w="6350">
            <a:solidFill>
              <a:srgbClr val="E1E7E3"/>
            </a:solidFill>
            <a:prstDash val="solid"/>
          </a:ln>
        </p:spPr>
      </p:sp>
      <p:sp>
        <p:nvSpPr>
          <p:cNvPr id="179" name="Shape 177"/>
          <p:cNvSpPr/>
          <p:nvPr/>
        </p:nvSpPr>
        <p:spPr>
          <a:xfrm>
            <a:off x="6332220" y="3817139"/>
            <a:ext cx="350520" cy="111653"/>
          </a:xfrm>
          <a:prstGeom prst="rect">
            <a:avLst/>
          </a:prstGeom>
          <a:solidFill>
            <a:schemeClr val="accent1"/>
          </a:solidFill>
          <a:ln/>
        </p:spPr>
      </p:sp>
      <p:sp>
        <p:nvSpPr>
          <p:cNvPr id="180" name="Shape 178"/>
          <p:cNvSpPr/>
          <p:nvPr/>
        </p:nvSpPr>
        <p:spPr>
          <a:xfrm>
            <a:off x="6728460" y="3817139"/>
            <a:ext cx="350520" cy="111653"/>
          </a:xfrm>
          <a:prstGeom prst="rect">
            <a:avLst/>
          </a:prstGeom>
          <a:solidFill>
            <a:schemeClr val="bg1"/>
          </a:solidFill>
          <a:ln w="6350">
            <a:solidFill>
              <a:srgbClr val="E1E7E3"/>
            </a:solidFill>
            <a:prstDash val="solid"/>
          </a:ln>
        </p:spPr>
      </p:sp>
      <p:sp>
        <p:nvSpPr>
          <p:cNvPr id="181" name="Shape 179"/>
          <p:cNvSpPr/>
          <p:nvPr/>
        </p:nvSpPr>
        <p:spPr>
          <a:xfrm>
            <a:off x="7124700" y="3817139"/>
            <a:ext cx="350520" cy="111653"/>
          </a:xfrm>
          <a:prstGeom prst="rect">
            <a:avLst/>
          </a:prstGeom>
          <a:solidFill>
            <a:schemeClr val="bg1"/>
          </a:solidFill>
          <a:ln w="6350">
            <a:solidFill>
              <a:srgbClr val="E1E7E3"/>
            </a:solidFill>
            <a:prstDash val="solid"/>
          </a:ln>
        </p:spPr>
      </p:sp>
      <p:sp>
        <p:nvSpPr>
          <p:cNvPr id="182" name="Shape 180"/>
          <p:cNvSpPr/>
          <p:nvPr/>
        </p:nvSpPr>
        <p:spPr>
          <a:xfrm>
            <a:off x="7520940" y="3817139"/>
            <a:ext cx="350520" cy="111653"/>
          </a:xfrm>
          <a:prstGeom prst="rect">
            <a:avLst/>
          </a:prstGeom>
          <a:solidFill>
            <a:schemeClr val="accent1"/>
          </a:solidFill>
          <a:ln/>
        </p:spPr>
      </p:sp>
      <p:sp>
        <p:nvSpPr>
          <p:cNvPr id="183" name="Shape 181"/>
          <p:cNvSpPr/>
          <p:nvPr/>
        </p:nvSpPr>
        <p:spPr>
          <a:xfrm>
            <a:off x="7917180" y="3817139"/>
            <a:ext cx="350520" cy="111653"/>
          </a:xfrm>
          <a:prstGeom prst="rect">
            <a:avLst/>
          </a:prstGeom>
          <a:solidFill>
            <a:schemeClr val="bg1"/>
          </a:solidFill>
          <a:ln w="6350">
            <a:solidFill>
              <a:srgbClr val="E1E7E3"/>
            </a:solidFill>
            <a:prstDash val="solid"/>
          </a:ln>
        </p:spPr>
      </p:sp>
      <p:sp>
        <p:nvSpPr>
          <p:cNvPr id="184" name="Shape 182"/>
          <p:cNvSpPr/>
          <p:nvPr/>
        </p:nvSpPr>
        <p:spPr>
          <a:xfrm>
            <a:off x="8313420" y="3817139"/>
            <a:ext cx="350520" cy="111653"/>
          </a:xfrm>
          <a:prstGeom prst="rect">
            <a:avLst/>
          </a:prstGeom>
          <a:solidFill>
            <a:schemeClr val="bg1"/>
          </a:solidFill>
          <a:ln w="6350">
            <a:solidFill>
              <a:srgbClr val="E1E7E3"/>
            </a:solidFill>
            <a:prstDash val="solid"/>
          </a:ln>
        </p:spPr>
      </p:sp>
      <p:sp>
        <p:nvSpPr>
          <p:cNvPr id="185" name="Shape 183"/>
          <p:cNvSpPr/>
          <p:nvPr/>
        </p:nvSpPr>
        <p:spPr>
          <a:xfrm>
            <a:off x="457200" y="3960796"/>
            <a:ext cx="8229600" cy="175661"/>
          </a:xfrm>
          <a:prstGeom prst="rect">
            <a:avLst/>
          </a:prstGeom>
          <a:solidFill>
            <a:schemeClr val="bg2"/>
          </a:solidFill>
          <a:ln/>
        </p:spPr>
      </p:sp>
      <p:sp>
        <p:nvSpPr>
          <p:cNvPr id="186" name="Text 184"/>
          <p:cNvSpPr txBox="1"/>
          <p:nvPr/>
        </p:nvSpPr>
        <p:spPr>
          <a:xfrm>
            <a:off x="530352" y="3960796"/>
            <a:ext cx="3383280" cy="175661"/>
          </a:xfrm>
          <a:prstGeom prst="rect">
            <a:avLst/>
          </a:prstGeom>
          <a:noFill/>
          <a:ln/>
        </p:spPr>
        <p:txBody>
          <a:bodyPr wrap="square" lIns="0" tIns="0" rIns="0" bIns="0" rtlCol="0" anchor="ctr"/>
          <a:lstStyle/>
          <a:p>
            <a:pPr indent="0" marL="0">
              <a:buNone/>
            </a:pPr>
            <a:r>
              <a:rPr lang="en-US" sz="1000" b="1" dirty="0">
                <a:solidFill>
                  <a:schemeClr val="accent1"/>
                </a:solidFill>
              </a:rPr>
              <a:t>1.5  Usaha masyarakat pendukung hutan</a:t>
            </a:r>
            <a:endParaRPr lang="en-US" sz="1000" dirty="0"/>
          </a:p>
        </p:txBody>
      </p:sp>
      <p:sp>
        <p:nvSpPr>
          <p:cNvPr id="187" name="Text 185"/>
          <p:cNvSpPr txBox="1"/>
          <p:nvPr/>
        </p:nvSpPr>
        <p:spPr>
          <a:xfrm>
            <a:off x="530352" y="4136457"/>
            <a:ext cx="3383280" cy="175661"/>
          </a:xfrm>
          <a:prstGeom prst="rect">
            <a:avLst/>
          </a:prstGeom>
          <a:noFill/>
          <a:ln/>
        </p:spPr>
        <p:txBody>
          <a:bodyPr wrap="square" lIns="0" tIns="0" rIns="0" bIns="0" rtlCol="0" anchor="ctr"/>
          <a:lstStyle/>
          <a:p>
            <a:pPr indent="0" marL="0">
              <a:buNone/>
            </a:pPr>
            <a:r>
              <a:rPr lang="en-US" sz="1000" dirty="0">
                <a:solidFill>
                  <a:schemeClr val="accent5"/>
                </a:solidFill>
              </a:rPr>
              <a:t>1.5.1  </a:t>
            </a:r>
            <a:pPr indent="0" marL="0">
              <a:buNone/>
            </a:pPr>
            <a:r>
              <a:rPr lang="en-US" sz="1000" dirty="0">
                <a:solidFill>
                  <a:schemeClr val="tx1"/>
                </a:solidFill>
              </a:rPr>
              <a:t>Identifikasi potensi usaha KUPS</a:t>
            </a:r>
            <a:endParaRPr lang="en-US" sz="1000" dirty="0"/>
          </a:p>
        </p:txBody>
      </p:sp>
      <p:sp>
        <p:nvSpPr>
          <p:cNvPr id="188" name="Shape 186"/>
          <p:cNvSpPr/>
          <p:nvPr/>
        </p:nvSpPr>
        <p:spPr>
          <a:xfrm>
            <a:off x="3954780" y="4168461"/>
            <a:ext cx="350520" cy="111653"/>
          </a:xfrm>
          <a:prstGeom prst="rect">
            <a:avLst/>
          </a:prstGeom>
          <a:solidFill>
            <a:schemeClr val="bg1"/>
          </a:solidFill>
          <a:ln w="6350">
            <a:solidFill>
              <a:srgbClr val="E1E7E3"/>
            </a:solidFill>
            <a:prstDash val="solid"/>
          </a:ln>
        </p:spPr>
      </p:sp>
      <p:sp>
        <p:nvSpPr>
          <p:cNvPr id="189" name="Shape 187"/>
          <p:cNvSpPr/>
          <p:nvPr/>
        </p:nvSpPr>
        <p:spPr>
          <a:xfrm>
            <a:off x="4351020" y="4168461"/>
            <a:ext cx="350520" cy="111653"/>
          </a:xfrm>
          <a:prstGeom prst="rect">
            <a:avLst/>
          </a:prstGeom>
          <a:solidFill>
            <a:schemeClr val="accent1"/>
          </a:solidFill>
          <a:ln/>
        </p:spPr>
      </p:sp>
      <p:sp>
        <p:nvSpPr>
          <p:cNvPr id="190" name="Shape 188"/>
          <p:cNvSpPr/>
          <p:nvPr/>
        </p:nvSpPr>
        <p:spPr>
          <a:xfrm>
            <a:off x="4747260" y="4168461"/>
            <a:ext cx="350520" cy="111653"/>
          </a:xfrm>
          <a:prstGeom prst="rect">
            <a:avLst/>
          </a:prstGeom>
          <a:solidFill>
            <a:schemeClr val="bg1"/>
          </a:solidFill>
          <a:ln w="6350">
            <a:solidFill>
              <a:srgbClr val="E1E7E3"/>
            </a:solidFill>
            <a:prstDash val="solid"/>
          </a:ln>
        </p:spPr>
      </p:sp>
      <p:sp>
        <p:nvSpPr>
          <p:cNvPr id="191" name="Shape 189"/>
          <p:cNvSpPr/>
          <p:nvPr/>
        </p:nvSpPr>
        <p:spPr>
          <a:xfrm>
            <a:off x="5143500" y="4168461"/>
            <a:ext cx="350520" cy="111653"/>
          </a:xfrm>
          <a:prstGeom prst="rect">
            <a:avLst/>
          </a:prstGeom>
          <a:solidFill>
            <a:schemeClr val="bg1"/>
          </a:solidFill>
          <a:ln w="6350">
            <a:solidFill>
              <a:srgbClr val="E1E7E3"/>
            </a:solidFill>
            <a:prstDash val="solid"/>
          </a:ln>
        </p:spPr>
      </p:sp>
      <p:sp>
        <p:nvSpPr>
          <p:cNvPr id="192" name="Shape 190"/>
          <p:cNvSpPr/>
          <p:nvPr/>
        </p:nvSpPr>
        <p:spPr>
          <a:xfrm>
            <a:off x="5539740" y="4168461"/>
            <a:ext cx="350520" cy="111653"/>
          </a:xfrm>
          <a:prstGeom prst="rect">
            <a:avLst/>
          </a:prstGeom>
          <a:solidFill>
            <a:schemeClr val="bg1"/>
          </a:solidFill>
          <a:ln w="6350">
            <a:solidFill>
              <a:srgbClr val="E1E7E3"/>
            </a:solidFill>
            <a:prstDash val="solid"/>
          </a:ln>
        </p:spPr>
      </p:sp>
      <p:sp>
        <p:nvSpPr>
          <p:cNvPr id="193" name="Shape 191"/>
          <p:cNvSpPr/>
          <p:nvPr/>
        </p:nvSpPr>
        <p:spPr>
          <a:xfrm>
            <a:off x="5935980" y="4168461"/>
            <a:ext cx="350520" cy="111653"/>
          </a:xfrm>
          <a:prstGeom prst="rect">
            <a:avLst/>
          </a:prstGeom>
          <a:solidFill>
            <a:schemeClr val="bg1"/>
          </a:solidFill>
          <a:ln w="6350">
            <a:solidFill>
              <a:srgbClr val="E1E7E3"/>
            </a:solidFill>
            <a:prstDash val="solid"/>
          </a:ln>
        </p:spPr>
      </p:sp>
      <p:sp>
        <p:nvSpPr>
          <p:cNvPr id="194" name="Shape 192"/>
          <p:cNvSpPr/>
          <p:nvPr/>
        </p:nvSpPr>
        <p:spPr>
          <a:xfrm>
            <a:off x="6332220" y="4168461"/>
            <a:ext cx="350520" cy="111653"/>
          </a:xfrm>
          <a:prstGeom prst="rect">
            <a:avLst/>
          </a:prstGeom>
          <a:solidFill>
            <a:schemeClr val="bg1"/>
          </a:solidFill>
          <a:ln w="6350">
            <a:solidFill>
              <a:srgbClr val="E1E7E3"/>
            </a:solidFill>
            <a:prstDash val="solid"/>
          </a:ln>
        </p:spPr>
      </p:sp>
      <p:sp>
        <p:nvSpPr>
          <p:cNvPr id="195" name="Shape 193"/>
          <p:cNvSpPr/>
          <p:nvPr/>
        </p:nvSpPr>
        <p:spPr>
          <a:xfrm>
            <a:off x="6728460" y="4168461"/>
            <a:ext cx="350520" cy="111653"/>
          </a:xfrm>
          <a:prstGeom prst="rect">
            <a:avLst/>
          </a:prstGeom>
          <a:solidFill>
            <a:schemeClr val="bg1"/>
          </a:solidFill>
          <a:ln w="6350">
            <a:solidFill>
              <a:srgbClr val="E1E7E3"/>
            </a:solidFill>
            <a:prstDash val="solid"/>
          </a:ln>
        </p:spPr>
      </p:sp>
      <p:sp>
        <p:nvSpPr>
          <p:cNvPr id="196" name="Shape 194"/>
          <p:cNvSpPr/>
          <p:nvPr/>
        </p:nvSpPr>
        <p:spPr>
          <a:xfrm>
            <a:off x="7124700" y="4168461"/>
            <a:ext cx="350520" cy="111653"/>
          </a:xfrm>
          <a:prstGeom prst="rect">
            <a:avLst/>
          </a:prstGeom>
          <a:solidFill>
            <a:schemeClr val="bg1"/>
          </a:solidFill>
          <a:ln w="6350">
            <a:solidFill>
              <a:srgbClr val="E1E7E3"/>
            </a:solidFill>
            <a:prstDash val="solid"/>
          </a:ln>
        </p:spPr>
      </p:sp>
      <p:sp>
        <p:nvSpPr>
          <p:cNvPr id="197" name="Shape 195"/>
          <p:cNvSpPr/>
          <p:nvPr/>
        </p:nvSpPr>
        <p:spPr>
          <a:xfrm>
            <a:off x="7520940" y="4168461"/>
            <a:ext cx="350520" cy="111653"/>
          </a:xfrm>
          <a:prstGeom prst="rect">
            <a:avLst/>
          </a:prstGeom>
          <a:solidFill>
            <a:schemeClr val="bg1"/>
          </a:solidFill>
          <a:ln w="6350">
            <a:solidFill>
              <a:srgbClr val="E1E7E3"/>
            </a:solidFill>
            <a:prstDash val="solid"/>
          </a:ln>
        </p:spPr>
      </p:sp>
      <p:sp>
        <p:nvSpPr>
          <p:cNvPr id="198" name="Shape 196"/>
          <p:cNvSpPr/>
          <p:nvPr/>
        </p:nvSpPr>
        <p:spPr>
          <a:xfrm>
            <a:off x="7917180" y="4168461"/>
            <a:ext cx="350520" cy="111653"/>
          </a:xfrm>
          <a:prstGeom prst="rect">
            <a:avLst/>
          </a:prstGeom>
          <a:solidFill>
            <a:schemeClr val="bg1"/>
          </a:solidFill>
          <a:ln w="6350">
            <a:solidFill>
              <a:srgbClr val="E1E7E3"/>
            </a:solidFill>
            <a:prstDash val="solid"/>
          </a:ln>
        </p:spPr>
      </p:sp>
      <p:sp>
        <p:nvSpPr>
          <p:cNvPr id="199" name="Shape 197"/>
          <p:cNvSpPr/>
          <p:nvPr/>
        </p:nvSpPr>
        <p:spPr>
          <a:xfrm>
            <a:off x="8313420" y="4168461"/>
            <a:ext cx="350520" cy="111653"/>
          </a:xfrm>
          <a:prstGeom prst="rect">
            <a:avLst/>
          </a:prstGeom>
          <a:solidFill>
            <a:schemeClr val="bg1"/>
          </a:solidFill>
          <a:ln w="6350">
            <a:solidFill>
              <a:srgbClr val="E1E7E3"/>
            </a:solidFill>
            <a:prstDash val="solid"/>
          </a:ln>
        </p:spPr>
      </p:sp>
      <p:sp>
        <p:nvSpPr>
          <p:cNvPr id="200" name="Text 198"/>
          <p:cNvSpPr txBox="1"/>
          <p:nvPr/>
        </p:nvSpPr>
        <p:spPr>
          <a:xfrm>
            <a:off x="530352" y="4312118"/>
            <a:ext cx="3383280" cy="175661"/>
          </a:xfrm>
          <a:prstGeom prst="rect">
            <a:avLst/>
          </a:prstGeom>
          <a:noFill/>
          <a:ln/>
        </p:spPr>
        <p:txBody>
          <a:bodyPr wrap="square" lIns="0" tIns="0" rIns="0" bIns="0" rtlCol="0" anchor="ctr"/>
          <a:lstStyle/>
          <a:p>
            <a:pPr indent="0" marL="0">
              <a:buNone/>
            </a:pPr>
            <a:r>
              <a:rPr lang="en-US" sz="1000" dirty="0">
                <a:solidFill>
                  <a:schemeClr val="accent5"/>
                </a:solidFill>
              </a:rPr>
              <a:t>1.5.2  </a:t>
            </a:r>
            <a:pPr indent="0" marL="0">
              <a:buNone/>
            </a:pPr>
            <a:r>
              <a:rPr lang="en-US" sz="1000" dirty="0">
                <a:solidFill>
                  <a:schemeClr val="tx1"/>
                </a:solidFill>
              </a:rPr>
              <a:t>Orientasi &amp; pembentukan KUPS</a:t>
            </a:r>
            <a:endParaRPr lang="en-US" sz="1000" dirty="0"/>
          </a:p>
        </p:txBody>
      </p:sp>
      <p:sp>
        <p:nvSpPr>
          <p:cNvPr id="201" name="Shape 199"/>
          <p:cNvSpPr/>
          <p:nvPr/>
        </p:nvSpPr>
        <p:spPr>
          <a:xfrm>
            <a:off x="3954780" y="4344122"/>
            <a:ext cx="350520" cy="111653"/>
          </a:xfrm>
          <a:prstGeom prst="rect">
            <a:avLst/>
          </a:prstGeom>
          <a:solidFill>
            <a:schemeClr val="bg1"/>
          </a:solidFill>
          <a:ln w="6350">
            <a:solidFill>
              <a:srgbClr val="E1E7E3"/>
            </a:solidFill>
            <a:prstDash val="solid"/>
          </a:ln>
        </p:spPr>
      </p:sp>
      <p:sp>
        <p:nvSpPr>
          <p:cNvPr id="202" name="Shape 200"/>
          <p:cNvSpPr/>
          <p:nvPr/>
        </p:nvSpPr>
        <p:spPr>
          <a:xfrm>
            <a:off x="4351020" y="4344122"/>
            <a:ext cx="350520" cy="111653"/>
          </a:xfrm>
          <a:prstGeom prst="rect">
            <a:avLst/>
          </a:prstGeom>
          <a:solidFill>
            <a:schemeClr val="bg1"/>
          </a:solidFill>
          <a:ln w="6350">
            <a:solidFill>
              <a:srgbClr val="E1E7E3"/>
            </a:solidFill>
            <a:prstDash val="solid"/>
          </a:ln>
        </p:spPr>
      </p:sp>
      <p:sp>
        <p:nvSpPr>
          <p:cNvPr id="203" name="Shape 201"/>
          <p:cNvSpPr/>
          <p:nvPr/>
        </p:nvSpPr>
        <p:spPr>
          <a:xfrm>
            <a:off x="4747260" y="4344122"/>
            <a:ext cx="350520" cy="111653"/>
          </a:xfrm>
          <a:prstGeom prst="rect">
            <a:avLst/>
          </a:prstGeom>
          <a:solidFill>
            <a:schemeClr val="accent1"/>
          </a:solidFill>
          <a:ln/>
        </p:spPr>
      </p:sp>
      <p:sp>
        <p:nvSpPr>
          <p:cNvPr id="204" name="Shape 202"/>
          <p:cNvSpPr/>
          <p:nvPr/>
        </p:nvSpPr>
        <p:spPr>
          <a:xfrm>
            <a:off x="5143500" y="4344122"/>
            <a:ext cx="350520" cy="111653"/>
          </a:xfrm>
          <a:prstGeom prst="rect">
            <a:avLst/>
          </a:prstGeom>
          <a:solidFill>
            <a:schemeClr val="bg1"/>
          </a:solidFill>
          <a:ln w="6350">
            <a:solidFill>
              <a:srgbClr val="E1E7E3"/>
            </a:solidFill>
            <a:prstDash val="solid"/>
          </a:ln>
        </p:spPr>
      </p:sp>
      <p:sp>
        <p:nvSpPr>
          <p:cNvPr id="205" name="Shape 203"/>
          <p:cNvSpPr/>
          <p:nvPr/>
        </p:nvSpPr>
        <p:spPr>
          <a:xfrm>
            <a:off x="5539740" y="4344122"/>
            <a:ext cx="350520" cy="111653"/>
          </a:xfrm>
          <a:prstGeom prst="rect">
            <a:avLst/>
          </a:prstGeom>
          <a:solidFill>
            <a:schemeClr val="bg1"/>
          </a:solidFill>
          <a:ln w="6350">
            <a:solidFill>
              <a:srgbClr val="E1E7E3"/>
            </a:solidFill>
            <a:prstDash val="solid"/>
          </a:ln>
        </p:spPr>
      </p:sp>
      <p:sp>
        <p:nvSpPr>
          <p:cNvPr id="206" name="Shape 204"/>
          <p:cNvSpPr/>
          <p:nvPr/>
        </p:nvSpPr>
        <p:spPr>
          <a:xfrm>
            <a:off x="5935980" y="4344122"/>
            <a:ext cx="350520" cy="111653"/>
          </a:xfrm>
          <a:prstGeom prst="rect">
            <a:avLst/>
          </a:prstGeom>
          <a:solidFill>
            <a:schemeClr val="bg1"/>
          </a:solidFill>
          <a:ln w="6350">
            <a:solidFill>
              <a:srgbClr val="E1E7E3"/>
            </a:solidFill>
            <a:prstDash val="solid"/>
          </a:ln>
        </p:spPr>
      </p:sp>
      <p:sp>
        <p:nvSpPr>
          <p:cNvPr id="207" name="Shape 205"/>
          <p:cNvSpPr/>
          <p:nvPr/>
        </p:nvSpPr>
        <p:spPr>
          <a:xfrm>
            <a:off x="6332220" y="4344122"/>
            <a:ext cx="350520" cy="111653"/>
          </a:xfrm>
          <a:prstGeom prst="rect">
            <a:avLst/>
          </a:prstGeom>
          <a:solidFill>
            <a:schemeClr val="bg1"/>
          </a:solidFill>
          <a:ln w="6350">
            <a:solidFill>
              <a:srgbClr val="E1E7E3"/>
            </a:solidFill>
            <a:prstDash val="solid"/>
          </a:ln>
        </p:spPr>
      </p:sp>
      <p:sp>
        <p:nvSpPr>
          <p:cNvPr id="208" name="Shape 206"/>
          <p:cNvSpPr/>
          <p:nvPr/>
        </p:nvSpPr>
        <p:spPr>
          <a:xfrm>
            <a:off x="6728460" y="4344122"/>
            <a:ext cx="350520" cy="111653"/>
          </a:xfrm>
          <a:prstGeom prst="rect">
            <a:avLst/>
          </a:prstGeom>
          <a:solidFill>
            <a:schemeClr val="bg1"/>
          </a:solidFill>
          <a:ln w="6350">
            <a:solidFill>
              <a:srgbClr val="E1E7E3"/>
            </a:solidFill>
            <a:prstDash val="solid"/>
          </a:ln>
        </p:spPr>
      </p:sp>
      <p:sp>
        <p:nvSpPr>
          <p:cNvPr id="209" name="Shape 207"/>
          <p:cNvSpPr/>
          <p:nvPr/>
        </p:nvSpPr>
        <p:spPr>
          <a:xfrm>
            <a:off x="7124700" y="4344122"/>
            <a:ext cx="350520" cy="111653"/>
          </a:xfrm>
          <a:prstGeom prst="rect">
            <a:avLst/>
          </a:prstGeom>
          <a:solidFill>
            <a:schemeClr val="bg1"/>
          </a:solidFill>
          <a:ln w="6350">
            <a:solidFill>
              <a:srgbClr val="E1E7E3"/>
            </a:solidFill>
            <a:prstDash val="solid"/>
          </a:ln>
        </p:spPr>
      </p:sp>
      <p:sp>
        <p:nvSpPr>
          <p:cNvPr id="210" name="Shape 208"/>
          <p:cNvSpPr/>
          <p:nvPr/>
        </p:nvSpPr>
        <p:spPr>
          <a:xfrm>
            <a:off x="7520940" y="4344122"/>
            <a:ext cx="350520" cy="111653"/>
          </a:xfrm>
          <a:prstGeom prst="rect">
            <a:avLst/>
          </a:prstGeom>
          <a:solidFill>
            <a:schemeClr val="bg1"/>
          </a:solidFill>
          <a:ln w="6350">
            <a:solidFill>
              <a:srgbClr val="E1E7E3"/>
            </a:solidFill>
            <a:prstDash val="solid"/>
          </a:ln>
        </p:spPr>
      </p:sp>
      <p:sp>
        <p:nvSpPr>
          <p:cNvPr id="211" name="Shape 209"/>
          <p:cNvSpPr/>
          <p:nvPr/>
        </p:nvSpPr>
        <p:spPr>
          <a:xfrm>
            <a:off x="7917180" y="4344122"/>
            <a:ext cx="350520" cy="111653"/>
          </a:xfrm>
          <a:prstGeom prst="rect">
            <a:avLst/>
          </a:prstGeom>
          <a:solidFill>
            <a:schemeClr val="bg1"/>
          </a:solidFill>
          <a:ln w="6350">
            <a:solidFill>
              <a:srgbClr val="E1E7E3"/>
            </a:solidFill>
            <a:prstDash val="solid"/>
          </a:ln>
        </p:spPr>
      </p:sp>
      <p:sp>
        <p:nvSpPr>
          <p:cNvPr id="212" name="Shape 210"/>
          <p:cNvSpPr/>
          <p:nvPr/>
        </p:nvSpPr>
        <p:spPr>
          <a:xfrm>
            <a:off x="8313420" y="4344122"/>
            <a:ext cx="350520" cy="111653"/>
          </a:xfrm>
          <a:prstGeom prst="rect">
            <a:avLst/>
          </a:prstGeom>
          <a:solidFill>
            <a:schemeClr val="bg1"/>
          </a:solidFill>
          <a:ln w="6350">
            <a:solidFill>
              <a:srgbClr val="E1E7E3"/>
            </a:solidFill>
            <a:prstDash val="solid"/>
          </a:ln>
        </p:spPr>
      </p:sp>
      <p:sp>
        <p:nvSpPr>
          <p:cNvPr id="213" name="Text 211"/>
          <p:cNvSpPr txBox="1"/>
          <p:nvPr/>
        </p:nvSpPr>
        <p:spPr>
          <a:xfrm>
            <a:off x="530352" y="4487779"/>
            <a:ext cx="3383280" cy="175661"/>
          </a:xfrm>
          <a:prstGeom prst="rect">
            <a:avLst/>
          </a:prstGeom>
          <a:noFill/>
          <a:ln/>
        </p:spPr>
        <p:txBody>
          <a:bodyPr wrap="square" lIns="0" tIns="0" rIns="0" bIns="0" rtlCol="0" anchor="ctr"/>
          <a:lstStyle/>
          <a:p>
            <a:pPr indent="0" marL="0">
              <a:buNone/>
            </a:pPr>
            <a:r>
              <a:rPr lang="en-US" sz="1000" dirty="0">
                <a:solidFill>
                  <a:schemeClr val="accent5"/>
                </a:solidFill>
              </a:rPr>
              <a:t>1.5.3  </a:t>
            </a:r>
            <a:pPr indent="0" marL="0">
              <a:buNone/>
            </a:pPr>
            <a:r>
              <a:rPr lang="en-US" sz="1000" dirty="0">
                <a:solidFill>
                  <a:schemeClr val="tx1"/>
                </a:solidFill>
              </a:rPr>
              <a:t>Pelatihan KUPS berbasis iklim &amp; gender</a:t>
            </a:r>
            <a:endParaRPr lang="en-US" sz="1000" dirty="0"/>
          </a:p>
        </p:txBody>
      </p:sp>
      <p:sp>
        <p:nvSpPr>
          <p:cNvPr id="214" name="Shape 212"/>
          <p:cNvSpPr/>
          <p:nvPr/>
        </p:nvSpPr>
        <p:spPr>
          <a:xfrm>
            <a:off x="3954780" y="4519783"/>
            <a:ext cx="350520" cy="111653"/>
          </a:xfrm>
          <a:prstGeom prst="rect">
            <a:avLst/>
          </a:prstGeom>
          <a:solidFill>
            <a:schemeClr val="bg1"/>
          </a:solidFill>
          <a:ln w="6350">
            <a:solidFill>
              <a:srgbClr val="E1E7E3"/>
            </a:solidFill>
            <a:prstDash val="solid"/>
          </a:ln>
        </p:spPr>
      </p:sp>
      <p:sp>
        <p:nvSpPr>
          <p:cNvPr id="215" name="Shape 213"/>
          <p:cNvSpPr/>
          <p:nvPr/>
        </p:nvSpPr>
        <p:spPr>
          <a:xfrm>
            <a:off x="4351020" y="4519783"/>
            <a:ext cx="350520" cy="111653"/>
          </a:xfrm>
          <a:prstGeom prst="rect">
            <a:avLst/>
          </a:prstGeom>
          <a:solidFill>
            <a:schemeClr val="bg1"/>
          </a:solidFill>
          <a:ln w="6350">
            <a:solidFill>
              <a:srgbClr val="E1E7E3"/>
            </a:solidFill>
            <a:prstDash val="solid"/>
          </a:ln>
        </p:spPr>
      </p:sp>
      <p:sp>
        <p:nvSpPr>
          <p:cNvPr id="216" name="Shape 214"/>
          <p:cNvSpPr/>
          <p:nvPr/>
        </p:nvSpPr>
        <p:spPr>
          <a:xfrm>
            <a:off x="4747260" y="4519783"/>
            <a:ext cx="350520" cy="111653"/>
          </a:xfrm>
          <a:prstGeom prst="rect">
            <a:avLst/>
          </a:prstGeom>
          <a:solidFill>
            <a:schemeClr val="accent1"/>
          </a:solidFill>
          <a:ln/>
        </p:spPr>
      </p:sp>
      <p:sp>
        <p:nvSpPr>
          <p:cNvPr id="217" name="Shape 215"/>
          <p:cNvSpPr/>
          <p:nvPr/>
        </p:nvSpPr>
        <p:spPr>
          <a:xfrm>
            <a:off x="5143500" y="4519783"/>
            <a:ext cx="350520" cy="111653"/>
          </a:xfrm>
          <a:prstGeom prst="rect">
            <a:avLst/>
          </a:prstGeom>
          <a:solidFill>
            <a:schemeClr val="bg1"/>
          </a:solidFill>
          <a:ln w="6350">
            <a:solidFill>
              <a:srgbClr val="E1E7E3"/>
            </a:solidFill>
            <a:prstDash val="solid"/>
          </a:ln>
        </p:spPr>
      </p:sp>
      <p:sp>
        <p:nvSpPr>
          <p:cNvPr id="218" name="Shape 216"/>
          <p:cNvSpPr/>
          <p:nvPr/>
        </p:nvSpPr>
        <p:spPr>
          <a:xfrm>
            <a:off x="5539740" y="4519783"/>
            <a:ext cx="350520" cy="111653"/>
          </a:xfrm>
          <a:prstGeom prst="rect">
            <a:avLst/>
          </a:prstGeom>
          <a:solidFill>
            <a:schemeClr val="bg1"/>
          </a:solidFill>
          <a:ln w="6350">
            <a:solidFill>
              <a:srgbClr val="E1E7E3"/>
            </a:solidFill>
            <a:prstDash val="solid"/>
          </a:ln>
        </p:spPr>
      </p:sp>
      <p:sp>
        <p:nvSpPr>
          <p:cNvPr id="219" name="Shape 217"/>
          <p:cNvSpPr/>
          <p:nvPr/>
        </p:nvSpPr>
        <p:spPr>
          <a:xfrm>
            <a:off x="5935980" y="4519783"/>
            <a:ext cx="350520" cy="111653"/>
          </a:xfrm>
          <a:prstGeom prst="rect">
            <a:avLst/>
          </a:prstGeom>
          <a:solidFill>
            <a:schemeClr val="bg1"/>
          </a:solidFill>
          <a:ln w="6350">
            <a:solidFill>
              <a:srgbClr val="E1E7E3"/>
            </a:solidFill>
            <a:prstDash val="solid"/>
          </a:ln>
        </p:spPr>
      </p:sp>
      <p:sp>
        <p:nvSpPr>
          <p:cNvPr id="220" name="Shape 218"/>
          <p:cNvSpPr/>
          <p:nvPr/>
        </p:nvSpPr>
        <p:spPr>
          <a:xfrm>
            <a:off x="6332220" y="4519783"/>
            <a:ext cx="350520" cy="111653"/>
          </a:xfrm>
          <a:prstGeom prst="rect">
            <a:avLst/>
          </a:prstGeom>
          <a:solidFill>
            <a:schemeClr val="bg1"/>
          </a:solidFill>
          <a:ln w="6350">
            <a:solidFill>
              <a:srgbClr val="E1E7E3"/>
            </a:solidFill>
            <a:prstDash val="solid"/>
          </a:ln>
        </p:spPr>
      </p:sp>
      <p:sp>
        <p:nvSpPr>
          <p:cNvPr id="221" name="Shape 219"/>
          <p:cNvSpPr/>
          <p:nvPr/>
        </p:nvSpPr>
        <p:spPr>
          <a:xfrm>
            <a:off x="6728460" y="4519783"/>
            <a:ext cx="350520" cy="111653"/>
          </a:xfrm>
          <a:prstGeom prst="rect">
            <a:avLst/>
          </a:prstGeom>
          <a:solidFill>
            <a:schemeClr val="bg1"/>
          </a:solidFill>
          <a:ln w="6350">
            <a:solidFill>
              <a:srgbClr val="E1E7E3"/>
            </a:solidFill>
            <a:prstDash val="solid"/>
          </a:ln>
        </p:spPr>
      </p:sp>
      <p:sp>
        <p:nvSpPr>
          <p:cNvPr id="222" name="Shape 220"/>
          <p:cNvSpPr/>
          <p:nvPr/>
        </p:nvSpPr>
        <p:spPr>
          <a:xfrm>
            <a:off x="7124700" y="4519783"/>
            <a:ext cx="350520" cy="111653"/>
          </a:xfrm>
          <a:prstGeom prst="rect">
            <a:avLst/>
          </a:prstGeom>
          <a:solidFill>
            <a:schemeClr val="bg1"/>
          </a:solidFill>
          <a:ln w="6350">
            <a:solidFill>
              <a:srgbClr val="E1E7E3"/>
            </a:solidFill>
            <a:prstDash val="solid"/>
          </a:ln>
        </p:spPr>
      </p:sp>
      <p:sp>
        <p:nvSpPr>
          <p:cNvPr id="223" name="Shape 221"/>
          <p:cNvSpPr/>
          <p:nvPr/>
        </p:nvSpPr>
        <p:spPr>
          <a:xfrm>
            <a:off x="7520940" y="4519783"/>
            <a:ext cx="350520" cy="111653"/>
          </a:xfrm>
          <a:prstGeom prst="rect">
            <a:avLst/>
          </a:prstGeom>
          <a:solidFill>
            <a:schemeClr val="bg1"/>
          </a:solidFill>
          <a:ln w="6350">
            <a:solidFill>
              <a:srgbClr val="E1E7E3"/>
            </a:solidFill>
            <a:prstDash val="solid"/>
          </a:ln>
        </p:spPr>
      </p:sp>
      <p:sp>
        <p:nvSpPr>
          <p:cNvPr id="224" name="Shape 222"/>
          <p:cNvSpPr/>
          <p:nvPr/>
        </p:nvSpPr>
        <p:spPr>
          <a:xfrm>
            <a:off x="7917180" y="4519783"/>
            <a:ext cx="350520" cy="111653"/>
          </a:xfrm>
          <a:prstGeom prst="rect">
            <a:avLst/>
          </a:prstGeom>
          <a:solidFill>
            <a:schemeClr val="bg1"/>
          </a:solidFill>
          <a:ln w="6350">
            <a:solidFill>
              <a:srgbClr val="E1E7E3"/>
            </a:solidFill>
            <a:prstDash val="solid"/>
          </a:ln>
        </p:spPr>
      </p:sp>
      <p:sp>
        <p:nvSpPr>
          <p:cNvPr id="225" name="Shape 223"/>
          <p:cNvSpPr/>
          <p:nvPr/>
        </p:nvSpPr>
        <p:spPr>
          <a:xfrm>
            <a:off x="8313420" y="4519783"/>
            <a:ext cx="350520" cy="111653"/>
          </a:xfrm>
          <a:prstGeom prst="rect">
            <a:avLst/>
          </a:prstGeom>
          <a:solidFill>
            <a:schemeClr val="bg1"/>
          </a:solidFill>
          <a:ln w="6350">
            <a:solidFill>
              <a:srgbClr val="E1E7E3"/>
            </a:solidFill>
            <a:prstDash val="solid"/>
          </a:ln>
        </p:spPr>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Timeline Output 2–4: dokumen karbon di semester kedua</a:t>
            </a:r>
            <a:endParaRPr lang="en-US" sz="2200" dirty="0"/>
          </a:p>
        </p:txBody>
      </p:sp>
      <p:sp>
        <p:nvSpPr>
          <p:cNvPr id="3" name="Shape 1"/>
          <p:cNvSpPr/>
          <p:nvPr/>
        </p:nvSpPr>
        <p:spPr>
          <a:xfrm>
            <a:off x="3950208" y="960120"/>
            <a:ext cx="1152144" cy="182880"/>
          </a:xfrm>
          <a:prstGeom prst="rect">
            <a:avLst/>
          </a:prstGeom>
          <a:solidFill>
            <a:schemeClr val="tx2"/>
          </a:solidFill>
          <a:ln/>
        </p:spPr>
      </p:sp>
      <p:sp>
        <p:nvSpPr>
          <p:cNvPr id="4" name="Text 2"/>
          <p:cNvSpPr txBox="1"/>
          <p:nvPr/>
        </p:nvSpPr>
        <p:spPr>
          <a:xfrm>
            <a:off x="3931920" y="960120"/>
            <a:ext cx="1188720" cy="182880"/>
          </a:xfrm>
          <a:prstGeom prst="rect">
            <a:avLst/>
          </a:prstGeom>
          <a:noFill/>
          <a:ln/>
        </p:spPr>
        <p:txBody>
          <a:bodyPr wrap="square" lIns="0" tIns="0" rIns="0" bIns="0" rtlCol="0" anchor="ctr"/>
          <a:lstStyle/>
          <a:p>
            <a:pPr algn="ctr" indent="0" marL="0">
              <a:buNone/>
            </a:pPr>
            <a:r>
              <a:rPr lang="en-US" sz="1000" b="1" dirty="0">
                <a:solidFill>
                  <a:schemeClr val="bg1"/>
                </a:solidFill>
              </a:rPr>
              <a:t>Q1</a:t>
            </a:r>
            <a:endParaRPr lang="en-US" sz="1000" dirty="0"/>
          </a:p>
        </p:txBody>
      </p:sp>
      <p:sp>
        <p:nvSpPr>
          <p:cNvPr id="5" name="Shape 3"/>
          <p:cNvSpPr/>
          <p:nvPr/>
        </p:nvSpPr>
        <p:spPr>
          <a:xfrm>
            <a:off x="5138928" y="960120"/>
            <a:ext cx="1152144" cy="182880"/>
          </a:xfrm>
          <a:prstGeom prst="rect">
            <a:avLst/>
          </a:prstGeom>
          <a:solidFill>
            <a:schemeClr val="tx2"/>
          </a:solidFill>
          <a:ln/>
        </p:spPr>
      </p:sp>
      <p:sp>
        <p:nvSpPr>
          <p:cNvPr id="6" name="Text 4"/>
          <p:cNvSpPr txBox="1"/>
          <p:nvPr/>
        </p:nvSpPr>
        <p:spPr>
          <a:xfrm>
            <a:off x="5120640" y="960120"/>
            <a:ext cx="1188720" cy="182880"/>
          </a:xfrm>
          <a:prstGeom prst="rect">
            <a:avLst/>
          </a:prstGeom>
          <a:noFill/>
          <a:ln/>
        </p:spPr>
        <p:txBody>
          <a:bodyPr wrap="square" lIns="0" tIns="0" rIns="0" bIns="0" rtlCol="0" anchor="ctr"/>
          <a:lstStyle/>
          <a:p>
            <a:pPr algn="ctr" indent="0" marL="0">
              <a:buNone/>
            </a:pPr>
            <a:r>
              <a:rPr lang="en-US" sz="1000" b="1" dirty="0">
                <a:solidFill>
                  <a:schemeClr val="bg1"/>
                </a:solidFill>
              </a:rPr>
              <a:t>Q2</a:t>
            </a:r>
            <a:endParaRPr lang="en-US" sz="1000" dirty="0"/>
          </a:p>
        </p:txBody>
      </p:sp>
      <p:sp>
        <p:nvSpPr>
          <p:cNvPr id="7" name="Shape 5"/>
          <p:cNvSpPr/>
          <p:nvPr/>
        </p:nvSpPr>
        <p:spPr>
          <a:xfrm>
            <a:off x="6327648" y="960120"/>
            <a:ext cx="1152144" cy="182880"/>
          </a:xfrm>
          <a:prstGeom prst="rect">
            <a:avLst/>
          </a:prstGeom>
          <a:solidFill>
            <a:schemeClr val="tx2"/>
          </a:solidFill>
          <a:ln/>
        </p:spPr>
      </p:sp>
      <p:sp>
        <p:nvSpPr>
          <p:cNvPr id="8" name="Text 6"/>
          <p:cNvSpPr txBox="1"/>
          <p:nvPr/>
        </p:nvSpPr>
        <p:spPr>
          <a:xfrm>
            <a:off x="6309360" y="960120"/>
            <a:ext cx="1188720" cy="182880"/>
          </a:xfrm>
          <a:prstGeom prst="rect">
            <a:avLst/>
          </a:prstGeom>
          <a:noFill/>
          <a:ln/>
        </p:spPr>
        <p:txBody>
          <a:bodyPr wrap="square" lIns="0" tIns="0" rIns="0" bIns="0" rtlCol="0" anchor="ctr"/>
          <a:lstStyle/>
          <a:p>
            <a:pPr algn="ctr" indent="0" marL="0">
              <a:buNone/>
            </a:pPr>
            <a:r>
              <a:rPr lang="en-US" sz="1000" b="1" dirty="0">
                <a:solidFill>
                  <a:schemeClr val="bg1"/>
                </a:solidFill>
              </a:rPr>
              <a:t>Q3</a:t>
            </a:r>
            <a:endParaRPr lang="en-US" sz="1000" dirty="0"/>
          </a:p>
        </p:txBody>
      </p:sp>
      <p:sp>
        <p:nvSpPr>
          <p:cNvPr id="9" name="Shape 7"/>
          <p:cNvSpPr/>
          <p:nvPr/>
        </p:nvSpPr>
        <p:spPr>
          <a:xfrm>
            <a:off x="7516368" y="960120"/>
            <a:ext cx="1152144" cy="182880"/>
          </a:xfrm>
          <a:prstGeom prst="rect">
            <a:avLst/>
          </a:prstGeom>
          <a:solidFill>
            <a:schemeClr val="tx2"/>
          </a:solidFill>
          <a:ln/>
        </p:spPr>
      </p:sp>
      <p:sp>
        <p:nvSpPr>
          <p:cNvPr id="10" name="Text 8"/>
          <p:cNvSpPr txBox="1"/>
          <p:nvPr/>
        </p:nvSpPr>
        <p:spPr>
          <a:xfrm>
            <a:off x="7498080" y="960120"/>
            <a:ext cx="1188720" cy="182880"/>
          </a:xfrm>
          <a:prstGeom prst="rect">
            <a:avLst/>
          </a:prstGeom>
          <a:noFill/>
          <a:ln/>
        </p:spPr>
        <p:txBody>
          <a:bodyPr wrap="square" lIns="0" tIns="0" rIns="0" bIns="0" rtlCol="0" anchor="ctr"/>
          <a:lstStyle/>
          <a:p>
            <a:pPr algn="ctr" indent="0" marL="0">
              <a:buNone/>
            </a:pPr>
            <a:r>
              <a:rPr lang="en-US" sz="1000" b="1" dirty="0">
                <a:solidFill>
                  <a:schemeClr val="bg1"/>
                </a:solidFill>
              </a:rPr>
              <a:t>Q4</a:t>
            </a:r>
            <a:endParaRPr lang="en-US" sz="1000" dirty="0"/>
          </a:p>
        </p:txBody>
      </p:sp>
      <p:sp>
        <p:nvSpPr>
          <p:cNvPr id="11" name="Text 9"/>
          <p:cNvSpPr txBox="1"/>
          <p:nvPr/>
        </p:nvSpPr>
        <p:spPr>
          <a:xfrm>
            <a:off x="388620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Sep 26</a:t>
            </a:r>
            <a:endParaRPr lang="en-US" sz="1000" dirty="0"/>
          </a:p>
        </p:txBody>
      </p:sp>
      <p:sp>
        <p:nvSpPr>
          <p:cNvPr id="12" name="Text 10"/>
          <p:cNvSpPr txBox="1"/>
          <p:nvPr/>
        </p:nvSpPr>
        <p:spPr>
          <a:xfrm>
            <a:off x="428244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Okt</a:t>
            </a:r>
            <a:endParaRPr lang="en-US" sz="1000" dirty="0"/>
          </a:p>
        </p:txBody>
      </p:sp>
      <p:sp>
        <p:nvSpPr>
          <p:cNvPr id="13" name="Text 11"/>
          <p:cNvSpPr txBox="1"/>
          <p:nvPr/>
        </p:nvSpPr>
        <p:spPr>
          <a:xfrm>
            <a:off x="467868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Nov</a:t>
            </a:r>
            <a:endParaRPr lang="en-US" sz="1000" dirty="0"/>
          </a:p>
        </p:txBody>
      </p:sp>
      <p:sp>
        <p:nvSpPr>
          <p:cNvPr id="14" name="Text 12"/>
          <p:cNvSpPr txBox="1"/>
          <p:nvPr/>
        </p:nvSpPr>
        <p:spPr>
          <a:xfrm>
            <a:off x="507492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Des</a:t>
            </a:r>
            <a:endParaRPr lang="en-US" sz="1000" dirty="0"/>
          </a:p>
        </p:txBody>
      </p:sp>
      <p:sp>
        <p:nvSpPr>
          <p:cNvPr id="15" name="Text 13"/>
          <p:cNvSpPr txBox="1"/>
          <p:nvPr/>
        </p:nvSpPr>
        <p:spPr>
          <a:xfrm>
            <a:off x="547116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Jan 27</a:t>
            </a:r>
            <a:endParaRPr lang="en-US" sz="1000" dirty="0"/>
          </a:p>
        </p:txBody>
      </p:sp>
      <p:sp>
        <p:nvSpPr>
          <p:cNvPr id="16" name="Text 14"/>
          <p:cNvSpPr txBox="1"/>
          <p:nvPr/>
        </p:nvSpPr>
        <p:spPr>
          <a:xfrm>
            <a:off x="586740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Feb</a:t>
            </a:r>
            <a:endParaRPr lang="en-US" sz="1000" dirty="0"/>
          </a:p>
        </p:txBody>
      </p:sp>
      <p:sp>
        <p:nvSpPr>
          <p:cNvPr id="17" name="Text 15"/>
          <p:cNvSpPr txBox="1"/>
          <p:nvPr/>
        </p:nvSpPr>
        <p:spPr>
          <a:xfrm>
            <a:off x="626364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Mar</a:t>
            </a:r>
            <a:endParaRPr lang="en-US" sz="1000" dirty="0"/>
          </a:p>
        </p:txBody>
      </p:sp>
      <p:sp>
        <p:nvSpPr>
          <p:cNvPr id="18" name="Text 16"/>
          <p:cNvSpPr txBox="1"/>
          <p:nvPr/>
        </p:nvSpPr>
        <p:spPr>
          <a:xfrm>
            <a:off x="665988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Apr</a:t>
            </a:r>
            <a:endParaRPr lang="en-US" sz="1000" dirty="0"/>
          </a:p>
        </p:txBody>
      </p:sp>
      <p:sp>
        <p:nvSpPr>
          <p:cNvPr id="19" name="Text 17"/>
          <p:cNvSpPr txBox="1"/>
          <p:nvPr/>
        </p:nvSpPr>
        <p:spPr>
          <a:xfrm>
            <a:off x="705612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Mei</a:t>
            </a:r>
            <a:endParaRPr lang="en-US" sz="1000" dirty="0"/>
          </a:p>
        </p:txBody>
      </p:sp>
      <p:sp>
        <p:nvSpPr>
          <p:cNvPr id="20" name="Text 18"/>
          <p:cNvSpPr txBox="1"/>
          <p:nvPr/>
        </p:nvSpPr>
        <p:spPr>
          <a:xfrm>
            <a:off x="745236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Jun</a:t>
            </a:r>
            <a:endParaRPr lang="en-US" sz="1000" dirty="0"/>
          </a:p>
        </p:txBody>
      </p:sp>
      <p:sp>
        <p:nvSpPr>
          <p:cNvPr id="21" name="Text 19"/>
          <p:cNvSpPr txBox="1"/>
          <p:nvPr/>
        </p:nvSpPr>
        <p:spPr>
          <a:xfrm>
            <a:off x="784860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Jul</a:t>
            </a:r>
            <a:endParaRPr lang="en-US" sz="1000" dirty="0"/>
          </a:p>
        </p:txBody>
      </p:sp>
      <p:sp>
        <p:nvSpPr>
          <p:cNvPr id="22" name="Text 20"/>
          <p:cNvSpPr txBox="1"/>
          <p:nvPr/>
        </p:nvSpPr>
        <p:spPr>
          <a:xfrm>
            <a:off x="8244840" y="1143000"/>
            <a:ext cx="487680" cy="182880"/>
          </a:xfrm>
          <a:prstGeom prst="rect">
            <a:avLst/>
          </a:prstGeom>
          <a:noFill/>
          <a:ln/>
        </p:spPr>
        <p:txBody>
          <a:bodyPr wrap="square" lIns="0" tIns="0" rIns="0" bIns="0" rtlCol="0" anchor="t"/>
          <a:lstStyle/>
          <a:p>
            <a:pPr algn="ctr" indent="0" marL="0">
              <a:buNone/>
            </a:pPr>
            <a:r>
              <a:rPr lang="en-US" sz="1000" b="1" dirty="0">
                <a:solidFill>
                  <a:schemeClr val="accent5"/>
                </a:solidFill>
              </a:rPr>
              <a:t>Agt</a:t>
            </a:r>
            <a:endParaRPr lang="en-US" sz="1000" dirty="0"/>
          </a:p>
        </p:txBody>
      </p:sp>
      <p:sp>
        <p:nvSpPr>
          <p:cNvPr id="23" name="Shape 21"/>
          <p:cNvSpPr/>
          <p:nvPr/>
        </p:nvSpPr>
        <p:spPr>
          <a:xfrm>
            <a:off x="457200" y="1325880"/>
            <a:ext cx="8229600" cy="232117"/>
          </a:xfrm>
          <a:prstGeom prst="rect">
            <a:avLst/>
          </a:prstGeom>
          <a:solidFill>
            <a:schemeClr val="bg2"/>
          </a:solidFill>
          <a:ln/>
        </p:spPr>
      </p:sp>
      <p:sp>
        <p:nvSpPr>
          <p:cNvPr id="24" name="Text 22"/>
          <p:cNvSpPr txBox="1"/>
          <p:nvPr/>
        </p:nvSpPr>
        <p:spPr>
          <a:xfrm>
            <a:off x="530352" y="1325880"/>
            <a:ext cx="3383280" cy="232117"/>
          </a:xfrm>
          <a:prstGeom prst="rect">
            <a:avLst/>
          </a:prstGeom>
          <a:noFill/>
          <a:ln/>
        </p:spPr>
        <p:txBody>
          <a:bodyPr wrap="square" lIns="0" tIns="0" rIns="0" bIns="0" rtlCol="0" anchor="ctr"/>
          <a:lstStyle/>
          <a:p>
            <a:pPr indent="0" marL="0">
              <a:buNone/>
            </a:pPr>
            <a:r>
              <a:rPr lang="en-US" sz="1000" b="1" dirty="0">
                <a:solidFill>
                  <a:schemeClr val="accent4"/>
                </a:solidFill>
              </a:rPr>
              <a:t>Output 2 · Proyek karbon siap registri</a:t>
            </a:r>
            <a:endParaRPr lang="en-US" sz="1000" dirty="0"/>
          </a:p>
        </p:txBody>
      </p:sp>
      <p:sp>
        <p:nvSpPr>
          <p:cNvPr id="25" name="Text 23"/>
          <p:cNvSpPr txBox="1"/>
          <p:nvPr/>
        </p:nvSpPr>
        <p:spPr>
          <a:xfrm>
            <a:off x="530352" y="1557997"/>
            <a:ext cx="3383280" cy="232117"/>
          </a:xfrm>
          <a:prstGeom prst="rect">
            <a:avLst/>
          </a:prstGeom>
          <a:noFill/>
          <a:ln/>
        </p:spPr>
        <p:txBody>
          <a:bodyPr wrap="square" lIns="0" tIns="0" rIns="0" bIns="0" rtlCol="0" anchor="ctr"/>
          <a:lstStyle/>
          <a:p>
            <a:pPr indent="0" marL="0">
              <a:buNone/>
            </a:pPr>
            <a:r>
              <a:rPr lang="en-US" sz="1000" dirty="0">
                <a:solidFill>
                  <a:schemeClr val="accent5"/>
                </a:solidFill>
              </a:rPr>
              <a:t>2.1.1  </a:t>
            </a:r>
            <a:pPr indent="0" marL="0">
              <a:buNone/>
            </a:pPr>
            <a:r>
              <a:rPr lang="en-US" sz="1000" dirty="0">
                <a:solidFill>
                  <a:schemeClr val="tx1"/>
                </a:solidFill>
              </a:rPr>
              <a:t>Series capacity building CCAL</a:t>
            </a:r>
            <a:endParaRPr lang="en-US" sz="1000" dirty="0"/>
          </a:p>
        </p:txBody>
      </p:sp>
      <p:sp>
        <p:nvSpPr>
          <p:cNvPr id="26" name="Shape 24"/>
          <p:cNvSpPr/>
          <p:nvPr/>
        </p:nvSpPr>
        <p:spPr>
          <a:xfrm>
            <a:off x="3954780" y="1590001"/>
            <a:ext cx="350520" cy="168109"/>
          </a:xfrm>
          <a:prstGeom prst="rect">
            <a:avLst/>
          </a:prstGeom>
          <a:solidFill>
            <a:schemeClr val="bg1"/>
          </a:solidFill>
          <a:ln w="6350">
            <a:solidFill>
              <a:srgbClr val="E1E7E3"/>
            </a:solidFill>
            <a:prstDash val="solid"/>
          </a:ln>
        </p:spPr>
      </p:sp>
      <p:sp>
        <p:nvSpPr>
          <p:cNvPr id="27" name="Shape 25"/>
          <p:cNvSpPr/>
          <p:nvPr/>
        </p:nvSpPr>
        <p:spPr>
          <a:xfrm>
            <a:off x="4351020" y="1590001"/>
            <a:ext cx="350520" cy="168109"/>
          </a:xfrm>
          <a:prstGeom prst="rect">
            <a:avLst/>
          </a:prstGeom>
          <a:solidFill>
            <a:schemeClr val="bg1"/>
          </a:solidFill>
          <a:ln w="6350">
            <a:solidFill>
              <a:srgbClr val="E1E7E3"/>
            </a:solidFill>
            <a:prstDash val="solid"/>
          </a:ln>
        </p:spPr>
      </p:sp>
      <p:sp>
        <p:nvSpPr>
          <p:cNvPr id="28" name="Shape 26"/>
          <p:cNvSpPr/>
          <p:nvPr/>
        </p:nvSpPr>
        <p:spPr>
          <a:xfrm>
            <a:off x="4747260" y="1590001"/>
            <a:ext cx="350520" cy="168109"/>
          </a:xfrm>
          <a:prstGeom prst="rect">
            <a:avLst/>
          </a:prstGeom>
          <a:solidFill>
            <a:schemeClr val="bg1"/>
          </a:solidFill>
          <a:ln w="6350">
            <a:solidFill>
              <a:srgbClr val="E1E7E3"/>
            </a:solidFill>
            <a:prstDash val="solid"/>
          </a:ln>
        </p:spPr>
      </p:sp>
      <p:sp>
        <p:nvSpPr>
          <p:cNvPr id="29" name="Shape 27"/>
          <p:cNvSpPr/>
          <p:nvPr/>
        </p:nvSpPr>
        <p:spPr>
          <a:xfrm>
            <a:off x="5143500" y="1590001"/>
            <a:ext cx="350520" cy="168109"/>
          </a:xfrm>
          <a:prstGeom prst="rect">
            <a:avLst/>
          </a:prstGeom>
          <a:solidFill>
            <a:schemeClr val="bg1"/>
          </a:solidFill>
          <a:ln w="6350">
            <a:solidFill>
              <a:srgbClr val="E1E7E3"/>
            </a:solidFill>
            <a:prstDash val="solid"/>
          </a:ln>
        </p:spPr>
      </p:sp>
      <p:sp>
        <p:nvSpPr>
          <p:cNvPr id="30" name="Shape 28"/>
          <p:cNvSpPr/>
          <p:nvPr/>
        </p:nvSpPr>
        <p:spPr>
          <a:xfrm>
            <a:off x="5539740" y="1590001"/>
            <a:ext cx="350520" cy="168109"/>
          </a:xfrm>
          <a:prstGeom prst="rect">
            <a:avLst/>
          </a:prstGeom>
          <a:solidFill>
            <a:schemeClr val="accent4"/>
          </a:solidFill>
          <a:ln/>
        </p:spPr>
      </p:sp>
      <p:sp>
        <p:nvSpPr>
          <p:cNvPr id="31" name="Shape 29"/>
          <p:cNvSpPr/>
          <p:nvPr/>
        </p:nvSpPr>
        <p:spPr>
          <a:xfrm>
            <a:off x="5935980" y="1590001"/>
            <a:ext cx="350520" cy="168109"/>
          </a:xfrm>
          <a:prstGeom prst="rect">
            <a:avLst/>
          </a:prstGeom>
          <a:solidFill>
            <a:schemeClr val="bg1"/>
          </a:solidFill>
          <a:ln w="6350">
            <a:solidFill>
              <a:srgbClr val="E1E7E3"/>
            </a:solidFill>
            <a:prstDash val="solid"/>
          </a:ln>
        </p:spPr>
      </p:sp>
      <p:sp>
        <p:nvSpPr>
          <p:cNvPr id="32" name="Shape 30"/>
          <p:cNvSpPr/>
          <p:nvPr/>
        </p:nvSpPr>
        <p:spPr>
          <a:xfrm>
            <a:off x="6332220" y="1590001"/>
            <a:ext cx="350520" cy="168109"/>
          </a:xfrm>
          <a:prstGeom prst="rect">
            <a:avLst/>
          </a:prstGeom>
          <a:solidFill>
            <a:schemeClr val="bg1"/>
          </a:solidFill>
          <a:ln w="6350">
            <a:solidFill>
              <a:srgbClr val="E1E7E3"/>
            </a:solidFill>
            <a:prstDash val="solid"/>
          </a:ln>
        </p:spPr>
      </p:sp>
      <p:sp>
        <p:nvSpPr>
          <p:cNvPr id="33" name="Shape 31"/>
          <p:cNvSpPr/>
          <p:nvPr/>
        </p:nvSpPr>
        <p:spPr>
          <a:xfrm>
            <a:off x="6728460" y="1590001"/>
            <a:ext cx="350520" cy="168109"/>
          </a:xfrm>
          <a:prstGeom prst="rect">
            <a:avLst/>
          </a:prstGeom>
          <a:solidFill>
            <a:schemeClr val="bg1"/>
          </a:solidFill>
          <a:ln w="6350">
            <a:solidFill>
              <a:srgbClr val="E1E7E3"/>
            </a:solidFill>
            <a:prstDash val="solid"/>
          </a:ln>
        </p:spPr>
      </p:sp>
      <p:sp>
        <p:nvSpPr>
          <p:cNvPr id="34" name="Shape 32"/>
          <p:cNvSpPr/>
          <p:nvPr/>
        </p:nvSpPr>
        <p:spPr>
          <a:xfrm>
            <a:off x="7124700" y="1590001"/>
            <a:ext cx="350520" cy="168109"/>
          </a:xfrm>
          <a:prstGeom prst="rect">
            <a:avLst/>
          </a:prstGeom>
          <a:solidFill>
            <a:schemeClr val="bg1"/>
          </a:solidFill>
          <a:ln w="6350">
            <a:solidFill>
              <a:srgbClr val="E1E7E3"/>
            </a:solidFill>
            <a:prstDash val="solid"/>
          </a:ln>
        </p:spPr>
      </p:sp>
      <p:sp>
        <p:nvSpPr>
          <p:cNvPr id="35" name="Shape 33"/>
          <p:cNvSpPr/>
          <p:nvPr/>
        </p:nvSpPr>
        <p:spPr>
          <a:xfrm>
            <a:off x="7520940" y="1590001"/>
            <a:ext cx="350520" cy="168109"/>
          </a:xfrm>
          <a:prstGeom prst="rect">
            <a:avLst/>
          </a:prstGeom>
          <a:solidFill>
            <a:schemeClr val="bg1"/>
          </a:solidFill>
          <a:ln w="6350">
            <a:solidFill>
              <a:srgbClr val="E1E7E3"/>
            </a:solidFill>
            <a:prstDash val="solid"/>
          </a:ln>
        </p:spPr>
      </p:sp>
      <p:sp>
        <p:nvSpPr>
          <p:cNvPr id="36" name="Shape 34"/>
          <p:cNvSpPr/>
          <p:nvPr/>
        </p:nvSpPr>
        <p:spPr>
          <a:xfrm>
            <a:off x="7917180" y="1590001"/>
            <a:ext cx="350520" cy="168109"/>
          </a:xfrm>
          <a:prstGeom prst="rect">
            <a:avLst/>
          </a:prstGeom>
          <a:solidFill>
            <a:schemeClr val="bg1"/>
          </a:solidFill>
          <a:ln w="6350">
            <a:solidFill>
              <a:srgbClr val="E1E7E3"/>
            </a:solidFill>
            <a:prstDash val="solid"/>
          </a:ln>
        </p:spPr>
      </p:sp>
      <p:sp>
        <p:nvSpPr>
          <p:cNvPr id="37" name="Shape 35"/>
          <p:cNvSpPr/>
          <p:nvPr/>
        </p:nvSpPr>
        <p:spPr>
          <a:xfrm>
            <a:off x="8313420" y="1590001"/>
            <a:ext cx="350520" cy="168109"/>
          </a:xfrm>
          <a:prstGeom prst="rect">
            <a:avLst/>
          </a:prstGeom>
          <a:solidFill>
            <a:schemeClr val="bg1"/>
          </a:solidFill>
          <a:ln w="6350">
            <a:solidFill>
              <a:srgbClr val="E1E7E3"/>
            </a:solidFill>
            <a:prstDash val="solid"/>
          </a:ln>
        </p:spPr>
      </p:sp>
      <p:sp>
        <p:nvSpPr>
          <p:cNvPr id="38" name="Text 36"/>
          <p:cNvSpPr txBox="1"/>
          <p:nvPr/>
        </p:nvSpPr>
        <p:spPr>
          <a:xfrm>
            <a:off x="530352" y="1790114"/>
            <a:ext cx="3383280" cy="232117"/>
          </a:xfrm>
          <a:prstGeom prst="rect">
            <a:avLst/>
          </a:prstGeom>
          <a:noFill/>
          <a:ln/>
        </p:spPr>
        <p:txBody>
          <a:bodyPr wrap="square" lIns="0" tIns="0" rIns="0" bIns="0" rtlCol="0" anchor="ctr"/>
          <a:lstStyle/>
          <a:p>
            <a:pPr indent="0" marL="0">
              <a:buNone/>
            </a:pPr>
            <a:r>
              <a:rPr lang="en-US" sz="1000" dirty="0">
                <a:solidFill>
                  <a:schemeClr val="accent5"/>
                </a:solidFill>
              </a:rPr>
              <a:t>2.2.1  </a:t>
            </a:r>
            <a:pPr indent="0" marL="0">
              <a:buNone/>
            </a:pPr>
            <a:r>
              <a:rPr lang="en-US" sz="1000" dirty="0">
                <a:solidFill>
                  <a:schemeClr val="tx1"/>
                </a:solidFill>
              </a:rPr>
              <a:t>Pengambilan data baseline</a:t>
            </a:r>
            <a:endParaRPr lang="en-US" sz="1000" dirty="0"/>
          </a:p>
        </p:txBody>
      </p:sp>
      <p:sp>
        <p:nvSpPr>
          <p:cNvPr id="39" name="Shape 37"/>
          <p:cNvSpPr/>
          <p:nvPr/>
        </p:nvSpPr>
        <p:spPr>
          <a:xfrm>
            <a:off x="3954780" y="1822118"/>
            <a:ext cx="350520" cy="168109"/>
          </a:xfrm>
          <a:prstGeom prst="rect">
            <a:avLst/>
          </a:prstGeom>
          <a:solidFill>
            <a:schemeClr val="accent4"/>
          </a:solidFill>
          <a:ln/>
        </p:spPr>
      </p:sp>
      <p:sp>
        <p:nvSpPr>
          <p:cNvPr id="40" name="Shape 38"/>
          <p:cNvSpPr/>
          <p:nvPr/>
        </p:nvSpPr>
        <p:spPr>
          <a:xfrm>
            <a:off x="4351020" y="1822118"/>
            <a:ext cx="350520" cy="168109"/>
          </a:xfrm>
          <a:prstGeom prst="rect">
            <a:avLst/>
          </a:prstGeom>
          <a:solidFill>
            <a:schemeClr val="bg1"/>
          </a:solidFill>
          <a:ln w="6350">
            <a:solidFill>
              <a:srgbClr val="E1E7E3"/>
            </a:solidFill>
            <a:prstDash val="solid"/>
          </a:ln>
        </p:spPr>
      </p:sp>
      <p:sp>
        <p:nvSpPr>
          <p:cNvPr id="41" name="Shape 39"/>
          <p:cNvSpPr/>
          <p:nvPr/>
        </p:nvSpPr>
        <p:spPr>
          <a:xfrm>
            <a:off x="4747260" y="1822118"/>
            <a:ext cx="350520" cy="168109"/>
          </a:xfrm>
          <a:prstGeom prst="rect">
            <a:avLst/>
          </a:prstGeom>
          <a:solidFill>
            <a:schemeClr val="bg1"/>
          </a:solidFill>
          <a:ln w="6350">
            <a:solidFill>
              <a:srgbClr val="E1E7E3"/>
            </a:solidFill>
            <a:prstDash val="solid"/>
          </a:ln>
        </p:spPr>
      </p:sp>
      <p:sp>
        <p:nvSpPr>
          <p:cNvPr id="42" name="Shape 40"/>
          <p:cNvSpPr/>
          <p:nvPr/>
        </p:nvSpPr>
        <p:spPr>
          <a:xfrm>
            <a:off x="5143500" y="1822118"/>
            <a:ext cx="350520" cy="168109"/>
          </a:xfrm>
          <a:prstGeom prst="rect">
            <a:avLst/>
          </a:prstGeom>
          <a:solidFill>
            <a:schemeClr val="bg1"/>
          </a:solidFill>
          <a:ln w="6350">
            <a:solidFill>
              <a:srgbClr val="E1E7E3"/>
            </a:solidFill>
            <a:prstDash val="solid"/>
          </a:ln>
        </p:spPr>
      </p:sp>
      <p:sp>
        <p:nvSpPr>
          <p:cNvPr id="43" name="Shape 41"/>
          <p:cNvSpPr/>
          <p:nvPr/>
        </p:nvSpPr>
        <p:spPr>
          <a:xfrm>
            <a:off x="5539740" y="1822118"/>
            <a:ext cx="350520" cy="168109"/>
          </a:xfrm>
          <a:prstGeom prst="rect">
            <a:avLst/>
          </a:prstGeom>
          <a:solidFill>
            <a:schemeClr val="accent4"/>
          </a:solidFill>
          <a:ln/>
        </p:spPr>
      </p:sp>
      <p:sp>
        <p:nvSpPr>
          <p:cNvPr id="44" name="Shape 42"/>
          <p:cNvSpPr/>
          <p:nvPr/>
        </p:nvSpPr>
        <p:spPr>
          <a:xfrm>
            <a:off x="5935980" y="1822118"/>
            <a:ext cx="350520" cy="168109"/>
          </a:xfrm>
          <a:prstGeom prst="rect">
            <a:avLst/>
          </a:prstGeom>
          <a:solidFill>
            <a:schemeClr val="accent4"/>
          </a:solidFill>
          <a:ln/>
        </p:spPr>
      </p:sp>
      <p:sp>
        <p:nvSpPr>
          <p:cNvPr id="45" name="Shape 43"/>
          <p:cNvSpPr/>
          <p:nvPr/>
        </p:nvSpPr>
        <p:spPr>
          <a:xfrm>
            <a:off x="6332220" y="1822118"/>
            <a:ext cx="350520" cy="168109"/>
          </a:xfrm>
          <a:prstGeom prst="rect">
            <a:avLst/>
          </a:prstGeom>
          <a:solidFill>
            <a:schemeClr val="bg1"/>
          </a:solidFill>
          <a:ln w="6350">
            <a:solidFill>
              <a:srgbClr val="E1E7E3"/>
            </a:solidFill>
            <a:prstDash val="solid"/>
          </a:ln>
        </p:spPr>
      </p:sp>
      <p:sp>
        <p:nvSpPr>
          <p:cNvPr id="46" name="Shape 44"/>
          <p:cNvSpPr/>
          <p:nvPr/>
        </p:nvSpPr>
        <p:spPr>
          <a:xfrm>
            <a:off x="6728460" y="1822118"/>
            <a:ext cx="350520" cy="168109"/>
          </a:xfrm>
          <a:prstGeom prst="rect">
            <a:avLst/>
          </a:prstGeom>
          <a:solidFill>
            <a:schemeClr val="bg1"/>
          </a:solidFill>
          <a:ln w="6350">
            <a:solidFill>
              <a:srgbClr val="E1E7E3"/>
            </a:solidFill>
            <a:prstDash val="solid"/>
          </a:ln>
        </p:spPr>
      </p:sp>
      <p:sp>
        <p:nvSpPr>
          <p:cNvPr id="47" name="Shape 45"/>
          <p:cNvSpPr/>
          <p:nvPr/>
        </p:nvSpPr>
        <p:spPr>
          <a:xfrm>
            <a:off x="7124700" y="1822118"/>
            <a:ext cx="350520" cy="168109"/>
          </a:xfrm>
          <a:prstGeom prst="rect">
            <a:avLst/>
          </a:prstGeom>
          <a:solidFill>
            <a:schemeClr val="bg1"/>
          </a:solidFill>
          <a:ln w="6350">
            <a:solidFill>
              <a:srgbClr val="E1E7E3"/>
            </a:solidFill>
            <a:prstDash val="solid"/>
          </a:ln>
        </p:spPr>
      </p:sp>
      <p:sp>
        <p:nvSpPr>
          <p:cNvPr id="48" name="Shape 46"/>
          <p:cNvSpPr/>
          <p:nvPr/>
        </p:nvSpPr>
        <p:spPr>
          <a:xfrm>
            <a:off x="7520940" y="1822118"/>
            <a:ext cx="350520" cy="168109"/>
          </a:xfrm>
          <a:prstGeom prst="rect">
            <a:avLst/>
          </a:prstGeom>
          <a:solidFill>
            <a:schemeClr val="bg1"/>
          </a:solidFill>
          <a:ln w="6350">
            <a:solidFill>
              <a:srgbClr val="E1E7E3"/>
            </a:solidFill>
            <a:prstDash val="solid"/>
          </a:ln>
        </p:spPr>
      </p:sp>
      <p:sp>
        <p:nvSpPr>
          <p:cNvPr id="49" name="Shape 47"/>
          <p:cNvSpPr/>
          <p:nvPr/>
        </p:nvSpPr>
        <p:spPr>
          <a:xfrm>
            <a:off x="7917180" y="1822118"/>
            <a:ext cx="350520" cy="168109"/>
          </a:xfrm>
          <a:prstGeom prst="rect">
            <a:avLst/>
          </a:prstGeom>
          <a:solidFill>
            <a:schemeClr val="bg1"/>
          </a:solidFill>
          <a:ln w="6350">
            <a:solidFill>
              <a:srgbClr val="E1E7E3"/>
            </a:solidFill>
            <a:prstDash val="solid"/>
          </a:ln>
        </p:spPr>
      </p:sp>
      <p:sp>
        <p:nvSpPr>
          <p:cNvPr id="50" name="Shape 48"/>
          <p:cNvSpPr/>
          <p:nvPr/>
        </p:nvSpPr>
        <p:spPr>
          <a:xfrm>
            <a:off x="8313420" y="1822118"/>
            <a:ext cx="350520" cy="168109"/>
          </a:xfrm>
          <a:prstGeom prst="rect">
            <a:avLst/>
          </a:prstGeom>
          <a:solidFill>
            <a:schemeClr val="bg1"/>
          </a:solidFill>
          <a:ln w="6350">
            <a:solidFill>
              <a:srgbClr val="E1E7E3"/>
            </a:solidFill>
            <a:prstDash val="solid"/>
          </a:ln>
        </p:spPr>
      </p:sp>
      <p:sp>
        <p:nvSpPr>
          <p:cNvPr id="51" name="Text 49"/>
          <p:cNvSpPr txBox="1"/>
          <p:nvPr/>
        </p:nvSpPr>
        <p:spPr>
          <a:xfrm>
            <a:off x="530352" y="2022231"/>
            <a:ext cx="3383280" cy="232117"/>
          </a:xfrm>
          <a:prstGeom prst="rect">
            <a:avLst/>
          </a:prstGeom>
          <a:noFill/>
          <a:ln/>
        </p:spPr>
        <p:txBody>
          <a:bodyPr wrap="square" lIns="0" tIns="0" rIns="0" bIns="0" rtlCol="0" anchor="ctr"/>
          <a:lstStyle/>
          <a:p>
            <a:pPr indent="0" marL="0">
              <a:buNone/>
            </a:pPr>
            <a:r>
              <a:rPr lang="en-US" sz="1000" dirty="0">
                <a:solidFill>
                  <a:schemeClr val="accent5"/>
                </a:solidFill>
              </a:rPr>
              <a:t>2.3.1  </a:t>
            </a:r>
            <a:pPr indent="0" marL="0">
              <a:buNone/>
            </a:pPr>
            <a:r>
              <a:rPr lang="en-US" sz="1000" dirty="0">
                <a:solidFill>
                  <a:schemeClr val="tx1"/>
                </a:solidFill>
              </a:rPr>
              <a:t>Penyusunan DRAM / Dokumen Desain Proyek</a:t>
            </a:r>
            <a:endParaRPr lang="en-US" sz="1000" dirty="0"/>
          </a:p>
        </p:txBody>
      </p:sp>
      <p:sp>
        <p:nvSpPr>
          <p:cNvPr id="52" name="Shape 50"/>
          <p:cNvSpPr/>
          <p:nvPr/>
        </p:nvSpPr>
        <p:spPr>
          <a:xfrm>
            <a:off x="3954780" y="2054235"/>
            <a:ext cx="350520" cy="168109"/>
          </a:xfrm>
          <a:prstGeom prst="rect">
            <a:avLst/>
          </a:prstGeom>
          <a:solidFill>
            <a:schemeClr val="bg1"/>
          </a:solidFill>
          <a:ln w="6350">
            <a:solidFill>
              <a:srgbClr val="E1E7E3"/>
            </a:solidFill>
            <a:prstDash val="solid"/>
          </a:ln>
        </p:spPr>
      </p:sp>
      <p:sp>
        <p:nvSpPr>
          <p:cNvPr id="53" name="Shape 51"/>
          <p:cNvSpPr/>
          <p:nvPr/>
        </p:nvSpPr>
        <p:spPr>
          <a:xfrm>
            <a:off x="4351020" y="2054235"/>
            <a:ext cx="350520" cy="168109"/>
          </a:xfrm>
          <a:prstGeom prst="rect">
            <a:avLst/>
          </a:prstGeom>
          <a:solidFill>
            <a:schemeClr val="bg1"/>
          </a:solidFill>
          <a:ln w="6350">
            <a:solidFill>
              <a:srgbClr val="E1E7E3"/>
            </a:solidFill>
            <a:prstDash val="solid"/>
          </a:ln>
        </p:spPr>
      </p:sp>
      <p:sp>
        <p:nvSpPr>
          <p:cNvPr id="54" name="Shape 52"/>
          <p:cNvSpPr/>
          <p:nvPr/>
        </p:nvSpPr>
        <p:spPr>
          <a:xfrm>
            <a:off x="4747260" y="2054235"/>
            <a:ext cx="350520" cy="168109"/>
          </a:xfrm>
          <a:prstGeom prst="rect">
            <a:avLst/>
          </a:prstGeom>
          <a:solidFill>
            <a:schemeClr val="bg1"/>
          </a:solidFill>
          <a:ln w="6350">
            <a:solidFill>
              <a:srgbClr val="E1E7E3"/>
            </a:solidFill>
            <a:prstDash val="solid"/>
          </a:ln>
        </p:spPr>
      </p:sp>
      <p:sp>
        <p:nvSpPr>
          <p:cNvPr id="55" name="Shape 53"/>
          <p:cNvSpPr/>
          <p:nvPr/>
        </p:nvSpPr>
        <p:spPr>
          <a:xfrm>
            <a:off x="5143500" y="2054235"/>
            <a:ext cx="350520" cy="168109"/>
          </a:xfrm>
          <a:prstGeom prst="rect">
            <a:avLst/>
          </a:prstGeom>
          <a:solidFill>
            <a:schemeClr val="bg1"/>
          </a:solidFill>
          <a:ln w="6350">
            <a:solidFill>
              <a:srgbClr val="E1E7E3"/>
            </a:solidFill>
            <a:prstDash val="solid"/>
          </a:ln>
        </p:spPr>
      </p:sp>
      <p:sp>
        <p:nvSpPr>
          <p:cNvPr id="56" name="Shape 54"/>
          <p:cNvSpPr/>
          <p:nvPr/>
        </p:nvSpPr>
        <p:spPr>
          <a:xfrm>
            <a:off x="5539740" y="2054235"/>
            <a:ext cx="350520" cy="168109"/>
          </a:xfrm>
          <a:prstGeom prst="rect">
            <a:avLst/>
          </a:prstGeom>
          <a:solidFill>
            <a:schemeClr val="bg1"/>
          </a:solidFill>
          <a:ln w="6350">
            <a:solidFill>
              <a:srgbClr val="E1E7E3"/>
            </a:solidFill>
            <a:prstDash val="solid"/>
          </a:ln>
        </p:spPr>
      </p:sp>
      <p:sp>
        <p:nvSpPr>
          <p:cNvPr id="57" name="Shape 55"/>
          <p:cNvSpPr/>
          <p:nvPr/>
        </p:nvSpPr>
        <p:spPr>
          <a:xfrm>
            <a:off x="5935980" y="2054235"/>
            <a:ext cx="350520" cy="168109"/>
          </a:xfrm>
          <a:prstGeom prst="rect">
            <a:avLst/>
          </a:prstGeom>
          <a:solidFill>
            <a:schemeClr val="bg1"/>
          </a:solidFill>
          <a:ln w="6350">
            <a:solidFill>
              <a:srgbClr val="E1E7E3"/>
            </a:solidFill>
            <a:prstDash val="solid"/>
          </a:ln>
        </p:spPr>
      </p:sp>
      <p:sp>
        <p:nvSpPr>
          <p:cNvPr id="58" name="Shape 56"/>
          <p:cNvSpPr/>
          <p:nvPr/>
        </p:nvSpPr>
        <p:spPr>
          <a:xfrm>
            <a:off x="6332220" y="2054235"/>
            <a:ext cx="350520" cy="168109"/>
          </a:xfrm>
          <a:prstGeom prst="rect">
            <a:avLst/>
          </a:prstGeom>
          <a:solidFill>
            <a:schemeClr val="accent4"/>
          </a:solidFill>
          <a:ln/>
        </p:spPr>
      </p:sp>
      <p:sp>
        <p:nvSpPr>
          <p:cNvPr id="59" name="Shape 57"/>
          <p:cNvSpPr/>
          <p:nvPr/>
        </p:nvSpPr>
        <p:spPr>
          <a:xfrm>
            <a:off x="6728460" y="2054235"/>
            <a:ext cx="350520" cy="168109"/>
          </a:xfrm>
          <a:prstGeom prst="rect">
            <a:avLst/>
          </a:prstGeom>
          <a:solidFill>
            <a:schemeClr val="accent4"/>
          </a:solidFill>
          <a:ln/>
        </p:spPr>
      </p:sp>
      <p:sp>
        <p:nvSpPr>
          <p:cNvPr id="60" name="Shape 58"/>
          <p:cNvSpPr/>
          <p:nvPr/>
        </p:nvSpPr>
        <p:spPr>
          <a:xfrm>
            <a:off x="7124700" y="2054235"/>
            <a:ext cx="350520" cy="168109"/>
          </a:xfrm>
          <a:prstGeom prst="rect">
            <a:avLst/>
          </a:prstGeom>
          <a:solidFill>
            <a:schemeClr val="bg1"/>
          </a:solidFill>
          <a:ln w="6350">
            <a:solidFill>
              <a:srgbClr val="E1E7E3"/>
            </a:solidFill>
            <a:prstDash val="solid"/>
          </a:ln>
        </p:spPr>
      </p:sp>
      <p:sp>
        <p:nvSpPr>
          <p:cNvPr id="61" name="Shape 59"/>
          <p:cNvSpPr/>
          <p:nvPr/>
        </p:nvSpPr>
        <p:spPr>
          <a:xfrm>
            <a:off x="7520940" y="2054235"/>
            <a:ext cx="350520" cy="168109"/>
          </a:xfrm>
          <a:prstGeom prst="rect">
            <a:avLst/>
          </a:prstGeom>
          <a:solidFill>
            <a:schemeClr val="bg1"/>
          </a:solidFill>
          <a:ln w="6350">
            <a:solidFill>
              <a:srgbClr val="E1E7E3"/>
            </a:solidFill>
            <a:prstDash val="solid"/>
          </a:ln>
        </p:spPr>
      </p:sp>
      <p:sp>
        <p:nvSpPr>
          <p:cNvPr id="62" name="Shape 60"/>
          <p:cNvSpPr/>
          <p:nvPr/>
        </p:nvSpPr>
        <p:spPr>
          <a:xfrm>
            <a:off x="7917180" y="2054235"/>
            <a:ext cx="350520" cy="168109"/>
          </a:xfrm>
          <a:prstGeom prst="rect">
            <a:avLst/>
          </a:prstGeom>
          <a:solidFill>
            <a:schemeClr val="bg1"/>
          </a:solidFill>
          <a:ln w="6350">
            <a:solidFill>
              <a:srgbClr val="E1E7E3"/>
            </a:solidFill>
            <a:prstDash val="solid"/>
          </a:ln>
        </p:spPr>
      </p:sp>
      <p:sp>
        <p:nvSpPr>
          <p:cNvPr id="63" name="Shape 61"/>
          <p:cNvSpPr/>
          <p:nvPr/>
        </p:nvSpPr>
        <p:spPr>
          <a:xfrm>
            <a:off x="8313420" y="2054235"/>
            <a:ext cx="350520" cy="168109"/>
          </a:xfrm>
          <a:prstGeom prst="rect">
            <a:avLst/>
          </a:prstGeom>
          <a:solidFill>
            <a:schemeClr val="bg1"/>
          </a:solidFill>
          <a:ln w="6350">
            <a:solidFill>
              <a:srgbClr val="E1E7E3"/>
            </a:solidFill>
            <a:prstDash val="solid"/>
          </a:ln>
        </p:spPr>
      </p:sp>
      <p:sp>
        <p:nvSpPr>
          <p:cNvPr id="64" name="Text 62"/>
          <p:cNvSpPr txBox="1"/>
          <p:nvPr/>
        </p:nvSpPr>
        <p:spPr>
          <a:xfrm>
            <a:off x="530352" y="2254348"/>
            <a:ext cx="3383280" cy="232117"/>
          </a:xfrm>
          <a:prstGeom prst="rect">
            <a:avLst/>
          </a:prstGeom>
          <a:noFill/>
          <a:ln/>
        </p:spPr>
        <p:txBody>
          <a:bodyPr wrap="square" lIns="0" tIns="0" rIns="0" bIns="0" rtlCol="0" anchor="ctr"/>
          <a:lstStyle/>
          <a:p>
            <a:pPr indent="0" marL="0">
              <a:buNone/>
            </a:pPr>
            <a:r>
              <a:rPr lang="en-US" sz="1000" dirty="0">
                <a:solidFill>
                  <a:schemeClr val="accent5"/>
                </a:solidFill>
              </a:rPr>
              <a:t>2.3.2  </a:t>
            </a:r>
            <a:pPr indent="0" marL="0">
              <a:buNone/>
            </a:pPr>
            <a:r>
              <a:rPr lang="en-US" sz="1000" dirty="0">
                <a:solidFill>
                  <a:schemeClr val="tx1"/>
                </a:solidFill>
              </a:rPr>
              <a:t>Fasilitasi persetujuan (Kemenhut) &amp; SRUK (KLH)</a:t>
            </a:r>
            <a:endParaRPr lang="en-US" sz="1000" dirty="0"/>
          </a:p>
        </p:txBody>
      </p:sp>
      <p:sp>
        <p:nvSpPr>
          <p:cNvPr id="65" name="Shape 63"/>
          <p:cNvSpPr/>
          <p:nvPr/>
        </p:nvSpPr>
        <p:spPr>
          <a:xfrm>
            <a:off x="3954780" y="2286352"/>
            <a:ext cx="350520" cy="168109"/>
          </a:xfrm>
          <a:prstGeom prst="rect">
            <a:avLst/>
          </a:prstGeom>
          <a:solidFill>
            <a:schemeClr val="bg1"/>
          </a:solidFill>
          <a:ln w="6350">
            <a:solidFill>
              <a:srgbClr val="E1E7E3"/>
            </a:solidFill>
            <a:prstDash val="solid"/>
          </a:ln>
        </p:spPr>
      </p:sp>
      <p:sp>
        <p:nvSpPr>
          <p:cNvPr id="66" name="Shape 64"/>
          <p:cNvSpPr/>
          <p:nvPr/>
        </p:nvSpPr>
        <p:spPr>
          <a:xfrm>
            <a:off x="4351020" y="2286352"/>
            <a:ext cx="350520" cy="168109"/>
          </a:xfrm>
          <a:prstGeom prst="rect">
            <a:avLst/>
          </a:prstGeom>
          <a:solidFill>
            <a:schemeClr val="bg1"/>
          </a:solidFill>
          <a:ln w="6350">
            <a:solidFill>
              <a:srgbClr val="E1E7E3"/>
            </a:solidFill>
            <a:prstDash val="solid"/>
          </a:ln>
        </p:spPr>
      </p:sp>
      <p:sp>
        <p:nvSpPr>
          <p:cNvPr id="67" name="Shape 65"/>
          <p:cNvSpPr/>
          <p:nvPr/>
        </p:nvSpPr>
        <p:spPr>
          <a:xfrm>
            <a:off x="4747260" y="2286352"/>
            <a:ext cx="350520" cy="168109"/>
          </a:xfrm>
          <a:prstGeom prst="rect">
            <a:avLst/>
          </a:prstGeom>
          <a:solidFill>
            <a:schemeClr val="bg1"/>
          </a:solidFill>
          <a:ln w="6350">
            <a:solidFill>
              <a:srgbClr val="E1E7E3"/>
            </a:solidFill>
            <a:prstDash val="solid"/>
          </a:ln>
        </p:spPr>
      </p:sp>
      <p:sp>
        <p:nvSpPr>
          <p:cNvPr id="68" name="Shape 66"/>
          <p:cNvSpPr/>
          <p:nvPr/>
        </p:nvSpPr>
        <p:spPr>
          <a:xfrm>
            <a:off x="5143500" y="2286352"/>
            <a:ext cx="350520" cy="168109"/>
          </a:xfrm>
          <a:prstGeom prst="rect">
            <a:avLst/>
          </a:prstGeom>
          <a:solidFill>
            <a:schemeClr val="accent4"/>
          </a:solidFill>
          <a:ln/>
        </p:spPr>
      </p:sp>
      <p:sp>
        <p:nvSpPr>
          <p:cNvPr id="69" name="Shape 67"/>
          <p:cNvSpPr/>
          <p:nvPr/>
        </p:nvSpPr>
        <p:spPr>
          <a:xfrm>
            <a:off x="5539740" y="2286352"/>
            <a:ext cx="350520" cy="168109"/>
          </a:xfrm>
          <a:prstGeom prst="rect">
            <a:avLst/>
          </a:prstGeom>
          <a:solidFill>
            <a:schemeClr val="accent4"/>
          </a:solidFill>
          <a:ln/>
        </p:spPr>
      </p:sp>
      <p:sp>
        <p:nvSpPr>
          <p:cNvPr id="70" name="Shape 68"/>
          <p:cNvSpPr/>
          <p:nvPr/>
        </p:nvSpPr>
        <p:spPr>
          <a:xfrm>
            <a:off x="5935980" y="2286352"/>
            <a:ext cx="350520" cy="168109"/>
          </a:xfrm>
          <a:prstGeom prst="rect">
            <a:avLst/>
          </a:prstGeom>
          <a:solidFill>
            <a:schemeClr val="accent4"/>
          </a:solidFill>
          <a:ln/>
        </p:spPr>
      </p:sp>
      <p:sp>
        <p:nvSpPr>
          <p:cNvPr id="71" name="Shape 69"/>
          <p:cNvSpPr/>
          <p:nvPr/>
        </p:nvSpPr>
        <p:spPr>
          <a:xfrm>
            <a:off x="6332220" y="2286352"/>
            <a:ext cx="350520" cy="168109"/>
          </a:xfrm>
          <a:prstGeom prst="rect">
            <a:avLst/>
          </a:prstGeom>
          <a:solidFill>
            <a:schemeClr val="accent4"/>
          </a:solidFill>
          <a:ln/>
        </p:spPr>
      </p:sp>
      <p:sp>
        <p:nvSpPr>
          <p:cNvPr id="72" name="Shape 70"/>
          <p:cNvSpPr/>
          <p:nvPr/>
        </p:nvSpPr>
        <p:spPr>
          <a:xfrm>
            <a:off x="6728460" y="2286352"/>
            <a:ext cx="350520" cy="168109"/>
          </a:xfrm>
          <a:prstGeom prst="rect">
            <a:avLst/>
          </a:prstGeom>
          <a:solidFill>
            <a:schemeClr val="accent4"/>
          </a:solidFill>
          <a:ln/>
        </p:spPr>
      </p:sp>
      <p:sp>
        <p:nvSpPr>
          <p:cNvPr id="73" name="Shape 71"/>
          <p:cNvSpPr/>
          <p:nvPr/>
        </p:nvSpPr>
        <p:spPr>
          <a:xfrm>
            <a:off x="7124700" y="2286352"/>
            <a:ext cx="350520" cy="168109"/>
          </a:xfrm>
          <a:prstGeom prst="rect">
            <a:avLst/>
          </a:prstGeom>
          <a:solidFill>
            <a:schemeClr val="accent4"/>
          </a:solidFill>
          <a:ln/>
        </p:spPr>
      </p:sp>
      <p:sp>
        <p:nvSpPr>
          <p:cNvPr id="74" name="Shape 72"/>
          <p:cNvSpPr/>
          <p:nvPr/>
        </p:nvSpPr>
        <p:spPr>
          <a:xfrm>
            <a:off x="7520940" y="2286352"/>
            <a:ext cx="350520" cy="168109"/>
          </a:xfrm>
          <a:prstGeom prst="rect">
            <a:avLst/>
          </a:prstGeom>
          <a:solidFill>
            <a:schemeClr val="accent4"/>
          </a:solidFill>
          <a:ln/>
        </p:spPr>
      </p:sp>
      <p:sp>
        <p:nvSpPr>
          <p:cNvPr id="75" name="Shape 73"/>
          <p:cNvSpPr/>
          <p:nvPr/>
        </p:nvSpPr>
        <p:spPr>
          <a:xfrm>
            <a:off x="7917180" y="2286352"/>
            <a:ext cx="350520" cy="168109"/>
          </a:xfrm>
          <a:prstGeom prst="rect">
            <a:avLst/>
          </a:prstGeom>
          <a:solidFill>
            <a:schemeClr val="accent4"/>
          </a:solidFill>
          <a:ln/>
        </p:spPr>
      </p:sp>
      <p:sp>
        <p:nvSpPr>
          <p:cNvPr id="76" name="Shape 74"/>
          <p:cNvSpPr/>
          <p:nvPr/>
        </p:nvSpPr>
        <p:spPr>
          <a:xfrm>
            <a:off x="8313420" y="2286352"/>
            <a:ext cx="350520" cy="168109"/>
          </a:xfrm>
          <a:prstGeom prst="rect">
            <a:avLst/>
          </a:prstGeom>
          <a:solidFill>
            <a:schemeClr val="bg1"/>
          </a:solidFill>
          <a:ln w="6350">
            <a:solidFill>
              <a:srgbClr val="E1E7E3"/>
            </a:solidFill>
            <a:prstDash val="solid"/>
          </a:ln>
        </p:spPr>
      </p:sp>
      <p:sp>
        <p:nvSpPr>
          <p:cNvPr id="77" name="Text 75"/>
          <p:cNvSpPr txBox="1"/>
          <p:nvPr/>
        </p:nvSpPr>
        <p:spPr>
          <a:xfrm>
            <a:off x="530352" y="2486465"/>
            <a:ext cx="3383280" cy="232117"/>
          </a:xfrm>
          <a:prstGeom prst="rect">
            <a:avLst/>
          </a:prstGeom>
          <a:noFill/>
          <a:ln/>
        </p:spPr>
        <p:txBody>
          <a:bodyPr wrap="square" lIns="0" tIns="0" rIns="0" bIns="0" rtlCol="0" anchor="ctr"/>
          <a:lstStyle/>
          <a:p>
            <a:pPr indent="0" marL="0">
              <a:buNone/>
            </a:pPr>
            <a:r>
              <a:rPr lang="en-US" sz="1000" dirty="0">
                <a:solidFill>
                  <a:schemeClr val="accent5"/>
                </a:solidFill>
              </a:rPr>
              <a:t>2.3.3  </a:t>
            </a:r>
            <a:pPr indent="0" marL="0">
              <a:buNone/>
            </a:pPr>
            <a:r>
              <a:rPr lang="en-US" sz="1000" dirty="0">
                <a:solidFill>
                  <a:schemeClr val="tx1"/>
                </a:solidFill>
              </a:rPr>
              <a:t>Fasilitasi pendaftaran ke lembaga registri</a:t>
            </a:r>
            <a:endParaRPr lang="en-US" sz="1000" dirty="0"/>
          </a:p>
        </p:txBody>
      </p:sp>
      <p:sp>
        <p:nvSpPr>
          <p:cNvPr id="78" name="Shape 76"/>
          <p:cNvSpPr/>
          <p:nvPr/>
        </p:nvSpPr>
        <p:spPr>
          <a:xfrm>
            <a:off x="3954780" y="2518469"/>
            <a:ext cx="350520" cy="168109"/>
          </a:xfrm>
          <a:prstGeom prst="rect">
            <a:avLst/>
          </a:prstGeom>
          <a:solidFill>
            <a:schemeClr val="bg1"/>
          </a:solidFill>
          <a:ln w="6350">
            <a:solidFill>
              <a:srgbClr val="E1E7E3"/>
            </a:solidFill>
            <a:prstDash val="solid"/>
          </a:ln>
        </p:spPr>
      </p:sp>
      <p:sp>
        <p:nvSpPr>
          <p:cNvPr id="79" name="Shape 77"/>
          <p:cNvSpPr/>
          <p:nvPr/>
        </p:nvSpPr>
        <p:spPr>
          <a:xfrm>
            <a:off x="4351020" y="2518469"/>
            <a:ext cx="350520" cy="168109"/>
          </a:xfrm>
          <a:prstGeom prst="rect">
            <a:avLst/>
          </a:prstGeom>
          <a:solidFill>
            <a:schemeClr val="bg1"/>
          </a:solidFill>
          <a:ln w="6350">
            <a:solidFill>
              <a:srgbClr val="E1E7E3"/>
            </a:solidFill>
            <a:prstDash val="solid"/>
          </a:ln>
        </p:spPr>
      </p:sp>
      <p:sp>
        <p:nvSpPr>
          <p:cNvPr id="80" name="Shape 78"/>
          <p:cNvSpPr/>
          <p:nvPr/>
        </p:nvSpPr>
        <p:spPr>
          <a:xfrm>
            <a:off x="4747260" y="2518469"/>
            <a:ext cx="350520" cy="168109"/>
          </a:xfrm>
          <a:prstGeom prst="rect">
            <a:avLst/>
          </a:prstGeom>
          <a:solidFill>
            <a:schemeClr val="bg1"/>
          </a:solidFill>
          <a:ln w="6350">
            <a:solidFill>
              <a:srgbClr val="E1E7E3"/>
            </a:solidFill>
            <a:prstDash val="solid"/>
          </a:ln>
        </p:spPr>
      </p:sp>
      <p:sp>
        <p:nvSpPr>
          <p:cNvPr id="81" name="Shape 79"/>
          <p:cNvSpPr/>
          <p:nvPr/>
        </p:nvSpPr>
        <p:spPr>
          <a:xfrm>
            <a:off x="5143500" y="2518469"/>
            <a:ext cx="350520" cy="168109"/>
          </a:xfrm>
          <a:prstGeom prst="rect">
            <a:avLst/>
          </a:prstGeom>
          <a:solidFill>
            <a:schemeClr val="bg1"/>
          </a:solidFill>
          <a:ln w="6350">
            <a:solidFill>
              <a:srgbClr val="E1E7E3"/>
            </a:solidFill>
            <a:prstDash val="solid"/>
          </a:ln>
        </p:spPr>
      </p:sp>
      <p:sp>
        <p:nvSpPr>
          <p:cNvPr id="82" name="Shape 80"/>
          <p:cNvSpPr/>
          <p:nvPr/>
        </p:nvSpPr>
        <p:spPr>
          <a:xfrm>
            <a:off x="5539740" y="2518469"/>
            <a:ext cx="350520" cy="168109"/>
          </a:xfrm>
          <a:prstGeom prst="rect">
            <a:avLst/>
          </a:prstGeom>
          <a:solidFill>
            <a:schemeClr val="bg1"/>
          </a:solidFill>
          <a:ln w="6350">
            <a:solidFill>
              <a:srgbClr val="E1E7E3"/>
            </a:solidFill>
            <a:prstDash val="solid"/>
          </a:ln>
        </p:spPr>
      </p:sp>
      <p:sp>
        <p:nvSpPr>
          <p:cNvPr id="83" name="Shape 81"/>
          <p:cNvSpPr/>
          <p:nvPr/>
        </p:nvSpPr>
        <p:spPr>
          <a:xfrm>
            <a:off x="5935980" y="2518469"/>
            <a:ext cx="350520" cy="168109"/>
          </a:xfrm>
          <a:prstGeom prst="rect">
            <a:avLst/>
          </a:prstGeom>
          <a:solidFill>
            <a:schemeClr val="bg1"/>
          </a:solidFill>
          <a:ln w="6350">
            <a:solidFill>
              <a:srgbClr val="E1E7E3"/>
            </a:solidFill>
            <a:prstDash val="solid"/>
          </a:ln>
        </p:spPr>
      </p:sp>
      <p:sp>
        <p:nvSpPr>
          <p:cNvPr id="84" name="Shape 82"/>
          <p:cNvSpPr/>
          <p:nvPr/>
        </p:nvSpPr>
        <p:spPr>
          <a:xfrm>
            <a:off x="6332220" y="2518469"/>
            <a:ext cx="350520" cy="168109"/>
          </a:xfrm>
          <a:prstGeom prst="rect">
            <a:avLst/>
          </a:prstGeom>
          <a:solidFill>
            <a:schemeClr val="bg1"/>
          </a:solidFill>
          <a:ln w="6350">
            <a:solidFill>
              <a:srgbClr val="E1E7E3"/>
            </a:solidFill>
            <a:prstDash val="solid"/>
          </a:ln>
        </p:spPr>
      </p:sp>
      <p:sp>
        <p:nvSpPr>
          <p:cNvPr id="85" name="Shape 83"/>
          <p:cNvSpPr/>
          <p:nvPr/>
        </p:nvSpPr>
        <p:spPr>
          <a:xfrm>
            <a:off x="6728460" y="2518469"/>
            <a:ext cx="350520" cy="168109"/>
          </a:xfrm>
          <a:prstGeom prst="rect">
            <a:avLst/>
          </a:prstGeom>
          <a:solidFill>
            <a:schemeClr val="bg1"/>
          </a:solidFill>
          <a:ln w="6350">
            <a:solidFill>
              <a:srgbClr val="E1E7E3"/>
            </a:solidFill>
            <a:prstDash val="solid"/>
          </a:ln>
        </p:spPr>
      </p:sp>
      <p:sp>
        <p:nvSpPr>
          <p:cNvPr id="86" name="Shape 84"/>
          <p:cNvSpPr/>
          <p:nvPr/>
        </p:nvSpPr>
        <p:spPr>
          <a:xfrm>
            <a:off x="7124700" y="2518469"/>
            <a:ext cx="350520" cy="168109"/>
          </a:xfrm>
          <a:prstGeom prst="rect">
            <a:avLst/>
          </a:prstGeom>
          <a:solidFill>
            <a:schemeClr val="accent4"/>
          </a:solidFill>
          <a:ln/>
        </p:spPr>
      </p:sp>
      <p:sp>
        <p:nvSpPr>
          <p:cNvPr id="87" name="Shape 85"/>
          <p:cNvSpPr/>
          <p:nvPr/>
        </p:nvSpPr>
        <p:spPr>
          <a:xfrm>
            <a:off x="7520940" y="2518469"/>
            <a:ext cx="350520" cy="168109"/>
          </a:xfrm>
          <a:prstGeom prst="rect">
            <a:avLst/>
          </a:prstGeom>
          <a:solidFill>
            <a:schemeClr val="bg1"/>
          </a:solidFill>
          <a:ln w="6350">
            <a:solidFill>
              <a:srgbClr val="E1E7E3"/>
            </a:solidFill>
            <a:prstDash val="solid"/>
          </a:ln>
        </p:spPr>
      </p:sp>
      <p:sp>
        <p:nvSpPr>
          <p:cNvPr id="88" name="Shape 86"/>
          <p:cNvSpPr/>
          <p:nvPr/>
        </p:nvSpPr>
        <p:spPr>
          <a:xfrm>
            <a:off x="7917180" y="2518469"/>
            <a:ext cx="350520" cy="168109"/>
          </a:xfrm>
          <a:prstGeom prst="rect">
            <a:avLst/>
          </a:prstGeom>
          <a:solidFill>
            <a:schemeClr val="bg1"/>
          </a:solidFill>
          <a:ln w="6350">
            <a:solidFill>
              <a:srgbClr val="E1E7E3"/>
            </a:solidFill>
            <a:prstDash val="solid"/>
          </a:ln>
        </p:spPr>
      </p:sp>
      <p:sp>
        <p:nvSpPr>
          <p:cNvPr id="89" name="Shape 87"/>
          <p:cNvSpPr/>
          <p:nvPr/>
        </p:nvSpPr>
        <p:spPr>
          <a:xfrm>
            <a:off x="8313420" y="2518469"/>
            <a:ext cx="350520" cy="168109"/>
          </a:xfrm>
          <a:prstGeom prst="rect">
            <a:avLst/>
          </a:prstGeom>
          <a:solidFill>
            <a:schemeClr val="bg1"/>
          </a:solidFill>
          <a:ln w="6350">
            <a:solidFill>
              <a:srgbClr val="E1E7E3"/>
            </a:solidFill>
            <a:prstDash val="solid"/>
          </a:ln>
        </p:spPr>
      </p:sp>
      <p:sp>
        <p:nvSpPr>
          <p:cNvPr id="90" name="Shape 88"/>
          <p:cNvSpPr/>
          <p:nvPr/>
        </p:nvSpPr>
        <p:spPr>
          <a:xfrm>
            <a:off x="457200" y="2718582"/>
            <a:ext cx="8229600" cy="232117"/>
          </a:xfrm>
          <a:prstGeom prst="rect">
            <a:avLst/>
          </a:prstGeom>
          <a:solidFill>
            <a:schemeClr val="bg2"/>
          </a:solidFill>
          <a:ln/>
        </p:spPr>
      </p:sp>
      <p:sp>
        <p:nvSpPr>
          <p:cNvPr id="91" name="Text 89"/>
          <p:cNvSpPr txBox="1"/>
          <p:nvPr/>
        </p:nvSpPr>
        <p:spPr>
          <a:xfrm>
            <a:off x="530352" y="2718582"/>
            <a:ext cx="3383280" cy="232117"/>
          </a:xfrm>
          <a:prstGeom prst="rect">
            <a:avLst/>
          </a:prstGeom>
          <a:noFill/>
          <a:ln/>
        </p:spPr>
        <p:txBody>
          <a:bodyPr wrap="square" lIns="0" tIns="0" rIns="0" bIns="0" rtlCol="0" anchor="ctr"/>
          <a:lstStyle/>
          <a:p>
            <a:pPr indent="0" marL="0">
              <a:buNone/>
            </a:pPr>
            <a:r>
              <a:rPr lang="en-US" sz="1000" b="1" dirty="0">
                <a:solidFill>
                  <a:schemeClr val="accent6"/>
                </a:solidFill>
              </a:rPr>
              <a:t>Output 3 · Kemitraan pembiayaan swasta</a:t>
            </a:r>
            <a:endParaRPr lang="en-US" sz="1000" dirty="0"/>
          </a:p>
        </p:txBody>
      </p:sp>
      <p:sp>
        <p:nvSpPr>
          <p:cNvPr id="92" name="Text 90"/>
          <p:cNvSpPr txBox="1"/>
          <p:nvPr/>
        </p:nvSpPr>
        <p:spPr>
          <a:xfrm>
            <a:off x="530352" y="2950698"/>
            <a:ext cx="3383280" cy="232117"/>
          </a:xfrm>
          <a:prstGeom prst="rect">
            <a:avLst/>
          </a:prstGeom>
          <a:noFill/>
          <a:ln/>
        </p:spPr>
        <p:txBody>
          <a:bodyPr wrap="square" lIns="0" tIns="0" rIns="0" bIns="0" rtlCol="0" anchor="ctr"/>
          <a:lstStyle/>
          <a:p>
            <a:pPr indent="0" marL="0">
              <a:buNone/>
            </a:pPr>
            <a:r>
              <a:rPr lang="en-US" sz="1000" dirty="0">
                <a:solidFill>
                  <a:schemeClr val="accent5"/>
                </a:solidFill>
              </a:rPr>
              <a:t>3.1.1  </a:t>
            </a:r>
            <a:pPr indent="0" marL="0">
              <a:buNone/>
            </a:pPr>
            <a:r>
              <a:rPr lang="en-US" sz="1000" dirty="0">
                <a:solidFill>
                  <a:schemeClr val="tx1"/>
                </a:solidFill>
              </a:rPr>
              <a:t>Series High-Level Meeting dengan swasta</a:t>
            </a:r>
            <a:endParaRPr lang="en-US" sz="1000" dirty="0"/>
          </a:p>
        </p:txBody>
      </p:sp>
      <p:sp>
        <p:nvSpPr>
          <p:cNvPr id="93" name="Shape 91"/>
          <p:cNvSpPr/>
          <p:nvPr/>
        </p:nvSpPr>
        <p:spPr>
          <a:xfrm>
            <a:off x="3954780" y="2982702"/>
            <a:ext cx="350520" cy="168109"/>
          </a:xfrm>
          <a:prstGeom prst="rect">
            <a:avLst/>
          </a:prstGeom>
          <a:solidFill>
            <a:schemeClr val="bg1"/>
          </a:solidFill>
          <a:ln w="6350">
            <a:solidFill>
              <a:srgbClr val="E1E7E3"/>
            </a:solidFill>
            <a:prstDash val="solid"/>
          </a:ln>
        </p:spPr>
      </p:sp>
      <p:sp>
        <p:nvSpPr>
          <p:cNvPr id="94" name="Shape 92"/>
          <p:cNvSpPr/>
          <p:nvPr/>
        </p:nvSpPr>
        <p:spPr>
          <a:xfrm>
            <a:off x="4351020" y="2982702"/>
            <a:ext cx="350520" cy="168109"/>
          </a:xfrm>
          <a:prstGeom prst="rect">
            <a:avLst/>
          </a:prstGeom>
          <a:solidFill>
            <a:schemeClr val="accent6"/>
          </a:solidFill>
          <a:ln/>
        </p:spPr>
      </p:sp>
      <p:sp>
        <p:nvSpPr>
          <p:cNvPr id="95" name="Shape 93"/>
          <p:cNvSpPr/>
          <p:nvPr/>
        </p:nvSpPr>
        <p:spPr>
          <a:xfrm>
            <a:off x="4747260" y="2982702"/>
            <a:ext cx="350520" cy="168109"/>
          </a:xfrm>
          <a:prstGeom prst="rect">
            <a:avLst/>
          </a:prstGeom>
          <a:solidFill>
            <a:schemeClr val="bg1"/>
          </a:solidFill>
          <a:ln w="6350">
            <a:solidFill>
              <a:srgbClr val="E1E7E3"/>
            </a:solidFill>
            <a:prstDash val="solid"/>
          </a:ln>
        </p:spPr>
      </p:sp>
      <p:sp>
        <p:nvSpPr>
          <p:cNvPr id="96" name="Shape 94"/>
          <p:cNvSpPr/>
          <p:nvPr/>
        </p:nvSpPr>
        <p:spPr>
          <a:xfrm>
            <a:off x="5143500" y="2982702"/>
            <a:ext cx="350520" cy="168109"/>
          </a:xfrm>
          <a:prstGeom prst="rect">
            <a:avLst/>
          </a:prstGeom>
          <a:solidFill>
            <a:schemeClr val="accent6"/>
          </a:solidFill>
          <a:ln/>
        </p:spPr>
      </p:sp>
      <p:sp>
        <p:nvSpPr>
          <p:cNvPr id="97" name="Shape 95"/>
          <p:cNvSpPr/>
          <p:nvPr/>
        </p:nvSpPr>
        <p:spPr>
          <a:xfrm>
            <a:off x="5539740" y="2982702"/>
            <a:ext cx="350520" cy="168109"/>
          </a:xfrm>
          <a:prstGeom prst="rect">
            <a:avLst/>
          </a:prstGeom>
          <a:solidFill>
            <a:schemeClr val="bg1"/>
          </a:solidFill>
          <a:ln w="6350">
            <a:solidFill>
              <a:srgbClr val="E1E7E3"/>
            </a:solidFill>
            <a:prstDash val="solid"/>
          </a:ln>
        </p:spPr>
      </p:sp>
      <p:sp>
        <p:nvSpPr>
          <p:cNvPr id="98" name="Shape 96"/>
          <p:cNvSpPr/>
          <p:nvPr/>
        </p:nvSpPr>
        <p:spPr>
          <a:xfrm>
            <a:off x="5935980" y="2982702"/>
            <a:ext cx="350520" cy="168109"/>
          </a:xfrm>
          <a:prstGeom prst="rect">
            <a:avLst/>
          </a:prstGeom>
          <a:solidFill>
            <a:schemeClr val="accent6"/>
          </a:solidFill>
          <a:ln/>
        </p:spPr>
      </p:sp>
      <p:sp>
        <p:nvSpPr>
          <p:cNvPr id="99" name="Shape 97"/>
          <p:cNvSpPr/>
          <p:nvPr/>
        </p:nvSpPr>
        <p:spPr>
          <a:xfrm>
            <a:off x="6332220" y="2982702"/>
            <a:ext cx="350520" cy="168109"/>
          </a:xfrm>
          <a:prstGeom prst="rect">
            <a:avLst/>
          </a:prstGeom>
          <a:solidFill>
            <a:schemeClr val="bg1"/>
          </a:solidFill>
          <a:ln w="6350">
            <a:solidFill>
              <a:srgbClr val="E1E7E3"/>
            </a:solidFill>
            <a:prstDash val="solid"/>
          </a:ln>
        </p:spPr>
      </p:sp>
      <p:sp>
        <p:nvSpPr>
          <p:cNvPr id="100" name="Shape 98"/>
          <p:cNvSpPr/>
          <p:nvPr/>
        </p:nvSpPr>
        <p:spPr>
          <a:xfrm>
            <a:off x="6728460" y="2982702"/>
            <a:ext cx="350520" cy="168109"/>
          </a:xfrm>
          <a:prstGeom prst="rect">
            <a:avLst/>
          </a:prstGeom>
          <a:solidFill>
            <a:schemeClr val="accent6"/>
          </a:solidFill>
          <a:ln/>
        </p:spPr>
      </p:sp>
      <p:sp>
        <p:nvSpPr>
          <p:cNvPr id="101" name="Shape 99"/>
          <p:cNvSpPr/>
          <p:nvPr/>
        </p:nvSpPr>
        <p:spPr>
          <a:xfrm>
            <a:off x="7124700" y="2982702"/>
            <a:ext cx="350520" cy="168109"/>
          </a:xfrm>
          <a:prstGeom prst="rect">
            <a:avLst/>
          </a:prstGeom>
          <a:solidFill>
            <a:schemeClr val="bg1"/>
          </a:solidFill>
          <a:ln w="6350">
            <a:solidFill>
              <a:srgbClr val="E1E7E3"/>
            </a:solidFill>
            <a:prstDash val="solid"/>
          </a:ln>
        </p:spPr>
      </p:sp>
      <p:sp>
        <p:nvSpPr>
          <p:cNvPr id="102" name="Shape 100"/>
          <p:cNvSpPr/>
          <p:nvPr/>
        </p:nvSpPr>
        <p:spPr>
          <a:xfrm>
            <a:off x="7520940" y="2982702"/>
            <a:ext cx="350520" cy="168109"/>
          </a:xfrm>
          <a:prstGeom prst="rect">
            <a:avLst/>
          </a:prstGeom>
          <a:solidFill>
            <a:schemeClr val="accent6"/>
          </a:solidFill>
          <a:ln/>
        </p:spPr>
      </p:sp>
      <p:sp>
        <p:nvSpPr>
          <p:cNvPr id="103" name="Shape 101"/>
          <p:cNvSpPr/>
          <p:nvPr/>
        </p:nvSpPr>
        <p:spPr>
          <a:xfrm>
            <a:off x="7917180" y="2982702"/>
            <a:ext cx="350520" cy="168109"/>
          </a:xfrm>
          <a:prstGeom prst="rect">
            <a:avLst/>
          </a:prstGeom>
          <a:solidFill>
            <a:schemeClr val="bg1"/>
          </a:solidFill>
          <a:ln w="6350">
            <a:solidFill>
              <a:srgbClr val="E1E7E3"/>
            </a:solidFill>
            <a:prstDash val="solid"/>
          </a:ln>
        </p:spPr>
      </p:sp>
      <p:sp>
        <p:nvSpPr>
          <p:cNvPr id="104" name="Shape 102"/>
          <p:cNvSpPr/>
          <p:nvPr/>
        </p:nvSpPr>
        <p:spPr>
          <a:xfrm>
            <a:off x="8313420" y="2982702"/>
            <a:ext cx="350520" cy="168109"/>
          </a:xfrm>
          <a:prstGeom prst="rect">
            <a:avLst/>
          </a:prstGeom>
          <a:solidFill>
            <a:schemeClr val="bg1"/>
          </a:solidFill>
          <a:ln w="6350">
            <a:solidFill>
              <a:srgbClr val="E1E7E3"/>
            </a:solidFill>
            <a:prstDash val="solid"/>
          </a:ln>
        </p:spPr>
      </p:sp>
      <p:sp>
        <p:nvSpPr>
          <p:cNvPr id="105" name="Text 103"/>
          <p:cNvSpPr txBox="1"/>
          <p:nvPr/>
        </p:nvSpPr>
        <p:spPr>
          <a:xfrm>
            <a:off x="530352" y="3182815"/>
            <a:ext cx="3383280" cy="232117"/>
          </a:xfrm>
          <a:prstGeom prst="rect">
            <a:avLst/>
          </a:prstGeom>
          <a:noFill/>
          <a:ln/>
        </p:spPr>
        <p:txBody>
          <a:bodyPr wrap="square" lIns="0" tIns="0" rIns="0" bIns="0" rtlCol="0" anchor="ctr"/>
          <a:lstStyle/>
          <a:p>
            <a:pPr indent="0" marL="0">
              <a:buNone/>
            </a:pPr>
            <a:r>
              <a:rPr lang="en-US" sz="1000" dirty="0">
                <a:solidFill>
                  <a:schemeClr val="accent5"/>
                </a:solidFill>
              </a:rPr>
              <a:t>3.1.2  </a:t>
            </a:r>
            <a:pPr indent="0" marL="0">
              <a:buNone/>
            </a:pPr>
            <a:r>
              <a:rPr lang="en-US" sz="1000" dirty="0">
                <a:solidFill>
                  <a:schemeClr val="tx1"/>
                </a:solidFill>
              </a:rPr>
              <a:t>Penandatanganan kerja sama dengan swasta</a:t>
            </a:r>
            <a:endParaRPr lang="en-US" sz="1000" dirty="0"/>
          </a:p>
        </p:txBody>
      </p:sp>
      <p:sp>
        <p:nvSpPr>
          <p:cNvPr id="106" name="Shape 104"/>
          <p:cNvSpPr/>
          <p:nvPr/>
        </p:nvSpPr>
        <p:spPr>
          <a:xfrm>
            <a:off x="3954780" y="3214819"/>
            <a:ext cx="350520" cy="168109"/>
          </a:xfrm>
          <a:prstGeom prst="rect">
            <a:avLst/>
          </a:prstGeom>
          <a:solidFill>
            <a:schemeClr val="bg1"/>
          </a:solidFill>
          <a:ln w="6350">
            <a:solidFill>
              <a:srgbClr val="E1E7E3"/>
            </a:solidFill>
            <a:prstDash val="solid"/>
          </a:ln>
        </p:spPr>
      </p:sp>
      <p:sp>
        <p:nvSpPr>
          <p:cNvPr id="107" name="Shape 105"/>
          <p:cNvSpPr/>
          <p:nvPr/>
        </p:nvSpPr>
        <p:spPr>
          <a:xfrm>
            <a:off x="4351020" y="3214819"/>
            <a:ext cx="350520" cy="168109"/>
          </a:xfrm>
          <a:prstGeom prst="rect">
            <a:avLst/>
          </a:prstGeom>
          <a:solidFill>
            <a:schemeClr val="bg1"/>
          </a:solidFill>
          <a:ln w="6350">
            <a:solidFill>
              <a:srgbClr val="E1E7E3"/>
            </a:solidFill>
            <a:prstDash val="solid"/>
          </a:ln>
        </p:spPr>
      </p:sp>
      <p:sp>
        <p:nvSpPr>
          <p:cNvPr id="108" name="Shape 106"/>
          <p:cNvSpPr/>
          <p:nvPr/>
        </p:nvSpPr>
        <p:spPr>
          <a:xfrm>
            <a:off x="4747260" y="3214819"/>
            <a:ext cx="350520" cy="168109"/>
          </a:xfrm>
          <a:prstGeom prst="rect">
            <a:avLst/>
          </a:prstGeom>
          <a:solidFill>
            <a:schemeClr val="bg1"/>
          </a:solidFill>
          <a:ln w="6350">
            <a:solidFill>
              <a:srgbClr val="E1E7E3"/>
            </a:solidFill>
            <a:prstDash val="solid"/>
          </a:ln>
        </p:spPr>
      </p:sp>
      <p:sp>
        <p:nvSpPr>
          <p:cNvPr id="109" name="Shape 107"/>
          <p:cNvSpPr/>
          <p:nvPr/>
        </p:nvSpPr>
        <p:spPr>
          <a:xfrm>
            <a:off x="5143500" y="3214819"/>
            <a:ext cx="350520" cy="168109"/>
          </a:xfrm>
          <a:prstGeom prst="rect">
            <a:avLst/>
          </a:prstGeom>
          <a:solidFill>
            <a:schemeClr val="bg1"/>
          </a:solidFill>
          <a:ln w="6350">
            <a:solidFill>
              <a:srgbClr val="E1E7E3"/>
            </a:solidFill>
            <a:prstDash val="solid"/>
          </a:ln>
        </p:spPr>
      </p:sp>
      <p:sp>
        <p:nvSpPr>
          <p:cNvPr id="110" name="Shape 108"/>
          <p:cNvSpPr/>
          <p:nvPr/>
        </p:nvSpPr>
        <p:spPr>
          <a:xfrm>
            <a:off x="5539740" y="3214819"/>
            <a:ext cx="350520" cy="168109"/>
          </a:xfrm>
          <a:prstGeom prst="rect">
            <a:avLst/>
          </a:prstGeom>
          <a:solidFill>
            <a:schemeClr val="bg1"/>
          </a:solidFill>
          <a:ln w="6350">
            <a:solidFill>
              <a:srgbClr val="E1E7E3"/>
            </a:solidFill>
            <a:prstDash val="solid"/>
          </a:ln>
        </p:spPr>
      </p:sp>
      <p:sp>
        <p:nvSpPr>
          <p:cNvPr id="111" name="Shape 109"/>
          <p:cNvSpPr/>
          <p:nvPr/>
        </p:nvSpPr>
        <p:spPr>
          <a:xfrm>
            <a:off x="5935980" y="3214819"/>
            <a:ext cx="350520" cy="168109"/>
          </a:xfrm>
          <a:prstGeom prst="rect">
            <a:avLst/>
          </a:prstGeom>
          <a:solidFill>
            <a:schemeClr val="bg1"/>
          </a:solidFill>
          <a:ln w="6350">
            <a:solidFill>
              <a:srgbClr val="E1E7E3"/>
            </a:solidFill>
            <a:prstDash val="solid"/>
          </a:ln>
        </p:spPr>
      </p:sp>
      <p:sp>
        <p:nvSpPr>
          <p:cNvPr id="112" name="Shape 110"/>
          <p:cNvSpPr/>
          <p:nvPr/>
        </p:nvSpPr>
        <p:spPr>
          <a:xfrm>
            <a:off x="6332220" y="3214819"/>
            <a:ext cx="350520" cy="168109"/>
          </a:xfrm>
          <a:prstGeom prst="rect">
            <a:avLst/>
          </a:prstGeom>
          <a:solidFill>
            <a:schemeClr val="bg1"/>
          </a:solidFill>
          <a:ln w="6350">
            <a:solidFill>
              <a:srgbClr val="E1E7E3"/>
            </a:solidFill>
            <a:prstDash val="solid"/>
          </a:ln>
        </p:spPr>
      </p:sp>
      <p:sp>
        <p:nvSpPr>
          <p:cNvPr id="113" name="Shape 111"/>
          <p:cNvSpPr/>
          <p:nvPr/>
        </p:nvSpPr>
        <p:spPr>
          <a:xfrm>
            <a:off x="6728460" y="3214819"/>
            <a:ext cx="350520" cy="168109"/>
          </a:xfrm>
          <a:prstGeom prst="rect">
            <a:avLst/>
          </a:prstGeom>
          <a:solidFill>
            <a:schemeClr val="bg1"/>
          </a:solidFill>
          <a:ln w="6350">
            <a:solidFill>
              <a:srgbClr val="E1E7E3"/>
            </a:solidFill>
            <a:prstDash val="solid"/>
          </a:ln>
        </p:spPr>
      </p:sp>
      <p:sp>
        <p:nvSpPr>
          <p:cNvPr id="114" name="Shape 112"/>
          <p:cNvSpPr/>
          <p:nvPr/>
        </p:nvSpPr>
        <p:spPr>
          <a:xfrm>
            <a:off x="7124700" y="3214819"/>
            <a:ext cx="350520" cy="168109"/>
          </a:xfrm>
          <a:prstGeom prst="rect">
            <a:avLst/>
          </a:prstGeom>
          <a:solidFill>
            <a:schemeClr val="bg1"/>
          </a:solidFill>
          <a:ln w="6350">
            <a:solidFill>
              <a:srgbClr val="E1E7E3"/>
            </a:solidFill>
            <a:prstDash val="solid"/>
          </a:ln>
        </p:spPr>
      </p:sp>
      <p:sp>
        <p:nvSpPr>
          <p:cNvPr id="115" name="Shape 113"/>
          <p:cNvSpPr/>
          <p:nvPr/>
        </p:nvSpPr>
        <p:spPr>
          <a:xfrm>
            <a:off x="7520940" y="3214819"/>
            <a:ext cx="350520" cy="168109"/>
          </a:xfrm>
          <a:prstGeom prst="rect">
            <a:avLst/>
          </a:prstGeom>
          <a:solidFill>
            <a:schemeClr val="bg1"/>
          </a:solidFill>
          <a:ln w="6350">
            <a:solidFill>
              <a:srgbClr val="E1E7E3"/>
            </a:solidFill>
            <a:prstDash val="solid"/>
          </a:ln>
        </p:spPr>
      </p:sp>
      <p:sp>
        <p:nvSpPr>
          <p:cNvPr id="116" name="Shape 114"/>
          <p:cNvSpPr/>
          <p:nvPr/>
        </p:nvSpPr>
        <p:spPr>
          <a:xfrm>
            <a:off x="7917180" y="3214819"/>
            <a:ext cx="350520" cy="168109"/>
          </a:xfrm>
          <a:prstGeom prst="rect">
            <a:avLst/>
          </a:prstGeom>
          <a:solidFill>
            <a:schemeClr val="accent6"/>
          </a:solidFill>
          <a:ln/>
        </p:spPr>
      </p:sp>
      <p:sp>
        <p:nvSpPr>
          <p:cNvPr id="117" name="Shape 115"/>
          <p:cNvSpPr/>
          <p:nvPr/>
        </p:nvSpPr>
        <p:spPr>
          <a:xfrm>
            <a:off x="8313420" y="3214819"/>
            <a:ext cx="350520" cy="168109"/>
          </a:xfrm>
          <a:prstGeom prst="rect">
            <a:avLst/>
          </a:prstGeom>
          <a:solidFill>
            <a:schemeClr val="accent6"/>
          </a:solidFill>
          <a:ln/>
        </p:spPr>
      </p:sp>
      <p:sp>
        <p:nvSpPr>
          <p:cNvPr id="118" name="Shape 116"/>
          <p:cNvSpPr/>
          <p:nvPr/>
        </p:nvSpPr>
        <p:spPr>
          <a:xfrm>
            <a:off x="457200" y="3414932"/>
            <a:ext cx="8229600" cy="232117"/>
          </a:xfrm>
          <a:prstGeom prst="rect">
            <a:avLst/>
          </a:prstGeom>
          <a:solidFill>
            <a:schemeClr val="bg2"/>
          </a:solidFill>
          <a:ln/>
        </p:spPr>
      </p:sp>
      <p:sp>
        <p:nvSpPr>
          <p:cNvPr id="119" name="Text 117"/>
          <p:cNvSpPr txBox="1"/>
          <p:nvPr/>
        </p:nvSpPr>
        <p:spPr>
          <a:xfrm>
            <a:off x="530352" y="3414932"/>
            <a:ext cx="3383280" cy="232117"/>
          </a:xfrm>
          <a:prstGeom prst="rect">
            <a:avLst/>
          </a:prstGeom>
          <a:noFill/>
          <a:ln/>
        </p:spPr>
        <p:txBody>
          <a:bodyPr wrap="square" lIns="0" tIns="0" rIns="0" bIns="0" rtlCol="0" anchor="ctr"/>
          <a:lstStyle/>
          <a:p>
            <a:pPr indent="0" marL="0">
              <a:buNone/>
            </a:pPr>
            <a:r>
              <a:rPr lang="en-US" sz="1000" b="1" dirty="0">
                <a:solidFill>
                  <a:schemeClr val="accent2"/>
                </a:solidFill>
              </a:rPr>
              <a:t>Output 4 · Kepemimpinan perempuan</a:t>
            </a:r>
            <a:endParaRPr lang="en-US" sz="1000" dirty="0"/>
          </a:p>
        </p:txBody>
      </p:sp>
      <p:sp>
        <p:nvSpPr>
          <p:cNvPr id="120" name="Text 118"/>
          <p:cNvSpPr txBox="1"/>
          <p:nvPr/>
        </p:nvSpPr>
        <p:spPr>
          <a:xfrm>
            <a:off x="530352" y="3647049"/>
            <a:ext cx="3383280" cy="232117"/>
          </a:xfrm>
          <a:prstGeom prst="rect">
            <a:avLst/>
          </a:prstGeom>
          <a:noFill/>
          <a:ln/>
        </p:spPr>
        <p:txBody>
          <a:bodyPr wrap="square" lIns="0" tIns="0" rIns="0" bIns="0" rtlCol="0" anchor="ctr"/>
          <a:lstStyle/>
          <a:p>
            <a:pPr indent="0" marL="0">
              <a:buNone/>
            </a:pPr>
            <a:r>
              <a:rPr lang="en-US" sz="1000" dirty="0">
                <a:solidFill>
                  <a:schemeClr val="accent5"/>
                </a:solidFill>
              </a:rPr>
              <a:t>4.1.1  </a:t>
            </a:r>
            <a:pPr indent="0" marL="0">
              <a:buNone/>
            </a:pPr>
            <a:r>
              <a:rPr lang="en-US" sz="1000" dirty="0">
                <a:solidFill>
                  <a:schemeClr val="tx1"/>
                </a:solidFill>
              </a:rPr>
              <a:t>Penyusunan GEDSI Action Plan</a:t>
            </a:r>
            <a:endParaRPr lang="en-US" sz="1000" dirty="0"/>
          </a:p>
        </p:txBody>
      </p:sp>
      <p:sp>
        <p:nvSpPr>
          <p:cNvPr id="121" name="Shape 119"/>
          <p:cNvSpPr/>
          <p:nvPr/>
        </p:nvSpPr>
        <p:spPr>
          <a:xfrm>
            <a:off x="3954780" y="3679053"/>
            <a:ext cx="350520" cy="168109"/>
          </a:xfrm>
          <a:prstGeom prst="rect">
            <a:avLst/>
          </a:prstGeom>
          <a:solidFill>
            <a:schemeClr val="bg1"/>
          </a:solidFill>
          <a:ln w="6350">
            <a:solidFill>
              <a:srgbClr val="E1E7E3"/>
            </a:solidFill>
            <a:prstDash val="solid"/>
          </a:ln>
        </p:spPr>
      </p:sp>
      <p:sp>
        <p:nvSpPr>
          <p:cNvPr id="122" name="Shape 120"/>
          <p:cNvSpPr/>
          <p:nvPr/>
        </p:nvSpPr>
        <p:spPr>
          <a:xfrm>
            <a:off x="4351020" y="3679053"/>
            <a:ext cx="350520" cy="168109"/>
          </a:xfrm>
          <a:prstGeom prst="rect">
            <a:avLst/>
          </a:prstGeom>
          <a:solidFill>
            <a:schemeClr val="bg1"/>
          </a:solidFill>
          <a:ln w="6350">
            <a:solidFill>
              <a:srgbClr val="E1E7E3"/>
            </a:solidFill>
            <a:prstDash val="solid"/>
          </a:ln>
        </p:spPr>
      </p:sp>
      <p:sp>
        <p:nvSpPr>
          <p:cNvPr id="123" name="Shape 121"/>
          <p:cNvSpPr/>
          <p:nvPr/>
        </p:nvSpPr>
        <p:spPr>
          <a:xfrm>
            <a:off x="4747260" y="3679053"/>
            <a:ext cx="350520" cy="168109"/>
          </a:xfrm>
          <a:prstGeom prst="rect">
            <a:avLst/>
          </a:prstGeom>
          <a:solidFill>
            <a:schemeClr val="bg1"/>
          </a:solidFill>
          <a:ln w="6350">
            <a:solidFill>
              <a:srgbClr val="E1E7E3"/>
            </a:solidFill>
            <a:prstDash val="solid"/>
          </a:ln>
        </p:spPr>
      </p:sp>
      <p:sp>
        <p:nvSpPr>
          <p:cNvPr id="124" name="Shape 122"/>
          <p:cNvSpPr/>
          <p:nvPr/>
        </p:nvSpPr>
        <p:spPr>
          <a:xfrm>
            <a:off x="5143500" y="3679053"/>
            <a:ext cx="350520" cy="168109"/>
          </a:xfrm>
          <a:prstGeom prst="rect">
            <a:avLst/>
          </a:prstGeom>
          <a:solidFill>
            <a:schemeClr val="bg1"/>
          </a:solidFill>
          <a:ln w="6350">
            <a:solidFill>
              <a:srgbClr val="E1E7E3"/>
            </a:solidFill>
            <a:prstDash val="solid"/>
          </a:ln>
        </p:spPr>
      </p:sp>
      <p:sp>
        <p:nvSpPr>
          <p:cNvPr id="125" name="Shape 123"/>
          <p:cNvSpPr/>
          <p:nvPr/>
        </p:nvSpPr>
        <p:spPr>
          <a:xfrm>
            <a:off x="5539740" y="3679053"/>
            <a:ext cx="350520" cy="168109"/>
          </a:xfrm>
          <a:prstGeom prst="rect">
            <a:avLst/>
          </a:prstGeom>
          <a:solidFill>
            <a:schemeClr val="accent2"/>
          </a:solidFill>
          <a:ln/>
        </p:spPr>
      </p:sp>
      <p:sp>
        <p:nvSpPr>
          <p:cNvPr id="126" name="Shape 124"/>
          <p:cNvSpPr/>
          <p:nvPr/>
        </p:nvSpPr>
        <p:spPr>
          <a:xfrm>
            <a:off x="5935980" y="3679053"/>
            <a:ext cx="350520" cy="168109"/>
          </a:xfrm>
          <a:prstGeom prst="rect">
            <a:avLst/>
          </a:prstGeom>
          <a:solidFill>
            <a:schemeClr val="accent2"/>
          </a:solidFill>
          <a:ln/>
        </p:spPr>
      </p:sp>
      <p:sp>
        <p:nvSpPr>
          <p:cNvPr id="127" name="Shape 125"/>
          <p:cNvSpPr/>
          <p:nvPr/>
        </p:nvSpPr>
        <p:spPr>
          <a:xfrm>
            <a:off x="6332220" y="3679053"/>
            <a:ext cx="350520" cy="168109"/>
          </a:xfrm>
          <a:prstGeom prst="rect">
            <a:avLst/>
          </a:prstGeom>
          <a:solidFill>
            <a:schemeClr val="bg1"/>
          </a:solidFill>
          <a:ln w="6350">
            <a:solidFill>
              <a:srgbClr val="E1E7E3"/>
            </a:solidFill>
            <a:prstDash val="solid"/>
          </a:ln>
        </p:spPr>
      </p:sp>
      <p:sp>
        <p:nvSpPr>
          <p:cNvPr id="128" name="Shape 126"/>
          <p:cNvSpPr/>
          <p:nvPr/>
        </p:nvSpPr>
        <p:spPr>
          <a:xfrm>
            <a:off x="6728460" y="3679053"/>
            <a:ext cx="350520" cy="168109"/>
          </a:xfrm>
          <a:prstGeom prst="rect">
            <a:avLst/>
          </a:prstGeom>
          <a:solidFill>
            <a:schemeClr val="bg1"/>
          </a:solidFill>
          <a:ln w="6350">
            <a:solidFill>
              <a:srgbClr val="E1E7E3"/>
            </a:solidFill>
            <a:prstDash val="solid"/>
          </a:ln>
        </p:spPr>
      </p:sp>
      <p:sp>
        <p:nvSpPr>
          <p:cNvPr id="129" name="Shape 127"/>
          <p:cNvSpPr/>
          <p:nvPr/>
        </p:nvSpPr>
        <p:spPr>
          <a:xfrm>
            <a:off x="7124700" y="3679053"/>
            <a:ext cx="350520" cy="168109"/>
          </a:xfrm>
          <a:prstGeom prst="rect">
            <a:avLst/>
          </a:prstGeom>
          <a:solidFill>
            <a:schemeClr val="bg1"/>
          </a:solidFill>
          <a:ln w="6350">
            <a:solidFill>
              <a:srgbClr val="E1E7E3"/>
            </a:solidFill>
            <a:prstDash val="solid"/>
          </a:ln>
        </p:spPr>
      </p:sp>
      <p:sp>
        <p:nvSpPr>
          <p:cNvPr id="130" name="Shape 128"/>
          <p:cNvSpPr/>
          <p:nvPr/>
        </p:nvSpPr>
        <p:spPr>
          <a:xfrm>
            <a:off x="7520940" y="3679053"/>
            <a:ext cx="350520" cy="168109"/>
          </a:xfrm>
          <a:prstGeom prst="rect">
            <a:avLst/>
          </a:prstGeom>
          <a:solidFill>
            <a:schemeClr val="bg1"/>
          </a:solidFill>
          <a:ln w="6350">
            <a:solidFill>
              <a:srgbClr val="E1E7E3"/>
            </a:solidFill>
            <a:prstDash val="solid"/>
          </a:ln>
        </p:spPr>
      </p:sp>
      <p:sp>
        <p:nvSpPr>
          <p:cNvPr id="131" name="Shape 129"/>
          <p:cNvSpPr/>
          <p:nvPr/>
        </p:nvSpPr>
        <p:spPr>
          <a:xfrm>
            <a:off x="7917180" y="3679053"/>
            <a:ext cx="350520" cy="168109"/>
          </a:xfrm>
          <a:prstGeom prst="rect">
            <a:avLst/>
          </a:prstGeom>
          <a:solidFill>
            <a:schemeClr val="bg1"/>
          </a:solidFill>
          <a:ln w="6350">
            <a:solidFill>
              <a:srgbClr val="E1E7E3"/>
            </a:solidFill>
            <a:prstDash val="solid"/>
          </a:ln>
        </p:spPr>
      </p:sp>
      <p:sp>
        <p:nvSpPr>
          <p:cNvPr id="132" name="Shape 130"/>
          <p:cNvSpPr/>
          <p:nvPr/>
        </p:nvSpPr>
        <p:spPr>
          <a:xfrm>
            <a:off x="8313420" y="3679053"/>
            <a:ext cx="350520" cy="168109"/>
          </a:xfrm>
          <a:prstGeom prst="rect">
            <a:avLst/>
          </a:prstGeom>
          <a:solidFill>
            <a:schemeClr val="bg1"/>
          </a:solidFill>
          <a:ln w="6350">
            <a:solidFill>
              <a:srgbClr val="E1E7E3"/>
            </a:solidFill>
            <a:prstDash val="solid"/>
          </a:ln>
        </p:spPr>
      </p:sp>
      <p:sp>
        <p:nvSpPr>
          <p:cNvPr id="133" name="Text 131"/>
          <p:cNvSpPr txBox="1"/>
          <p:nvPr/>
        </p:nvSpPr>
        <p:spPr>
          <a:xfrm>
            <a:off x="530352" y="3879166"/>
            <a:ext cx="3383280" cy="232117"/>
          </a:xfrm>
          <a:prstGeom prst="rect">
            <a:avLst/>
          </a:prstGeom>
          <a:noFill/>
          <a:ln/>
        </p:spPr>
        <p:txBody>
          <a:bodyPr wrap="square" lIns="0" tIns="0" rIns="0" bIns="0" rtlCol="0" anchor="ctr"/>
          <a:lstStyle/>
          <a:p>
            <a:pPr indent="0" marL="0">
              <a:buNone/>
            </a:pPr>
            <a:r>
              <a:rPr lang="en-US" sz="1000" dirty="0">
                <a:solidFill>
                  <a:schemeClr val="accent5"/>
                </a:solidFill>
              </a:rPr>
              <a:t>4.1.2  </a:t>
            </a:r>
            <a:pPr indent="0" marL="0">
              <a:buNone/>
            </a:pPr>
            <a:r>
              <a:rPr lang="en-US" sz="1000" dirty="0">
                <a:solidFill>
                  <a:schemeClr val="tx1"/>
                </a:solidFill>
              </a:rPr>
              <a:t>Pembentukan &amp; penguatan Women Forest Defender</a:t>
            </a:r>
            <a:endParaRPr lang="en-US" sz="1000" dirty="0"/>
          </a:p>
        </p:txBody>
      </p:sp>
      <p:sp>
        <p:nvSpPr>
          <p:cNvPr id="134" name="Shape 132"/>
          <p:cNvSpPr/>
          <p:nvPr/>
        </p:nvSpPr>
        <p:spPr>
          <a:xfrm>
            <a:off x="3954780" y="3911170"/>
            <a:ext cx="350520" cy="168109"/>
          </a:xfrm>
          <a:prstGeom prst="rect">
            <a:avLst/>
          </a:prstGeom>
          <a:solidFill>
            <a:schemeClr val="bg1"/>
          </a:solidFill>
          <a:ln w="6350">
            <a:solidFill>
              <a:srgbClr val="E1E7E3"/>
            </a:solidFill>
            <a:prstDash val="solid"/>
          </a:ln>
        </p:spPr>
      </p:sp>
      <p:sp>
        <p:nvSpPr>
          <p:cNvPr id="135" name="Shape 133"/>
          <p:cNvSpPr/>
          <p:nvPr/>
        </p:nvSpPr>
        <p:spPr>
          <a:xfrm>
            <a:off x="4351020" y="3911170"/>
            <a:ext cx="350520" cy="168109"/>
          </a:xfrm>
          <a:prstGeom prst="rect">
            <a:avLst/>
          </a:prstGeom>
          <a:solidFill>
            <a:schemeClr val="accent2"/>
          </a:solidFill>
          <a:ln/>
        </p:spPr>
      </p:sp>
      <p:sp>
        <p:nvSpPr>
          <p:cNvPr id="136" name="Shape 134"/>
          <p:cNvSpPr/>
          <p:nvPr/>
        </p:nvSpPr>
        <p:spPr>
          <a:xfrm>
            <a:off x="4747260" y="3911170"/>
            <a:ext cx="350520" cy="168109"/>
          </a:xfrm>
          <a:prstGeom prst="rect">
            <a:avLst/>
          </a:prstGeom>
          <a:solidFill>
            <a:schemeClr val="bg1"/>
          </a:solidFill>
          <a:ln w="6350">
            <a:solidFill>
              <a:srgbClr val="E1E7E3"/>
            </a:solidFill>
            <a:prstDash val="solid"/>
          </a:ln>
        </p:spPr>
      </p:sp>
      <p:sp>
        <p:nvSpPr>
          <p:cNvPr id="137" name="Shape 135"/>
          <p:cNvSpPr/>
          <p:nvPr/>
        </p:nvSpPr>
        <p:spPr>
          <a:xfrm>
            <a:off x="5143500" y="3911170"/>
            <a:ext cx="350520" cy="168109"/>
          </a:xfrm>
          <a:prstGeom prst="rect">
            <a:avLst/>
          </a:prstGeom>
          <a:solidFill>
            <a:schemeClr val="bg1"/>
          </a:solidFill>
          <a:ln w="6350">
            <a:solidFill>
              <a:srgbClr val="E1E7E3"/>
            </a:solidFill>
            <a:prstDash val="solid"/>
          </a:ln>
        </p:spPr>
      </p:sp>
      <p:sp>
        <p:nvSpPr>
          <p:cNvPr id="138" name="Shape 136"/>
          <p:cNvSpPr/>
          <p:nvPr/>
        </p:nvSpPr>
        <p:spPr>
          <a:xfrm>
            <a:off x="5539740" y="3911170"/>
            <a:ext cx="350520" cy="168109"/>
          </a:xfrm>
          <a:prstGeom prst="rect">
            <a:avLst/>
          </a:prstGeom>
          <a:solidFill>
            <a:schemeClr val="bg1"/>
          </a:solidFill>
          <a:ln w="6350">
            <a:solidFill>
              <a:srgbClr val="E1E7E3"/>
            </a:solidFill>
            <a:prstDash val="solid"/>
          </a:ln>
        </p:spPr>
      </p:sp>
      <p:sp>
        <p:nvSpPr>
          <p:cNvPr id="139" name="Shape 137"/>
          <p:cNvSpPr/>
          <p:nvPr/>
        </p:nvSpPr>
        <p:spPr>
          <a:xfrm>
            <a:off x="5935980" y="3911170"/>
            <a:ext cx="350520" cy="168109"/>
          </a:xfrm>
          <a:prstGeom prst="rect">
            <a:avLst/>
          </a:prstGeom>
          <a:solidFill>
            <a:schemeClr val="bg1"/>
          </a:solidFill>
          <a:ln w="6350">
            <a:solidFill>
              <a:srgbClr val="E1E7E3"/>
            </a:solidFill>
            <a:prstDash val="solid"/>
          </a:ln>
        </p:spPr>
      </p:sp>
      <p:sp>
        <p:nvSpPr>
          <p:cNvPr id="140" name="Shape 138"/>
          <p:cNvSpPr/>
          <p:nvPr/>
        </p:nvSpPr>
        <p:spPr>
          <a:xfrm>
            <a:off x="6332220" y="3911170"/>
            <a:ext cx="350520" cy="168109"/>
          </a:xfrm>
          <a:prstGeom prst="rect">
            <a:avLst/>
          </a:prstGeom>
          <a:solidFill>
            <a:schemeClr val="bg1"/>
          </a:solidFill>
          <a:ln w="6350">
            <a:solidFill>
              <a:srgbClr val="E1E7E3"/>
            </a:solidFill>
            <a:prstDash val="solid"/>
          </a:ln>
        </p:spPr>
      </p:sp>
      <p:sp>
        <p:nvSpPr>
          <p:cNvPr id="141" name="Shape 139"/>
          <p:cNvSpPr/>
          <p:nvPr/>
        </p:nvSpPr>
        <p:spPr>
          <a:xfrm>
            <a:off x="6728460" y="3911170"/>
            <a:ext cx="350520" cy="168109"/>
          </a:xfrm>
          <a:prstGeom prst="rect">
            <a:avLst/>
          </a:prstGeom>
          <a:solidFill>
            <a:schemeClr val="bg1"/>
          </a:solidFill>
          <a:ln w="6350">
            <a:solidFill>
              <a:srgbClr val="E1E7E3"/>
            </a:solidFill>
            <a:prstDash val="solid"/>
          </a:ln>
        </p:spPr>
      </p:sp>
      <p:sp>
        <p:nvSpPr>
          <p:cNvPr id="142" name="Shape 140"/>
          <p:cNvSpPr/>
          <p:nvPr/>
        </p:nvSpPr>
        <p:spPr>
          <a:xfrm>
            <a:off x="7124700" y="3911170"/>
            <a:ext cx="350520" cy="168109"/>
          </a:xfrm>
          <a:prstGeom prst="rect">
            <a:avLst/>
          </a:prstGeom>
          <a:solidFill>
            <a:schemeClr val="bg1"/>
          </a:solidFill>
          <a:ln w="6350">
            <a:solidFill>
              <a:srgbClr val="E1E7E3"/>
            </a:solidFill>
            <a:prstDash val="solid"/>
          </a:ln>
        </p:spPr>
      </p:sp>
      <p:sp>
        <p:nvSpPr>
          <p:cNvPr id="143" name="Shape 141"/>
          <p:cNvSpPr/>
          <p:nvPr/>
        </p:nvSpPr>
        <p:spPr>
          <a:xfrm>
            <a:off x="7520940" y="3911170"/>
            <a:ext cx="350520" cy="168109"/>
          </a:xfrm>
          <a:prstGeom prst="rect">
            <a:avLst/>
          </a:prstGeom>
          <a:solidFill>
            <a:schemeClr val="bg1"/>
          </a:solidFill>
          <a:ln w="6350">
            <a:solidFill>
              <a:srgbClr val="E1E7E3"/>
            </a:solidFill>
            <a:prstDash val="solid"/>
          </a:ln>
        </p:spPr>
      </p:sp>
      <p:sp>
        <p:nvSpPr>
          <p:cNvPr id="144" name="Shape 142"/>
          <p:cNvSpPr/>
          <p:nvPr/>
        </p:nvSpPr>
        <p:spPr>
          <a:xfrm>
            <a:off x="7917180" y="3911170"/>
            <a:ext cx="350520" cy="168109"/>
          </a:xfrm>
          <a:prstGeom prst="rect">
            <a:avLst/>
          </a:prstGeom>
          <a:solidFill>
            <a:schemeClr val="bg1"/>
          </a:solidFill>
          <a:ln w="6350">
            <a:solidFill>
              <a:srgbClr val="E1E7E3"/>
            </a:solidFill>
            <a:prstDash val="solid"/>
          </a:ln>
        </p:spPr>
      </p:sp>
      <p:sp>
        <p:nvSpPr>
          <p:cNvPr id="145" name="Shape 143"/>
          <p:cNvSpPr/>
          <p:nvPr/>
        </p:nvSpPr>
        <p:spPr>
          <a:xfrm>
            <a:off x="8313420" y="3911170"/>
            <a:ext cx="350520" cy="168109"/>
          </a:xfrm>
          <a:prstGeom prst="rect">
            <a:avLst/>
          </a:prstGeom>
          <a:solidFill>
            <a:schemeClr val="bg1"/>
          </a:solidFill>
          <a:ln w="6350">
            <a:solidFill>
              <a:srgbClr val="E1E7E3"/>
            </a:solidFill>
            <a:prstDash val="solid"/>
          </a:ln>
        </p:spPr>
      </p:sp>
      <p:sp>
        <p:nvSpPr>
          <p:cNvPr id="146" name="Text 144"/>
          <p:cNvSpPr txBox="1"/>
          <p:nvPr/>
        </p:nvSpPr>
        <p:spPr>
          <a:xfrm>
            <a:off x="530352" y="4111283"/>
            <a:ext cx="3383280" cy="232117"/>
          </a:xfrm>
          <a:prstGeom prst="rect">
            <a:avLst/>
          </a:prstGeom>
          <a:noFill/>
          <a:ln/>
        </p:spPr>
        <p:txBody>
          <a:bodyPr wrap="square" lIns="0" tIns="0" rIns="0" bIns="0" rtlCol="0" anchor="ctr"/>
          <a:lstStyle/>
          <a:p>
            <a:pPr indent="0" marL="0">
              <a:buNone/>
            </a:pPr>
            <a:r>
              <a:rPr lang="en-US" sz="1000" dirty="0">
                <a:solidFill>
                  <a:schemeClr val="accent5"/>
                </a:solidFill>
              </a:rPr>
              <a:t>4.2.1  </a:t>
            </a:r>
            <a:pPr indent="0" marL="0">
              <a:buNone/>
            </a:pPr>
            <a:r>
              <a:rPr lang="en-US" sz="1000" dirty="0">
                <a:solidFill>
                  <a:schemeClr val="tx1"/>
                </a:solidFill>
              </a:rPr>
              <a:t>Pelatihan kepemimpinan perempuan</a:t>
            </a:r>
            <a:endParaRPr lang="en-US" sz="1000" dirty="0"/>
          </a:p>
        </p:txBody>
      </p:sp>
      <p:sp>
        <p:nvSpPr>
          <p:cNvPr id="147" name="Shape 145"/>
          <p:cNvSpPr/>
          <p:nvPr/>
        </p:nvSpPr>
        <p:spPr>
          <a:xfrm>
            <a:off x="3954780" y="4143287"/>
            <a:ext cx="350520" cy="168109"/>
          </a:xfrm>
          <a:prstGeom prst="rect">
            <a:avLst/>
          </a:prstGeom>
          <a:solidFill>
            <a:schemeClr val="bg1"/>
          </a:solidFill>
          <a:ln w="6350">
            <a:solidFill>
              <a:srgbClr val="E1E7E3"/>
            </a:solidFill>
            <a:prstDash val="solid"/>
          </a:ln>
        </p:spPr>
      </p:sp>
      <p:sp>
        <p:nvSpPr>
          <p:cNvPr id="148" name="Shape 146"/>
          <p:cNvSpPr/>
          <p:nvPr/>
        </p:nvSpPr>
        <p:spPr>
          <a:xfrm>
            <a:off x="4351020" y="4143287"/>
            <a:ext cx="350520" cy="168109"/>
          </a:xfrm>
          <a:prstGeom prst="rect">
            <a:avLst/>
          </a:prstGeom>
          <a:solidFill>
            <a:schemeClr val="bg1"/>
          </a:solidFill>
          <a:ln w="6350">
            <a:solidFill>
              <a:srgbClr val="E1E7E3"/>
            </a:solidFill>
            <a:prstDash val="solid"/>
          </a:ln>
        </p:spPr>
      </p:sp>
      <p:sp>
        <p:nvSpPr>
          <p:cNvPr id="149" name="Shape 147"/>
          <p:cNvSpPr/>
          <p:nvPr/>
        </p:nvSpPr>
        <p:spPr>
          <a:xfrm>
            <a:off x="4747260" y="4143287"/>
            <a:ext cx="350520" cy="168109"/>
          </a:xfrm>
          <a:prstGeom prst="rect">
            <a:avLst/>
          </a:prstGeom>
          <a:solidFill>
            <a:schemeClr val="accent2"/>
          </a:solidFill>
          <a:ln/>
        </p:spPr>
      </p:sp>
      <p:sp>
        <p:nvSpPr>
          <p:cNvPr id="150" name="Shape 148"/>
          <p:cNvSpPr/>
          <p:nvPr/>
        </p:nvSpPr>
        <p:spPr>
          <a:xfrm>
            <a:off x="5143500" y="4143287"/>
            <a:ext cx="350520" cy="168109"/>
          </a:xfrm>
          <a:prstGeom prst="rect">
            <a:avLst/>
          </a:prstGeom>
          <a:solidFill>
            <a:schemeClr val="bg1"/>
          </a:solidFill>
          <a:ln w="6350">
            <a:solidFill>
              <a:srgbClr val="E1E7E3"/>
            </a:solidFill>
            <a:prstDash val="solid"/>
          </a:ln>
        </p:spPr>
      </p:sp>
      <p:sp>
        <p:nvSpPr>
          <p:cNvPr id="151" name="Shape 149"/>
          <p:cNvSpPr/>
          <p:nvPr/>
        </p:nvSpPr>
        <p:spPr>
          <a:xfrm>
            <a:off x="5539740" y="4143287"/>
            <a:ext cx="350520" cy="168109"/>
          </a:xfrm>
          <a:prstGeom prst="rect">
            <a:avLst/>
          </a:prstGeom>
          <a:solidFill>
            <a:schemeClr val="bg1"/>
          </a:solidFill>
          <a:ln w="6350">
            <a:solidFill>
              <a:srgbClr val="E1E7E3"/>
            </a:solidFill>
            <a:prstDash val="solid"/>
          </a:ln>
        </p:spPr>
      </p:sp>
      <p:sp>
        <p:nvSpPr>
          <p:cNvPr id="152" name="Shape 150"/>
          <p:cNvSpPr/>
          <p:nvPr/>
        </p:nvSpPr>
        <p:spPr>
          <a:xfrm>
            <a:off x="5935980" y="4143287"/>
            <a:ext cx="350520" cy="168109"/>
          </a:xfrm>
          <a:prstGeom prst="rect">
            <a:avLst/>
          </a:prstGeom>
          <a:solidFill>
            <a:schemeClr val="bg1"/>
          </a:solidFill>
          <a:ln w="6350">
            <a:solidFill>
              <a:srgbClr val="E1E7E3"/>
            </a:solidFill>
            <a:prstDash val="solid"/>
          </a:ln>
        </p:spPr>
      </p:sp>
      <p:sp>
        <p:nvSpPr>
          <p:cNvPr id="153" name="Shape 151"/>
          <p:cNvSpPr/>
          <p:nvPr/>
        </p:nvSpPr>
        <p:spPr>
          <a:xfrm>
            <a:off x="6332220" y="4143287"/>
            <a:ext cx="350520" cy="168109"/>
          </a:xfrm>
          <a:prstGeom prst="rect">
            <a:avLst/>
          </a:prstGeom>
          <a:solidFill>
            <a:schemeClr val="bg1"/>
          </a:solidFill>
          <a:ln w="6350">
            <a:solidFill>
              <a:srgbClr val="E1E7E3"/>
            </a:solidFill>
            <a:prstDash val="solid"/>
          </a:ln>
        </p:spPr>
      </p:sp>
      <p:sp>
        <p:nvSpPr>
          <p:cNvPr id="154" name="Shape 152"/>
          <p:cNvSpPr/>
          <p:nvPr/>
        </p:nvSpPr>
        <p:spPr>
          <a:xfrm>
            <a:off x="6728460" y="4143287"/>
            <a:ext cx="350520" cy="168109"/>
          </a:xfrm>
          <a:prstGeom prst="rect">
            <a:avLst/>
          </a:prstGeom>
          <a:solidFill>
            <a:schemeClr val="bg1"/>
          </a:solidFill>
          <a:ln w="6350">
            <a:solidFill>
              <a:srgbClr val="E1E7E3"/>
            </a:solidFill>
            <a:prstDash val="solid"/>
          </a:ln>
        </p:spPr>
      </p:sp>
      <p:sp>
        <p:nvSpPr>
          <p:cNvPr id="155" name="Shape 153"/>
          <p:cNvSpPr/>
          <p:nvPr/>
        </p:nvSpPr>
        <p:spPr>
          <a:xfrm>
            <a:off x="7124700" y="4143287"/>
            <a:ext cx="350520" cy="168109"/>
          </a:xfrm>
          <a:prstGeom prst="rect">
            <a:avLst/>
          </a:prstGeom>
          <a:solidFill>
            <a:schemeClr val="bg1"/>
          </a:solidFill>
          <a:ln w="6350">
            <a:solidFill>
              <a:srgbClr val="E1E7E3"/>
            </a:solidFill>
            <a:prstDash val="solid"/>
          </a:ln>
        </p:spPr>
      </p:sp>
      <p:sp>
        <p:nvSpPr>
          <p:cNvPr id="156" name="Shape 154"/>
          <p:cNvSpPr/>
          <p:nvPr/>
        </p:nvSpPr>
        <p:spPr>
          <a:xfrm>
            <a:off x="7520940" y="4143287"/>
            <a:ext cx="350520" cy="168109"/>
          </a:xfrm>
          <a:prstGeom prst="rect">
            <a:avLst/>
          </a:prstGeom>
          <a:solidFill>
            <a:schemeClr val="bg1"/>
          </a:solidFill>
          <a:ln w="6350">
            <a:solidFill>
              <a:srgbClr val="E1E7E3"/>
            </a:solidFill>
            <a:prstDash val="solid"/>
          </a:ln>
        </p:spPr>
      </p:sp>
      <p:sp>
        <p:nvSpPr>
          <p:cNvPr id="157" name="Shape 155"/>
          <p:cNvSpPr/>
          <p:nvPr/>
        </p:nvSpPr>
        <p:spPr>
          <a:xfrm>
            <a:off x="7917180" y="4143287"/>
            <a:ext cx="350520" cy="168109"/>
          </a:xfrm>
          <a:prstGeom prst="rect">
            <a:avLst/>
          </a:prstGeom>
          <a:solidFill>
            <a:schemeClr val="bg1"/>
          </a:solidFill>
          <a:ln w="6350">
            <a:solidFill>
              <a:srgbClr val="E1E7E3"/>
            </a:solidFill>
            <a:prstDash val="solid"/>
          </a:ln>
        </p:spPr>
      </p:sp>
      <p:sp>
        <p:nvSpPr>
          <p:cNvPr id="158" name="Shape 156"/>
          <p:cNvSpPr/>
          <p:nvPr/>
        </p:nvSpPr>
        <p:spPr>
          <a:xfrm>
            <a:off x="8313420" y="4143287"/>
            <a:ext cx="350520" cy="168109"/>
          </a:xfrm>
          <a:prstGeom prst="rect">
            <a:avLst/>
          </a:prstGeom>
          <a:solidFill>
            <a:schemeClr val="bg1"/>
          </a:solidFill>
          <a:ln w="6350">
            <a:solidFill>
              <a:srgbClr val="E1E7E3"/>
            </a:solidFill>
            <a:prstDash val="solid"/>
          </a:ln>
        </p:spPr>
      </p:sp>
      <p:sp>
        <p:nvSpPr>
          <p:cNvPr id="159" name="Text 157"/>
          <p:cNvSpPr txBox="1"/>
          <p:nvPr/>
        </p:nvSpPr>
        <p:spPr>
          <a:xfrm>
            <a:off x="530352" y="4453128"/>
            <a:ext cx="3383280" cy="274320"/>
          </a:xfrm>
          <a:prstGeom prst="rect">
            <a:avLst/>
          </a:prstGeom>
          <a:noFill/>
          <a:ln/>
        </p:spPr>
        <p:txBody>
          <a:bodyPr wrap="square" lIns="0" tIns="0" rIns="0" bIns="0" rtlCol="0" anchor="ctr"/>
          <a:lstStyle/>
          <a:p>
            <a:pPr indent="0" marL="0">
              <a:buNone/>
            </a:pPr>
            <a:r>
              <a:rPr lang="en-US" sz="1000" b="1" dirty="0">
                <a:solidFill>
                  <a:schemeClr val="tx1"/>
                </a:solidFill>
              </a:rPr>
              <a:t>Jumlah kegiatan berjalan per bulan (Output 1–4)</a:t>
            </a:r>
            <a:endParaRPr lang="en-US" sz="1000" dirty="0"/>
          </a:p>
        </p:txBody>
      </p:sp>
      <p:sp>
        <p:nvSpPr>
          <p:cNvPr id="160" name="Shape 158"/>
          <p:cNvSpPr/>
          <p:nvPr/>
        </p:nvSpPr>
        <p:spPr>
          <a:xfrm>
            <a:off x="3954780" y="4453128"/>
            <a:ext cx="350520" cy="274320"/>
          </a:xfrm>
          <a:prstGeom prst="rect">
            <a:avLst/>
          </a:prstGeom>
          <a:solidFill>
            <a:schemeClr val="tx2"/>
          </a:solidFill>
          <a:ln/>
        </p:spPr>
      </p:sp>
      <p:sp>
        <p:nvSpPr>
          <p:cNvPr id="161" name="Text 159"/>
          <p:cNvSpPr txBox="1"/>
          <p:nvPr/>
        </p:nvSpPr>
        <p:spPr>
          <a:xfrm>
            <a:off x="3931920" y="44531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62" name="Shape 160"/>
          <p:cNvSpPr/>
          <p:nvPr/>
        </p:nvSpPr>
        <p:spPr>
          <a:xfrm>
            <a:off x="4351020" y="4453128"/>
            <a:ext cx="350520" cy="274320"/>
          </a:xfrm>
          <a:prstGeom prst="rect">
            <a:avLst/>
          </a:prstGeom>
          <a:solidFill>
            <a:schemeClr val="tx2"/>
          </a:solidFill>
          <a:ln/>
        </p:spPr>
      </p:sp>
      <p:sp>
        <p:nvSpPr>
          <p:cNvPr id="163" name="Text 161"/>
          <p:cNvSpPr txBox="1"/>
          <p:nvPr/>
        </p:nvSpPr>
        <p:spPr>
          <a:xfrm>
            <a:off x="4328160" y="44531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164" name="Shape 162"/>
          <p:cNvSpPr/>
          <p:nvPr/>
        </p:nvSpPr>
        <p:spPr>
          <a:xfrm>
            <a:off x="4747260" y="4453128"/>
            <a:ext cx="350520" cy="274320"/>
          </a:xfrm>
          <a:prstGeom prst="rect">
            <a:avLst/>
          </a:prstGeom>
          <a:solidFill>
            <a:schemeClr val="accent2"/>
          </a:solidFill>
          <a:ln/>
        </p:spPr>
      </p:sp>
      <p:sp>
        <p:nvSpPr>
          <p:cNvPr id="165" name="Text 163"/>
          <p:cNvSpPr txBox="1"/>
          <p:nvPr/>
        </p:nvSpPr>
        <p:spPr>
          <a:xfrm>
            <a:off x="4724400" y="44531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10</a:t>
            </a:r>
            <a:endParaRPr lang="en-US" sz="1100" dirty="0"/>
          </a:p>
        </p:txBody>
      </p:sp>
      <p:sp>
        <p:nvSpPr>
          <p:cNvPr id="166" name="Shape 164"/>
          <p:cNvSpPr/>
          <p:nvPr/>
        </p:nvSpPr>
        <p:spPr>
          <a:xfrm>
            <a:off x="5143500" y="4453128"/>
            <a:ext cx="350520" cy="274320"/>
          </a:xfrm>
          <a:prstGeom prst="rect">
            <a:avLst/>
          </a:prstGeom>
          <a:solidFill>
            <a:schemeClr val="tx2"/>
          </a:solidFill>
          <a:ln/>
        </p:spPr>
      </p:sp>
      <p:sp>
        <p:nvSpPr>
          <p:cNvPr id="167" name="Text 165"/>
          <p:cNvSpPr txBox="1"/>
          <p:nvPr/>
        </p:nvSpPr>
        <p:spPr>
          <a:xfrm>
            <a:off x="5120640" y="44531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168" name="Shape 166"/>
          <p:cNvSpPr/>
          <p:nvPr/>
        </p:nvSpPr>
        <p:spPr>
          <a:xfrm>
            <a:off x="5539740" y="4453128"/>
            <a:ext cx="350520" cy="274320"/>
          </a:xfrm>
          <a:prstGeom prst="rect">
            <a:avLst/>
          </a:prstGeom>
          <a:solidFill>
            <a:schemeClr val="tx2"/>
          </a:solidFill>
          <a:ln/>
        </p:spPr>
      </p:sp>
      <p:sp>
        <p:nvSpPr>
          <p:cNvPr id="169" name="Text 167"/>
          <p:cNvSpPr txBox="1"/>
          <p:nvPr/>
        </p:nvSpPr>
        <p:spPr>
          <a:xfrm>
            <a:off x="5516880" y="44531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170" name="Shape 168"/>
          <p:cNvSpPr/>
          <p:nvPr/>
        </p:nvSpPr>
        <p:spPr>
          <a:xfrm>
            <a:off x="5935980" y="4453128"/>
            <a:ext cx="350520" cy="274320"/>
          </a:xfrm>
          <a:prstGeom prst="rect">
            <a:avLst/>
          </a:prstGeom>
          <a:solidFill>
            <a:schemeClr val="tx2"/>
          </a:solidFill>
          <a:ln/>
        </p:spPr>
      </p:sp>
      <p:sp>
        <p:nvSpPr>
          <p:cNvPr id="171" name="Text 169"/>
          <p:cNvSpPr txBox="1"/>
          <p:nvPr/>
        </p:nvSpPr>
        <p:spPr>
          <a:xfrm>
            <a:off x="5913120" y="44531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172" name="Shape 170"/>
          <p:cNvSpPr/>
          <p:nvPr/>
        </p:nvSpPr>
        <p:spPr>
          <a:xfrm>
            <a:off x="6332220" y="4453128"/>
            <a:ext cx="350520" cy="274320"/>
          </a:xfrm>
          <a:prstGeom prst="rect">
            <a:avLst/>
          </a:prstGeom>
          <a:solidFill>
            <a:schemeClr val="tx2"/>
          </a:solidFill>
          <a:ln/>
        </p:spPr>
      </p:sp>
      <p:sp>
        <p:nvSpPr>
          <p:cNvPr id="173" name="Text 171"/>
          <p:cNvSpPr txBox="1"/>
          <p:nvPr/>
        </p:nvSpPr>
        <p:spPr>
          <a:xfrm>
            <a:off x="6309360" y="44531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174" name="Shape 172"/>
          <p:cNvSpPr/>
          <p:nvPr/>
        </p:nvSpPr>
        <p:spPr>
          <a:xfrm>
            <a:off x="6728460" y="4453128"/>
            <a:ext cx="350520" cy="274320"/>
          </a:xfrm>
          <a:prstGeom prst="rect">
            <a:avLst/>
          </a:prstGeom>
          <a:solidFill>
            <a:schemeClr val="tx2"/>
          </a:solidFill>
          <a:ln/>
        </p:spPr>
      </p:sp>
      <p:sp>
        <p:nvSpPr>
          <p:cNvPr id="175" name="Text 173"/>
          <p:cNvSpPr txBox="1"/>
          <p:nvPr/>
        </p:nvSpPr>
        <p:spPr>
          <a:xfrm>
            <a:off x="6705600" y="44531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176" name="Shape 174"/>
          <p:cNvSpPr/>
          <p:nvPr/>
        </p:nvSpPr>
        <p:spPr>
          <a:xfrm>
            <a:off x="7124700" y="4453128"/>
            <a:ext cx="350520" cy="274320"/>
          </a:xfrm>
          <a:prstGeom prst="rect">
            <a:avLst/>
          </a:prstGeom>
          <a:solidFill>
            <a:schemeClr val="tx2"/>
          </a:solidFill>
          <a:ln/>
        </p:spPr>
      </p:sp>
      <p:sp>
        <p:nvSpPr>
          <p:cNvPr id="177" name="Text 175"/>
          <p:cNvSpPr txBox="1"/>
          <p:nvPr/>
        </p:nvSpPr>
        <p:spPr>
          <a:xfrm>
            <a:off x="7101840" y="44531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178" name="Shape 176"/>
          <p:cNvSpPr/>
          <p:nvPr/>
        </p:nvSpPr>
        <p:spPr>
          <a:xfrm>
            <a:off x="7520940" y="4453128"/>
            <a:ext cx="350520" cy="274320"/>
          </a:xfrm>
          <a:prstGeom prst="rect">
            <a:avLst/>
          </a:prstGeom>
          <a:solidFill>
            <a:schemeClr val="tx2"/>
          </a:solidFill>
          <a:ln/>
        </p:spPr>
      </p:sp>
      <p:sp>
        <p:nvSpPr>
          <p:cNvPr id="179" name="Text 177"/>
          <p:cNvSpPr txBox="1"/>
          <p:nvPr/>
        </p:nvSpPr>
        <p:spPr>
          <a:xfrm>
            <a:off x="7498080" y="44531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180" name="Shape 178"/>
          <p:cNvSpPr/>
          <p:nvPr/>
        </p:nvSpPr>
        <p:spPr>
          <a:xfrm>
            <a:off x="7917180" y="4453128"/>
            <a:ext cx="350520" cy="274320"/>
          </a:xfrm>
          <a:prstGeom prst="rect">
            <a:avLst/>
          </a:prstGeom>
          <a:solidFill>
            <a:schemeClr val="tx2"/>
          </a:solidFill>
          <a:ln/>
        </p:spPr>
      </p:sp>
      <p:sp>
        <p:nvSpPr>
          <p:cNvPr id="181" name="Text 179"/>
          <p:cNvSpPr txBox="1"/>
          <p:nvPr/>
        </p:nvSpPr>
        <p:spPr>
          <a:xfrm>
            <a:off x="7894320" y="44531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182" name="Shape 180"/>
          <p:cNvSpPr/>
          <p:nvPr/>
        </p:nvSpPr>
        <p:spPr>
          <a:xfrm>
            <a:off x="8313420" y="4453128"/>
            <a:ext cx="350520" cy="274320"/>
          </a:xfrm>
          <a:prstGeom prst="rect">
            <a:avLst/>
          </a:prstGeom>
          <a:solidFill>
            <a:schemeClr val="tx2"/>
          </a:solidFill>
          <a:ln/>
        </p:spPr>
      </p:sp>
      <p:sp>
        <p:nvSpPr>
          <p:cNvPr id="183" name="Text 181"/>
          <p:cNvSpPr txBox="1"/>
          <p:nvPr/>
        </p:nvSpPr>
        <p:spPr>
          <a:xfrm>
            <a:off x="8290560" y="4453128"/>
            <a:ext cx="39624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Tim inti dan koordinasi para pihak dari desa hingga internasional</a:t>
            </a:r>
            <a:endParaRPr lang="en-US" sz="2200" dirty="0"/>
          </a:p>
        </p:txBody>
      </p:sp>
      <p:sp>
        <p:nvSpPr>
          <p:cNvPr id="3" name="Text 1"/>
          <p:cNvSpPr txBox="1"/>
          <p:nvPr/>
        </p:nvSpPr>
        <p:spPr>
          <a:xfrm>
            <a:off x="457200" y="1143000"/>
            <a:ext cx="3657600" cy="274320"/>
          </a:xfrm>
          <a:prstGeom prst="rect">
            <a:avLst/>
          </a:prstGeom>
          <a:noFill/>
          <a:ln/>
        </p:spPr>
        <p:txBody>
          <a:bodyPr wrap="square" lIns="0" tIns="0" rIns="0" bIns="0" rtlCol="0" anchor="t"/>
          <a:lstStyle/>
          <a:p>
            <a:pPr indent="0" marL="0">
              <a:buNone/>
            </a:pPr>
            <a:r>
              <a:rPr lang="en-US" sz="1400" b="1" dirty="0">
                <a:solidFill>
                  <a:schemeClr val="tx2"/>
                </a:solidFill>
              </a:rPr>
              <a:t>Tim inti program</a:t>
            </a:r>
            <a:endParaRPr lang="en-US" sz="1400" dirty="0"/>
          </a:p>
        </p:txBody>
      </p:sp>
      <p:sp>
        <p:nvSpPr>
          <p:cNvPr id="4" name="Shape 2"/>
          <p:cNvSpPr/>
          <p:nvPr/>
        </p:nvSpPr>
        <p:spPr>
          <a:xfrm>
            <a:off x="457200" y="1527048"/>
            <a:ext cx="502920" cy="502920"/>
          </a:xfrm>
          <a:prstGeom prst="ellipse">
            <a:avLst/>
          </a:prstGeom>
          <a:solidFill>
            <a:schemeClr val="accent1"/>
          </a:solidFill>
          <a:ln/>
        </p:spPr>
      </p:sp>
      <p:sp>
        <p:nvSpPr>
          <p:cNvPr id="5" name="Text 3"/>
          <p:cNvSpPr txBox="1"/>
          <p:nvPr/>
        </p:nvSpPr>
        <p:spPr>
          <a:xfrm>
            <a:off x="457200" y="1527048"/>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RA</a:t>
            </a:r>
            <a:endParaRPr lang="en-US" sz="1400" dirty="0"/>
          </a:p>
        </p:txBody>
      </p:sp>
      <p:sp>
        <p:nvSpPr>
          <p:cNvPr id="6" name="Text 4"/>
          <p:cNvSpPr txBox="1"/>
          <p:nvPr/>
        </p:nvSpPr>
        <p:spPr>
          <a:xfrm>
            <a:off x="1097280" y="1481328"/>
            <a:ext cx="3108960" cy="822960"/>
          </a:xfrm>
          <a:prstGeom prst="rect">
            <a:avLst/>
          </a:prstGeom>
          <a:noFill/>
          <a:ln/>
        </p:spPr>
        <p:txBody>
          <a:bodyPr wrap="square" lIns="0" tIns="0" rIns="0" bIns="0" rtlCol="0" anchor="t"/>
          <a:lstStyle/>
          <a:p>
            <a:pPr indent="0" marL="0">
              <a:buNone/>
            </a:pPr>
            <a:r>
              <a:rPr lang="en-US" sz="1300" b="1" dirty="0">
                <a:solidFill>
                  <a:schemeClr val="tx1"/>
                </a:solidFill>
              </a:rPr>
              <a:t>Revolia Az-Zahra</a:t>
            </a:r>
            <a:pPr indent="0" marL="0">
              <a:buNone/>
            </a:pPr>
            <a:r>
              <a:rPr lang="en-US" sz="1300" b="1" dirty="0">
                <a:solidFill>
                  <a:schemeClr val="accent1"/>
                </a:solidFill>
              </a:rPr>
              <a:t>  ·  Program Manager</a:t>
            </a:r>
            <a:endParaRPr lang="en-US" sz="1300" dirty="0"/>
          </a:p>
          <a:p>
            <a:pPr indent="0" marL="0">
              <a:buNone/>
            </a:pPr>
            <a:r>
              <a:rPr lang="en-US" sz="1200" dirty="0">
                <a:solidFill>
                  <a:schemeClr val="tx1"/>
                </a:solidFill>
              </a:rPr>
              <a:t>Memimpin perencanaan, pelaksanaan, dan pengendalian; komunikasi dengan mitra dan pemerintah</a:t>
            </a:r>
            <a:endParaRPr lang="en-US" sz="1300" dirty="0"/>
          </a:p>
        </p:txBody>
      </p:sp>
      <p:sp>
        <p:nvSpPr>
          <p:cNvPr id="7" name="Shape 5"/>
          <p:cNvSpPr/>
          <p:nvPr/>
        </p:nvSpPr>
        <p:spPr>
          <a:xfrm>
            <a:off x="457200" y="2395728"/>
            <a:ext cx="502920" cy="502920"/>
          </a:xfrm>
          <a:prstGeom prst="ellipse">
            <a:avLst/>
          </a:prstGeom>
          <a:solidFill>
            <a:schemeClr val="accent1"/>
          </a:solidFill>
          <a:ln/>
        </p:spPr>
      </p:sp>
      <p:sp>
        <p:nvSpPr>
          <p:cNvPr id="8" name="Text 6"/>
          <p:cNvSpPr txBox="1"/>
          <p:nvPr/>
        </p:nvSpPr>
        <p:spPr>
          <a:xfrm>
            <a:off x="457200" y="2395728"/>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DK</a:t>
            </a:r>
            <a:endParaRPr lang="en-US" sz="1400" dirty="0"/>
          </a:p>
        </p:txBody>
      </p:sp>
      <p:sp>
        <p:nvSpPr>
          <p:cNvPr id="9" name="Text 7"/>
          <p:cNvSpPr txBox="1"/>
          <p:nvPr/>
        </p:nvSpPr>
        <p:spPr>
          <a:xfrm>
            <a:off x="1097280" y="2350008"/>
            <a:ext cx="3108960" cy="822960"/>
          </a:xfrm>
          <a:prstGeom prst="rect">
            <a:avLst/>
          </a:prstGeom>
          <a:noFill/>
          <a:ln/>
        </p:spPr>
        <p:txBody>
          <a:bodyPr wrap="square" lIns="0" tIns="0" rIns="0" bIns="0" rtlCol="0" anchor="t"/>
          <a:lstStyle/>
          <a:p>
            <a:pPr indent="0" marL="0">
              <a:buNone/>
            </a:pPr>
            <a:r>
              <a:rPr lang="en-US" sz="1300" b="1" dirty="0">
                <a:solidFill>
                  <a:schemeClr val="tx1"/>
                </a:solidFill>
              </a:rPr>
              <a:t>Damar Keina Lebaying</a:t>
            </a:r>
            <a:pPr indent="0" marL="0">
              <a:buNone/>
            </a:pPr>
            <a:r>
              <a:rPr lang="en-US" sz="1300" b="1" dirty="0">
                <a:solidFill>
                  <a:schemeClr val="accent1"/>
                </a:solidFill>
              </a:rPr>
              <a:t>  ·  Program Officer</a:t>
            </a:r>
            <a:endParaRPr lang="en-US" sz="1300" dirty="0"/>
          </a:p>
          <a:p>
            <a:pPr indent="0" marL="0">
              <a:buNone/>
            </a:pPr>
            <a:r>
              <a:rPr lang="en-US" sz="1200" dirty="0">
                <a:solidFill>
                  <a:schemeClr val="tx1"/>
                </a:solidFill>
              </a:rPr>
              <a:t>Koordinasi lapangan harian, pemantauan kemajuan, data dan laporan</a:t>
            </a:r>
            <a:endParaRPr lang="en-US" sz="1300" dirty="0"/>
          </a:p>
        </p:txBody>
      </p:sp>
      <p:sp>
        <p:nvSpPr>
          <p:cNvPr id="10" name="Shape 8"/>
          <p:cNvSpPr/>
          <p:nvPr/>
        </p:nvSpPr>
        <p:spPr>
          <a:xfrm>
            <a:off x="457200" y="3264408"/>
            <a:ext cx="502920" cy="502920"/>
          </a:xfrm>
          <a:prstGeom prst="ellipse">
            <a:avLst/>
          </a:prstGeom>
          <a:solidFill>
            <a:schemeClr val="accent1"/>
          </a:solidFill>
          <a:ln/>
        </p:spPr>
      </p:sp>
      <p:sp>
        <p:nvSpPr>
          <p:cNvPr id="11" name="Text 9"/>
          <p:cNvSpPr txBox="1"/>
          <p:nvPr/>
        </p:nvSpPr>
        <p:spPr>
          <a:xfrm>
            <a:off x="457200" y="3264408"/>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AD</a:t>
            </a:r>
            <a:endParaRPr lang="en-US" sz="1400" dirty="0"/>
          </a:p>
        </p:txBody>
      </p:sp>
      <p:sp>
        <p:nvSpPr>
          <p:cNvPr id="12" name="Text 10"/>
          <p:cNvSpPr txBox="1"/>
          <p:nvPr/>
        </p:nvSpPr>
        <p:spPr>
          <a:xfrm>
            <a:off x="1097280" y="3218688"/>
            <a:ext cx="3108960" cy="822960"/>
          </a:xfrm>
          <a:prstGeom prst="rect">
            <a:avLst/>
          </a:prstGeom>
          <a:noFill/>
          <a:ln/>
        </p:spPr>
        <p:txBody>
          <a:bodyPr wrap="square" lIns="0" tIns="0" rIns="0" bIns="0" rtlCol="0" anchor="t"/>
          <a:lstStyle/>
          <a:p>
            <a:pPr indent="0" marL="0">
              <a:buNone/>
            </a:pPr>
            <a:r>
              <a:rPr lang="en-US" sz="1300" b="1" dirty="0">
                <a:solidFill>
                  <a:schemeClr val="tx1"/>
                </a:solidFill>
              </a:rPr>
              <a:t>Ariesti Dwi Damayanti</a:t>
            </a:r>
            <a:pPr indent="0" marL="0">
              <a:buNone/>
            </a:pPr>
            <a:r>
              <a:rPr lang="en-US" sz="1300" b="1" dirty="0">
                <a:solidFill>
                  <a:schemeClr val="accent1"/>
                </a:solidFill>
              </a:rPr>
              <a:t>  ·  Finance Officer</a:t>
            </a:r>
            <a:endParaRPr lang="en-US" sz="1300" dirty="0"/>
          </a:p>
          <a:p>
            <a:pPr indent="0" marL="0">
              <a:buNone/>
            </a:pPr>
            <a:r>
              <a:rPr lang="en-US" sz="1200" dirty="0">
                <a:solidFill>
                  <a:schemeClr val="tx1"/>
                </a:solidFill>
              </a:rPr>
              <a:t>Administrasi dan pelaporan keuangan sesuai ketentuan donor</a:t>
            </a:r>
            <a:endParaRPr lang="en-US" sz="1300" dirty="0"/>
          </a:p>
        </p:txBody>
      </p:sp>
      <p:sp>
        <p:nvSpPr>
          <p:cNvPr id="13" name="Text 11"/>
          <p:cNvSpPr txBox="1"/>
          <p:nvPr/>
        </p:nvSpPr>
        <p:spPr>
          <a:xfrm>
            <a:off x="457200" y="4160520"/>
            <a:ext cx="3840480" cy="457200"/>
          </a:xfrm>
          <a:prstGeom prst="rect">
            <a:avLst/>
          </a:prstGeom>
          <a:noFill/>
          <a:ln/>
        </p:spPr>
        <p:txBody>
          <a:bodyPr wrap="square" lIns="0" tIns="0" rIns="0" bIns="0" rtlCol="0" anchor="t"/>
          <a:lstStyle/>
          <a:p>
            <a:pPr indent="0" marL="0">
              <a:buNone/>
            </a:pPr>
            <a:r>
              <a:rPr lang="en-US" sz="1200" b="1" dirty="0">
                <a:solidFill>
                  <a:schemeClr val="accent5"/>
                </a:solidFill>
              </a:rPr>
              <a:t>Jejaring CSO: </a:t>
            </a:r>
            <a:pPr indent="0" marL="0">
              <a:buNone/>
            </a:pPr>
            <a:r>
              <a:rPr lang="en-US" sz="1200" dirty="0">
                <a:solidFill>
                  <a:schemeClr val="accent5"/>
                </a:solidFill>
              </a:rPr>
              <a:t>Pondasi Rumah Hijau, PAKIS, LinkAr Borneo</a:t>
            </a:r>
            <a:endParaRPr lang="en-US" sz="1200" dirty="0"/>
          </a:p>
        </p:txBody>
      </p:sp>
      <p:sp>
        <p:nvSpPr>
          <p:cNvPr id="14" name="Level Internasional"/>
          <p:cNvSpPr/>
          <p:nvPr/>
        </p:nvSpPr>
        <p:spPr>
          <a:xfrm>
            <a:off x="5010912" y="1143000"/>
            <a:ext cx="3675888" cy="576072"/>
          </a:xfrm>
          <a:prstGeom prst="rect">
            <a:avLst/>
          </a:prstGeom>
          <a:solidFill>
            <a:schemeClr val="bg2"/>
          </a:solidFill>
          <a:ln/>
        </p:spPr>
      </p:sp>
      <p:sp>
        <p:nvSpPr>
          <p:cNvPr id="15" name="Text 13"/>
          <p:cNvSpPr txBox="1"/>
          <p:nvPr/>
        </p:nvSpPr>
        <p:spPr>
          <a:xfrm>
            <a:off x="5148072" y="1179576"/>
            <a:ext cx="3447288" cy="512064"/>
          </a:xfrm>
          <a:prstGeom prst="rect">
            <a:avLst/>
          </a:prstGeom>
          <a:noFill/>
          <a:ln/>
        </p:spPr>
        <p:txBody>
          <a:bodyPr wrap="square" lIns="0" tIns="0" rIns="0" bIns="0" rtlCol="0" anchor="ctr"/>
          <a:lstStyle/>
          <a:p>
            <a:pPr indent="0" marL="0">
              <a:buNone/>
            </a:pPr>
            <a:r>
              <a:rPr lang="en-US" sz="1300" b="1" dirty="0">
                <a:solidFill>
                  <a:schemeClr val="tx2"/>
                </a:solidFill>
              </a:rPr>
              <a:t>Internasional</a:t>
            </a:r>
            <a:endParaRPr lang="en-US" sz="1300" dirty="0"/>
          </a:p>
          <a:p>
            <a:pPr indent="0" marL="0">
              <a:buNone/>
            </a:pPr>
            <a:r>
              <a:rPr lang="en-US" sz="1100" dirty="0">
                <a:solidFill>
                  <a:schemeClr val="tx1"/>
                </a:solidFill>
              </a:rPr>
              <a:t>Plan Vivo: registri untuk akses pasar internasional</a:t>
            </a:r>
            <a:endParaRPr lang="en-US" sz="1300" dirty="0"/>
          </a:p>
        </p:txBody>
      </p:sp>
      <p:sp>
        <p:nvSpPr>
          <p:cNvPr id="16" name="Level Nasional"/>
          <p:cNvSpPr/>
          <p:nvPr/>
        </p:nvSpPr>
        <p:spPr>
          <a:xfrm>
            <a:off x="4901184" y="1810512"/>
            <a:ext cx="3785616" cy="576072"/>
          </a:xfrm>
          <a:prstGeom prst="rect">
            <a:avLst/>
          </a:prstGeom>
          <a:solidFill>
            <a:schemeClr val="bg2"/>
          </a:solidFill>
          <a:ln/>
        </p:spPr>
      </p:sp>
      <p:sp>
        <p:nvSpPr>
          <p:cNvPr id="17" name="Text 15"/>
          <p:cNvSpPr txBox="1"/>
          <p:nvPr/>
        </p:nvSpPr>
        <p:spPr>
          <a:xfrm>
            <a:off x="5038344" y="1847088"/>
            <a:ext cx="3557016" cy="512064"/>
          </a:xfrm>
          <a:prstGeom prst="rect">
            <a:avLst/>
          </a:prstGeom>
          <a:noFill/>
          <a:ln/>
        </p:spPr>
        <p:txBody>
          <a:bodyPr wrap="square" lIns="0" tIns="0" rIns="0" bIns="0" rtlCol="0" anchor="ctr"/>
          <a:lstStyle/>
          <a:p>
            <a:pPr indent="0" marL="0">
              <a:buNone/>
            </a:pPr>
            <a:r>
              <a:rPr lang="en-US" sz="1300" b="1" dirty="0">
                <a:solidFill>
                  <a:schemeClr val="tx2"/>
                </a:solidFill>
              </a:rPr>
              <a:t>Nasional</a:t>
            </a:r>
            <a:endParaRPr lang="en-US" sz="1300" dirty="0"/>
          </a:p>
          <a:p>
            <a:pPr indent="0" marL="0">
              <a:buNone/>
            </a:pPr>
            <a:r>
              <a:rPr lang="en-US" sz="1100" dirty="0">
                <a:solidFill>
                  <a:schemeClr val="tx1"/>
                </a:solidFill>
              </a:rPr>
              <a:t>Kemenhut (persetujuan perdagangan karbon), KLH (SRUK)</a:t>
            </a:r>
            <a:endParaRPr lang="en-US" sz="1300" dirty="0"/>
          </a:p>
        </p:txBody>
      </p:sp>
      <p:sp>
        <p:nvSpPr>
          <p:cNvPr id="18" name="Level Provinsi"/>
          <p:cNvSpPr/>
          <p:nvPr/>
        </p:nvSpPr>
        <p:spPr>
          <a:xfrm>
            <a:off x="4791456" y="2478024"/>
            <a:ext cx="3895344" cy="576072"/>
          </a:xfrm>
          <a:prstGeom prst="rect">
            <a:avLst/>
          </a:prstGeom>
          <a:solidFill>
            <a:schemeClr val="bg2"/>
          </a:solidFill>
          <a:ln/>
        </p:spPr>
      </p:sp>
      <p:sp>
        <p:nvSpPr>
          <p:cNvPr id="19" name="Text 17"/>
          <p:cNvSpPr txBox="1"/>
          <p:nvPr/>
        </p:nvSpPr>
        <p:spPr>
          <a:xfrm>
            <a:off x="4928616" y="2514600"/>
            <a:ext cx="3666744" cy="512064"/>
          </a:xfrm>
          <a:prstGeom prst="rect">
            <a:avLst/>
          </a:prstGeom>
          <a:noFill/>
          <a:ln/>
        </p:spPr>
        <p:txBody>
          <a:bodyPr wrap="square" lIns="0" tIns="0" rIns="0" bIns="0" rtlCol="0" anchor="ctr"/>
          <a:lstStyle/>
          <a:p>
            <a:pPr indent="0" marL="0">
              <a:buNone/>
            </a:pPr>
            <a:r>
              <a:rPr lang="en-US" sz="1300" b="1" dirty="0">
                <a:solidFill>
                  <a:schemeClr val="tx2"/>
                </a:solidFill>
              </a:rPr>
              <a:t>Provinsi</a:t>
            </a:r>
            <a:endParaRPr lang="en-US" sz="1300" dirty="0"/>
          </a:p>
          <a:p>
            <a:pPr indent="0" marL="0">
              <a:buNone/>
            </a:pPr>
            <a:r>
              <a:rPr lang="en-US" sz="1100" dirty="0">
                <a:solidFill>
                  <a:schemeClr val="tx1"/>
                </a:solidFill>
              </a:rPr>
              <a:t>DLHK Kalbar dan KPH: RKPS, RKT, pembinaan KPS/KUPS</a:t>
            </a:r>
            <a:endParaRPr lang="en-US" sz="1300" dirty="0"/>
          </a:p>
        </p:txBody>
      </p:sp>
      <p:sp>
        <p:nvSpPr>
          <p:cNvPr id="20" name="Level Kabupaten"/>
          <p:cNvSpPr/>
          <p:nvPr/>
        </p:nvSpPr>
        <p:spPr>
          <a:xfrm>
            <a:off x="4681728" y="3145536"/>
            <a:ext cx="4005072" cy="576072"/>
          </a:xfrm>
          <a:prstGeom prst="rect">
            <a:avLst/>
          </a:prstGeom>
          <a:solidFill>
            <a:schemeClr val="bg2"/>
          </a:solidFill>
          <a:ln/>
        </p:spPr>
      </p:sp>
      <p:sp>
        <p:nvSpPr>
          <p:cNvPr id="21" name="Text 19"/>
          <p:cNvSpPr txBox="1"/>
          <p:nvPr/>
        </p:nvSpPr>
        <p:spPr>
          <a:xfrm>
            <a:off x="4818888" y="3182112"/>
            <a:ext cx="3776472" cy="512064"/>
          </a:xfrm>
          <a:prstGeom prst="rect">
            <a:avLst/>
          </a:prstGeom>
          <a:noFill/>
          <a:ln/>
        </p:spPr>
        <p:txBody>
          <a:bodyPr wrap="square" lIns="0" tIns="0" rIns="0" bIns="0" rtlCol="0" anchor="ctr"/>
          <a:lstStyle/>
          <a:p>
            <a:pPr indent="0" marL="0">
              <a:buNone/>
            </a:pPr>
            <a:r>
              <a:rPr lang="en-US" sz="1300" b="1" dirty="0">
                <a:solidFill>
                  <a:schemeClr val="tx2"/>
                </a:solidFill>
              </a:rPr>
              <a:t>Kabupaten</a:t>
            </a:r>
            <a:endParaRPr lang="en-US" sz="1300" dirty="0"/>
          </a:p>
          <a:p>
            <a:pPr indent="0" marL="0">
              <a:buNone/>
            </a:pPr>
            <a:r>
              <a:rPr lang="en-US" sz="1100" dirty="0">
                <a:solidFill>
                  <a:schemeClr val="tx1"/>
                </a:solidFill>
              </a:rPr>
              <a:t>Dinas terkait Mempawah: bimtek dan dukungan usaha</a:t>
            </a:r>
            <a:endParaRPr lang="en-US" sz="1300" dirty="0"/>
          </a:p>
        </p:txBody>
      </p:sp>
      <p:sp>
        <p:nvSpPr>
          <p:cNvPr id="22" name="Level Desa"/>
          <p:cNvSpPr/>
          <p:nvPr/>
        </p:nvSpPr>
        <p:spPr>
          <a:xfrm>
            <a:off x="4572000" y="3813048"/>
            <a:ext cx="4114800" cy="576072"/>
          </a:xfrm>
          <a:prstGeom prst="rect">
            <a:avLst/>
          </a:prstGeom>
          <a:solidFill>
            <a:schemeClr val="accent1"/>
          </a:solidFill>
          <a:ln/>
        </p:spPr>
      </p:sp>
      <p:sp>
        <p:nvSpPr>
          <p:cNvPr id="23" name="Text 21"/>
          <p:cNvSpPr txBox="1"/>
          <p:nvPr/>
        </p:nvSpPr>
        <p:spPr>
          <a:xfrm>
            <a:off x="4709160" y="3849624"/>
            <a:ext cx="3886200" cy="512064"/>
          </a:xfrm>
          <a:prstGeom prst="rect">
            <a:avLst/>
          </a:prstGeom>
          <a:noFill/>
          <a:ln/>
        </p:spPr>
        <p:txBody>
          <a:bodyPr wrap="square" lIns="0" tIns="0" rIns="0" bIns="0" rtlCol="0" anchor="ctr"/>
          <a:lstStyle/>
          <a:p>
            <a:pPr indent="0" marL="0">
              <a:buNone/>
            </a:pPr>
            <a:r>
              <a:rPr lang="en-US" sz="1300" b="1" dirty="0">
                <a:solidFill>
                  <a:schemeClr val="bg1"/>
                </a:solidFill>
              </a:rPr>
              <a:t>Desa</a:t>
            </a:r>
            <a:endParaRPr lang="en-US" sz="1300" dirty="0"/>
          </a:p>
          <a:p>
            <a:pPr indent="0" marL="0">
              <a:buNone/>
            </a:pPr>
            <a:r>
              <a:rPr lang="en-US" sz="1100" dirty="0">
                <a:solidFill>
                  <a:schemeClr val="bg1"/>
                </a:solidFill>
              </a:rPr>
              <a:t>LPHD Pasir dan Pemerintah Desa Pasir: pelaku utama</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Tiga risiko utama sudah dipetakan bersama mitigasinya</a:t>
            </a:r>
            <a:endParaRPr lang="en-US" sz="2200" dirty="0"/>
          </a:p>
        </p:txBody>
      </p:sp>
      <p:sp>
        <p:nvSpPr>
          <p:cNvPr id="3" name="Text 1"/>
          <p:cNvSpPr txBox="1"/>
          <p:nvPr/>
        </p:nvSpPr>
        <p:spPr>
          <a:xfrm>
            <a:off x="1051560" y="1097280"/>
            <a:ext cx="2286000" cy="228600"/>
          </a:xfrm>
          <a:prstGeom prst="rect">
            <a:avLst/>
          </a:prstGeom>
          <a:noFill/>
          <a:ln/>
        </p:spPr>
        <p:txBody>
          <a:bodyPr wrap="square" lIns="0" tIns="0" rIns="0" bIns="0" rtlCol="0" anchor="t"/>
          <a:lstStyle/>
          <a:p>
            <a:pPr indent="0" marL="0">
              <a:buNone/>
            </a:pPr>
            <a:r>
              <a:rPr lang="en-US" sz="1000" b="1" spc="100" kern="0" dirty="0">
                <a:solidFill>
                  <a:schemeClr val="accent5"/>
                </a:solidFill>
              </a:rPr>
              <a:t>RISIKO</a:t>
            </a:r>
            <a:endParaRPr lang="en-US" sz="1000" dirty="0"/>
          </a:p>
        </p:txBody>
      </p:sp>
      <p:sp>
        <p:nvSpPr>
          <p:cNvPr id="4" name="Text 2"/>
          <p:cNvSpPr txBox="1"/>
          <p:nvPr/>
        </p:nvSpPr>
        <p:spPr>
          <a:xfrm>
            <a:off x="3291840" y="1097280"/>
            <a:ext cx="2286000" cy="228600"/>
          </a:xfrm>
          <a:prstGeom prst="rect">
            <a:avLst/>
          </a:prstGeom>
          <a:noFill/>
          <a:ln/>
        </p:spPr>
        <p:txBody>
          <a:bodyPr wrap="square" lIns="0" tIns="0" rIns="0" bIns="0" rtlCol="0" anchor="t"/>
          <a:lstStyle/>
          <a:p>
            <a:pPr indent="0" marL="0">
              <a:buNone/>
            </a:pPr>
            <a:r>
              <a:rPr lang="en-US" sz="1000" b="1" spc="100" kern="0" dirty="0">
                <a:solidFill>
                  <a:schemeClr val="accent5"/>
                </a:solidFill>
              </a:rPr>
              <a:t>MITIGASI</a:t>
            </a:r>
            <a:endParaRPr lang="en-US" sz="1000" dirty="0"/>
          </a:p>
        </p:txBody>
      </p:sp>
      <p:sp>
        <p:nvSpPr>
          <p:cNvPr id="5" name="Risiko 1 lingkaran"/>
          <p:cNvSpPr/>
          <p:nvPr/>
        </p:nvSpPr>
        <p:spPr>
          <a:xfrm>
            <a:off x="457200" y="1481328"/>
            <a:ext cx="457200" cy="457200"/>
          </a:xfrm>
          <a:prstGeom prst="ellipse">
            <a:avLst/>
          </a:prstGeom>
          <a:solidFill>
            <a:schemeClr val="accent2"/>
          </a:solidFill>
          <a:ln/>
        </p:spPr>
      </p:sp>
      <p:pic>
        <p:nvPicPr>
          <p:cNvPr id="6" name="Risiko 1 ikon" descr="preencoded.png">    </p:cNvPr>
          <p:cNvPicPr>
            <a:picLocks noChangeAspect="1"/>
          </p:cNvPicPr>
          <p:nvPr/>
        </p:nvPicPr>
        <p:blipFill>
          <a:blip r:embed="rId1"/>
          <a:stretch>
            <a:fillRect/>
          </a:stretch>
        </p:blipFill>
        <p:spPr>
          <a:xfrm>
            <a:off x="576072" y="1600200"/>
            <a:ext cx="219456" cy="219456"/>
          </a:xfrm>
          <a:prstGeom prst="rect">
            <a:avLst/>
          </a:prstGeom>
        </p:spPr>
      </p:pic>
      <p:sp>
        <p:nvSpPr>
          <p:cNvPr id="7" name="Text 4"/>
          <p:cNvSpPr txBox="1"/>
          <p:nvPr/>
        </p:nvSpPr>
        <p:spPr>
          <a:xfrm>
            <a:off x="1051560" y="1371600"/>
            <a:ext cx="2103120" cy="914400"/>
          </a:xfrm>
          <a:prstGeom prst="rect">
            <a:avLst/>
          </a:prstGeom>
          <a:noFill/>
          <a:ln/>
        </p:spPr>
        <p:txBody>
          <a:bodyPr wrap="square" lIns="0" tIns="0" rIns="0" bIns="0" rtlCol="0" anchor="ctr"/>
          <a:lstStyle/>
          <a:p>
            <a:pPr indent="0" marL="0">
              <a:buNone/>
            </a:pPr>
            <a:r>
              <a:rPr lang="en-US" sz="1400" b="1" dirty="0">
                <a:solidFill>
                  <a:schemeClr val="tx2"/>
                </a:solidFill>
              </a:rPr>
              <a:t>Illegal logging dan konversi lahan</a:t>
            </a:r>
            <a:endParaRPr lang="en-US" sz="1400" dirty="0"/>
          </a:p>
        </p:txBody>
      </p:sp>
      <p:sp>
        <p:nvSpPr>
          <p:cNvPr id="8" name="Text 5"/>
          <p:cNvSpPr txBox="1"/>
          <p:nvPr/>
        </p:nvSpPr>
        <p:spPr>
          <a:xfrm>
            <a:off x="3291840" y="1371600"/>
            <a:ext cx="2331720" cy="914400"/>
          </a:xfrm>
          <a:prstGeom prst="rect">
            <a:avLst/>
          </a:prstGeom>
          <a:noFill/>
          <a:ln/>
        </p:spPr>
        <p:txBody>
          <a:bodyPr wrap="square" lIns="0" tIns="0" rIns="0" bIns="0" rtlCol="0" anchor="ctr"/>
          <a:lstStyle/>
          <a:p>
            <a:pPr indent="0" marL="0">
              <a:buNone/>
            </a:pPr>
            <a:r>
              <a:rPr lang="en-US" sz="1200" dirty="0">
                <a:solidFill>
                  <a:schemeClr val="tx1"/>
                </a:solidFill>
              </a:rPr>
              <a:t>Patroli partisipatif, penginderaan jauh, peringatan dini, KUPS sebagai mata pencaharian alternatif</a:t>
            </a:r>
            <a:endParaRPr lang="en-US" sz="1200" dirty="0"/>
          </a:p>
        </p:txBody>
      </p:sp>
      <p:sp>
        <p:nvSpPr>
          <p:cNvPr id="9" name="Shape 6"/>
          <p:cNvSpPr/>
          <p:nvPr/>
        </p:nvSpPr>
        <p:spPr>
          <a:xfrm>
            <a:off x="457200" y="2340864"/>
            <a:ext cx="5166360" cy="0"/>
          </a:xfrm>
          <a:prstGeom prst="line">
            <a:avLst/>
          </a:prstGeom>
          <a:noFill/>
          <a:ln w="9525">
            <a:solidFill>
              <a:srgbClr val="D5DDD8"/>
            </a:solidFill>
            <a:prstDash val="solid"/>
          </a:ln>
        </p:spPr>
      </p:sp>
      <p:sp>
        <p:nvSpPr>
          <p:cNvPr id="10" name="Risiko 2 lingkaran"/>
          <p:cNvSpPr/>
          <p:nvPr/>
        </p:nvSpPr>
        <p:spPr>
          <a:xfrm>
            <a:off x="457200" y="2505456"/>
            <a:ext cx="457200" cy="457200"/>
          </a:xfrm>
          <a:prstGeom prst="ellipse">
            <a:avLst/>
          </a:prstGeom>
          <a:solidFill>
            <a:schemeClr val="accent2"/>
          </a:solidFill>
          <a:ln/>
        </p:spPr>
      </p:sp>
      <p:pic>
        <p:nvPicPr>
          <p:cNvPr id="11" name="Risiko 2 ikon" descr="preencoded.png">    </p:cNvPr>
          <p:cNvPicPr>
            <a:picLocks noChangeAspect="1"/>
          </p:cNvPicPr>
          <p:nvPr/>
        </p:nvPicPr>
        <p:blipFill>
          <a:blip r:embed="rId2"/>
          <a:stretch>
            <a:fillRect/>
          </a:stretch>
        </p:blipFill>
        <p:spPr>
          <a:xfrm>
            <a:off x="576072" y="2624328"/>
            <a:ext cx="219456" cy="219456"/>
          </a:xfrm>
          <a:prstGeom prst="rect">
            <a:avLst/>
          </a:prstGeom>
        </p:spPr>
      </p:pic>
      <p:sp>
        <p:nvSpPr>
          <p:cNvPr id="12" name="Text 8"/>
          <p:cNvSpPr txBox="1"/>
          <p:nvPr/>
        </p:nvSpPr>
        <p:spPr>
          <a:xfrm>
            <a:off x="1051560" y="2395728"/>
            <a:ext cx="2103120" cy="914400"/>
          </a:xfrm>
          <a:prstGeom prst="rect">
            <a:avLst/>
          </a:prstGeom>
          <a:noFill/>
          <a:ln/>
        </p:spPr>
        <p:txBody>
          <a:bodyPr wrap="square" lIns="0" tIns="0" rIns="0" bIns="0" rtlCol="0" anchor="ctr"/>
          <a:lstStyle/>
          <a:p>
            <a:pPr indent="0" marL="0">
              <a:buNone/>
            </a:pPr>
            <a:r>
              <a:rPr lang="en-US" sz="1400" b="1" dirty="0">
                <a:solidFill>
                  <a:schemeClr val="tx2"/>
                </a:solidFill>
              </a:rPr>
              <a:t>Kapasitas kelembagaan desa terbatas</a:t>
            </a:r>
            <a:endParaRPr lang="en-US" sz="1400" dirty="0"/>
          </a:p>
        </p:txBody>
      </p:sp>
      <p:sp>
        <p:nvSpPr>
          <p:cNvPr id="13" name="Text 9"/>
          <p:cNvSpPr txBox="1"/>
          <p:nvPr/>
        </p:nvSpPr>
        <p:spPr>
          <a:xfrm>
            <a:off x="3291840" y="2395728"/>
            <a:ext cx="2331720" cy="914400"/>
          </a:xfrm>
          <a:prstGeom prst="rect">
            <a:avLst/>
          </a:prstGeom>
          <a:noFill/>
          <a:ln/>
        </p:spPr>
        <p:txBody>
          <a:bodyPr wrap="square" lIns="0" tIns="0" rIns="0" bIns="0" rtlCol="0" anchor="ctr"/>
          <a:lstStyle/>
          <a:p>
            <a:pPr indent="0" marL="0">
              <a:buNone/>
            </a:pPr>
            <a:r>
              <a:rPr lang="en-US" sz="1200" dirty="0">
                <a:solidFill>
                  <a:schemeClr val="tx1"/>
                </a:solidFill>
              </a:rPr>
              <a:t>Pelatihan tata kelola LPHD dan sistem regulasi kelembagaan yang terstruktur</a:t>
            </a:r>
            <a:endParaRPr lang="en-US" sz="1200" dirty="0"/>
          </a:p>
        </p:txBody>
      </p:sp>
      <p:sp>
        <p:nvSpPr>
          <p:cNvPr id="14" name="Shape 10"/>
          <p:cNvSpPr/>
          <p:nvPr/>
        </p:nvSpPr>
        <p:spPr>
          <a:xfrm>
            <a:off x="457200" y="3364992"/>
            <a:ext cx="5166360" cy="0"/>
          </a:xfrm>
          <a:prstGeom prst="line">
            <a:avLst/>
          </a:prstGeom>
          <a:noFill/>
          <a:ln w="9525">
            <a:solidFill>
              <a:srgbClr val="D5DDD8"/>
            </a:solidFill>
            <a:prstDash val="solid"/>
          </a:ln>
        </p:spPr>
      </p:sp>
      <p:sp>
        <p:nvSpPr>
          <p:cNvPr id="15" name="Risiko 3 lingkaran"/>
          <p:cNvSpPr/>
          <p:nvPr/>
        </p:nvSpPr>
        <p:spPr>
          <a:xfrm>
            <a:off x="457200" y="3529584"/>
            <a:ext cx="457200" cy="457200"/>
          </a:xfrm>
          <a:prstGeom prst="ellipse">
            <a:avLst/>
          </a:prstGeom>
          <a:solidFill>
            <a:schemeClr val="accent2"/>
          </a:solidFill>
          <a:ln/>
        </p:spPr>
      </p:sp>
      <p:pic>
        <p:nvPicPr>
          <p:cNvPr id="16" name="Risiko 3 ikon" descr="preencoded.png">    </p:cNvPr>
          <p:cNvPicPr>
            <a:picLocks noChangeAspect="1"/>
          </p:cNvPicPr>
          <p:nvPr/>
        </p:nvPicPr>
        <p:blipFill>
          <a:blip r:embed="rId3"/>
          <a:stretch>
            <a:fillRect/>
          </a:stretch>
        </p:blipFill>
        <p:spPr>
          <a:xfrm>
            <a:off x="576072" y="3648456"/>
            <a:ext cx="219456" cy="219456"/>
          </a:xfrm>
          <a:prstGeom prst="rect">
            <a:avLst/>
          </a:prstGeom>
        </p:spPr>
      </p:pic>
      <p:sp>
        <p:nvSpPr>
          <p:cNvPr id="17" name="Text 12"/>
          <p:cNvSpPr txBox="1"/>
          <p:nvPr/>
        </p:nvSpPr>
        <p:spPr>
          <a:xfrm>
            <a:off x="1051560" y="3419856"/>
            <a:ext cx="2103120" cy="914400"/>
          </a:xfrm>
          <a:prstGeom prst="rect">
            <a:avLst/>
          </a:prstGeom>
          <a:noFill/>
          <a:ln/>
        </p:spPr>
        <p:txBody>
          <a:bodyPr wrap="square" lIns="0" tIns="0" rIns="0" bIns="0" rtlCol="0" anchor="ctr"/>
          <a:lstStyle/>
          <a:p>
            <a:pPr indent="0" marL="0">
              <a:buNone/>
            </a:pPr>
            <a:r>
              <a:rPr lang="en-US" sz="1400" b="1" dirty="0">
                <a:solidFill>
                  <a:schemeClr val="tx2"/>
                </a:solidFill>
              </a:rPr>
              <a:t>Keterlibatan perempuan dan kelompok rentan minim</a:t>
            </a:r>
            <a:endParaRPr lang="en-US" sz="1400" dirty="0"/>
          </a:p>
        </p:txBody>
      </p:sp>
      <p:sp>
        <p:nvSpPr>
          <p:cNvPr id="18" name="Text 13"/>
          <p:cNvSpPr txBox="1"/>
          <p:nvPr/>
        </p:nvSpPr>
        <p:spPr>
          <a:xfrm>
            <a:off x="3291840" y="3419856"/>
            <a:ext cx="2331720" cy="914400"/>
          </a:xfrm>
          <a:prstGeom prst="rect">
            <a:avLst/>
          </a:prstGeom>
          <a:noFill/>
          <a:ln/>
        </p:spPr>
        <p:txBody>
          <a:bodyPr wrap="square" lIns="0" tIns="0" rIns="0" bIns="0" rtlCol="0" anchor="ctr"/>
          <a:lstStyle/>
          <a:p>
            <a:pPr indent="0" marL="0">
              <a:buNone/>
            </a:pPr>
            <a:r>
              <a:rPr lang="en-US" sz="1200" dirty="0">
                <a:solidFill>
                  <a:schemeClr val="tx1"/>
                </a:solidFill>
              </a:rPr>
              <a:t>Pelibatan dari perencanaan hingga keputusan; GEDSI Action Plan dan kuota 40%</a:t>
            </a:r>
            <a:endParaRPr lang="en-US" sz="1200" dirty="0"/>
          </a:p>
        </p:txBody>
      </p:sp>
      <p:sp>
        <p:nvSpPr>
          <p:cNvPr id="19" name="Panel MEL"/>
          <p:cNvSpPr/>
          <p:nvPr/>
        </p:nvSpPr>
        <p:spPr>
          <a:xfrm>
            <a:off x="5943600" y="1097280"/>
            <a:ext cx="2743200" cy="3383280"/>
          </a:xfrm>
          <a:prstGeom prst="rect">
            <a:avLst/>
          </a:prstGeom>
          <a:solidFill>
            <a:schemeClr val="tx2"/>
          </a:solidFill>
          <a:ln/>
        </p:spPr>
      </p:sp>
      <p:sp>
        <p:nvSpPr>
          <p:cNvPr id="20" name="Text 15"/>
          <p:cNvSpPr txBox="1"/>
          <p:nvPr/>
        </p:nvSpPr>
        <p:spPr>
          <a:xfrm>
            <a:off x="6172200" y="1280160"/>
            <a:ext cx="2377440" cy="320040"/>
          </a:xfrm>
          <a:prstGeom prst="rect">
            <a:avLst/>
          </a:prstGeom>
          <a:noFill/>
          <a:ln/>
        </p:spPr>
        <p:txBody>
          <a:bodyPr wrap="square" lIns="0" tIns="0" rIns="0" bIns="0" rtlCol="0" anchor="t"/>
          <a:lstStyle/>
          <a:p>
            <a:pPr indent="0" marL="0">
              <a:buNone/>
            </a:pPr>
            <a:r>
              <a:rPr lang="en-US" sz="1600" b="1" dirty="0">
                <a:solidFill>
                  <a:schemeClr val="accent6"/>
                </a:solidFill>
                <a:latin typeface="Cambria" pitchFamily="34" charset="0"/>
                <a:ea typeface="Cambria" pitchFamily="34" charset="-122"/>
                <a:cs typeface="Cambria" pitchFamily="34" charset="-120"/>
              </a:rPr>
              <a:t>Siklus MEL</a:t>
            </a:r>
            <a:endParaRPr lang="en-US" sz="1600" dirty="0"/>
          </a:p>
        </p:txBody>
      </p:sp>
      <p:sp>
        <p:nvSpPr>
          <p:cNvPr id="21" name="Text 16"/>
          <p:cNvSpPr txBox="1"/>
          <p:nvPr/>
        </p:nvSpPr>
        <p:spPr>
          <a:xfrm>
            <a:off x="6172200" y="1691640"/>
            <a:ext cx="2377440" cy="2697480"/>
          </a:xfrm>
          <a:prstGeom prst="rect">
            <a:avLst/>
          </a:prstGeom>
          <a:noFill/>
          <a:ln/>
        </p:spPr>
        <p:txBody>
          <a:bodyPr wrap="square" lIns="0" tIns="0" rIns="0" bIns="0" rtlCol="0" anchor="t"/>
          <a:lstStyle/>
          <a:p>
            <a:pPr indent="0" marL="0">
              <a:spcAft>
                <a:spcPts val="200"/>
              </a:spcAft>
              <a:buNone/>
            </a:pPr>
            <a:r>
              <a:rPr lang="en-US" sz="1300" b="1" dirty="0">
                <a:solidFill>
                  <a:schemeClr val="bg1"/>
                </a:solidFill>
              </a:rPr>
              <a:t>Monitoring rutin</a:t>
            </a:r>
            <a:endParaRPr lang="en-US" sz="1300" dirty="0"/>
          </a:p>
          <a:p>
            <a:pPr indent="0" marL="0">
              <a:spcAft>
                <a:spcPts val="200"/>
              </a:spcAft>
              <a:buNone/>
            </a:pPr>
            <a:r>
              <a:rPr lang="en-US" sz="1200" dirty="0">
                <a:solidFill>
                  <a:schemeClr val="accent3"/>
                </a:solidFill>
              </a:rPr>
              <a:t>Indikator, target dan penanggung jawab per kegiatan</a:t>
            </a:r>
            <a:endParaRPr lang="en-US" sz="1300" dirty="0"/>
          </a:p>
          <a:p>
            <a:pPr indent="0" marL="0">
              <a:spcAft>
                <a:spcPts val="200"/>
              </a:spcAft>
              <a:buNone/>
            </a:pPr>
            <a:r>
              <a:rPr lang="en-US" sz="1300" b="1" dirty="0">
                <a:solidFill>
                  <a:schemeClr val="bg1"/>
                </a:solidFill>
              </a:rPr>
              <a:t>Mid-term &amp; evaluasi akhir</a:t>
            </a:r>
            <a:endParaRPr lang="en-US" sz="1300" dirty="0"/>
          </a:p>
          <a:p>
            <a:pPr indent="0" marL="0">
              <a:spcAft>
                <a:spcPts val="200"/>
              </a:spcAft>
              <a:buNone/>
            </a:pPr>
            <a:r>
              <a:rPr lang="en-US" sz="1200" dirty="0">
                <a:solidFill>
                  <a:schemeClr val="accent3"/>
                </a:solidFill>
              </a:rPr>
              <a:t>Target vs realisasi, kuantitatif dan kualitatif</a:t>
            </a:r>
            <a:endParaRPr lang="en-US" sz="1300" dirty="0"/>
          </a:p>
          <a:p>
            <a:pPr indent="0" marL="0">
              <a:spcAft>
                <a:spcPts val="200"/>
              </a:spcAft>
              <a:buNone/>
            </a:pPr>
            <a:r>
              <a:rPr lang="en-US" sz="1300" b="1" dirty="0">
                <a:solidFill>
                  <a:schemeClr val="bg1"/>
                </a:solidFill>
              </a:rPr>
              <a:t>Learning</a:t>
            </a:r>
            <a:endParaRPr lang="en-US" sz="1300" dirty="0"/>
          </a:p>
          <a:p>
            <a:pPr indent="0" marL="0">
              <a:spcAft>
                <a:spcPts val="200"/>
              </a:spcAft>
              <a:buNone/>
            </a:pPr>
            <a:r>
              <a:rPr lang="en-US" sz="1200" dirty="0">
                <a:solidFill>
                  <a:schemeClr val="accent3"/>
                </a:solidFill>
              </a:rPr>
              <a:t>Refleksi bersama, learning brief, studi kasus</a:t>
            </a:r>
            <a:endParaRPr lang="en-US" sz="1300" dirty="0"/>
          </a:p>
          <a:p>
            <a:pPr indent="0" marL="0">
              <a:spcAft>
                <a:spcPts val="200"/>
              </a:spcAft>
              <a:buNone/>
            </a:pPr>
            <a:r>
              <a:rPr lang="en-US" sz="1300" b="1" dirty="0">
                <a:solidFill>
                  <a:schemeClr val="bg1"/>
                </a:solidFill>
              </a:rPr>
              <a:t>Kualitas data</a:t>
            </a:r>
            <a:endParaRPr lang="en-US" sz="1300" dirty="0"/>
          </a:p>
          <a:p>
            <a:pPr indent="0" marL="0">
              <a:spcAft>
                <a:spcPts val="200"/>
              </a:spcAft>
              <a:buNone/>
            </a:pPr>
            <a:r>
              <a:rPr lang="en-US" sz="1200" dirty="0">
                <a:solidFill>
                  <a:schemeClr val="accent3"/>
                </a:solidFill>
              </a:rPr>
              <a:t>Cek silang dokumen, validasi mitra, review internal</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Yang akan ada di tangan masyarakat dan TAF pada Agustus 2027</a:t>
            </a:r>
            <a:endParaRPr lang="en-US" sz="2200" dirty="0"/>
          </a:p>
        </p:txBody>
      </p:sp>
      <p:sp>
        <p:nvSpPr>
          <p:cNvPr id="3" name="Text 1"/>
          <p:cNvSpPr txBox="1"/>
          <p:nvPr/>
        </p:nvSpPr>
        <p:spPr>
          <a:xfrm>
            <a:off x="457200" y="1143000"/>
            <a:ext cx="54864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01</a:t>
            </a:r>
            <a:endParaRPr lang="en-US" sz="2200" dirty="0"/>
          </a:p>
        </p:txBody>
      </p:sp>
      <p:sp>
        <p:nvSpPr>
          <p:cNvPr id="4" name="Text 2"/>
          <p:cNvSpPr txBox="1"/>
          <p:nvPr/>
        </p:nvSpPr>
        <p:spPr>
          <a:xfrm>
            <a:off x="1051560" y="1143000"/>
            <a:ext cx="4114800" cy="621792"/>
          </a:xfrm>
          <a:prstGeom prst="rect">
            <a:avLst/>
          </a:prstGeom>
          <a:noFill/>
          <a:ln/>
        </p:spPr>
        <p:txBody>
          <a:bodyPr wrap="square" lIns="0" tIns="0" rIns="0" bIns="0" rtlCol="0" anchor="t"/>
          <a:lstStyle/>
          <a:p>
            <a:pPr indent="0" marL="0">
              <a:buNone/>
            </a:pPr>
            <a:r>
              <a:rPr lang="en-US" sz="1400" b="1" dirty="0">
                <a:solidFill>
                  <a:schemeClr val="tx1"/>
                </a:solidFill>
              </a:rPr>
              <a:t>Kesepakatan masyarakat</a:t>
            </a:r>
            <a:endParaRPr lang="en-US" sz="1400" dirty="0"/>
          </a:p>
          <a:p>
            <a:pPr indent="0" marL="0">
              <a:buNone/>
            </a:pPr>
            <a:r>
              <a:rPr lang="en-US" sz="1200" dirty="0">
                <a:solidFill>
                  <a:schemeClr val="tx1"/>
                </a:solidFill>
              </a:rPr>
              <a:t>Hasil FPIC/LSC, GRM, BSM, SOP safeguards</a:t>
            </a:r>
            <a:endParaRPr lang="en-US" sz="1400" dirty="0"/>
          </a:p>
        </p:txBody>
      </p:sp>
      <p:sp>
        <p:nvSpPr>
          <p:cNvPr id="5" name="Text 3"/>
          <p:cNvSpPr txBox="1"/>
          <p:nvPr/>
        </p:nvSpPr>
        <p:spPr>
          <a:xfrm>
            <a:off x="457200" y="1810512"/>
            <a:ext cx="54864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02</a:t>
            </a:r>
            <a:endParaRPr lang="en-US" sz="2200" dirty="0"/>
          </a:p>
        </p:txBody>
      </p:sp>
      <p:sp>
        <p:nvSpPr>
          <p:cNvPr id="6" name="Text 4"/>
          <p:cNvSpPr txBox="1"/>
          <p:nvPr/>
        </p:nvSpPr>
        <p:spPr>
          <a:xfrm>
            <a:off x="1051560" y="1810512"/>
            <a:ext cx="4114800" cy="621792"/>
          </a:xfrm>
          <a:prstGeom prst="rect">
            <a:avLst/>
          </a:prstGeom>
          <a:noFill/>
          <a:ln/>
        </p:spPr>
        <p:txBody>
          <a:bodyPr wrap="square" lIns="0" tIns="0" rIns="0" bIns="0" rtlCol="0" anchor="t"/>
          <a:lstStyle/>
          <a:p>
            <a:pPr indent="0" marL="0">
              <a:buNone/>
            </a:pPr>
            <a:r>
              <a:rPr lang="en-US" sz="1400" b="1" dirty="0">
                <a:solidFill>
                  <a:schemeClr val="tx1"/>
                </a:solidFill>
              </a:rPr>
              <a:t>Paket teknis karbon</a:t>
            </a:r>
            <a:endParaRPr lang="en-US" sz="1400" dirty="0"/>
          </a:p>
          <a:p>
            <a:pPr indent="0" marL="0">
              <a:buNone/>
            </a:pPr>
            <a:r>
              <a:rPr lang="en-US" sz="1200" dirty="0">
                <a:solidFill>
                  <a:schemeClr val="tx1"/>
                </a:solidFill>
              </a:rPr>
              <a:t>Data baseline, DRAM/PDD, proyek dalam pipeline SRUK &amp; Plan Vivo</a:t>
            </a:r>
            <a:endParaRPr lang="en-US" sz="1400" dirty="0"/>
          </a:p>
        </p:txBody>
      </p:sp>
      <p:sp>
        <p:nvSpPr>
          <p:cNvPr id="7" name="Text 5"/>
          <p:cNvSpPr txBox="1"/>
          <p:nvPr/>
        </p:nvSpPr>
        <p:spPr>
          <a:xfrm>
            <a:off x="457200" y="2478024"/>
            <a:ext cx="54864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03</a:t>
            </a:r>
            <a:endParaRPr lang="en-US" sz="2200" dirty="0"/>
          </a:p>
        </p:txBody>
      </p:sp>
      <p:sp>
        <p:nvSpPr>
          <p:cNvPr id="8" name="Text 6"/>
          <p:cNvSpPr txBox="1"/>
          <p:nvPr/>
        </p:nvSpPr>
        <p:spPr>
          <a:xfrm>
            <a:off x="1051560" y="2478024"/>
            <a:ext cx="4114800" cy="621792"/>
          </a:xfrm>
          <a:prstGeom prst="rect">
            <a:avLst/>
          </a:prstGeom>
          <a:noFill/>
          <a:ln/>
        </p:spPr>
        <p:txBody>
          <a:bodyPr wrap="square" lIns="0" tIns="0" rIns="0" bIns="0" rtlCol="0" anchor="t"/>
          <a:lstStyle/>
          <a:p>
            <a:pPr indent="0" marL="0">
              <a:buNone/>
            </a:pPr>
            <a:r>
              <a:rPr lang="en-US" sz="1400" b="1" dirty="0">
                <a:solidFill>
                  <a:schemeClr val="tx1"/>
                </a:solidFill>
              </a:rPr>
              <a:t>Kemitraan pembiayaan</a:t>
            </a:r>
            <a:endParaRPr lang="en-US" sz="1400" dirty="0"/>
          </a:p>
          <a:p>
            <a:pPr indent="0" marL="0">
              <a:buNone/>
            </a:pPr>
            <a:r>
              <a:rPr lang="en-US" sz="1200" dirty="0">
                <a:solidFill>
                  <a:schemeClr val="tx1"/>
                </a:solidFill>
              </a:rPr>
              <a:t>Dokumen feasibility study dan perjanjian kerja sama swasta</a:t>
            </a:r>
            <a:endParaRPr lang="en-US" sz="1400" dirty="0"/>
          </a:p>
        </p:txBody>
      </p:sp>
      <p:sp>
        <p:nvSpPr>
          <p:cNvPr id="9" name="Text 7"/>
          <p:cNvSpPr txBox="1"/>
          <p:nvPr/>
        </p:nvSpPr>
        <p:spPr>
          <a:xfrm>
            <a:off x="457200" y="3145536"/>
            <a:ext cx="54864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04</a:t>
            </a:r>
            <a:endParaRPr lang="en-US" sz="2200" dirty="0"/>
          </a:p>
        </p:txBody>
      </p:sp>
      <p:sp>
        <p:nvSpPr>
          <p:cNvPr id="10" name="Text 8"/>
          <p:cNvSpPr txBox="1"/>
          <p:nvPr/>
        </p:nvSpPr>
        <p:spPr>
          <a:xfrm>
            <a:off x="1051560" y="3145536"/>
            <a:ext cx="4114800" cy="621792"/>
          </a:xfrm>
          <a:prstGeom prst="rect">
            <a:avLst/>
          </a:prstGeom>
          <a:noFill/>
          <a:ln/>
        </p:spPr>
        <p:txBody>
          <a:bodyPr wrap="square" lIns="0" tIns="0" rIns="0" bIns="0" rtlCol="0" anchor="t"/>
          <a:lstStyle/>
          <a:p>
            <a:pPr indent="0" marL="0">
              <a:buNone/>
            </a:pPr>
            <a:r>
              <a:rPr lang="en-US" sz="1400" b="1" dirty="0">
                <a:solidFill>
                  <a:schemeClr val="tx1"/>
                </a:solidFill>
              </a:rPr>
              <a:t>Kelembagaan inklusif</a:t>
            </a:r>
            <a:endParaRPr lang="en-US" sz="1400" dirty="0"/>
          </a:p>
          <a:p>
            <a:pPr indent="0" marL="0">
              <a:buNone/>
            </a:pPr>
            <a:r>
              <a:rPr lang="en-US" sz="1200" dirty="0">
                <a:solidFill>
                  <a:schemeClr val="tx1"/>
                </a:solidFill>
              </a:rPr>
              <a:t>GEDSI Action Plan, Women Forest Defender, KUPS perempuan, 40% pengurus perempuan</a:t>
            </a:r>
            <a:endParaRPr lang="en-US" sz="1400" dirty="0"/>
          </a:p>
        </p:txBody>
      </p:sp>
      <p:sp>
        <p:nvSpPr>
          <p:cNvPr id="11" name="Text 9"/>
          <p:cNvSpPr txBox="1"/>
          <p:nvPr/>
        </p:nvSpPr>
        <p:spPr>
          <a:xfrm>
            <a:off x="457200" y="3813048"/>
            <a:ext cx="54864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05</a:t>
            </a:r>
            <a:endParaRPr lang="en-US" sz="2200" dirty="0"/>
          </a:p>
        </p:txBody>
      </p:sp>
      <p:sp>
        <p:nvSpPr>
          <p:cNvPr id="12" name="Text 10"/>
          <p:cNvSpPr txBox="1"/>
          <p:nvPr/>
        </p:nvSpPr>
        <p:spPr>
          <a:xfrm>
            <a:off x="1051560" y="3813048"/>
            <a:ext cx="4114800" cy="621792"/>
          </a:xfrm>
          <a:prstGeom prst="rect">
            <a:avLst/>
          </a:prstGeom>
          <a:noFill/>
          <a:ln/>
        </p:spPr>
        <p:txBody>
          <a:bodyPr wrap="square" lIns="0" tIns="0" rIns="0" bIns="0" rtlCol="0" anchor="t"/>
          <a:lstStyle/>
          <a:p>
            <a:pPr indent="0" marL="0">
              <a:buNone/>
            </a:pPr>
            <a:r>
              <a:rPr lang="en-US" sz="1400" b="1" dirty="0">
                <a:solidFill>
                  <a:schemeClr val="tx1"/>
                </a:solidFill>
              </a:rPr>
              <a:t>Kawasan terjaga</a:t>
            </a:r>
            <a:endParaRPr lang="en-US" sz="1400" dirty="0"/>
          </a:p>
          <a:p>
            <a:pPr indent="0" marL="0">
              <a:buNone/>
            </a:pPr>
            <a:r>
              <a:rPr lang="en-US" sz="1200" dirty="0">
                <a:solidFill>
                  <a:schemeClr val="tx1"/>
                </a:solidFill>
              </a:rPr>
              <a:t>Patroli rutin dan 5 ha gambut terehabilitasi (ANR &amp; penanaman)</a:t>
            </a:r>
            <a:endParaRPr lang="en-US" sz="1400" dirty="0"/>
          </a:p>
        </p:txBody>
      </p:sp>
      <p:sp>
        <p:nvSpPr>
          <p:cNvPr id="13" name="Produk pengetahuan"/>
          <p:cNvSpPr/>
          <p:nvPr/>
        </p:nvSpPr>
        <p:spPr>
          <a:xfrm>
            <a:off x="5577840" y="1143000"/>
            <a:ext cx="3108960" cy="3337560"/>
          </a:xfrm>
          <a:prstGeom prst="rect">
            <a:avLst/>
          </a:prstGeom>
          <a:solidFill>
            <a:schemeClr val="bg2"/>
          </a:solidFill>
          <a:ln/>
        </p:spPr>
      </p:sp>
      <p:sp>
        <p:nvSpPr>
          <p:cNvPr id="14" name="Produk pengetahuan lingkaran"/>
          <p:cNvSpPr/>
          <p:nvPr/>
        </p:nvSpPr>
        <p:spPr>
          <a:xfrm>
            <a:off x="5806440" y="1325880"/>
            <a:ext cx="457200" cy="457200"/>
          </a:xfrm>
          <a:prstGeom prst="ellipse">
            <a:avLst/>
          </a:prstGeom>
          <a:solidFill>
            <a:schemeClr val="accent1"/>
          </a:solidFill>
          <a:ln/>
        </p:spPr>
      </p:sp>
      <p:pic>
        <p:nvPicPr>
          <p:cNvPr id="15" name="Produk pengetahuan ikon" descr="preencoded.png">    </p:cNvPr>
          <p:cNvPicPr>
            <a:picLocks noChangeAspect="1"/>
          </p:cNvPicPr>
          <p:nvPr/>
        </p:nvPicPr>
        <p:blipFill>
          <a:blip r:embed="rId1"/>
          <a:stretch>
            <a:fillRect/>
          </a:stretch>
        </p:blipFill>
        <p:spPr>
          <a:xfrm>
            <a:off x="5925312" y="1444752"/>
            <a:ext cx="219456" cy="219456"/>
          </a:xfrm>
          <a:prstGeom prst="rect">
            <a:avLst/>
          </a:prstGeom>
        </p:spPr>
      </p:pic>
      <p:sp>
        <p:nvSpPr>
          <p:cNvPr id="16" name="Text 13"/>
          <p:cNvSpPr txBox="1"/>
          <p:nvPr/>
        </p:nvSpPr>
        <p:spPr>
          <a:xfrm>
            <a:off x="6382512" y="1371600"/>
            <a:ext cx="219456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Produk pengetahuan</a:t>
            </a:r>
            <a:endParaRPr lang="en-US" sz="1600" dirty="0"/>
          </a:p>
        </p:txBody>
      </p:sp>
      <p:sp>
        <p:nvSpPr>
          <p:cNvPr id="17" name="Text 14"/>
          <p:cNvSpPr txBox="1"/>
          <p:nvPr/>
        </p:nvSpPr>
        <p:spPr>
          <a:xfrm>
            <a:off x="5806440" y="1920240"/>
            <a:ext cx="2743200" cy="24688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Buku Megabiodiversity Mangrove Kubu Raya</a:t>
            </a:r>
            <a:endParaRPr lang="en-US" sz="1300" dirty="0"/>
          </a:p>
          <a:p>
            <a:pPr marL="342900" indent="-342900">
              <a:spcAft>
                <a:spcPts val="500"/>
              </a:spcAft>
              <a:buSzPct val="100000"/>
              <a:buChar char="•"/>
            </a:pPr>
            <a:r>
              <a:rPr lang="en-US" sz="1300" dirty="0">
                <a:solidFill>
                  <a:schemeClr val="tx1"/>
                </a:solidFill>
              </a:rPr>
              <a:t>Policy brief community carbon</a:t>
            </a:r>
            <a:endParaRPr lang="en-US" sz="1300" dirty="0"/>
          </a:p>
          <a:p>
            <a:pPr marL="342900" indent="-342900">
              <a:spcAft>
                <a:spcPts val="500"/>
              </a:spcAft>
              <a:buSzPct val="100000"/>
              <a:buChar char="•"/>
            </a:pPr>
            <a:r>
              <a:rPr lang="en-US" sz="1300" dirty="0">
                <a:solidFill>
                  <a:schemeClr val="tx1"/>
                </a:solidFill>
              </a:rPr>
              <a:t>Guideline community carbon berbasis GEDSI</a:t>
            </a:r>
            <a:endParaRPr lang="en-US" sz="1300" dirty="0"/>
          </a:p>
          <a:p>
            <a:pPr marL="342900" indent="-342900">
              <a:spcAft>
                <a:spcPts val="500"/>
              </a:spcAft>
              <a:buSzPct val="100000"/>
              <a:buChar char="•"/>
            </a:pPr>
            <a:r>
              <a:rPr lang="en-US" sz="1300" dirty="0">
                <a:solidFill>
                  <a:schemeClr val="tx1"/>
                </a:solidFill>
              </a:rPr>
              <a:t>Booklet pemberdayaan GEDSI dalam community carbon</a:t>
            </a:r>
            <a:endParaRPr lang="en-US" sz="1300" dirty="0"/>
          </a:p>
          <a:p>
            <a:pPr marL="342900" indent="-342900">
              <a:spcAft>
                <a:spcPts val="500"/>
              </a:spcAft>
              <a:buSzPct val="100000"/>
              <a:buChar char="•"/>
            </a:pPr>
            <a:r>
              <a:rPr lang="en-US" sz="1300" dirty="0">
                <a:solidFill>
                  <a:schemeClr val="tx1"/>
                </a:solidFill>
              </a:rPr>
              <a:t>Project report</a:t>
            </a:r>
            <a:endParaRPr lang="en-US" sz="1300" dirty="0"/>
          </a:p>
          <a:p>
            <a:pPr marL="342900" indent="-342900">
              <a:spcAft>
                <a:spcPts val="500"/>
              </a:spcAft>
              <a:buSzPct val="100000"/>
              <a:buChar char="•"/>
            </a:pPr>
            <a:r>
              <a:rPr lang="en-US" sz="1300" dirty="0">
                <a:solidFill>
                  <a:schemeClr val="tx1"/>
                </a:solidFill>
              </a:rPr>
              <a:t>Video pembelajaran proyek</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bg1"/>
                </a:solidFill>
                <a:latin typeface="Cambria" pitchFamily="34" charset="0"/>
                <a:ea typeface="Cambria" pitchFamily="34" charset="-122"/>
                <a:cs typeface="Cambria" pitchFamily="34" charset="-120"/>
              </a:rPr>
              <a:t>Usulan poin diskusi dan langkah berikutnya</a:t>
            </a:r>
            <a:endParaRPr lang="en-US" sz="2200" dirty="0"/>
          </a:p>
        </p:txBody>
      </p:sp>
      <p:sp>
        <p:nvSpPr>
          <p:cNvPr id="3" name="Text 1"/>
          <p:cNvSpPr txBox="1"/>
          <p:nvPr/>
        </p:nvSpPr>
        <p:spPr>
          <a:xfrm>
            <a:off x="457200" y="1188720"/>
            <a:ext cx="3931920" cy="320040"/>
          </a:xfrm>
          <a:prstGeom prst="rect">
            <a:avLst/>
          </a:prstGeom>
          <a:noFill/>
          <a:ln/>
        </p:spPr>
        <p:txBody>
          <a:bodyPr wrap="square" lIns="0" tIns="0" rIns="0" bIns="0" rtlCol="0" anchor="t"/>
          <a:lstStyle/>
          <a:p>
            <a:pPr indent="0" marL="0">
              <a:buNone/>
            </a:pPr>
            <a:r>
              <a:rPr lang="en-US" sz="1400" b="1" dirty="0">
                <a:solidFill>
                  <a:schemeClr val="accent6"/>
                </a:solidFill>
              </a:rPr>
              <a:t>Untuk didiskusikan dengan TAF</a:t>
            </a:r>
            <a:endParaRPr lang="en-US" sz="1400" dirty="0"/>
          </a:p>
        </p:txBody>
      </p:sp>
      <p:sp>
        <p:nvSpPr>
          <p:cNvPr id="4" name="Text 2"/>
          <p:cNvSpPr txBox="1"/>
          <p:nvPr/>
        </p:nvSpPr>
        <p:spPr>
          <a:xfrm>
            <a:off x="457200" y="1627632"/>
            <a:ext cx="365760" cy="45720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868680" y="1664208"/>
            <a:ext cx="3520440" cy="594360"/>
          </a:xfrm>
          <a:prstGeom prst="rect">
            <a:avLst/>
          </a:prstGeom>
          <a:noFill/>
          <a:ln/>
        </p:spPr>
        <p:txBody>
          <a:bodyPr wrap="square" lIns="0" tIns="0" rIns="0" bIns="0" rtlCol="0" anchor="t"/>
          <a:lstStyle/>
          <a:p>
            <a:pPr indent="0" marL="0">
              <a:buNone/>
            </a:pPr>
            <a:r>
              <a:rPr lang="en-US" sz="1400" dirty="0">
                <a:solidFill>
                  <a:schemeClr val="bg1"/>
                </a:solidFill>
              </a:rPr>
              <a:t>Kesepakatan rencana kerja, tonggak capaian, dan indikator kinerja</a:t>
            </a:r>
            <a:endParaRPr lang="en-US" sz="1400" dirty="0"/>
          </a:p>
        </p:txBody>
      </p:sp>
      <p:sp>
        <p:nvSpPr>
          <p:cNvPr id="6" name="Text 4"/>
          <p:cNvSpPr txBox="1"/>
          <p:nvPr/>
        </p:nvSpPr>
        <p:spPr>
          <a:xfrm>
            <a:off x="457200" y="2313432"/>
            <a:ext cx="365760" cy="45720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2</a:t>
            </a:r>
            <a:endParaRPr lang="en-US" sz="2200" dirty="0"/>
          </a:p>
        </p:txBody>
      </p:sp>
      <p:sp>
        <p:nvSpPr>
          <p:cNvPr id="7" name="Text 5"/>
          <p:cNvSpPr txBox="1"/>
          <p:nvPr/>
        </p:nvSpPr>
        <p:spPr>
          <a:xfrm>
            <a:off x="868680" y="2350008"/>
            <a:ext cx="3520440" cy="594360"/>
          </a:xfrm>
          <a:prstGeom prst="rect">
            <a:avLst/>
          </a:prstGeom>
          <a:noFill/>
          <a:ln/>
        </p:spPr>
        <p:txBody>
          <a:bodyPr wrap="square" lIns="0" tIns="0" rIns="0" bIns="0" rtlCol="0" anchor="t"/>
          <a:lstStyle/>
          <a:p>
            <a:pPr indent="0" marL="0">
              <a:buNone/>
            </a:pPr>
            <a:r>
              <a:rPr lang="en-US" sz="1400" dirty="0">
                <a:solidFill>
                  <a:schemeClr val="bg1"/>
                </a:solidFill>
              </a:rPr>
              <a:t>Format dan jadwal pelaporan program serta keuangan</a:t>
            </a:r>
            <a:endParaRPr lang="en-US" sz="1400" dirty="0"/>
          </a:p>
        </p:txBody>
      </p:sp>
      <p:sp>
        <p:nvSpPr>
          <p:cNvPr id="8" name="Text 6"/>
          <p:cNvSpPr txBox="1"/>
          <p:nvPr/>
        </p:nvSpPr>
        <p:spPr>
          <a:xfrm>
            <a:off x="457200" y="2999232"/>
            <a:ext cx="365760" cy="45720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3</a:t>
            </a:r>
            <a:endParaRPr lang="en-US" sz="2200" dirty="0"/>
          </a:p>
        </p:txBody>
      </p:sp>
      <p:sp>
        <p:nvSpPr>
          <p:cNvPr id="9" name="Text 7"/>
          <p:cNvSpPr txBox="1"/>
          <p:nvPr/>
        </p:nvSpPr>
        <p:spPr>
          <a:xfrm>
            <a:off x="868680" y="3035808"/>
            <a:ext cx="3520440" cy="594360"/>
          </a:xfrm>
          <a:prstGeom prst="rect">
            <a:avLst/>
          </a:prstGeom>
          <a:noFill/>
          <a:ln/>
        </p:spPr>
        <p:txBody>
          <a:bodyPr wrap="square" lIns="0" tIns="0" rIns="0" bIns="0" rtlCol="0" anchor="t"/>
          <a:lstStyle/>
          <a:p>
            <a:pPr indent="0" marL="0">
              <a:buNone/>
            </a:pPr>
            <a:r>
              <a:rPr lang="en-US" sz="1400" dirty="0">
                <a:solidFill>
                  <a:schemeClr val="bg1"/>
                </a:solidFill>
              </a:rPr>
              <a:t>Dukungan akses ke Kemenhut dan KLH untuk persetujuan dan SRUK</a:t>
            </a:r>
            <a:endParaRPr lang="en-US" sz="1400" dirty="0"/>
          </a:p>
        </p:txBody>
      </p:sp>
      <p:sp>
        <p:nvSpPr>
          <p:cNvPr id="10" name="Text 8"/>
          <p:cNvSpPr txBox="1"/>
          <p:nvPr/>
        </p:nvSpPr>
        <p:spPr>
          <a:xfrm>
            <a:off x="457200" y="3685032"/>
            <a:ext cx="365760" cy="45720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4</a:t>
            </a:r>
            <a:endParaRPr lang="en-US" sz="2200" dirty="0"/>
          </a:p>
        </p:txBody>
      </p:sp>
      <p:sp>
        <p:nvSpPr>
          <p:cNvPr id="11" name="Text 9"/>
          <p:cNvSpPr txBox="1"/>
          <p:nvPr/>
        </p:nvSpPr>
        <p:spPr>
          <a:xfrm>
            <a:off x="868680" y="3721608"/>
            <a:ext cx="3520440" cy="594360"/>
          </a:xfrm>
          <a:prstGeom prst="rect">
            <a:avLst/>
          </a:prstGeom>
          <a:noFill/>
          <a:ln/>
        </p:spPr>
        <p:txBody>
          <a:bodyPr wrap="square" lIns="0" tIns="0" rIns="0" bIns="0" rtlCol="0" anchor="t"/>
          <a:lstStyle/>
          <a:p>
            <a:pPr indent="0" marL="0">
              <a:buNone/>
            </a:pPr>
            <a:r>
              <a:rPr lang="en-US" sz="1400" dirty="0">
                <a:solidFill>
                  <a:schemeClr val="bg1"/>
                </a:solidFill>
              </a:rPr>
              <a:t>Jejaring TAF untuk calon mitra pembiayaan swasta</a:t>
            </a:r>
            <a:endParaRPr lang="en-US" sz="1400" dirty="0"/>
          </a:p>
        </p:txBody>
      </p:sp>
      <p:sp>
        <p:nvSpPr>
          <p:cNvPr id="12" name="Langkah berikutnya"/>
          <p:cNvSpPr/>
          <p:nvPr/>
        </p:nvSpPr>
        <p:spPr>
          <a:xfrm>
            <a:off x="4846320" y="1188720"/>
            <a:ext cx="3840480" cy="3291840"/>
          </a:xfrm>
          <a:prstGeom prst="rect">
            <a:avLst/>
          </a:prstGeom>
          <a:solidFill>
            <a:schemeClr val="accent1"/>
          </a:solidFill>
          <a:ln/>
        </p:spPr>
      </p:sp>
      <p:sp>
        <p:nvSpPr>
          <p:cNvPr id="13" name="Text 11"/>
          <p:cNvSpPr txBox="1"/>
          <p:nvPr/>
        </p:nvSpPr>
        <p:spPr>
          <a:xfrm>
            <a:off x="5074920" y="1371600"/>
            <a:ext cx="347472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30 hari pertama</a:t>
            </a:r>
            <a:endParaRPr lang="en-US" sz="1600" dirty="0"/>
          </a:p>
        </p:txBody>
      </p:sp>
      <p:sp>
        <p:nvSpPr>
          <p:cNvPr id="14" name="Text 12"/>
          <p:cNvSpPr txBox="1"/>
          <p:nvPr/>
        </p:nvSpPr>
        <p:spPr>
          <a:xfrm>
            <a:off x="5074920" y="1828800"/>
            <a:ext cx="342900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Finalisasi rencana kerja dan indikator bersama TAF</a:t>
            </a:r>
            <a:endParaRPr lang="en-US" sz="1400" dirty="0"/>
          </a:p>
          <a:p>
            <a:pPr marL="342900" indent="-342900">
              <a:spcAft>
                <a:spcPts val="800"/>
              </a:spcAft>
              <a:buSzPct val="100000"/>
              <a:buChar char="•"/>
            </a:pPr>
            <a:r>
              <a:rPr lang="en-US" sz="1400" dirty="0">
                <a:solidFill>
                  <a:schemeClr val="bg1"/>
                </a:solidFill>
              </a:rPr>
              <a:t>Konsultasi dan koordinasi awal dengan Pemdes, LPHD Pasir, dan KPH</a:t>
            </a:r>
            <a:endParaRPr lang="en-US" sz="1400" dirty="0"/>
          </a:p>
          <a:p>
            <a:pPr marL="342900" indent="-342900">
              <a:spcAft>
                <a:spcPts val="800"/>
              </a:spcAft>
              <a:buSzPct val="100000"/>
              <a:buChar char="•"/>
            </a:pPr>
            <a:r>
              <a:rPr lang="en-US" sz="1400" dirty="0">
                <a:solidFill>
                  <a:schemeClr val="bg1"/>
                </a:solidFill>
              </a:rPr>
              <a:t>Persetujuan pendampingan LPHD–SAMPAN untuk perdagangan karbon</a:t>
            </a:r>
            <a:endParaRPr lang="en-US" sz="1400" dirty="0"/>
          </a:p>
          <a:p>
            <a:pPr marL="342900" indent="-342900">
              <a:spcAft>
                <a:spcPts val="800"/>
              </a:spcAft>
              <a:buSzPct val="100000"/>
              <a:buChar char="•"/>
            </a:pPr>
            <a:r>
              <a:rPr lang="en-US" sz="1400" dirty="0">
                <a:solidFill>
                  <a:schemeClr val="bg1"/>
                </a:solidFill>
              </a:rPr>
              <a:t>Penyiapan jadwal Pra-FPIC di setiap RT</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SAMPAN Hutan Desa">
  <a:themeElements>
    <a:clrScheme name="SAMPAN Hutan Desa">
      <a:dk1>
        <a:srgbClr val="1C2B25"/>
      </a:dk1>
      <a:lt1>
        <a:srgbClr val="FFFFFF"/>
      </a:lt1>
      <a:dk2>
        <a:srgbClr val="173F35"/>
      </a:dk2>
      <a:lt2>
        <a:srgbClr val="EEF3EF"/>
      </a:lt2>
      <a:accent1>
        <a:srgbClr val="2E7D5B"/>
      </a:accent1>
      <a:accent2>
        <a:srgbClr val="C8642A"/>
      </a:accent2>
      <a:accent3>
        <a:srgbClr val="8FC1A6"/>
      </a:accent3>
      <a:accent4>
        <a:srgbClr val="2F7183"/>
      </a:accent4>
      <a:accent5>
        <a:srgbClr val="8C6A4A"/>
      </a:accent5>
      <a:accent6>
        <a:srgbClr val="C99A2E"/>
      </a:accent6>
      <a:hlink>
        <a:srgbClr val="2E7D5B"/>
      </a:hlink>
      <a:folHlink>
        <a:srgbClr val="2F7183"/>
      </a:folHlink>
    </a:clrScheme>
    <a:fontScheme name="SAMPAN Hutan Des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SAMPAN Kalimantan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Kickoff Meeting Program SETAPAK – SAMPAN Kalimantan</dc:title>
  <dc:subject>PptxGenJS Presentation</dc:subject>
  <dc:creator>SAMPAN Kalimantan</dc:creator>
  <cp:lastModifiedBy>SAMPAN Kalimantan</cp:lastModifiedBy>
  <cp:revision>1</cp:revision>
  <dcterms:created xsi:type="dcterms:W3CDTF">2026-10-19T13:10:18Z</dcterms:created>
  <dcterms:modified xsi:type="dcterms:W3CDTF">2026-10-19T13:10:18Z</dcterms:modified>
</cp:coreProperties>
</file>