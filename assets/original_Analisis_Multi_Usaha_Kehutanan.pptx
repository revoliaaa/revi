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8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1128" y="528"/>
      </p:cViewPr>
      <p:guideLst>
        <p:guide orient="horz" pos="221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12120" cy="645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600" b="1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ANALISIS STRATEGIS</a:t>
            </a:r>
            <a:endParaRPr sz="3600" b="1"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913890"/>
            <a:ext cx="10534015" cy="8299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  <a:latin typeface="Aptos"/>
              </a:rPr>
              <a:t>Multiusaha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ptos"/>
              </a:rPr>
              <a:t>Kehutanan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Karbon</a:t>
            </a:r>
            <a:br>
              <a:rPr sz="3000" b="1" dirty="0">
                <a:solidFill>
                  <a:srgbClr val="FFFFFF"/>
                </a:solidFill>
                <a:latin typeface="Aptos"/>
              </a:rPr>
            </a:br>
            <a:r>
              <a:rPr dirty="0">
                <a:solidFill>
                  <a:schemeClr val="bg1"/>
                </a:solidFill>
              </a:rPr>
              <a:t>pada PBPH ±1</a:t>
            </a:r>
            <a:r>
              <a:rPr lang="id-ID" dirty="0">
                <a:solidFill>
                  <a:schemeClr val="bg1"/>
                </a:solidFill>
              </a:rPr>
              <a:t>3</a:t>
            </a:r>
            <a:r>
              <a:rPr lang="en-US" dirty="0">
                <a:solidFill>
                  <a:schemeClr val="bg1"/>
                </a:solidFill>
              </a:rPr>
              <a:t>8.000</a:t>
            </a:r>
            <a:r>
              <a:rPr dirty="0">
                <a:solidFill>
                  <a:schemeClr val="bg1"/>
                </a:solidFill>
              </a:rPr>
              <a:t>Ha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935" y="3107055"/>
            <a:ext cx="10593705" cy="477520"/>
          </a:xfrm>
          <a:prstGeom prst="rect">
            <a:avLst/>
          </a:prstGeom>
          <a:noFill/>
        </p:spPr>
        <p:txBody>
          <a:bodyPr wrap="none" lIns="45720" rIns="45720" anchor="t">
            <a:noAutofit/>
          </a:bodyPr>
          <a:lstStyle/>
          <a:p>
            <a:pPr algn="ctr"/>
            <a:r>
              <a:rPr sz="2000" b="1">
                <a:solidFill>
                  <a:schemeClr val="bg1"/>
                </a:solidFill>
                <a:latin typeface="Book Antiqua" panose="02040602050305030304" charset="0"/>
                <a:cs typeface="Book Antiqua" panose="02040602050305030304" charset="0"/>
              </a:rPr>
              <a:t>Transformasi sebagian areal HTI akasia menjadi Pemanfaatan Jasa Lingkungan karbon</a:t>
            </a:r>
            <a:endParaRPr sz="2000" b="1">
              <a:solidFill>
                <a:schemeClr val="bg1"/>
              </a:solidFill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3017520" cy="1143000"/>
          </a:xfrm>
          <a:prstGeom prst="roundRect">
            <a:avLst/>
          </a:prstGeom>
          <a:solidFill>
            <a:srgbClr val="1D3B45"/>
          </a:solidFill>
          <a:ln>
            <a:solidFill>
              <a:srgbClr val="578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98848"/>
            <a:ext cx="274320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500" b="1">
                <a:solidFill>
                  <a:schemeClr val="bg1"/>
                </a:solidFill>
                <a:latin typeface="Aptos"/>
              </a:rPr>
              <a:t>EXISTING</a:t>
            </a:r>
            <a:br>
              <a:rPr sz="1500" b="1">
                <a:solidFill>
                  <a:schemeClr val="bg1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HTI AKASIA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26280" y="4251960"/>
            <a:ext cx="3017520" cy="1143000"/>
          </a:xfrm>
          <a:prstGeom prst="roundRect">
            <a:avLst/>
          </a:prstGeom>
          <a:solidFill>
            <a:srgbClr val="1D3B45"/>
          </a:solidFill>
          <a:ln>
            <a:solidFill>
              <a:srgbClr val="578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498848"/>
            <a:ext cx="2743200" cy="685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500" b="1">
                <a:solidFill>
                  <a:schemeClr val="bg1"/>
                </a:solidFill>
                <a:latin typeface="Aptos"/>
              </a:rPr>
              <a:t>TRANSISI</a:t>
            </a:r>
            <a:br>
              <a:rPr sz="1500" b="1">
                <a:solidFill>
                  <a:schemeClr val="bg1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MULTIUSAHA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0" y="4251960"/>
            <a:ext cx="3017520" cy="1143000"/>
          </a:xfrm>
          <a:prstGeom prst="roundRect">
            <a:avLst/>
          </a:prstGeom>
          <a:solidFill>
            <a:srgbClr val="1D3B45"/>
          </a:solidFill>
          <a:ln>
            <a:solidFill>
              <a:srgbClr val="578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6335" y="4542346"/>
            <a:ext cx="2015490" cy="59880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500" b="1">
                <a:solidFill>
                  <a:schemeClr val="bg1"/>
                </a:solidFill>
                <a:latin typeface="Aptos"/>
              </a:rPr>
              <a:t>TARGET</a:t>
            </a:r>
            <a:br>
              <a:rPr sz="1500" b="1">
                <a:solidFill>
                  <a:schemeClr val="bg1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KARBON ±</a:t>
            </a:r>
            <a:r>
              <a:rPr lang="id-ID">
                <a:solidFill>
                  <a:schemeClr val="bg1"/>
                </a:solidFill>
              </a:rPr>
              <a:t>72</a:t>
            </a:r>
            <a:r>
              <a:rPr>
                <a:solidFill>
                  <a:schemeClr val="bg1"/>
                </a:solidFill>
              </a:rPr>
              <a:t>.000 HA</a:t>
            </a:r>
            <a:endParaRPr>
              <a:solidFill>
                <a:schemeClr val="bg1"/>
              </a:solidFill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4828032"/>
            <a:ext cx="548640" cy="0"/>
          </a:xfrm>
          <a:prstGeom prst="line">
            <a:avLst/>
          </a:prstGeom>
          <a:ln w="25400">
            <a:solidFill>
              <a:srgbClr val="A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4828032"/>
            <a:ext cx="548640" cy="0"/>
          </a:xfrm>
          <a:prstGeom prst="line">
            <a:avLst/>
          </a:prstGeom>
          <a:ln w="25400">
            <a:solidFill>
              <a:srgbClr val="A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9808" y="6035040"/>
            <a:ext cx="10515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6CDB8"/>
                </a:solidFill>
                <a:latin typeface="Aptos"/>
              </a:rPr>
              <a:t>Legal feasibility • Carbon integrity • Business feasibility • Decision pathway</a:t>
            </a:r>
            <a:endParaRPr sz="1100" b="0">
              <a:solidFill>
                <a:srgbClr val="A6CD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87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22B37"/>
                </a:solidFill>
                <a:latin typeface="Aptos"/>
              </a:rPr>
              <a:t>Kesimpulan Eksekutif</a:t>
            </a:r>
            <a:endParaRPr sz="2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5580380" cy="26035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646C70"/>
                </a:solidFill>
                <a:latin typeface="Aptos"/>
              </a:rPr>
              <a:t>Peluang kuat, tetapi eligibility karbon harus melewati legal baseline &amp; additionality</a:t>
            </a:r>
            <a:endParaRPr sz="11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2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3566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3154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1  SECARA HUKUM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356616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81912"/>
            <a:ext cx="3154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2  SECARA KARBON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3566160"/>
          </a:xfrm>
          <a:prstGeom prst="rect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154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3  SECARA BISNIS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" y="6510528"/>
            <a:ext cx="109728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6C70"/>
                </a:solidFill>
                <a:latin typeface="Aptos"/>
              </a:rPr>
              <a:t>Dasar: PP 23/2021 Pasal 149; Permen LHK 8/2021 Pasal 155; Permenhut 6/2026 Pasal 6.</a:t>
            </a:r>
            <a:endParaRPr sz="700" b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375" y="2011680"/>
            <a:ext cx="3154680" cy="223393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>
                <a:solidFill>
                  <a:srgbClr val="1E2326"/>
                </a:solidFill>
                <a:latin typeface="Aptos"/>
                <a:sym typeface="+mn-ea"/>
              </a:rPr>
              <a:t>PBPH Hutan Produksi dapat menjalankan Multiusaha Kehutanan, termasuk Pemanfaatan Jasa Lingkungan. Kegiatan MUK harus dituangkan dalam RKUPH</a:t>
            </a:r>
            <a:r>
              <a:rPr lang="id-ID">
                <a:solidFill>
                  <a:srgbClr val="1E2326"/>
                </a:solidFill>
                <a:latin typeface="Aptos"/>
                <a:sym typeface="+mn-ea"/>
              </a:rPr>
              <a:t>.</a:t>
            </a:r>
            <a:endParaRPr lang="id-ID">
              <a:solidFill>
                <a:srgbClr val="1E2326"/>
              </a:solidFill>
              <a:latin typeface="Aptos"/>
              <a:sym typeface="+mn-e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26280" y="2028825"/>
            <a:ext cx="3154680" cy="223393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/>
            <a:r>
              <a:rPr>
                <a:solidFill>
                  <a:srgbClr val="1E2326"/>
                </a:solidFill>
                <a:latin typeface="Aptos"/>
                <a:sym typeface="+mn-ea"/>
              </a:rPr>
              <a:t>Penghentian land clearing, drainase/kanalisasi baru, perlindungan hutan, </a:t>
            </a:r>
            <a:r>
              <a:rPr i="1">
                <a:solidFill>
                  <a:srgbClr val="1E2326"/>
                </a:solidFill>
                <a:latin typeface="Aptos"/>
                <a:sym typeface="+mn-ea"/>
              </a:rPr>
              <a:t>rewetting </a:t>
            </a:r>
            <a:r>
              <a:rPr>
                <a:solidFill>
                  <a:srgbClr val="1E2326"/>
                </a:solidFill>
                <a:latin typeface="Aptos"/>
                <a:sym typeface="+mn-ea"/>
              </a:rPr>
              <a:t>dan restorasi dapat menjadi sumber mitigasi—sepanjang legal, </a:t>
            </a:r>
            <a:r>
              <a:rPr i="1">
                <a:solidFill>
                  <a:srgbClr val="1E2326"/>
                </a:solidFill>
                <a:latin typeface="Aptos"/>
                <a:sym typeface="+mn-ea"/>
              </a:rPr>
              <a:t>additional </a:t>
            </a:r>
            <a:r>
              <a:rPr>
                <a:solidFill>
                  <a:srgbClr val="1E2326"/>
                </a:solidFill>
                <a:latin typeface="Aptos"/>
                <a:sym typeface="+mn-ea"/>
              </a:rPr>
              <a:t>dan metodologis </a:t>
            </a:r>
            <a:r>
              <a:rPr i="1">
                <a:solidFill>
                  <a:srgbClr val="1E2326"/>
                </a:solidFill>
                <a:latin typeface="Aptos"/>
                <a:sym typeface="+mn-ea"/>
              </a:rPr>
              <a:t>eligible</a:t>
            </a:r>
            <a:r>
              <a:rPr>
                <a:solidFill>
                  <a:srgbClr val="1E2326"/>
                </a:solidFill>
                <a:latin typeface="Aptos"/>
                <a:sym typeface="+mn-ea"/>
              </a:rPr>
              <a:t>.</a:t>
            </a:r>
            <a:endParaRPr lang="id-ID">
              <a:solidFill>
                <a:srgbClr val="1E2326"/>
              </a:solidFill>
              <a:latin typeface="Aptos"/>
              <a:sym typeface="+mn-ea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44205" y="2030095"/>
            <a:ext cx="3154680" cy="2233930"/>
          </a:xfrm>
          <a:prstGeom prst="rect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/>
            <a:r>
              <a:rPr>
                <a:solidFill>
                  <a:srgbClr val="1E2326"/>
                </a:solidFill>
                <a:latin typeface="Aptos"/>
                <a:sym typeface="+mn-ea"/>
              </a:rPr>
              <a:t>Skala kandidat ±</a:t>
            </a:r>
            <a:r>
              <a:rPr lang="id-ID">
                <a:solidFill>
                  <a:srgbClr val="1E2326"/>
                </a:solidFill>
                <a:latin typeface="Aptos"/>
                <a:sym typeface="+mn-ea"/>
              </a:rPr>
              <a:t>72</a:t>
            </a:r>
            <a:r>
              <a:rPr>
                <a:solidFill>
                  <a:srgbClr val="1E2326"/>
                </a:solidFill>
                <a:latin typeface="Aptos"/>
                <a:sym typeface="+mn-ea"/>
              </a:rPr>
              <a:t>.000 ha menarik. Namun keputusan investasi harus berbasis eligible tCO₂e dan NPV karbon vs NPV HTI, bukan luas areal semata.</a:t>
            </a:r>
            <a:endParaRPr lang="id-ID">
              <a:solidFill>
                <a:srgbClr val="1E2326"/>
              </a:solidFill>
              <a:latin typeface="Aptos"/>
              <a:sym typeface="+mn-ea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154430" y="5433060"/>
            <a:ext cx="9935845" cy="815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b="1">
                <a:solidFill>
                  <a:srgbClr val="122B37"/>
                </a:solidFill>
                <a:latin typeface="Aptos"/>
                <a:sym typeface="+mn-ea"/>
              </a:rPr>
              <a:t>REKOMENDASI: lakukan </a:t>
            </a:r>
            <a:r>
              <a:rPr b="1" i="1">
                <a:solidFill>
                  <a:srgbClr val="122B37"/>
                </a:solidFill>
                <a:latin typeface="Aptos"/>
                <a:sym typeface="+mn-ea"/>
              </a:rPr>
              <a:t>Legal–Carbon Feasibility Screening</a:t>
            </a:r>
            <a:r>
              <a:rPr b="1">
                <a:solidFill>
                  <a:srgbClr val="122B37"/>
                </a:solidFill>
                <a:latin typeface="Aptos"/>
                <a:sym typeface="+mn-ea"/>
              </a:rPr>
              <a:t> sebelum perubahan RKUPH dan sebelum menetapkan valuasi proyek.</a:t>
            </a:r>
            <a:endParaRPr b="1">
              <a:solidFill>
                <a:srgbClr val="122B37"/>
              </a:solidFill>
              <a:latin typeface="Aptos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22B37"/>
                </a:solidFill>
                <a:latin typeface="Aptos"/>
              </a:rPr>
              <a:t>Kondisi Existing &amp; Titik Perubahan</a:t>
            </a:r>
            <a:endParaRPr sz="2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7194550" cy="26035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646C70"/>
                </a:solidFill>
                <a:latin typeface="Aptos"/>
              </a:rPr>
              <a:t>RKU/RKUPH telah mengarahkan pengusahaan HTI akasia; kini dipertimbangkan transformasi sebagian areal</a:t>
            </a:r>
            <a:endParaRPr sz="11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3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874519" cy="960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57400"/>
            <a:ext cx="1737360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Hutan/vegetasi</a:t>
            </a:r>
            <a:br>
              <a:rPr sz="1300" b="1">
                <a:solidFill>
                  <a:schemeClr val="bg1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existing</a:t>
            </a:r>
            <a:endParaRPr>
              <a:solidFill>
                <a:schemeClr val="bg1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633472" y="2359152"/>
            <a:ext cx="338328" cy="0"/>
          </a:xfrm>
          <a:prstGeom prst="line">
            <a:avLst/>
          </a:prstGeom>
          <a:ln w="2540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17520" y="1874519"/>
            <a:ext cx="1874519" cy="960120"/>
          </a:xfrm>
          <a:prstGeom prst="roundRect">
            <a:avLst/>
          </a:prstGeom>
          <a:solidFill>
            <a:srgbClr val="A34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2057400"/>
            <a:ext cx="1737360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Land clearing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919472" y="2359152"/>
            <a:ext cx="338328" cy="0"/>
          </a:xfrm>
          <a:prstGeom prst="line">
            <a:avLst/>
          </a:prstGeom>
          <a:ln w="2540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0" y="1874519"/>
            <a:ext cx="1874519" cy="960120"/>
          </a:xfrm>
          <a:prstGeom prst="roundRect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057400"/>
            <a:ext cx="1737360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Kanal &amp;</a:t>
            </a:r>
            <a:br>
              <a:rPr sz="1300" b="1">
                <a:solidFill>
                  <a:schemeClr val="bg1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drainase</a:t>
            </a:r>
            <a:endParaRPr>
              <a:solidFill>
                <a:schemeClr val="bg1"/>
              </a:solidFill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205472" y="2359152"/>
            <a:ext cx="338328" cy="0"/>
          </a:xfrm>
          <a:prstGeom prst="line">
            <a:avLst/>
          </a:prstGeom>
          <a:ln w="2540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20" y="1874519"/>
            <a:ext cx="1874519" cy="960120"/>
          </a:xfrm>
          <a:prstGeom prst="round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2" y="2057400"/>
            <a:ext cx="1737360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HTI akasia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9491472" y="2359152"/>
            <a:ext cx="338328" cy="0"/>
          </a:xfrm>
          <a:prstGeom prst="line">
            <a:avLst/>
          </a:prstGeom>
          <a:ln w="2540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1874519"/>
            <a:ext cx="1874519" cy="960120"/>
          </a:xfrm>
          <a:prstGeom prst="roundRect">
            <a:avLst/>
          </a:prstGeom>
          <a:solidFill>
            <a:srgbClr val="12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8672" y="2057400"/>
            <a:ext cx="1737360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300" b="1">
                <a:solidFill>
                  <a:schemeClr val="bg1"/>
                </a:solidFill>
                <a:latin typeface="Aptos"/>
              </a:rPr>
              <a:t>Panen &amp;</a:t>
            </a:r>
            <a:br>
              <a:rPr sz="1300" b="1">
                <a:solidFill>
                  <a:schemeClr val="bg1"/>
                </a:solidFill>
                <a:latin typeface="Aptos"/>
              </a:rPr>
            </a:br>
            <a:r>
              <a:rPr>
                <a:solidFill>
                  <a:schemeClr val="bg1"/>
                </a:solidFill>
              </a:rPr>
              <a:t>rotasi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2B37"/>
                </a:solidFill>
                <a:latin typeface="Aptos"/>
              </a:rPr>
              <a:t>Sumber emisi potensial yang perlu dipetakan</a:t>
            </a:r>
            <a:endParaRPr sz="1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3886200"/>
            <a:ext cx="2103120" cy="777240"/>
          </a:xfrm>
          <a:prstGeom prst="roundRect">
            <a:avLst/>
          </a:prstGeom>
          <a:solidFill>
            <a:srgbClr val="EFF2F0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087368"/>
            <a:ext cx="1956816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E2326"/>
                </a:solidFill>
                <a:latin typeface="Aptos"/>
              </a:rPr>
              <a:t>Kehilangan biomassa</a:t>
            </a:r>
            <a:endParaRPr sz="1200" b="1">
              <a:solidFill>
                <a:srgbClr val="1E2326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57600" y="3886200"/>
            <a:ext cx="2103120" cy="777240"/>
          </a:xfrm>
          <a:prstGeom prst="roundRect">
            <a:avLst/>
          </a:prstGeom>
          <a:solidFill>
            <a:srgbClr val="EFF2F0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4087368"/>
            <a:ext cx="1956816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E2326"/>
                </a:solidFill>
                <a:latin typeface="Aptos"/>
              </a:rPr>
              <a:t>Emisi tanah gambut</a:t>
            </a:r>
            <a:endParaRPr sz="1200" b="1">
              <a:solidFill>
                <a:srgbClr val="1E2326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3886200"/>
            <a:ext cx="2103120" cy="777240"/>
          </a:xfrm>
          <a:prstGeom prst="roundRect">
            <a:avLst/>
          </a:prstGeom>
          <a:solidFill>
            <a:srgbClr val="EFF2F0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087368"/>
            <a:ext cx="1956816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E2326"/>
                </a:solidFill>
                <a:latin typeface="Aptos"/>
              </a:rPr>
              <a:t>Kebakaran</a:t>
            </a:r>
            <a:endParaRPr sz="1200" b="1">
              <a:solidFill>
                <a:srgbClr val="1E2326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144000" y="3886200"/>
            <a:ext cx="2103120" cy="777240"/>
          </a:xfrm>
          <a:prstGeom prst="roundRect">
            <a:avLst/>
          </a:prstGeom>
          <a:solidFill>
            <a:srgbClr val="EFF2F0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087368"/>
            <a:ext cx="1956816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E2326"/>
                </a:solidFill>
                <a:latin typeface="Aptos"/>
              </a:rPr>
              <a:t>Operasional</a:t>
            </a:r>
            <a:endParaRPr sz="1200" b="1">
              <a:solidFill>
                <a:srgbClr val="1E2326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22B37"/>
                </a:solidFill>
                <a:latin typeface="Aptos"/>
              </a:rPr>
              <a:t>Arsitektur Hukum Multiusaha Kehutanan</a:t>
            </a:r>
            <a:endParaRPr sz="2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46C70"/>
                </a:solidFill>
                <a:latin typeface="Aptos"/>
              </a:rPr>
              <a:t>PBPH tetap menjadi payung izin; perubahan model usaha masuk melalui RKUPH</a:t>
            </a:r>
            <a:endParaRPr sz="1100" b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4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60120" y="1417320"/>
            <a:ext cx="101955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60120" y="1417320"/>
            <a:ext cx="73152" cy="9326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1581912"/>
            <a:ext cx="2396490" cy="30670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Cascadia Code" panose="020B0609020000020004" charset="0"/>
                <a:cs typeface="Cascadia Code" panose="020B0609020000020004" charset="0"/>
              </a:rPr>
              <a:t>PP 23/2021 • Pasal 149</a:t>
            </a:r>
            <a:endParaRPr sz="1400" b="1">
              <a:solidFill>
                <a:srgbClr val="122B37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1288" y="2011680"/>
            <a:ext cx="9811512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E2326"/>
                </a:solidFill>
                <a:latin typeface="Cascadia Code" panose="020B0609020000020004" charset="0"/>
                <a:cs typeface="Cascadia Code" panose="020B0609020000020004" charset="0"/>
              </a:rPr>
              <a:t>PBPH pada Hutan Produksi dilakukan dengan Multiusaha Kehutanan, termasuk Pemanfaatan Jasa Lingkungan.</a:t>
            </a:r>
            <a:endParaRPr sz="1100" b="0">
              <a:solidFill>
                <a:srgbClr val="1E2326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587752"/>
            <a:ext cx="101955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0120" y="2587752"/>
            <a:ext cx="73152" cy="932688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752344"/>
            <a:ext cx="3129915" cy="30670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Cascadia Code" panose="020B0609020000020004" charset="0"/>
                <a:cs typeface="Cascadia Code" panose="020B0609020000020004" charset="0"/>
              </a:rPr>
              <a:t>Permen LHK 8/2021 • Pasal 155</a:t>
            </a:r>
            <a:endParaRPr sz="1400" b="1">
              <a:solidFill>
                <a:srgbClr val="122B37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1288" y="3182112"/>
            <a:ext cx="9811512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E2326"/>
                </a:solidFill>
                <a:latin typeface="Cascadia Code" panose="020B0609020000020004" charset="0"/>
                <a:cs typeface="Cascadia Code" panose="020B0609020000020004" charset="0"/>
              </a:rPr>
              <a:t>Kegiatan Multiusaha Kehutanan dituangkan dalam RKUPH.</a:t>
            </a:r>
            <a:endParaRPr sz="1100" b="0">
              <a:solidFill>
                <a:srgbClr val="1E2326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120" y="3758184"/>
            <a:ext cx="101955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0120" y="3758184"/>
            <a:ext cx="73152" cy="932688"/>
          </a:xfrm>
          <a:prstGeom prst="rect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922776"/>
            <a:ext cx="3129915" cy="30670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Cascadia Code" panose="020B0609020000020004" charset="0"/>
                <a:cs typeface="Cascadia Code" panose="020B0609020000020004" charset="0"/>
              </a:rPr>
              <a:t>Permen LHK 8/2021 • Pasal 157</a:t>
            </a:r>
            <a:endParaRPr sz="1400" b="1">
              <a:solidFill>
                <a:srgbClr val="122B37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61288" y="4352544"/>
            <a:ext cx="9811512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E2326"/>
                </a:solidFill>
                <a:latin typeface="Cascadia Code" panose="020B0609020000020004" charset="0"/>
                <a:cs typeface="Cascadia Code" panose="020B0609020000020004" charset="0"/>
              </a:rPr>
              <a:t>Pemanfaatan Jasa Lingkungan mencakup penyerapan dan/atau penyimpanan karbon.</a:t>
            </a:r>
            <a:endParaRPr sz="1100" b="0">
              <a:solidFill>
                <a:srgbClr val="1E2326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60120" y="4928616"/>
            <a:ext cx="101955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0120" y="4928616"/>
            <a:ext cx="73152" cy="932688"/>
          </a:xfrm>
          <a:prstGeom prst="rect">
            <a:avLst/>
          </a:prstGeom>
          <a:solidFill>
            <a:srgbClr val="12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5093208"/>
            <a:ext cx="2815590" cy="30670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Cascadia Code" panose="020B0609020000020004" charset="0"/>
                <a:cs typeface="Cascadia Code" panose="020B0609020000020004" charset="0"/>
              </a:rPr>
              <a:t>Permenhut 6/2026 • Pasal 6</a:t>
            </a:r>
            <a:endParaRPr sz="1400" b="1">
              <a:solidFill>
                <a:srgbClr val="122B37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1288" y="5522976"/>
            <a:ext cx="9811512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E2326"/>
                </a:solidFill>
                <a:latin typeface="Cascadia Code" panose="020B0609020000020004" charset="0"/>
                <a:cs typeface="Cascadia Code" panose="020B0609020000020004" charset="0"/>
              </a:rPr>
              <a:t>Pemegang PBPH termasuk Pelaku Usaha dalam perdagangan karbon sektor kehutanan.</a:t>
            </a:r>
            <a:endParaRPr sz="1100" b="0">
              <a:solidFill>
                <a:srgbClr val="1E2326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2648" y="6510528"/>
            <a:ext cx="109728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6C70"/>
                </a:solidFill>
                <a:latin typeface="Aptos"/>
              </a:rPr>
              <a:t>Sumber resmi: PP 23/2021; Permen LHK 8/2021; Permenhut 6/2026.</a:t>
            </a:r>
            <a:endParaRPr sz="700" b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22B37"/>
                </a:solidFill>
                <a:latin typeface="Aptos"/>
              </a:rPr>
              <a:t>Model Transformasi yang Diusulkan</a:t>
            </a:r>
            <a:endParaRPr sz="2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46C70"/>
                </a:solidFill>
                <a:latin typeface="Aptos"/>
              </a:rPr>
              <a:t>Bukan melepas PBPH, tetapi mengubah portofolio kegiatan melalui Multiusaha Kehutanan</a:t>
            </a:r>
            <a:endParaRPr sz="1100" b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5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23" y="1417320"/>
            <a:ext cx="2176237" cy="4001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 dirty="0">
                <a:solidFill>
                  <a:srgbClr val="122B37"/>
                </a:solidFill>
                <a:latin typeface="Aptos"/>
              </a:rPr>
              <a:t>PBPH ±</a:t>
            </a:r>
            <a:r>
              <a:rPr lang="en-US" sz="2000" b="1" dirty="0">
                <a:solidFill>
                  <a:srgbClr val="122B37"/>
                </a:solidFill>
                <a:latin typeface="Aptos"/>
              </a:rPr>
              <a:t>138</a:t>
            </a:r>
            <a:r>
              <a:rPr lang="id-ID" sz="2000" b="1" dirty="0">
                <a:solidFill>
                  <a:srgbClr val="122B37"/>
                </a:solidFill>
                <a:latin typeface="Aptos"/>
              </a:rPr>
              <a:t>.000</a:t>
            </a:r>
            <a:r>
              <a:rPr sz="2000" b="1" dirty="0">
                <a:solidFill>
                  <a:srgbClr val="122B37"/>
                </a:solidFill>
                <a:latin typeface="Aptos"/>
              </a:rPr>
              <a:t> ha</a:t>
            </a:r>
            <a:endParaRPr sz="2000" b="1" dirty="0">
              <a:solidFill>
                <a:srgbClr val="122B37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651760" cy="2194560"/>
          </a:xfrm>
          <a:prstGeom prst="roundRect">
            <a:avLst/>
          </a:prstGeom>
          <a:solidFill>
            <a:srgbClr val="12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4490" y="2802255"/>
            <a:ext cx="1028700" cy="52197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lang="id-ID" sz="2800" b="1">
                <a:solidFill>
                  <a:schemeClr val="bg1"/>
                </a:solidFill>
                <a:latin typeface="Aptos"/>
              </a:rPr>
              <a:t>PBPH</a:t>
            </a:r>
            <a:endParaRPr lang="id-ID">
              <a:solidFill>
                <a:schemeClr val="bg1"/>
              </a:solidFill>
            </a:endParaRPr>
          </a:p>
        </p:txBody>
      </p:sp>
      <p:cxnSp>
        <p:nvCxnSpPr>
          <p:cNvPr id="9" name="Connector 8"/>
          <p:cNvCxnSpPr/>
          <p:nvPr/>
        </p:nvCxnSpPr>
        <p:spPr>
          <a:xfrm flipV="1">
            <a:off x="3520440" y="2240280"/>
            <a:ext cx="1097280" cy="868680"/>
          </a:xfrm>
          <a:prstGeom prst="line">
            <a:avLst/>
          </a:prstGeom>
          <a:ln w="38100">
            <a:solidFill>
              <a:srgbClr val="2D6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40" y="3108960"/>
            <a:ext cx="1097280" cy="914400"/>
          </a:xfrm>
          <a:prstGeom prst="line">
            <a:avLst/>
          </a:prstGeom>
          <a:ln w="38100">
            <a:solidFill>
              <a:srgbClr val="4A8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508760"/>
            <a:ext cx="6126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508760"/>
            <a:ext cx="73152" cy="1508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1673351"/>
            <a:ext cx="1946495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122B37"/>
                </a:solidFill>
                <a:latin typeface="Aptos"/>
              </a:rPr>
              <a:t>±</a:t>
            </a:r>
            <a:r>
              <a:rPr lang="en-US" sz="1400" b="1" dirty="0">
                <a:solidFill>
                  <a:srgbClr val="122B37"/>
                </a:solidFill>
                <a:latin typeface="Aptos"/>
              </a:rPr>
              <a:t>66</a:t>
            </a:r>
            <a:r>
              <a:rPr lang="id-ID" sz="1400" b="1" dirty="0">
                <a:solidFill>
                  <a:srgbClr val="122B37"/>
                </a:solidFill>
                <a:latin typeface="Aptos"/>
              </a:rPr>
              <a:t>.000</a:t>
            </a:r>
            <a:r>
              <a:rPr sz="1400" b="1" dirty="0">
                <a:solidFill>
                  <a:srgbClr val="122B37"/>
                </a:solidFill>
                <a:latin typeface="Aptos"/>
              </a:rPr>
              <a:t> ha • HTI / Kayu</a:t>
            </a:r>
            <a:endParaRPr sz="1400" b="1" dirty="0">
              <a:solidFill>
                <a:srgbClr val="122B3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54880" y="3520440"/>
            <a:ext cx="6126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520440"/>
            <a:ext cx="73152" cy="150876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3685032"/>
            <a:ext cx="2088515" cy="30670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±</a:t>
            </a:r>
            <a:r>
              <a:rPr lang="id-ID" sz="1400" b="1">
                <a:solidFill>
                  <a:srgbClr val="122B37"/>
                </a:solidFill>
                <a:latin typeface="Aptos"/>
              </a:rPr>
              <a:t>72.000</a:t>
            </a:r>
            <a:r>
              <a:rPr sz="1400" b="1">
                <a:solidFill>
                  <a:srgbClr val="122B37"/>
                </a:solidFill>
                <a:latin typeface="Aptos"/>
              </a:rPr>
              <a:t> ha • PJL Karbon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5349240"/>
            <a:ext cx="59436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46C70"/>
                </a:solidFill>
                <a:latin typeface="Aptos"/>
              </a:rPr>
              <a:t>Catatan: pembagian 100k/50k adalah skenario analisis, bukan penetapan final.</a:t>
            </a:r>
            <a:endParaRPr sz="1100" b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 Box 20"/>
          <p:cNvSpPr txBox="1"/>
          <p:nvPr/>
        </p:nvSpPr>
        <p:spPr>
          <a:xfrm>
            <a:off x="5220970" y="2027555"/>
            <a:ext cx="5462270" cy="772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1400">
                <a:solidFill>
                  <a:srgbClr val="1E2326"/>
                </a:solidFill>
                <a:latin typeface="Century" panose="02040604050505020304" charset="0"/>
                <a:cs typeface="Century" panose="02040604050505020304" charset="0"/>
                <a:sym typeface="+mn-ea"/>
              </a:rPr>
              <a:t>Kegiatan produksi tetap berjalan pada areal yang dipertahankan sebagai basis usaha kayu. Angka final mengikuti hasil penataan ulang RKUPH.</a:t>
            </a:r>
            <a:endParaRPr sz="1400" b="0">
              <a:solidFill>
                <a:srgbClr val="1E2326"/>
              </a:solidFill>
              <a:latin typeface="Century" panose="02040604050505020304" charset="0"/>
              <a:cs typeface="Century" panose="02040604050505020304" charset="0"/>
            </a:endParaRPr>
          </a:p>
          <a:p>
            <a:endParaRPr lang="en-US" sz="1400">
              <a:latin typeface="Century" panose="02040604050505020304" charset="0"/>
              <a:cs typeface="Century" panose="020406040505050203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271770" y="4083685"/>
            <a:ext cx="52463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1E2326"/>
                </a:solidFill>
                <a:latin typeface="Century" panose="02040604050505020304" charset="0"/>
                <a:cs typeface="Century" panose="02040604050505020304" charset="0"/>
                <a:sym typeface="+mn-ea"/>
              </a:rPr>
              <a:t>Kandidat perlindungan stok karbon, avoided conversion, restorasi/rewetting, pengendalian kebakaran dan peningkatan serapan—setelah screening.</a:t>
            </a:r>
            <a:endParaRPr lang="en-US" sz="1400">
              <a:latin typeface="Century" panose="02040604050505020304" charset="0"/>
              <a:cs typeface="Century" panose="020406040505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chemeClr val="tx1"/>
                </a:solidFill>
                <a:latin typeface="Aptos"/>
              </a:rPr>
              <a:t>Logika Carbon Accounting</a:t>
            </a:r>
            <a:endParaRPr sz="260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6635115" cy="30670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>
                <a:solidFill>
                  <a:schemeClr val="tx1"/>
                </a:solidFill>
                <a:latin typeface="Aptos"/>
              </a:rPr>
              <a:t>Kredit berasal dari perbedaan yang terverifikasi antara baseline dan skenario proyek</a:t>
            </a:r>
            <a:endParaRPr sz="1400">
              <a:solidFill>
                <a:schemeClr val="tx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6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383280"/>
          </a:xfrm>
          <a:prstGeom prst="rect">
            <a:avLst/>
          </a:prstGeom>
          <a:solidFill>
            <a:srgbClr val="A34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1640840" cy="33718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2B37"/>
                </a:solidFill>
                <a:latin typeface="Aptos"/>
              </a:rPr>
              <a:t>BASELINE / BAU</a:t>
            </a:r>
            <a:endParaRPr sz="1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989070" cy="210693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E2326"/>
                </a:solidFill>
                <a:latin typeface="Aptos"/>
              </a:rPr>
              <a:t>RKU HTI dijalankan</a:t>
            </a:r>
            <a:br>
              <a:rPr sz="1100" b="0">
                <a:solidFill>
                  <a:srgbClr val="1E2326"/>
                </a:solidFill>
                <a:latin typeface="Aptos"/>
              </a:rPr>
            </a:br>
            <a:br>
              <a:rPr sz="1100" b="0">
                <a:solidFill>
                  <a:srgbClr val="1E2326"/>
                </a:solidFill>
                <a:latin typeface="Aptos"/>
              </a:rPr>
            </a:br>
            <a:r>
              <a:t>• pembukaan vegetasi yang legal</a:t>
            </a:r>
            <a:br/>
            <a:r>
              <a:t>• pembangunan/drainase kanal yang legal</a:t>
            </a:r>
            <a:br/>
            <a:r>
              <a:t>• rotasi tanaman</a:t>
            </a:r>
            <a:br/>
            <a:r>
              <a:t>• risiko emisi gambut/kebakaran</a:t>
            </a:r>
            <a:br/>
            <a:br/>
            <a:r>
              <a:t>→ proyeksi emisi tanpa intervensi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074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73152" cy="3383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581912"/>
            <a:ext cx="2002790" cy="33718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2B37"/>
                </a:solidFill>
                <a:latin typeface="Aptos"/>
              </a:rPr>
              <a:t>PROJECT SCENARIO</a:t>
            </a:r>
            <a:endParaRPr sz="1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6248" y="2011680"/>
            <a:ext cx="4690872" cy="2670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E2326"/>
                </a:solidFill>
                <a:latin typeface="Aptos"/>
              </a:rPr>
              <a:t>MUK karbon dijalankan</a:t>
            </a:r>
            <a:br>
              <a:rPr sz="1100" b="0">
                <a:solidFill>
                  <a:srgbClr val="1E2326"/>
                </a:solidFill>
                <a:latin typeface="Aptos"/>
              </a:rPr>
            </a:br>
            <a:br>
              <a:rPr sz="1100" b="0">
                <a:solidFill>
                  <a:srgbClr val="1E2326"/>
                </a:solidFill>
                <a:latin typeface="Aptos"/>
              </a:rPr>
            </a:br>
            <a:r>
              <a:t>• perlindungan hutan</a:t>
            </a:r>
            <a:br/>
            <a:r>
              <a:t>• menghindari konversi yang eligible</a:t>
            </a:r>
            <a:br/>
            <a:r>
              <a:t>• rewetting/restorasi</a:t>
            </a:r>
            <a:br/>
            <a:r>
              <a:t>• pengendalian kebakaran</a:t>
            </a:r>
            <a:br/>
            <a:r>
              <a:t>• peningkatan stok karbon</a:t>
            </a:r>
            <a:br/>
            <a:br/>
            <a:r>
              <a:t>→ emisi lebih rendah / serapan lebih tinggi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3108960"/>
            <a:ext cx="502920" cy="0"/>
          </a:xfrm>
          <a:prstGeom prst="line">
            <a:avLst/>
          </a:prstGeom>
          <a:ln w="38100">
            <a:solidFill>
              <a:srgbClr val="122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6510528"/>
            <a:ext cx="109728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6C70"/>
                </a:solidFill>
                <a:latin typeface="Aptos"/>
              </a:rPr>
              <a:t>Permenhut 6/2026 menempatkan baseline dan additionality sebagai elemen penting dalam aksi mitigasi/perdagangan karbon.</a:t>
            </a:r>
            <a:endParaRPr sz="700" b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 Box 17"/>
          <p:cNvSpPr txBox="1"/>
          <p:nvPr/>
        </p:nvSpPr>
        <p:spPr>
          <a:xfrm>
            <a:off x="1896745" y="5278755"/>
            <a:ext cx="8728075" cy="766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b="1">
                <a:solidFill>
                  <a:srgbClr val="122B37"/>
                </a:solidFill>
                <a:latin typeface="Aptos"/>
                <a:sym typeface="+mn-ea"/>
              </a:rPr>
              <a:t>POTENSI UNIT KARBON = kinerja mitigasi yang terukur, additional, tervalidasi dan terverifikasi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22B37"/>
                </a:solidFill>
                <a:latin typeface="Aptos"/>
              </a:rPr>
              <a:t>Legal Baseline adalah Gate Utama</a:t>
            </a:r>
            <a:endParaRPr sz="2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5369560" cy="30670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46C70"/>
                </a:solidFill>
                <a:latin typeface="Aptos"/>
              </a:rPr>
              <a:t>Tidak semua emisi yang 'dihindari' boleh diklaim sebagai additional</a:t>
            </a:r>
            <a:endParaRPr sz="1400" b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7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04565" y="1417320"/>
            <a:ext cx="5335270" cy="35242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lang="id-ID" sz="1700" b="1">
                <a:solidFill>
                  <a:srgbClr val="122B37"/>
                </a:solidFill>
                <a:latin typeface="Aptos"/>
              </a:rPr>
              <a:t>CONTOH UJI PADA KAWASAN LINDUNG</a:t>
            </a:r>
            <a:r>
              <a:rPr sz="1700" b="1">
                <a:solidFill>
                  <a:srgbClr val="122B37"/>
                </a:solidFill>
                <a:latin typeface="Aptos"/>
              </a:rPr>
              <a:t> </a:t>
            </a:r>
            <a:r>
              <a:rPr lang="id-ID" sz="1700" b="1">
                <a:solidFill>
                  <a:srgbClr val="122B37"/>
                </a:solidFill>
                <a:latin typeface="Aptos"/>
              </a:rPr>
              <a:t>72.000</a:t>
            </a:r>
            <a:r>
              <a:rPr sz="1700" b="1">
                <a:solidFill>
                  <a:srgbClr val="122B37"/>
                </a:solidFill>
                <a:latin typeface="Aptos"/>
              </a:rPr>
              <a:t> HA</a:t>
            </a:r>
            <a:endParaRPr sz="17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3000" y="2057400"/>
            <a:ext cx="502920" cy="5029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3055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74520" y="2038985"/>
            <a:ext cx="8426450" cy="741045"/>
          </a:xfrm>
          <a:prstGeom prst="rect">
            <a:avLst/>
          </a:prstGeom>
          <a:noFill/>
        </p:spPr>
        <p:txBody>
          <a:bodyPr wrap="none" lIns="45720" rIns="45720" anchor="t">
            <a:noAutofit/>
          </a:bodyPr>
          <a:lstStyle/>
          <a:p>
            <a:pPr algn="l"/>
            <a:endParaRPr lang="id-ID" sz="1400" b="1">
              <a:solidFill>
                <a:srgbClr val="1E2326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43000" y="2834640"/>
            <a:ext cx="502920" cy="502920"/>
          </a:xfrm>
          <a:prstGeom prst="ellipse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0779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43000" y="3611880"/>
            <a:ext cx="502920" cy="502920"/>
          </a:xfrm>
          <a:prstGeom prst="ellipse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68503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43000" y="4389120"/>
            <a:ext cx="502920" cy="502920"/>
          </a:xfrm>
          <a:prstGeom prst="ellipse">
            <a:avLst/>
          </a:prstGeom>
          <a:solidFill>
            <a:srgbClr val="A34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46227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43000" y="5166359"/>
            <a:ext cx="502920" cy="502920"/>
          </a:xfrm>
          <a:prstGeom prst="ellipse">
            <a:avLst/>
          </a:prstGeom>
          <a:solidFill>
            <a:srgbClr val="12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239512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 Box 22"/>
          <p:cNvSpPr txBox="1"/>
          <p:nvPr/>
        </p:nvSpPr>
        <p:spPr>
          <a:xfrm>
            <a:off x="1874520" y="1908810"/>
            <a:ext cx="90531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1">
                <a:solidFill>
                  <a:srgbClr val="1E2326"/>
                </a:solidFill>
                <a:latin typeface="Aptos"/>
                <a:sym typeface="+mn-ea"/>
              </a:rPr>
              <a:t>Apakah p</a:t>
            </a:r>
            <a:r>
              <a:rPr lang="id-ID" sz="1400" b="1">
                <a:solidFill>
                  <a:srgbClr val="1E2326"/>
                </a:solidFill>
                <a:latin typeface="Aptos"/>
                <a:sym typeface="+mn-ea"/>
              </a:rPr>
              <a:t>enetapan</a:t>
            </a:r>
            <a:r>
              <a:rPr sz="1400" b="1">
                <a:solidFill>
                  <a:srgbClr val="1E2326"/>
                </a:solidFill>
                <a:latin typeface="Aptos"/>
                <a:sym typeface="+mn-ea"/>
              </a:rPr>
              <a:t> pada blok tersebut memang legal?</a:t>
            </a:r>
            <a:endParaRPr sz="1400" b="1">
              <a:solidFill>
                <a:srgbClr val="1E2326"/>
              </a:solidFill>
              <a:latin typeface="Aptos"/>
            </a:endParaRPr>
          </a:p>
          <a:p>
            <a:pPr algn="l"/>
            <a:r>
              <a:rPr lang="id-ID" sz="1400">
                <a:solidFill>
                  <a:srgbClr val="1E2326"/>
                </a:solidFill>
                <a:latin typeface="Aptos"/>
                <a:sym typeface="+mn-ea"/>
              </a:rPr>
              <a:t>Penetapan pada blok tersebut legal karena merupakan kawasan lindung yang diperuntukan untuk multiusaha kehutanan, berdasarkan SK PBPH</a:t>
            </a:r>
            <a:endParaRPr lang="en-US" sz="1400"/>
          </a:p>
        </p:txBody>
      </p:sp>
      <p:sp>
        <p:nvSpPr>
          <p:cNvPr id="24" name="Text Box 23"/>
          <p:cNvSpPr txBox="1"/>
          <p:nvPr/>
        </p:nvSpPr>
        <p:spPr>
          <a:xfrm>
            <a:off x="1874520" y="2814320"/>
            <a:ext cx="9053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1">
                <a:solidFill>
                  <a:srgbClr val="1E2326"/>
                </a:solidFill>
                <a:latin typeface="Aptos"/>
                <a:sym typeface="+mn-ea"/>
              </a:rPr>
              <a:t>Apakah RKU/RKT dan rekam jejak menunjukkan BAU tersebut realistis?</a:t>
            </a:r>
            <a:endParaRPr sz="1400" b="1">
              <a:solidFill>
                <a:srgbClr val="1E2326"/>
              </a:solidFill>
              <a:latin typeface="Aptos"/>
              <a:sym typeface="+mn-ea"/>
            </a:endParaRPr>
          </a:p>
          <a:p>
            <a:pPr algn="l"/>
            <a:r>
              <a:rPr lang="id-ID" altLang="en-US" sz="1400"/>
              <a:t>RKU/RKT secara realisasi menjadi realistis untuk BAU nya, dan membutuhkan waktu 5-10 tahun, sejak berdirinya PBPH</a:t>
            </a:r>
            <a:endParaRPr lang="id-ID" altLang="en-US" sz="1400"/>
          </a:p>
        </p:txBody>
      </p:sp>
      <p:sp>
        <p:nvSpPr>
          <p:cNvPr id="25" name="Text Box 24"/>
          <p:cNvSpPr txBox="1"/>
          <p:nvPr/>
        </p:nvSpPr>
        <p:spPr>
          <a:xfrm>
            <a:off x="1882140" y="3480435"/>
            <a:ext cx="90531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1">
                <a:solidFill>
                  <a:srgbClr val="1E2326"/>
                </a:solidFill>
                <a:latin typeface="Aptos"/>
                <a:sym typeface="+mn-ea"/>
              </a:rPr>
              <a:t>Apakah areal bukan kawasan yang sejak awal wajib dilindungi?</a:t>
            </a:r>
            <a:endParaRPr sz="1400" b="1">
              <a:solidFill>
                <a:srgbClr val="1E2326"/>
              </a:solidFill>
              <a:latin typeface="Aptos"/>
              <a:sym typeface="+mn-ea"/>
            </a:endParaRPr>
          </a:p>
          <a:p>
            <a:pPr algn="l"/>
            <a:r>
              <a:rPr lang="id-ID" altLang="en-US" sz="1400"/>
              <a:t>Areal yang diperuntukkan untuk analisis multiusaha kehutanan ini adalah kawasan lindung, yang mana fungsi sebagai areal konservasi tetap bisa terjaga, sekaligus untuk Project Carbon</a:t>
            </a:r>
            <a:endParaRPr lang="id-ID" altLang="en-US" sz="1400"/>
          </a:p>
        </p:txBody>
      </p:sp>
      <p:sp>
        <p:nvSpPr>
          <p:cNvPr id="26" name="Text Box 25"/>
          <p:cNvSpPr txBox="1"/>
          <p:nvPr/>
        </p:nvSpPr>
        <p:spPr>
          <a:xfrm>
            <a:off x="1887855" y="4313555"/>
            <a:ext cx="90531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1">
                <a:solidFill>
                  <a:srgbClr val="1E2326"/>
                </a:solidFill>
                <a:latin typeface="Aptos"/>
                <a:sym typeface="+mn-ea"/>
              </a:rPr>
              <a:t>Apakah penghentian kegiatan terjadi karena proyek, bukan kewajiban hukum?</a:t>
            </a:r>
            <a:endParaRPr sz="1400" b="1">
              <a:solidFill>
                <a:srgbClr val="1E2326"/>
              </a:solidFill>
              <a:latin typeface="Aptos"/>
              <a:sym typeface="+mn-ea"/>
            </a:endParaRPr>
          </a:p>
          <a:p>
            <a:pPr algn="l"/>
            <a:r>
              <a:rPr lang="id-ID" altLang="en-US" sz="1400"/>
              <a:t>Kegiatan dalam PBPH untuk produksi tidak berhenti, akan tetapi penambahan multiusaha pada kawasan lindung, terutama dalam Project Carbon</a:t>
            </a:r>
            <a:endParaRPr lang="id-ID" altLang="en-US" sz="1400"/>
          </a:p>
        </p:txBody>
      </p:sp>
      <p:sp>
        <p:nvSpPr>
          <p:cNvPr id="27" name="Text Box 26"/>
          <p:cNvSpPr txBox="1"/>
          <p:nvPr/>
        </p:nvSpPr>
        <p:spPr>
          <a:xfrm>
            <a:off x="1887855" y="5138420"/>
            <a:ext cx="9053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400" b="1">
                <a:solidFill>
                  <a:srgbClr val="1E2326"/>
                </a:solidFill>
                <a:latin typeface="Aptos"/>
                <a:sym typeface="+mn-ea"/>
              </a:rPr>
              <a:t>Apakah metodologi karbon mengakui aktivitas dan sumber emisinya?</a:t>
            </a:r>
            <a:endParaRPr sz="1400" b="1">
              <a:solidFill>
                <a:srgbClr val="1E2326"/>
              </a:solidFill>
              <a:latin typeface="Aptos"/>
              <a:sym typeface="+mn-ea"/>
            </a:endParaRPr>
          </a:p>
          <a:p>
            <a:pPr algn="l"/>
            <a:r>
              <a:rPr lang="id-ID" altLang="en-US" sz="1400"/>
              <a:t>Metodologi karbon yang akan digunakan nantinya sesuai dengan SRUK</a:t>
            </a:r>
            <a:endParaRPr lang="id-ID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144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62500" cy="49149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chemeClr val="tx1"/>
                </a:solidFill>
                <a:latin typeface="Aptos"/>
              </a:rPr>
              <a:t>Screening Kandidat </a:t>
            </a:r>
            <a:r>
              <a:rPr lang="id-ID" sz="2600" b="1">
                <a:solidFill>
                  <a:schemeClr val="tx1"/>
                </a:solidFill>
                <a:latin typeface="Aptos"/>
              </a:rPr>
              <a:t>72.000</a:t>
            </a:r>
            <a:r>
              <a:rPr sz="2600" b="1">
                <a:solidFill>
                  <a:schemeClr val="tx1"/>
                </a:solidFill>
                <a:latin typeface="Aptos"/>
              </a:rPr>
              <a:t> Ha</a:t>
            </a:r>
            <a:endParaRPr sz="260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5771515" cy="26035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646C70"/>
                </a:solidFill>
                <a:latin typeface="Aptos"/>
              </a:rPr>
              <a:t>Tujuan: memisahkan area yang potensial dikreditkan dari area kewajiban atau berisiko</a:t>
            </a:r>
            <a:endParaRPr sz="11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8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251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154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A • PRIORITAS TINGGI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425196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81912"/>
            <a:ext cx="3154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B • RESTORASI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4251960"/>
          </a:xfrm>
          <a:prstGeom prst="rect">
            <a:avLst/>
          </a:prstGeom>
          <a:solidFill>
            <a:srgbClr val="A34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81912"/>
            <a:ext cx="3154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C • KEWAJIBAN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 Box 18"/>
          <p:cNvSpPr txBox="1"/>
          <p:nvPr/>
        </p:nvSpPr>
        <p:spPr>
          <a:xfrm>
            <a:off x="1119505" y="2011680"/>
            <a:ext cx="265239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>
                <a:solidFill>
                  <a:srgbClr val="1E2326"/>
                </a:solidFill>
                <a:latin typeface="Aptos"/>
                <a:sym typeface="+mn-ea"/>
              </a:rPr>
              <a:t>Areal yang secara legal &amp; kredibel masih dapat dikelola untuk produksi/HTI, memiliki stok karbon signifikan, dan penghindaran konversinya dapat dibuktikan additional.</a:t>
            </a:r>
            <a:br>
              <a:rPr>
                <a:solidFill>
                  <a:srgbClr val="1E2326"/>
                </a:solidFill>
                <a:latin typeface="Aptos"/>
                <a:sym typeface="+mn-ea"/>
              </a:rPr>
            </a:br>
            <a:br>
              <a:rPr>
                <a:solidFill>
                  <a:srgbClr val="1E2326"/>
                </a:solidFill>
                <a:latin typeface="Aptos"/>
                <a:sym typeface="+mn-ea"/>
              </a:rPr>
            </a:br>
            <a:r>
              <a:rPr>
                <a:sym typeface="+mn-ea"/>
              </a:rPr>
              <a:t>→ </a:t>
            </a:r>
            <a:r>
              <a:rPr b="1">
                <a:sym typeface="+mn-ea"/>
              </a:rPr>
              <a:t>fokus feasibility</a:t>
            </a:r>
            <a:endParaRPr lang="en-US" b="1"/>
          </a:p>
        </p:txBody>
      </p:sp>
      <p:sp>
        <p:nvSpPr>
          <p:cNvPr id="20" name="Text Box 19"/>
          <p:cNvSpPr txBox="1"/>
          <p:nvPr/>
        </p:nvSpPr>
        <p:spPr>
          <a:xfrm>
            <a:off x="4735195" y="2066290"/>
            <a:ext cx="2964180" cy="2774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>
                <a:solidFill>
                  <a:srgbClr val="1E2326"/>
                </a:solidFill>
                <a:latin typeface="Aptos"/>
                <a:sym typeface="+mn-ea"/>
              </a:rPr>
              <a:t>Areal terdegradasi/drained yang memiliki peluang rewetting, revegetasi, peningkatan stok karbon atau pengurangan risiko kebakaran.</a:t>
            </a:r>
            <a:br>
              <a:rPr>
                <a:solidFill>
                  <a:srgbClr val="1E2326"/>
                </a:solidFill>
                <a:latin typeface="Aptos"/>
                <a:sym typeface="+mn-ea"/>
              </a:rPr>
            </a:br>
            <a:br>
              <a:rPr>
                <a:solidFill>
                  <a:srgbClr val="1E2326"/>
                </a:solidFill>
                <a:latin typeface="Aptos"/>
                <a:sym typeface="+mn-ea"/>
              </a:rPr>
            </a:br>
            <a:r>
              <a:rPr>
                <a:sym typeface="+mn-ea"/>
              </a:rPr>
              <a:t>→ </a:t>
            </a:r>
            <a:r>
              <a:rPr b="1">
                <a:sym typeface="+mn-ea"/>
              </a:rPr>
              <a:t>uji metodologi &amp; biaya</a:t>
            </a:r>
            <a:endParaRPr>
              <a:sym typeface="+mn-ea"/>
            </a:endParaRPr>
          </a:p>
          <a:p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8451215" y="1985010"/>
            <a:ext cx="26168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>
                <a:solidFill>
                  <a:srgbClr val="1E2326"/>
                </a:solidFill>
                <a:latin typeface="Aptos"/>
                <a:sym typeface="+mn-ea"/>
              </a:rPr>
              <a:t>Kawasan lindung, sempadan, puncak kubah gambut/habitat tertentu atau area lain yang memang wajib dilindungi.</a:t>
            </a:r>
            <a:br>
              <a:rPr>
                <a:solidFill>
                  <a:srgbClr val="1E2326"/>
                </a:solidFill>
                <a:latin typeface="Aptos"/>
                <a:sym typeface="+mn-ea"/>
              </a:rPr>
            </a:br>
            <a:br>
              <a:rPr>
                <a:solidFill>
                  <a:srgbClr val="1E2326"/>
                </a:solidFill>
                <a:latin typeface="Aptos"/>
                <a:sym typeface="+mn-ea"/>
              </a:rPr>
            </a:br>
            <a:r>
              <a:rPr>
                <a:sym typeface="+mn-ea"/>
              </a:rPr>
              <a:t>→ </a:t>
            </a:r>
            <a:r>
              <a:rPr b="1">
                <a:sym typeface="+mn-ea"/>
              </a:rPr>
              <a:t>konservasi tetap penting, tetapi additionality kredit perlu diuji ketat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2263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chemeClr val="tx1"/>
                </a:solidFill>
                <a:latin typeface="Aptos"/>
              </a:rPr>
              <a:t>Jika Konsesi Bergambut: Opportunity &amp; Constraint</a:t>
            </a:r>
            <a:endParaRPr sz="260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448308"/>
            <a:ext cx="5827395" cy="26035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646C70"/>
                </a:solidFill>
                <a:latin typeface="Aptos"/>
              </a:rPr>
              <a:t>Kanal dapat meningkatkan potensi mitigasi, sekaligus memperketat legal due diligence</a:t>
            </a:r>
            <a:endParaRPr sz="11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9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914400" y="2364740"/>
            <a:ext cx="1143000" cy="11430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3302" y="2675255"/>
            <a:ext cx="925195" cy="52197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Avoided</a:t>
            </a:r>
            <a:b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sz="14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conversion</a:t>
            </a:r>
            <a:endParaRPr sz="14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084832" y="2931668"/>
            <a:ext cx="97840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46120" y="2364740"/>
            <a:ext cx="1143000" cy="1143000"/>
          </a:xfrm>
          <a:prstGeom prst="ellipse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1357" y="2675255"/>
            <a:ext cx="1152525" cy="52197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Avoided peat</a:t>
            </a:r>
            <a:b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sz="14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drainage</a:t>
            </a:r>
            <a:endParaRPr sz="14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416552" y="2931668"/>
            <a:ext cx="97840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577840" y="2364740"/>
            <a:ext cx="1143000" cy="1143000"/>
          </a:xfrm>
          <a:prstGeom prst="ellipse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6734" y="2675255"/>
            <a:ext cx="1045210" cy="52197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Rewetting /</a:t>
            </a:r>
            <a:b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sz="14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restoration</a:t>
            </a:r>
            <a:endParaRPr sz="14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748272" y="2931668"/>
            <a:ext cx="978407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909560" y="2364740"/>
            <a:ext cx="1143000" cy="1143000"/>
          </a:xfrm>
          <a:prstGeom prst="ellipse">
            <a:avLst/>
          </a:prstGeom>
          <a:solidFill>
            <a:srgbClr val="A34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7357" y="2675255"/>
            <a:ext cx="827405" cy="52197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Fire risk</a:t>
            </a:r>
            <a:b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sz="14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reduction</a:t>
            </a:r>
            <a:endParaRPr sz="14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9079992" y="2931668"/>
            <a:ext cx="97840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241280" y="2364740"/>
            <a:ext cx="1143000" cy="1143000"/>
          </a:xfrm>
          <a:prstGeom prst="ellipse">
            <a:avLst/>
          </a:prstGeom>
          <a:solidFill>
            <a:srgbClr val="12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2255" y="2675255"/>
            <a:ext cx="781050" cy="52197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Biomass</a:t>
            </a:r>
            <a:br>
              <a:rPr sz="1400" b="1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</a:br>
            <a:r>
              <a:rPr sz="14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recovery</a:t>
            </a:r>
            <a:endParaRPr sz="14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80490" y="4141470"/>
            <a:ext cx="9491980" cy="33718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  <a:latin typeface="Aptos"/>
              </a:rPr>
              <a:t>Potensi pengurangan emisi bisa berasal dari beberapa sumber</a:t>
            </a:r>
            <a:r>
              <a:rPr lang="id-ID" sz="1600" b="1">
                <a:solidFill>
                  <a:schemeClr val="tx1"/>
                </a:solidFill>
                <a:latin typeface="Aptos"/>
              </a:rPr>
              <a:t>,</a:t>
            </a:r>
            <a:r>
              <a:rPr sz="1600" b="1">
                <a:solidFill>
                  <a:schemeClr val="tx1"/>
                </a:solidFill>
                <a:latin typeface="Aptos"/>
              </a:rPr>
              <a:t> tetapi tidak boleh double counting.</a:t>
            </a:r>
            <a:endParaRPr sz="160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 Box 22"/>
          <p:cNvSpPr txBox="1"/>
          <p:nvPr/>
        </p:nvSpPr>
        <p:spPr>
          <a:xfrm>
            <a:off x="612775" y="5692775"/>
            <a:ext cx="10587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solidFill>
                  <a:srgbClr val="1E2326"/>
                </a:solidFill>
                <a:latin typeface="Aptos"/>
                <a:sym typeface="+mn-ea"/>
              </a:rPr>
              <a:t>Constraint</a:t>
            </a:r>
            <a:r>
              <a:rPr sz="1400">
                <a:solidFill>
                  <a:srgbClr val="1E2326"/>
                </a:solidFill>
                <a:latin typeface="Aptos"/>
                <a:sym typeface="+mn-ea"/>
              </a:rPr>
              <a:t>: fungsi ekosistem gambut, kewajiban perlindungan, status kanal existing, legalitas baseline, permanence/reversal dan kebakaran harus masuk desain proyek.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chemeClr val="tx1"/>
                </a:solidFill>
                <a:latin typeface="Aptos"/>
              </a:rPr>
              <a:t>Kelayakan Usaha: Bandingkan NPV HTI vs NPV Karbon</a:t>
            </a:r>
            <a:endParaRPr sz="2600" b="1">
              <a:solidFill>
                <a:schemeClr val="tx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4705350" cy="27559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646C70"/>
                </a:solidFill>
                <a:latin typeface="Aptos"/>
              </a:rPr>
              <a:t>Keputusan tidak boleh didasarkan pada harga karbon per hektar</a:t>
            </a:r>
            <a:endParaRPr sz="12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10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3891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7095" y="1581785"/>
            <a:ext cx="4817745" cy="320675"/>
          </a:xfrm>
          <a:prstGeom prst="rect">
            <a:avLst/>
          </a:prstGeom>
          <a:noFill/>
        </p:spPr>
        <p:txBody>
          <a:bodyPr wrap="none" lIns="45720" rIns="45720" anchor="t">
            <a:noAutofit/>
          </a:bodyPr>
          <a:lstStyle/>
          <a:p>
            <a:pPr algn="ctr"/>
            <a:r>
              <a:rPr b="1">
                <a:solidFill>
                  <a:srgbClr val="122B37"/>
                </a:solidFill>
                <a:latin typeface="Cascadia Code" panose="020B0609020000020004" charset="0"/>
                <a:cs typeface="Cascadia Code" panose="020B0609020000020004" charset="0"/>
              </a:rPr>
              <a:t>SKENARIO A • LANJUT HTI</a:t>
            </a:r>
            <a:endParaRPr b="1">
              <a:solidFill>
                <a:srgbClr val="122B37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3063" y="2162810"/>
            <a:ext cx="4165600" cy="310769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E2326"/>
                </a:solidFill>
                <a:latin typeface="Century" panose="02040604050505020304" charset="0"/>
                <a:cs typeface="Century" panose="02040604050505020304" charset="0"/>
              </a:rPr>
              <a:t>Pendapatan</a:t>
            </a:r>
            <a:br>
              <a:rPr sz="1100" b="0">
                <a:solidFill>
                  <a:srgbClr val="1E2326"/>
                </a:solidFill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+ penjualan kayu akasia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 b="1">
                <a:latin typeface="Century" panose="02040604050505020304" charset="0"/>
                <a:cs typeface="Century" panose="02040604050505020304" charset="0"/>
              </a:rPr>
              <a:t>Biaya &amp; risiko</a:t>
            </a:r>
            <a:br>
              <a:rPr b="1"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land clearing &amp; pembangunan kanal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nursery, planting, silvikultur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harvesting &amp; transport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kebakaran &amp; gangguan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kewajiban lingkungan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 b="1">
                <a:latin typeface="Century" panose="02040604050505020304" charset="0"/>
                <a:cs typeface="Century" panose="02040604050505020304" charset="0"/>
              </a:rPr>
              <a:t>→ NPV HTI</a:t>
            </a:r>
            <a:endParaRPr b="1">
              <a:latin typeface="Century" panose="02040604050505020304" charset="0"/>
              <a:cs typeface="Century" panose="020406040505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57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38912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6977" y="1581912"/>
            <a:ext cx="3187700" cy="3683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b="1">
                <a:solidFill>
                  <a:srgbClr val="122B37"/>
                </a:solidFill>
                <a:latin typeface="Cascadia Code" panose="020B0609020000020004" charset="0"/>
                <a:cs typeface="Cascadia Code" panose="020B0609020000020004" charset="0"/>
              </a:rPr>
              <a:t>SKENARIO B • MUK KARBON</a:t>
            </a:r>
            <a:endParaRPr b="1">
              <a:solidFill>
                <a:srgbClr val="122B37"/>
              </a:solidFill>
              <a:latin typeface="Cascadia Code" panose="020B0609020000020004" charset="0"/>
              <a:cs typeface="Cascadia Code" panose="020B06090200000200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6977" y="2162810"/>
            <a:ext cx="3235325" cy="338455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E2326"/>
                </a:solidFill>
                <a:latin typeface="Century" panose="02040604050505020304" charset="0"/>
                <a:cs typeface="Century" panose="02040604050505020304" charset="0"/>
              </a:rPr>
              <a:t>Pendapatan</a:t>
            </a:r>
            <a:br>
              <a:rPr sz="1100" b="0">
                <a:solidFill>
                  <a:srgbClr val="1E2326"/>
                </a:solidFill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+ unit karbon eligible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+ potensi PJL/HHBK lain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 b="1">
                <a:latin typeface="Century" panose="02040604050505020304" charset="0"/>
                <a:cs typeface="Century" panose="02040604050505020304" charset="0"/>
              </a:rPr>
              <a:t>Biaya &amp; risiko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opportunity cost kayu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proteksi/restorasi/rewetting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MRV, validasi &amp; verifikasi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registrasi/developer/buffer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>
                <a:latin typeface="Century" panose="02040604050505020304" charset="0"/>
                <a:cs typeface="Century" panose="02040604050505020304" charset="0"/>
              </a:rPr>
              <a:t>− community &amp; safeguard</a:t>
            </a:r>
            <a:br>
              <a:rPr>
                <a:latin typeface="Century" panose="02040604050505020304" charset="0"/>
                <a:cs typeface="Century" panose="02040604050505020304" charset="0"/>
              </a:rPr>
            </a:br>
            <a:br>
              <a:rPr>
                <a:latin typeface="Century" panose="02040604050505020304" charset="0"/>
                <a:cs typeface="Century" panose="02040604050505020304" charset="0"/>
              </a:rPr>
            </a:br>
            <a:r>
              <a:rPr b="1">
                <a:latin typeface="Century" panose="02040604050505020304" charset="0"/>
                <a:cs typeface="Century" panose="02040604050505020304" charset="0"/>
              </a:rPr>
              <a:t>→ NPV Karbon</a:t>
            </a:r>
            <a:endParaRPr b="1">
              <a:latin typeface="Century" panose="02040604050505020304" charset="0"/>
              <a:cs typeface="Century" panose="020406040505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6080" y="5989320"/>
            <a:ext cx="63093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22B37"/>
                </a:solidFill>
                <a:latin typeface="Aptos"/>
              </a:rPr>
              <a:t>GO jika risk-adjusted NPV Karbon &gt; alternatif HTI + strategic value</a:t>
            </a:r>
            <a:endParaRPr sz="15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4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22B37"/>
                </a:solidFill>
                <a:latin typeface="Aptos"/>
              </a:rPr>
              <a:t>Variabel yang Paling Menggerakkan Nilai Proyek</a:t>
            </a:r>
            <a:endParaRPr sz="26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4260141" cy="2616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 dirty="0" err="1">
                <a:solidFill>
                  <a:srgbClr val="646C70"/>
                </a:solidFill>
                <a:latin typeface="Aptos"/>
              </a:rPr>
              <a:t>Empat</a:t>
            </a:r>
            <a:r>
              <a:rPr sz="1100" b="0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646C70"/>
                </a:solidFill>
                <a:latin typeface="Aptos"/>
              </a:rPr>
              <a:t>variabel</a:t>
            </a:r>
            <a:r>
              <a:rPr sz="1100" b="0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646C70"/>
                </a:solidFill>
                <a:latin typeface="Aptos"/>
              </a:rPr>
              <a:t>menentukan</a:t>
            </a:r>
            <a:r>
              <a:rPr sz="1100" b="0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646C70"/>
                </a:solidFill>
                <a:latin typeface="Aptos"/>
              </a:rPr>
              <a:t>apakah</a:t>
            </a:r>
            <a:r>
              <a:rPr sz="1100" b="0" dirty="0">
                <a:solidFill>
                  <a:srgbClr val="646C70"/>
                </a:solidFill>
                <a:latin typeface="Aptos"/>
              </a:rPr>
              <a:t> </a:t>
            </a:r>
            <a:r>
              <a:rPr lang="en-US" sz="1100" b="0" dirty="0">
                <a:solidFill>
                  <a:srgbClr val="646C70"/>
                </a:solidFill>
                <a:latin typeface="Aptos"/>
              </a:rPr>
              <a:t>72.</a:t>
            </a:r>
            <a:r>
              <a:rPr lang="en-US" sz="1100" dirty="0">
                <a:solidFill>
                  <a:srgbClr val="646C70"/>
                </a:solidFill>
                <a:latin typeface="Aptos"/>
              </a:rPr>
              <a:t>000 </a:t>
            </a:r>
            <a:r>
              <a:rPr sz="1100" b="0" dirty="0">
                <a:solidFill>
                  <a:srgbClr val="646C70"/>
                </a:solidFill>
                <a:latin typeface="Aptos"/>
              </a:rPr>
              <a:t>ha </a:t>
            </a:r>
            <a:r>
              <a:rPr sz="1100" b="0" dirty="0" err="1">
                <a:solidFill>
                  <a:srgbClr val="646C70"/>
                </a:solidFill>
                <a:latin typeface="Aptos"/>
              </a:rPr>
              <a:t>benar-benar</a:t>
            </a:r>
            <a:r>
              <a:rPr sz="1100" b="0" dirty="0">
                <a:solidFill>
                  <a:srgbClr val="646C70"/>
                </a:solidFill>
                <a:latin typeface="Aptos"/>
              </a:rPr>
              <a:t> bankable</a:t>
            </a:r>
            <a:endParaRPr sz="1100" b="0" dirty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11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3774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2D6A4F"/>
                </a:solidFill>
                <a:latin typeface="Aptos"/>
              </a:rPr>
              <a:t>Eligible Area</a:t>
            </a:r>
            <a:endParaRPr sz="1600" b="1">
              <a:solidFill>
                <a:srgbClr val="2D6A4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08960" y="1444752"/>
            <a:ext cx="7680960" cy="566928"/>
          </a:xfrm>
          <a:prstGeom prst="roundRect">
            <a:avLst/>
          </a:prstGeom>
          <a:solidFill>
            <a:srgbClr val="E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8416" y="1511808"/>
            <a:ext cx="624840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 err="1">
                <a:latin typeface="Book Antiqua" panose="02040602050305030304" charset="0"/>
              </a:rPr>
              <a:t>Berapa</a:t>
            </a:r>
            <a:r>
              <a:rPr sz="1200" b="0" dirty="0">
                <a:latin typeface="Book Antiqua" panose="02040602050305030304" charset="0"/>
              </a:rPr>
              <a:t> ha lolos legal &amp; methodological screening?</a:t>
            </a:r>
            <a:endParaRPr lang="en-US" sz="1200" b="0" dirty="0">
              <a:latin typeface="Book Antiqua" panose="02040602050305030304" charset="0"/>
            </a:endParaRPr>
          </a:p>
          <a:p>
            <a:r>
              <a:rPr lang="en-ID" sz="1200" dirty="0">
                <a:latin typeface="Book Antiqua" panose="02040602050305030304" charset="0"/>
              </a:rPr>
              <a:t>Data: </a:t>
            </a:r>
            <a:r>
              <a:rPr lang="en-ID" sz="1200" dirty="0" err="1">
                <a:latin typeface="Book Antiqua" panose="02040602050305030304" charset="0"/>
              </a:rPr>
              <a:t>kawasan</a:t>
            </a:r>
            <a:r>
              <a:rPr lang="en-ID" sz="1200" dirty="0">
                <a:latin typeface="Book Antiqua" panose="02040602050305030304" charset="0"/>
              </a:rPr>
              <a:t> </a:t>
            </a:r>
            <a:r>
              <a:rPr lang="en-ID" sz="1200" dirty="0" err="1">
                <a:latin typeface="Book Antiqua" panose="02040602050305030304" charset="0"/>
              </a:rPr>
              <a:t>lindung</a:t>
            </a:r>
            <a:r>
              <a:rPr lang="en-ID" sz="1200" dirty="0">
                <a:latin typeface="Book Antiqua" panose="02040602050305030304" charset="0"/>
              </a:rPr>
              <a:t> 71.349,6 ha (</a:t>
            </a:r>
            <a:r>
              <a:rPr lang="en-ID" sz="1200" dirty="0" err="1">
                <a:latin typeface="Book Antiqua" panose="02040602050305030304" charset="0"/>
              </a:rPr>
              <a:t>kandidat</a:t>
            </a:r>
            <a:r>
              <a:rPr lang="en-ID" sz="1200" dirty="0">
                <a:latin typeface="Book Antiqua" panose="02040602050305030304" charset="0"/>
              </a:rPr>
              <a:t> ±72.000 ha) Kawasan </a:t>
            </a:r>
            <a:r>
              <a:rPr lang="en-ID" sz="1200" dirty="0" err="1">
                <a:latin typeface="Book Antiqua" panose="02040602050305030304" charset="0"/>
              </a:rPr>
              <a:t>Budidaya</a:t>
            </a:r>
            <a:r>
              <a:rPr lang="en-ID" sz="1200" dirty="0">
                <a:latin typeface="Book Antiqua" panose="02040602050305030304" charset="0"/>
              </a:rPr>
              <a:t> 66.000 ha</a:t>
            </a:r>
            <a:endParaRPr lang="en-ID" sz="1200" dirty="0">
              <a:latin typeface="Book Antiqua" panose="02040602050305030304" charset="0"/>
            </a:endParaRPr>
          </a:p>
          <a:p>
            <a:pPr algn="l"/>
            <a:endParaRPr sz="1200" b="0" dirty="0">
              <a:latin typeface="Book Antiqua" panose="0204060205030503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3774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 dirty="0">
                <a:solidFill>
                  <a:srgbClr val="4A877B"/>
                </a:solidFill>
                <a:latin typeface="Aptos"/>
              </a:rPr>
              <a:t>Net </a:t>
            </a:r>
            <a:r>
              <a:rPr sz="1600" b="1" dirty="0" err="1">
                <a:solidFill>
                  <a:srgbClr val="4A877B"/>
                </a:solidFill>
                <a:latin typeface="Aptos"/>
              </a:rPr>
              <a:t>tCO₂e</a:t>
            </a:r>
            <a:endParaRPr sz="1600" b="1" dirty="0">
              <a:solidFill>
                <a:srgbClr val="4A877B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108960" y="2460242"/>
            <a:ext cx="7680960" cy="493269"/>
          </a:xfrm>
          <a:prstGeom prst="roundRect">
            <a:avLst/>
          </a:prstGeom>
          <a:solidFill>
            <a:srgbClr val="E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7080" y="2527916"/>
            <a:ext cx="4663264" cy="4616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ID" sz="1200" dirty="0" err="1">
                <a:latin typeface="Book Antiqua" panose="02040602050305030304" charset="0"/>
              </a:rPr>
              <a:t>Konservatif</a:t>
            </a:r>
            <a:r>
              <a:rPr lang="en-ID" sz="1200" dirty="0">
                <a:latin typeface="Book Antiqua" panose="02040602050305030304" charset="0"/>
              </a:rPr>
              <a:t> 7,4 Juta </a:t>
            </a:r>
            <a:r>
              <a:rPr lang="en-ID" sz="1200" dirty="0" err="1"/>
              <a:t>tCO₂e</a:t>
            </a:r>
            <a:r>
              <a:rPr lang="en-ID" sz="1200" dirty="0">
                <a:latin typeface="Book Antiqua" panose="02040602050305030304" charset="0"/>
              </a:rPr>
              <a:t> -  Base 12,0 </a:t>
            </a:r>
            <a:r>
              <a:rPr lang="en-ID" sz="1200" dirty="0" err="1">
                <a:latin typeface="Book Antiqua" panose="02040602050305030304" charset="0"/>
              </a:rPr>
              <a:t>juta</a:t>
            </a:r>
            <a:r>
              <a:rPr lang="en-ID" sz="1200" dirty="0">
                <a:latin typeface="Book Antiqua" panose="02040602050305030304" charset="0"/>
              </a:rPr>
              <a:t> </a:t>
            </a:r>
            <a:r>
              <a:rPr lang="en-ID" sz="1200" dirty="0" err="1"/>
              <a:t>tCO₂e</a:t>
            </a:r>
            <a:r>
              <a:rPr lang="en-ID" sz="1200" dirty="0">
                <a:latin typeface="Book Antiqua" panose="02040602050305030304" charset="0"/>
              </a:rPr>
              <a:t> – Upside 16,6 </a:t>
            </a:r>
            <a:r>
              <a:rPr lang="en-ID" sz="1200" dirty="0" err="1"/>
              <a:t>tCO₂e</a:t>
            </a:r>
            <a:endParaRPr lang="en-ID" sz="1200" dirty="0">
              <a:latin typeface="Book Antiqua" panose="02040602050305030304" charset="0"/>
            </a:endParaRPr>
          </a:p>
          <a:p>
            <a:pPr algn="l"/>
            <a:endParaRPr sz="1200" b="0" dirty="0">
              <a:latin typeface="Book Antiqua" panose="0204060205030503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3774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 dirty="0">
                <a:solidFill>
                  <a:srgbClr val="C47837"/>
                </a:solidFill>
                <a:latin typeface="Aptos"/>
              </a:rPr>
              <a:t>Net Carbon Price</a:t>
            </a:r>
            <a:endParaRPr sz="1600" b="1" dirty="0">
              <a:solidFill>
                <a:srgbClr val="C4783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08960" y="3584448"/>
            <a:ext cx="7680960" cy="566928"/>
          </a:xfrm>
          <a:prstGeom prst="roundRect">
            <a:avLst/>
          </a:prstGeom>
          <a:solidFill>
            <a:srgbClr val="E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639312"/>
            <a:ext cx="5033044" cy="4616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E2326"/>
                </a:solidFill>
                <a:latin typeface="Book Antiqua" panose="02040602050305030304" charset="0"/>
              </a:rPr>
              <a:t>Harga </a:t>
            </a:r>
            <a:r>
              <a:rPr sz="1200" b="0" dirty="0" err="1">
                <a:solidFill>
                  <a:srgbClr val="1E2326"/>
                </a:solidFill>
                <a:latin typeface="Book Antiqua" panose="02040602050305030304" charset="0"/>
              </a:rPr>
              <a:t>jual</a:t>
            </a:r>
            <a:r>
              <a:rPr sz="1200" b="0" dirty="0">
                <a:solidFill>
                  <a:srgbClr val="1E2326"/>
                </a:solidFill>
                <a:latin typeface="Book Antiqua" panose="02040602050305030304" charset="0"/>
              </a:rPr>
              <a:t> </a:t>
            </a:r>
            <a:r>
              <a:rPr sz="1200" b="0" dirty="0" err="1">
                <a:solidFill>
                  <a:srgbClr val="1E2326"/>
                </a:solidFill>
                <a:latin typeface="Book Antiqua" panose="02040602050305030304" charset="0"/>
              </a:rPr>
              <a:t>dikurangi</a:t>
            </a:r>
            <a:r>
              <a:rPr sz="1200" b="0" dirty="0">
                <a:solidFill>
                  <a:srgbClr val="1E2326"/>
                </a:solidFill>
                <a:latin typeface="Book Antiqua" panose="02040602050305030304" charset="0"/>
              </a:rPr>
              <a:t> fee, </a:t>
            </a:r>
            <a:r>
              <a:rPr sz="1200" b="0" dirty="0" err="1">
                <a:solidFill>
                  <a:srgbClr val="1E2326"/>
                </a:solidFill>
                <a:latin typeface="Book Antiqua" panose="02040602050305030304" charset="0"/>
              </a:rPr>
              <a:t>pajak</a:t>
            </a:r>
            <a:r>
              <a:rPr sz="1200" b="0" dirty="0">
                <a:solidFill>
                  <a:srgbClr val="1E2326"/>
                </a:solidFill>
                <a:latin typeface="Book Antiqua" panose="02040602050305030304" charset="0"/>
              </a:rPr>
              <a:t>/PNBP &amp; transaction cost</a:t>
            </a:r>
            <a:endParaRPr lang="en-US" sz="1200" b="0" dirty="0">
              <a:solidFill>
                <a:srgbClr val="1E2326"/>
              </a:solidFill>
              <a:latin typeface="Book Antiqua" panose="02040602050305030304" charset="0"/>
            </a:endParaRPr>
          </a:p>
          <a:p>
            <a:r>
              <a:rPr lang="en-ID" sz="1200" dirty="0" err="1">
                <a:solidFill>
                  <a:srgbClr val="1E2326"/>
                </a:solidFill>
                <a:latin typeface="Book Antiqua" panose="02040602050305030304" charset="0"/>
              </a:rPr>
              <a:t>Konservatif</a:t>
            </a:r>
            <a:r>
              <a:rPr lang="en-ID" sz="1200" dirty="0">
                <a:solidFill>
                  <a:srgbClr val="1E2326"/>
                </a:solidFill>
                <a:latin typeface="Book Antiqua" panose="02040602050305030304" charset="0"/>
              </a:rPr>
              <a:t> </a:t>
            </a:r>
            <a:r>
              <a:rPr lang="en-ID" sz="1200" dirty="0">
                <a:latin typeface="Book Antiqua" panose="02040602050305030304" charset="0"/>
              </a:rPr>
              <a:t>US$4,0 /</a:t>
            </a:r>
            <a:r>
              <a:rPr lang="en-ID" sz="1200" dirty="0" err="1"/>
              <a:t>tCO₂e</a:t>
            </a:r>
            <a:r>
              <a:rPr lang="en-ID" sz="1200" dirty="0">
                <a:latin typeface="Book Antiqua" panose="02040602050305030304" charset="0"/>
              </a:rPr>
              <a:t>, Base US$8,0 /</a:t>
            </a:r>
            <a:r>
              <a:rPr lang="en-ID" sz="1200" dirty="0" err="1">
                <a:latin typeface="Book Antiqua" panose="02040602050305030304" charset="0"/>
              </a:rPr>
              <a:t>tCO₂e</a:t>
            </a:r>
            <a:r>
              <a:rPr lang="en-ID" sz="1200" dirty="0">
                <a:latin typeface="Book Antiqua" panose="02040602050305030304" charset="0"/>
              </a:rPr>
              <a:t>, Upside US$16,0 /</a:t>
            </a:r>
            <a:r>
              <a:rPr lang="en-ID" sz="1200" dirty="0" err="1">
                <a:latin typeface="Book Antiqua" panose="02040602050305030304" charset="0"/>
              </a:rPr>
              <a:t>tCO₂e</a:t>
            </a:r>
            <a:endParaRPr sz="1200" b="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23774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 dirty="0">
                <a:solidFill>
                  <a:srgbClr val="A3423D"/>
                </a:solidFill>
                <a:latin typeface="Aptos"/>
              </a:rPr>
              <a:t>Opportunity Cost</a:t>
            </a:r>
            <a:endParaRPr sz="1600" b="1" dirty="0">
              <a:solidFill>
                <a:srgbClr val="A3423D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108960" y="4639057"/>
            <a:ext cx="7680960" cy="576071"/>
          </a:xfrm>
          <a:prstGeom prst="roundRect">
            <a:avLst/>
          </a:prstGeom>
          <a:solidFill>
            <a:srgbClr val="EF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4690872"/>
            <a:ext cx="4388381" cy="4616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200" dirty="0">
                <a:solidFill>
                  <a:srgbClr val="1E2326"/>
                </a:solidFill>
                <a:latin typeface="Book Antiqua" panose="02040602050305030304" charset="0"/>
              </a:rPr>
              <a:t>Margin HTI yang </a:t>
            </a:r>
            <a:r>
              <a:rPr lang="en-ID" sz="1200" dirty="0" err="1">
                <a:solidFill>
                  <a:srgbClr val="1E2326"/>
                </a:solidFill>
                <a:latin typeface="Book Antiqua" panose="02040602050305030304" charset="0"/>
              </a:rPr>
              <a:t>dilepas</a:t>
            </a:r>
            <a:r>
              <a:rPr lang="en-ID" sz="1200" dirty="0">
                <a:solidFill>
                  <a:srgbClr val="1E2326"/>
                </a:solidFill>
                <a:latin typeface="Book Antiqua" panose="02040602050305030304" charset="0"/>
              </a:rPr>
              <a:t> + </a:t>
            </a:r>
            <a:r>
              <a:rPr lang="en-ID" sz="1200" dirty="0" err="1">
                <a:solidFill>
                  <a:srgbClr val="1E2326"/>
                </a:solidFill>
                <a:latin typeface="Book Antiqua" panose="02040602050305030304" charset="0"/>
              </a:rPr>
              <a:t>biaya</a:t>
            </a:r>
            <a:r>
              <a:rPr lang="en-ID" sz="1200" dirty="0">
                <a:solidFill>
                  <a:srgbClr val="1E2326"/>
                </a:solidFill>
                <a:latin typeface="Book Antiqua" panose="02040602050305030304" charset="0"/>
              </a:rPr>
              <a:t> </a:t>
            </a:r>
            <a:r>
              <a:rPr lang="en-ID" sz="1200" dirty="0" err="1">
                <a:solidFill>
                  <a:srgbClr val="1E2326"/>
                </a:solidFill>
                <a:latin typeface="Book Antiqua" panose="02040602050305030304" charset="0"/>
              </a:rPr>
              <a:t>transisi</a:t>
            </a:r>
            <a:r>
              <a:rPr lang="en-ID" sz="1200" dirty="0">
                <a:solidFill>
                  <a:srgbClr val="1E2326"/>
                </a:solidFill>
                <a:latin typeface="Book Antiqua" panose="02040602050305030304" charset="0"/>
              </a:rPr>
              <a:t>/</a:t>
            </a:r>
            <a:r>
              <a:rPr lang="en-ID" sz="1200" dirty="0" err="1">
                <a:solidFill>
                  <a:srgbClr val="1E2326"/>
                </a:solidFill>
                <a:latin typeface="Book Antiqua" panose="02040602050305030304" charset="0"/>
              </a:rPr>
              <a:t>restorasi</a:t>
            </a:r>
            <a:endParaRPr lang="en-ID" sz="1200" dirty="0">
              <a:solidFill>
                <a:srgbClr val="1E2326"/>
              </a:solidFill>
              <a:latin typeface="Book Antiqua" panose="02040602050305030304" charset="0"/>
            </a:endParaRPr>
          </a:p>
          <a:p>
            <a:r>
              <a:rPr lang="en-ID" sz="1200" dirty="0" err="1">
                <a:solidFill>
                  <a:srgbClr val="1E2326"/>
                </a:solidFill>
                <a:latin typeface="Book Antiqua" panose="02040602050305030304" charset="0"/>
              </a:rPr>
              <a:t>Konservatif</a:t>
            </a:r>
            <a:r>
              <a:rPr lang="en-ID" sz="1200" dirty="0">
                <a:solidFill>
                  <a:srgbClr val="1E2326"/>
                </a:solidFill>
                <a:latin typeface="Book Antiqua" panose="02040602050305030304" charset="0"/>
              </a:rPr>
              <a:t> </a:t>
            </a:r>
            <a:r>
              <a:rPr lang="en-ID" sz="1200" dirty="0">
                <a:latin typeface="Book Antiqua" panose="02040602050305030304" charset="0"/>
              </a:rPr>
              <a:t>±US$23 </a:t>
            </a:r>
            <a:r>
              <a:rPr lang="en-ID" sz="1200" dirty="0" err="1">
                <a:latin typeface="Book Antiqua" panose="02040602050305030304" charset="0"/>
              </a:rPr>
              <a:t>juta</a:t>
            </a:r>
            <a:r>
              <a:rPr lang="en-ID" sz="1200" dirty="0">
                <a:latin typeface="Book Antiqua" panose="02040602050305030304" charset="0"/>
              </a:rPr>
              <a:t>, Base ±US$37 </a:t>
            </a:r>
            <a:r>
              <a:rPr lang="en-ID" sz="1200" dirty="0" err="1">
                <a:latin typeface="Book Antiqua" panose="02040602050305030304" charset="0"/>
              </a:rPr>
              <a:t>juta</a:t>
            </a:r>
            <a:r>
              <a:rPr lang="en-ID" sz="1200" dirty="0">
                <a:latin typeface="Book Antiqua" panose="02040602050305030304" charset="0"/>
              </a:rPr>
              <a:t>, Upside ±US$51 </a:t>
            </a:r>
            <a:r>
              <a:rPr lang="en-ID" sz="1200" dirty="0" err="1">
                <a:latin typeface="Book Antiqua" panose="02040602050305030304" charset="0"/>
              </a:rPr>
              <a:t>juta</a:t>
            </a:r>
            <a:endParaRPr lang="en-ID" sz="12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2B37"/>
                </a:solidFill>
                <a:latin typeface="Aptos"/>
              </a:rPr>
              <a:t>Jangan membuat proyeksi revenue sebelum keempat variabel ini memiliki rentang konservatif–base–upside.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2867132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 dirty="0">
                <a:latin typeface="Aptos"/>
              </a:rPr>
              <a:t>Risk Register Awal</a:t>
            </a:r>
            <a:endParaRPr sz="2600" b="1" dirty="0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56541"/>
            <a:ext cx="5560176" cy="2616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 dirty="0">
                <a:solidFill>
                  <a:srgbClr val="646C70"/>
                </a:solidFill>
                <a:latin typeface="Aptos"/>
              </a:rPr>
              <a:t>Risiko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terbesar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bukan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teknis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MRV</a:t>
            </a:r>
            <a:r>
              <a:rPr lang="en-US" sz="1100" b="1" dirty="0">
                <a:solidFill>
                  <a:srgbClr val="646C70"/>
                </a:solidFill>
                <a:latin typeface="Aptos"/>
              </a:rPr>
              <a:t>,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melainkan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integritas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baseline dan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konsistensi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izin</a:t>
            </a:r>
            <a:endParaRPr sz="1100" b="1" dirty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12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264770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122B37"/>
                </a:solidFill>
                <a:latin typeface="Aptos"/>
              </a:rPr>
              <a:t>Legal baseline</a:t>
            </a:r>
            <a:endParaRPr sz="1400" b="1" dirty="0">
              <a:solidFill>
                <a:srgbClr val="122B37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34640" y="1399032"/>
            <a:ext cx="960120" cy="384048"/>
          </a:xfrm>
          <a:prstGeom prst="roundRect">
            <a:avLst/>
          </a:prstGeom>
          <a:solidFill>
            <a:srgbClr val="A34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7738" y="1492458"/>
            <a:ext cx="513923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askerville Old Face" panose="02020602080505020303" charset="0"/>
              </a:rPr>
              <a:t>TINGGI</a:t>
            </a:r>
            <a:endParaRPr sz="900" b="1">
              <a:solidFill>
                <a:srgbClr val="FFFFFF"/>
              </a:solidFill>
              <a:latin typeface="Baskerville Old Face" panose="02020602080505020303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23360" y="1449124"/>
            <a:ext cx="6313010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/>
              <a:t>BAU </a:t>
            </a:r>
            <a:r>
              <a:rPr lang="en-ID" sz="1400" dirty="0" err="1"/>
              <a:t>ternyata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legal / area </a:t>
            </a:r>
            <a:r>
              <a:rPr lang="en-ID" sz="1400" dirty="0" err="1"/>
              <a:t>wajib</a:t>
            </a:r>
            <a:r>
              <a:rPr lang="en-ID" sz="1400" dirty="0"/>
              <a:t> </a:t>
            </a:r>
            <a:r>
              <a:rPr lang="en-ID" sz="1400" dirty="0" err="1"/>
              <a:t>dilindungi</a:t>
            </a:r>
            <a:r>
              <a:rPr lang="en-ID" sz="1400" dirty="0"/>
              <a:t> → baseline 7,4–16,6 </a:t>
            </a:r>
            <a:r>
              <a:rPr lang="en-ID" sz="1400" dirty="0" err="1"/>
              <a:t>juta</a:t>
            </a:r>
            <a:r>
              <a:rPr lang="en-ID" sz="1400" dirty="0"/>
              <a:t> </a:t>
            </a:r>
            <a:r>
              <a:rPr lang="en-ID" sz="1400" dirty="0" err="1"/>
              <a:t>tCO₂e</a:t>
            </a:r>
            <a:r>
              <a:rPr lang="en-ID" sz="1400" dirty="0"/>
              <a:t> </a:t>
            </a:r>
            <a:r>
              <a:rPr lang="en-ID" sz="1400" dirty="0" err="1"/>
              <a:t>hilang</a:t>
            </a:r>
            <a:endParaRPr sz="1400" b="0" dirty="0">
              <a:solidFill>
                <a:srgbClr val="1E2326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1134285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Additionality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34640" y="2148840"/>
            <a:ext cx="960120" cy="384048"/>
          </a:xfrm>
          <a:prstGeom prst="roundRect">
            <a:avLst/>
          </a:prstGeom>
          <a:solidFill>
            <a:srgbClr val="A34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7738" y="2242266"/>
            <a:ext cx="513923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askerville Old Face" panose="02020602080505020303" charset="0"/>
              </a:rPr>
              <a:t>TINGGI</a:t>
            </a:r>
            <a:endParaRPr sz="900" b="1">
              <a:solidFill>
                <a:srgbClr val="FFFFFF"/>
              </a:solidFill>
              <a:latin typeface="Baskerville Old Face" panose="020206020805050203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23360" y="2198932"/>
            <a:ext cx="4746620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/>
              <a:t>BAU </a:t>
            </a:r>
            <a:r>
              <a:rPr lang="en-ID" sz="1400" dirty="0" err="1"/>
              <a:t>lindung</a:t>
            </a:r>
            <a:r>
              <a:rPr lang="en-ID" sz="1400" dirty="0"/>
              <a:t> </a:t>
            </a:r>
            <a:r>
              <a:rPr lang="en-ID" sz="1400" dirty="0" err="1"/>
              <a:t>diuji</a:t>
            </a:r>
            <a:r>
              <a:rPr lang="en-ID" sz="1400" dirty="0"/>
              <a:t> </a:t>
            </a:r>
            <a:r>
              <a:rPr lang="en-ID" sz="1400" dirty="0" err="1"/>
              <a:t>lewat</a:t>
            </a:r>
            <a:r>
              <a:rPr lang="en-ID" sz="1400" dirty="0"/>
              <a:t> RKU/RKT, </a:t>
            </a:r>
            <a:r>
              <a:rPr lang="en-ID" sz="1400" dirty="0" err="1"/>
              <a:t>peta</a:t>
            </a:r>
            <a:r>
              <a:rPr lang="en-ID" sz="1400" dirty="0"/>
              <a:t> </a:t>
            </a:r>
            <a:r>
              <a:rPr lang="en-ID" sz="1400" dirty="0" err="1"/>
              <a:t>rencana</a:t>
            </a:r>
            <a:r>
              <a:rPr lang="en-ID" sz="1400" dirty="0"/>
              <a:t>, dan </a:t>
            </a:r>
            <a:r>
              <a:rPr lang="en-ID" sz="1400" dirty="0" err="1"/>
              <a:t>rekam</a:t>
            </a:r>
            <a:r>
              <a:rPr lang="en-ID" sz="1400" dirty="0"/>
              <a:t> </a:t>
            </a:r>
            <a:r>
              <a:rPr lang="en-ID" sz="1400" dirty="0" err="1"/>
              <a:t>jejak</a:t>
            </a:r>
            <a:endParaRPr sz="1400" b="0" dirty="0">
              <a:solidFill>
                <a:srgbClr val="1E2326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916936"/>
            <a:ext cx="1503810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RKUPH transition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34640" y="2898648"/>
            <a:ext cx="960120" cy="384048"/>
          </a:xfrm>
          <a:prstGeom prst="roundRect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1289" y="2992074"/>
            <a:ext cx="566822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askerville Old Face" panose="02020602080505020303" charset="0"/>
              </a:rPr>
              <a:t>SEDANG</a:t>
            </a:r>
            <a:endParaRPr sz="900" b="1">
              <a:solidFill>
                <a:srgbClr val="FFFFFF"/>
              </a:solidFill>
              <a:latin typeface="Baskerville Old Face" panose="02020602080505020303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23360" y="2948740"/>
            <a:ext cx="4031873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 err="1"/>
              <a:t>Perubahan</a:t>
            </a:r>
            <a:r>
              <a:rPr lang="en-ID" sz="1400" dirty="0"/>
              <a:t> RKUPH </a:t>
            </a:r>
            <a:r>
              <a:rPr lang="en-ID" sz="1400" dirty="0" err="1"/>
              <a:t>belum</a:t>
            </a:r>
            <a:r>
              <a:rPr lang="en-ID" sz="1400" dirty="0"/>
              <a:t> </a:t>
            </a:r>
            <a:r>
              <a:rPr lang="en-ID" sz="1400" dirty="0" err="1"/>
              <a:t>disetujui</a:t>
            </a:r>
            <a:r>
              <a:rPr lang="en-ID" sz="1400" dirty="0"/>
              <a:t> → </a:t>
            </a:r>
            <a:r>
              <a:rPr lang="en-ID" sz="1400" dirty="0" err="1"/>
              <a:t>proyek</a:t>
            </a:r>
            <a:r>
              <a:rPr lang="en-ID" sz="1400" dirty="0"/>
              <a:t> </a:t>
            </a:r>
            <a:r>
              <a:rPr lang="en-ID" sz="1400" dirty="0" err="1"/>
              <a:t>tertunda</a:t>
            </a:r>
            <a:endParaRPr sz="1400" b="0" dirty="0">
              <a:solidFill>
                <a:srgbClr val="1E2326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666744"/>
            <a:ext cx="1539973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Permanence / fire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34640" y="3648456"/>
            <a:ext cx="960120" cy="384048"/>
          </a:xfrm>
          <a:prstGeom prst="roundRect">
            <a:avLst/>
          </a:prstGeom>
          <a:solidFill>
            <a:srgbClr val="A34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7738" y="3741882"/>
            <a:ext cx="513923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askerville Old Face" panose="02020602080505020303" charset="0"/>
              </a:rPr>
              <a:t>TINGGI</a:t>
            </a:r>
            <a:endParaRPr sz="900" b="1">
              <a:solidFill>
                <a:srgbClr val="FFFFFF"/>
              </a:solidFill>
              <a:latin typeface="Baskerville Old Face" panose="02020602080505020303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23360" y="3698548"/>
            <a:ext cx="4614661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 err="1"/>
              <a:t>Kebakaran</a:t>
            </a:r>
            <a:r>
              <a:rPr lang="en-ID" sz="1400" dirty="0"/>
              <a:t>, reversal </a:t>
            </a:r>
            <a:r>
              <a:rPr lang="en-ID" sz="1400" dirty="0" err="1"/>
              <a:t>stok</a:t>
            </a:r>
            <a:r>
              <a:rPr lang="en-ID" sz="1400" dirty="0"/>
              <a:t> 70,27 </a:t>
            </a:r>
            <a:r>
              <a:rPr lang="en-ID" sz="1400" dirty="0" err="1"/>
              <a:t>juta</a:t>
            </a:r>
            <a:r>
              <a:rPr lang="en-ID" sz="1400" dirty="0"/>
              <a:t> </a:t>
            </a:r>
            <a:r>
              <a:rPr lang="en-ID" sz="1400" dirty="0" err="1"/>
              <a:t>tCO₂e</a:t>
            </a:r>
            <a:r>
              <a:rPr lang="en-ID" sz="1400" dirty="0"/>
              <a:t>; buffer </a:t>
            </a:r>
            <a:r>
              <a:rPr lang="en-ID" sz="1400" dirty="0" err="1"/>
              <a:t>belum</a:t>
            </a:r>
            <a:r>
              <a:rPr lang="en-ID" sz="1400" dirty="0"/>
              <a:t> </a:t>
            </a:r>
            <a:r>
              <a:rPr lang="en-ID" sz="1400" dirty="0" err="1"/>
              <a:t>ada</a:t>
            </a:r>
            <a:r>
              <a:rPr lang="en-ID" sz="1400" dirty="0"/>
              <a:t> %</a:t>
            </a:r>
            <a:endParaRPr sz="1400" b="0" dirty="0">
              <a:solidFill>
                <a:srgbClr val="1E2326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4416552"/>
            <a:ext cx="1220206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Market / price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834640" y="4398264"/>
            <a:ext cx="960120" cy="384048"/>
          </a:xfrm>
          <a:prstGeom prst="roundRect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1289" y="4491690"/>
            <a:ext cx="566822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askerville Old Face" panose="02020602080505020303" charset="0"/>
              </a:rPr>
              <a:t>SEDANG</a:t>
            </a:r>
            <a:endParaRPr sz="900" b="1">
              <a:solidFill>
                <a:srgbClr val="FFFFFF"/>
              </a:solidFill>
              <a:latin typeface="Baskerville Old Face" panose="02020602080505020303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23360" y="4448356"/>
            <a:ext cx="4382931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 err="1"/>
              <a:t>Proyeksi</a:t>
            </a:r>
            <a:r>
              <a:rPr lang="en-ID" sz="1400" dirty="0"/>
              <a:t> net price US$4 /8 per </a:t>
            </a:r>
            <a:r>
              <a:rPr lang="en-ID" sz="1400" dirty="0" err="1"/>
              <a:t>tCO₂e</a:t>
            </a:r>
            <a:r>
              <a:rPr lang="en-ID" sz="1400" dirty="0"/>
              <a:t>; </a:t>
            </a:r>
            <a:r>
              <a:rPr lang="en-ID" sz="1400" dirty="0" err="1"/>
              <a:t>acuan</a:t>
            </a:r>
            <a:r>
              <a:rPr lang="en-ID" sz="1400" dirty="0"/>
              <a:t> pasar US$7–10</a:t>
            </a:r>
            <a:endParaRPr sz="1400" b="0" dirty="0">
              <a:solidFill>
                <a:srgbClr val="1E2326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5166360"/>
            <a:ext cx="1453090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Social safeguard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834640" y="5148072"/>
            <a:ext cx="960120" cy="384048"/>
          </a:xfrm>
          <a:prstGeom prst="roundRect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1289" y="5241498"/>
            <a:ext cx="566822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askerville Old Face" panose="02020602080505020303" charset="0"/>
              </a:rPr>
              <a:t>SEDANG</a:t>
            </a:r>
            <a:endParaRPr sz="900" b="1">
              <a:solidFill>
                <a:srgbClr val="FFFFFF"/>
              </a:solidFill>
              <a:latin typeface="Baskerville Old Face" panose="02020602080505020303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23360" y="5198164"/>
            <a:ext cx="4904804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 err="1"/>
              <a:t>Konflik</a:t>
            </a:r>
            <a:r>
              <a:rPr lang="en-ID" sz="1400" dirty="0"/>
              <a:t> tenurial &amp; benefit sharing → </a:t>
            </a:r>
            <a:r>
              <a:rPr lang="en-ID" sz="1400" dirty="0" err="1"/>
              <a:t>biaya</a:t>
            </a:r>
            <a:r>
              <a:rPr lang="en-ID" sz="1400" dirty="0"/>
              <a:t> naik, </a:t>
            </a:r>
            <a:r>
              <a:rPr lang="en-ID" sz="1400" dirty="0" err="1"/>
              <a:t>registrasi</a:t>
            </a:r>
            <a:r>
              <a:rPr lang="en-ID" sz="1400" dirty="0"/>
              <a:t> </a:t>
            </a:r>
            <a:r>
              <a:rPr lang="en-ID" sz="1400" dirty="0" err="1"/>
              <a:t>tertunda</a:t>
            </a:r>
            <a:endParaRPr sz="1400" b="0" dirty="0">
              <a:solidFill>
                <a:srgbClr val="1E2326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2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554341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 dirty="0">
                <a:latin typeface="Aptos"/>
              </a:rPr>
              <a:t>Legal</a:t>
            </a:r>
            <a:r>
              <a:rPr lang="en-US" sz="2600" b="1" dirty="0">
                <a:latin typeface="Aptos"/>
              </a:rPr>
              <a:t> </a:t>
            </a:r>
            <a:r>
              <a:rPr sz="2600" b="1" dirty="0">
                <a:latin typeface="Aptos"/>
              </a:rPr>
              <a:t>Carbon Development Pathway</a:t>
            </a:r>
            <a:endParaRPr sz="2600" b="1" dirty="0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193547"/>
            <a:ext cx="3299942" cy="27699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 dirty="0" err="1">
                <a:solidFill>
                  <a:srgbClr val="646C70"/>
                </a:solidFill>
                <a:latin typeface="Aptos"/>
              </a:rPr>
              <a:t>Urutan</a:t>
            </a:r>
            <a:r>
              <a:rPr sz="12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646C70"/>
                </a:solidFill>
                <a:latin typeface="Aptos"/>
              </a:rPr>
              <a:t>kerja</a:t>
            </a:r>
            <a:r>
              <a:rPr sz="1200" b="1" dirty="0">
                <a:solidFill>
                  <a:srgbClr val="646C70"/>
                </a:solidFill>
                <a:latin typeface="Aptos"/>
              </a:rPr>
              <a:t> yang </a:t>
            </a:r>
            <a:r>
              <a:rPr sz="1200" b="1" dirty="0" err="1">
                <a:solidFill>
                  <a:srgbClr val="646C70"/>
                </a:solidFill>
                <a:latin typeface="Aptos"/>
              </a:rPr>
              <a:t>mengurangi</a:t>
            </a:r>
            <a:r>
              <a:rPr sz="12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200" b="1" dirty="0" err="1">
                <a:solidFill>
                  <a:srgbClr val="646C70"/>
                </a:solidFill>
                <a:latin typeface="Aptos"/>
              </a:rPr>
              <a:t>risiko</a:t>
            </a:r>
            <a:r>
              <a:rPr sz="1200" b="1" dirty="0">
                <a:solidFill>
                  <a:srgbClr val="646C70"/>
                </a:solidFill>
                <a:latin typeface="Aptos"/>
              </a:rPr>
              <a:t> sunk cost</a:t>
            </a:r>
            <a:endParaRPr sz="1200" b="1" dirty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13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2103120"/>
            <a:ext cx="1417320" cy="1554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234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3380" y="2809547"/>
            <a:ext cx="1153521" cy="46166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  <a:t>Legal &amp; spatial</a:t>
            </a:r>
            <a:b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</a:br>
            <a:r>
              <a:rPr sz="1200" dirty="0">
                <a:solidFill>
                  <a:schemeClr val="bg1"/>
                </a:solidFill>
                <a:latin typeface="Book Antiqua" panose="02040602050305030304" charset="0"/>
              </a:rPr>
              <a:t>due diligence</a:t>
            </a:r>
            <a:endParaRPr sz="1200" dirty="0">
              <a:solidFill>
                <a:schemeClr val="bg1"/>
              </a:solidFill>
              <a:latin typeface="Book Antiqua" panose="02040602050305030304" charset="0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856232" y="2880360"/>
            <a:ext cx="24688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75688" y="2103120"/>
            <a:ext cx="1417320" cy="1554480"/>
          </a:xfrm>
          <a:prstGeom prst="round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7128" y="2286000"/>
            <a:ext cx="1234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99384" y="2809547"/>
            <a:ext cx="1369927" cy="46166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lang="en-ID" sz="1200" b="1" dirty="0">
                <a:solidFill>
                  <a:schemeClr val="bg1"/>
                </a:solidFill>
                <a:latin typeface="Book Antiqua" panose="02040602050305030304" charset="0"/>
              </a:rPr>
              <a:t>Carbon feasibility</a:t>
            </a:r>
            <a:br>
              <a:rPr lang="en-ID" sz="1200" b="1" dirty="0">
                <a:solidFill>
                  <a:schemeClr val="bg1"/>
                </a:solidFill>
                <a:latin typeface="Book Antiqua" panose="02040602050305030304" charset="0"/>
              </a:rPr>
            </a:br>
            <a:r>
              <a:rPr lang="en-ID" sz="1200" dirty="0">
                <a:solidFill>
                  <a:schemeClr val="bg1"/>
                </a:solidFill>
                <a:latin typeface="Book Antiqua" panose="02040602050305030304" charset="0"/>
              </a:rPr>
              <a:t>&amp; methodology</a:t>
            </a:r>
            <a:endParaRPr lang="en-ID" sz="1200" dirty="0">
              <a:solidFill>
                <a:schemeClr val="bg1"/>
              </a:solidFill>
              <a:latin typeface="Book Antiqua" panose="02040602050305030304" charset="0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520440" y="2880360"/>
            <a:ext cx="24688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39896" y="2103120"/>
            <a:ext cx="1417320" cy="1554480"/>
          </a:xfrm>
          <a:prstGeom prst="round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5" y="2286000"/>
            <a:ext cx="1234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25121" y="2809547"/>
            <a:ext cx="1446870" cy="46166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  <a:t>Business case</a:t>
            </a:r>
            <a:b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</a:br>
            <a:r>
              <a:rPr sz="1200" dirty="0">
                <a:solidFill>
                  <a:schemeClr val="bg1"/>
                </a:solidFill>
                <a:latin typeface="Book Antiqua" panose="02040602050305030304" charset="0"/>
              </a:rPr>
              <a:t>NPV HTI vs </a:t>
            </a:r>
            <a:r>
              <a:rPr sz="1200" dirty="0" err="1">
                <a:solidFill>
                  <a:schemeClr val="bg1"/>
                </a:solidFill>
                <a:latin typeface="Book Antiqua" panose="02040602050305030304" charset="0"/>
              </a:rPr>
              <a:t>karbon</a:t>
            </a:r>
            <a:endParaRPr sz="1200" dirty="0">
              <a:solidFill>
                <a:schemeClr val="bg1"/>
              </a:solidFill>
              <a:latin typeface="Book Antiqua" panose="02040602050305030304" charset="0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184648" y="2880360"/>
            <a:ext cx="24688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04104" y="2103120"/>
            <a:ext cx="1417320" cy="1554480"/>
          </a:xfrm>
          <a:prstGeom prst="roundRect">
            <a:avLst/>
          </a:prstGeom>
          <a:solidFill>
            <a:srgbClr val="C47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4" y="2286000"/>
            <a:ext cx="1234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0897" y="2717214"/>
            <a:ext cx="1400452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dirty="0" err="1">
                <a:solidFill>
                  <a:schemeClr val="bg1"/>
                </a:solidFill>
                <a:latin typeface="Book Antiqua" panose="02040602050305030304" charset="0"/>
              </a:rPr>
              <a:t>Perubahan</a:t>
            </a:r>
            <a: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  <a:t> /</a:t>
            </a:r>
            <a:b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</a:br>
            <a:r>
              <a:rPr sz="1200" dirty="0" err="1">
                <a:solidFill>
                  <a:schemeClr val="bg1"/>
                </a:solidFill>
                <a:latin typeface="Book Antiqua" panose="02040602050305030304" charset="0"/>
              </a:rPr>
              <a:t>penyesuaian</a:t>
            </a:r>
            <a:r>
              <a:rPr sz="1200" dirty="0">
                <a:solidFill>
                  <a:schemeClr val="bg1"/>
                </a:solidFill>
                <a:latin typeface="Book Antiqua" panose="02040602050305030304" charset="0"/>
              </a:rPr>
              <a:t> RKUPH</a:t>
            </a:r>
            <a:endParaRPr sz="1200" dirty="0">
              <a:solidFill>
                <a:schemeClr val="bg1"/>
              </a:solidFill>
              <a:latin typeface="Book Antiqua" panose="02040602050305030304" charset="0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848856" y="2880360"/>
            <a:ext cx="24688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68312" y="2103120"/>
            <a:ext cx="1417320" cy="1554480"/>
          </a:xfrm>
          <a:prstGeom prst="roundRect">
            <a:avLst/>
          </a:prstGeom>
          <a:solidFill>
            <a:srgbClr val="12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9752" y="2286000"/>
            <a:ext cx="1234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88803" y="2809547"/>
            <a:ext cx="1376338" cy="46166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  <a:t>DRAM / </a:t>
            </a:r>
            <a:r>
              <a:rPr sz="1200" b="1" dirty="0" err="1">
                <a:solidFill>
                  <a:schemeClr val="bg1"/>
                </a:solidFill>
                <a:latin typeface="Book Antiqua" panose="02040602050305030304" charset="0"/>
              </a:rPr>
              <a:t>registrasi</a:t>
            </a:r>
            <a:b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</a:br>
            <a:r>
              <a:rPr sz="1200" dirty="0">
                <a:solidFill>
                  <a:schemeClr val="bg1"/>
                </a:solidFill>
                <a:latin typeface="Book Antiqua" panose="02040602050305030304" charset="0"/>
              </a:rPr>
              <a:t>&amp; </a:t>
            </a:r>
            <a:r>
              <a:rPr sz="1200" dirty="0" err="1">
                <a:solidFill>
                  <a:schemeClr val="bg1"/>
                </a:solidFill>
                <a:latin typeface="Book Antiqua" panose="02040602050305030304" charset="0"/>
              </a:rPr>
              <a:t>validasi</a:t>
            </a:r>
            <a:endParaRPr sz="1200" dirty="0">
              <a:solidFill>
                <a:schemeClr val="bg1"/>
              </a:solidFill>
              <a:latin typeface="Book Antiqua" panose="02040602050305030304" charset="0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8513064" y="2880360"/>
            <a:ext cx="24688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32520" y="2103120"/>
            <a:ext cx="1417320" cy="1554480"/>
          </a:xfrm>
          <a:prstGeom prst="roundRect">
            <a:avLst/>
          </a:prstGeom>
          <a:solidFill>
            <a:srgbClr val="12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286000"/>
            <a:ext cx="1234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06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99498" y="2809547"/>
            <a:ext cx="1283365" cy="46166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 dirty="0" err="1">
                <a:solidFill>
                  <a:schemeClr val="bg1"/>
                </a:solidFill>
                <a:latin typeface="Book Antiqua" panose="02040602050305030304" charset="0"/>
              </a:rPr>
              <a:t>Implementasi</a:t>
            </a:r>
            <a: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  <a:t>,</a:t>
            </a:r>
            <a:b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</a:br>
            <a:r>
              <a:rPr sz="1200" dirty="0">
                <a:solidFill>
                  <a:schemeClr val="bg1"/>
                </a:solidFill>
                <a:latin typeface="Book Antiqua" panose="02040602050305030304" charset="0"/>
              </a:rPr>
              <a:t>MRV &amp; </a:t>
            </a:r>
            <a:r>
              <a:rPr sz="1200" dirty="0" err="1">
                <a:solidFill>
                  <a:schemeClr val="bg1"/>
                </a:solidFill>
                <a:latin typeface="Book Antiqua" panose="02040602050305030304" charset="0"/>
              </a:rPr>
              <a:t>verifikasi</a:t>
            </a:r>
            <a:endParaRPr sz="1200" dirty="0">
              <a:solidFill>
                <a:schemeClr val="bg1"/>
              </a:solidFill>
              <a:latin typeface="Book Antiqua" panose="02040602050305030304" charset="0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0177272" y="2880360"/>
            <a:ext cx="246888" cy="0"/>
          </a:xfrm>
          <a:prstGeom prst="line">
            <a:avLst/>
          </a:prstGeom>
          <a:ln w="19050">
            <a:solidFill>
              <a:srgbClr val="64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96728" y="2103120"/>
            <a:ext cx="1417320" cy="15544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8168" y="2286000"/>
            <a:ext cx="1234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07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45459" y="2809547"/>
            <a:ext cx="1119857" cy="46166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  <a:t>Unit </a:t>
            </a:r>
            <a:r>
              <a:rPr sz="1200" b="1" dirty="0" err="1">
                <a:solidFill>
                  <a:schemeClr val="bg1"/>
                </a:solidFill>
                <a:latin typeface="Book Antiqua" panose="02040602050305030304" charset="0"/>
              </a:rPr>
              <a:t>karbon</a:t>
            </a:r>
            <a: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  <a:t> &amp;</a:t>
            </a:r>
            <a:br>
              <a:rPr sz="1200" b="1" dirty="0">
                <a:solidFill>
                  <a:schemeClr val="bg1"/>
                </a:solidFill>
                <a:latin typeface="Book Antiqua" panose="02040602050305030304" charset="0"/>
              </a:rPr>
            </a:br>
            <a:r>
              <a:rPr sz="1200" dirty="0" err="1">
                <a:solidFill>
                  <a:schemeClr val="bg1"/>
                </a:solidFill>
                <a:latin typeface="Book Antiqua" panose="02040602050305030304" charset="0"/>
              </a:rPr>
              <a:t>transaksi</a:t>
            </a:r>
            <a:endParaRPr sz="1200" dirty="0">
              <a:solidFill>
                <a:schemeClr val="bg1"/>
              </a:solidFill>
              <a:latin typeface="Book Antiqua" panose="0204060205030503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2648" y="6510528"/>
            <a:ext cx="109728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46C70"/>
                </a:solidFill>
                <a:latin typeface="Aptos"/>
              </a:rPr>
              <a:t>Permenhut 6/2026 mengatur jalur perdagangan karbon oleh Pelaku Usaha, termasuk pemegang PBPH.</a:t>
            </a:r>
            <a:endParaRPr sz="700" b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0908" y="4500240"/>
            <a:ext cx="10611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>
                <a:solidFill>
                  <a:srgbClr val="122B37"/>
                </a:solidFill>
                <a:latin typeface="Aptos"/>
              </a:rPr>
              <a:t>Gate </a:t>
            </a:r>
            <a:r>
              <a:rPr lang="en-ID" b="1" dirty="0" err="1">
                <a:solidFill>
                  <a:srgbClr val="122B37"/>
                </a:solidFill>
                <a:latin typeface="Aptos"/>
              </a:rPr>
              <a:t>keputusan</a:t>
            </a:r>
            <a:r>
              <a:rPr lang="en-ID" b="1" dirty="0">
                <a:solidFill>
                  <a:srgbClr val="122B37"/>
                </a:solidFill>
                <a:latin typeface="Aptos"/>
              </a:rPr>
              <a:t> </a:t>
            </a:r>
            <a:r>
              <a:rPr lang="en-ID" b="1" dirty="0" err="1">
                <a:solidFill>
                  <a:srgbClr val="122B37"/>
                </a:solidFill>
                <a:latin typeface="Aptos"/>
              </a:rPr>
              <a:t>utama</a:t>
            </a:r>
            <a:r>
              <a:rPr lang="en-ID" b="1" dirty="0">
                <a:solidFill>
                  <a:srgbClr val="122B37"/>
                </a:solidFill>
                <a:latin typeface="Aptos"/>
              </a:rPr>
              <a:t> </a:t>
            </a:r>
            <a:r>
              <a:rPr lang="en-ID" b="1" dirty="0" err="1">
                <a:solidFill>
                  <a:srgbClr val="122B37"/>
                </a:solidFill>
                <a:latin typeface="Aptos"/>
              </a:rPr>
              <a:t>berada</a:t>
            </a:r>
            <a:r>
              <a:rPr lang="en-ID" b="1" dirty="0">
                <a:solidFill>
                  <a:srgbClr val="122B37"/>
                </a:solidFill>
                <a:latin typeface="Aptos"/>
              </a:rPr>
              <a:t> </a:t>
            </a:r>
            <a:r>
              <a:rPr lang="en-ID" b="1" dirty="0" err="1">
                <a:solidFill>
                  <a:srgbClr val="122B37"/>
                </a:solidFill>
                <a:latin typeface="Aptos"/>
              </a:rPr>
              <a:t>setelah</a:t>
            </a:r>
            <a:r>
              <a:rPr lang="en-ID" b="1" dirty="0">
                <a:solidFill>
                  <a:srgbClr val="122B37"/>
                </a:solidFill>
                <a:latin typeface="Aptos"/>
              </a:rPr>
              <a:t> </a:t>
            </a:r>
            <a:r>
              <a:rPr lang="en-ID" b="1" dirty="0" err="1">
                <a:solidFill>
                  <a:srgbClr val="122B37"/>
                </a:solidFill>
                <a:latin typeface="Aptos"/>
              </a:rPr>
              <a:t>tahap</a:t>
            </a:r>
            <a:r>
              <a:rPr lang="en-ID" b="1" dirty="0">
                <a:solidFill>
                  <a:srgbClr val="122B37"/>
                </a:solidFill>
                <a:latin typeface="Aptos"/>
              </a:rPr>
              <a:t> 03</a:t>
            </a:r>
            <a:r>
              <a:rPr lang="en-ID" dirty="0">
                <a:solidFill>
                  <a:srgbClr val="122B37"/>
                </a:solidFill>
                <a:latin typeface="Aptos"/>
              </a:rPr>
              <a:t>: </a:t>
            </a:r>
            <a:endParaRPr lang="en-ID" dirty="0">
              <a:solidFill>
                <a:srgbClr val="122B37"/>
              </a:solidFill>
              <a:latin typeface="Aptos"/>
            </a:endParaRPr>
          </a:p>
          <a:p>
            <a:r>
              <a:rPr lang="en-ID" dirty="0" err="1">
                <a:solidFill>
                  <a:srgbClr val="122B37"/>
                </a:solidFill>
                <a:latin typeface="Aptos"/>
              </a:rPr>
              <a:t>hanya</a:t>
            </a:r>
            <a:r>
              <a:rPr lang="en-ID" dirty="0">
                <a:solidFill>
                  <a:srgbClr val="122B37"/>
                </a:solidFill>
                <a:latin typeface="Aptos"/>
              </a:rPr>
              <a:t> </a:t>
            </a:r>
            <a:r>
              <a:rPr lang="en-ID" dirty="0" err="1">
                <a:solidFill>
                  <a:srgbClr val="122B37"/>
                </a:solidFill>
                <a:latin typeface="Aptos"/>
              </a:rPr>
              <a:t>lanjut</a:t>
            </a:r>
            <a:r>
              <a:rPr lang="en-ID" dirty="0">
                <a:solidFill>
                  <a:srgbClr val="122B37"/>
                </a:solidFill>
                <a:latin typeface="Aptos"/>
              </a:rPr>
              <a:t> </a:t>
            </a:r>
            <a:r>
              <a:rPr lang="en-ID" dirty="0" err="1">
                <a:solidFill>
                  <a:srgbClr val="122B37"/>
                </a:solidFill>
                <a:latin typeface="Aptos"/>
              </a:rPr>
              <a:t>perubahan</a:t>
            </a:r>
            <a:r>
              <a:rPr lang="en-ID" dirty="0">
                <a:solidFill>
                  <a:srgbClr val="122B37"/>
                </a:solidFill>
                <a:latin typeface="Aptos"/>
              </a:rPr>
              <a:t> RKUPH </a:t>
            </a:r>
            <a:r>
              <a:rPr lang="en-ID" dirty="0" err="1">
                <a:solidFill>
                  <a:srgbClr val="122B37"/>
                </a:solidFill>
                <a:latin typeface="Aptos"/>
              </a:rPr>
              <a:t>jika</a:t>
            </a:r>
            <a:r>
              <a:rPr lang="en-ID" dirty="0">
                <a:solidFill>
                  <a:srgbClr val="122B37"/>
                </a:solidFill>
                <a:latin typeface="Aptos"/>
              </a:rPr>
              <a:t> legal eligibility dan economics </a:t>
            </a:r>
            <a:r>
              <a:rPr lang="en-ID" dirty="0" err="1">
                <a:solidFill>
                  <a:srgbClr val="122B37"/>
                </a:solidFill>
                <a:latin typeface="Aptos"/>
              </a:rPr>
              <a:t>telah</a:t>
            </a:r>
            <a:r>
              <a:rPr lang="en-ID" dirty="0">
                <a:solidFill>
                  <a:srgbClr val="122B37"/>
                </a:solidFill>
                <a:latin typeface="Aptos"/>
              </a:rPr>
              <a:t> </a:t>
            </a:r>
            <a:r>
              <a:rPr lang="en-ID" dirty="0" err="1">
                <a:solidFill>
                  <a:srgbClr val="122B37"/>
                </a:solidFill>
                <a:latin typeface="Aptos"/>
              </a:rPr>
              <a:t>terbukti</a:t>
            </a:r>
            <a:r>
              <a:rPr lang="en-ID" dirty="0">
                <a:solidFill>
                  <a:srgbClr val="122B37"/>
                </a:solidFill>
                <a:latin typeface="Aptos"/>
              </a:rPr>
              <a:t>.</a:t>
            </a:r>
            <a:endParaRPr lang="en-ID" dirty="0">
              <a:solidFill>
                <a:srgbClr val="122B37"/>
              </a:solidFill>
              <a:latin typeface="Aptos"/>
            </a:endParaRPr>
          </a:p>
          <a:p>
            <a:endParaRPr lang="en-ID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Book Antiqua" panose="0204060205030503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829481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latin typeface="Aptos"/>
              </a:rPr>
              <a:t>Data Minimum untuk Feasibility Study</a:t>
            </a:r>
            <a:endParaRPr sz="2600" b="1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6047489" cy="26161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 dirty="0" err="1">
                <a:solidFill>
                  <a:srgbClr val="646C70"/>
                </a:solidFill>
                <a:latin typeface="Aptos"/>
              </a:rPr>
              <a:t>Dokumen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existing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menjadi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aset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utama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untuk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membuktikan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baseline dan </a:t>
            </a:r>
            <a:r>
              <a:rPr sz="1100" b="1" dirty="0" err="1">
                <a:solidFill>
                  <a:srgbClr val="646C70"/>
                </a:solidFill>
                <a:latin typeface="Aptos"/>
              </a:rPr>
              <a:t>menyaring</a:t>
            </a:r>
            <a:r>
              <a:rPr sz="1100" b="1" dirty="0">
                <a:solidFill>
                  <a:srgbClr val="646C70"/>
                </a:solidFill>
                <a:latin typeface="Aptos"/>
              </a:rPr>
              <a:t> eligibility</a:t>
            </a:r>
            <a:endParaRPr sz="1100" b="1" dirty="0">
              <a:solidFill>
                <a:srgbClr val="646C7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320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6C70"/>
                </a:solidFill>
                <a:latin typeface="Aptos"/>
              </a:rPr>
              <a:t>14</a:t>
            </a:r>
            <a:endParaRPr sz="1000" b="1">
              <a:solidFill>
                <a:srgbClr val="646C7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01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9852" y="1607302"/>
            <a:ext cx="1927772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SK PBPH &amp;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perubahan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73152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404872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02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9852" y="2429515"/>
            <a:ext cx="2594621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RKUPH/RKU approved +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peta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090672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73152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27832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03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23440" y="3260685"/>
            <a:ext cx="2056012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RKT/RKTPH &amp;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realisasi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86200"/>
            <a:ext cx="73152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50791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04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23440" y="4081790"/>
            <a:ext cx="2041585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Shapefile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konsesi</a:t>
            </a:r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 &amp;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blok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09160"/>
            <a:ext cx="73152" cy="640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73752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05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1836" y="4897389"/>
            <a:ext cx="1900520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Tutupan</a:t>
            </a:r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lahan</a:t>
            </a:r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historis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63640" y="141732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417320"/>
            <a:ext cx="73152" cy="64008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1581912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06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61969" y="1606555"/>
            <a:ext cx="2626681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Peta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gambut</a:t>
            </a:r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/FLEG &amp;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hidrologi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224028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240280"/>
            <a:ext cx="73152" cy="64008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7" y="2404872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07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61969" y="2419365"/>
            <a:ext cx="1953420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Existing/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rencana</a:t>
            </a:r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kanal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63640" y="306324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063240"/>
            <a:ext cx="73152" cy="64008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3227832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08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61969" y="3252475"/>
            <a:ext cx="2689198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Land clearing &amp; planting history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63640" y="388620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3886200"/>
            <a:ext cx="73152" cy="64008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7" y="4050791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09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61969" y="4075435"/>
            <a:ext cx="1895712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Kebakaran</a:t>
            </a:r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 &amp; </a:t>
            </a:r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muka</a:t>
            </a:r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 air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263640" y="4709160"/>
            <a:ext cx="51663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8C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709160"/>
            <a:ext cx="73152" cy="640080"/>
          </a:xfrm>
          <a:prstGeom prst="rect">
            <a:avLst/>
          </a:prstGeom>
          <a:solidFill>
            <a:srgbClr val="4A8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7" y="4873752"/>
            <a:ext cx="4800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B37"/>
                </a:solidFill>
                <a:latin typeface="Aptos"/>
              </a:rPr>
              <a:t>10</a:t>
            </a:r>
            <a:endParaRPr sz="1400" b="1">
              <a:solidFill>
                <a:srgbClr val="122B37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61969" y="4897803"/>
            <a:ext cx="2193870" cy="30777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r>
              <a:rPr lang="en-ID" sz="1400" dirty="0" err="1">
                <a:solidFill>
                  <a:srgbClr val="1E2326"/>
                </a:solidFill>
                <a:latin typeface="Book Antiqua" panose="02040602050305030304" charset="0"/>
              </a:rPr>
              <a:t>Biaya</a:t>
            </a:r>
            <a:r>
              <a:rPr lang="en-ID" sz="1400" dirty="0">
                <a:solidFill>
                  <a:srgbClr val="1E2326"/>
                </a:solidFill>
                <a:latin typeface="Book Antiqua" panose="02040602050305030304" charset="0"/>
              </a:rPr>
              <a:t>, yield &amp; margin HTI</a:t>
            </a:r>
            <a:endParaRPr lang="en-ID" sz="1400" dirty="0">
              <a:solidFill>
                <a:srgbClr val="1E2326"/>
              </a:solidFill>
              <a:latin typeface="Book Antiqua" panose="0204060205030503030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93212" y="5806440"/>
            <a:ext cx="7375096" cy="323165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latin typeface="Aptos"/>
              </a:rPr>
              <a:t>Output: legal eligible area → carbon eligible area → tCO₂e → economics → GO / NO-GO</a:t>
            </a:r>
            <a:endParaRPr sz="1500" b="1">
              <a:latin typeface="Apto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94360" y="6382512"/>
            <a:ext cx="96012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160"/>
            <a:ext cx="12191695" cy="6858000"/>
          </a:xfrm>
          <a:prstGeom prst="rect">
            <a:avLst/>
          </a:prstGeom>
          <a:solidFill>
            <a:srgbClr val="B48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REKOMENDASI KEPUTUSAN</a:t>
            </a:r>
            <a:endParaRPr sz="2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700" b="1">
                <a:solidFill>
                  <a:srgbClr val="B8DCC6"/>
                </a:solidFill>
                <a:latin typeface="Aptos"/>
              </a:rPr>
              <a:t>Lanjutkan ke tahap feasibility,</a:t>
            </a:r>
            <a:br>
              <a:rPr sz="2700" b="1">
                <a:solidFill>
                  <a:srgbClr val="B8DCC6"/>
                </a:solidFill>
                <a:latin typeface="Aptos"/>
              </a:rPr>
            </a:br>
            <a:r>
              <a:t>bukan langsung ke pengembangan proyek.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26080"/>
            <a:ext cx="3474720" cy="1920240"/>
          </a:xfrm>
          <a:prstGeom prst="roundRect">
            <a:avLst/>
          </a:prstGeom>
          <a:solidFill>
            <a:srgbClr val="1D3B45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7921" y="3127248"/>
            <a:ext cx="810478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 dirty="0">
                <a:solidFill>
                  <a:srgbClr val="2D6A4F"/>
                </a:solidFill>
                <a:latin typeface="Baskerville Old Face" panose="02020602080505020303" charset="0"/>
              </a:rPr>
              <a:t>GATE 1</a:t>
            </a:r>
            <a:endParaRPr sz="1600" b="1" dirty="0">
              <a:solidFill>
                <a:srgbClr val="2D6A4F"/>
              </a:solidFill>
              <a:latin typeface="Baskerville Old Face" panose="02020602080505020303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502152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LEGAL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950208"/>
            <a:ext cx="3313515" cy="8299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D" sz="1200" dirty="0" err="1">
                <a:solidFill>
                  <a:srgbClr val="FFFFFF"/>
                </a:solidFill>
                <a:latin typeface="Aptos" panose="020B0004020202020204" pitchFamily="34" charset="0"/>
              </a:rPr>
              <a:t>Apakah</a:t>
            </a:r>
            <a:r>
              <a:rPr lang="en-ID" sz="1200" dirty="0">
                <a:solidFill>
                  <a:srgbClr val="FFFFFF"/>
                </a:solidFill>
                <a:latin typeface="Aptos" panose="020B0004020202020204" pitchFamily="34" charset="0"/>
              </a:rPr>
              <a:t> BAU legal dan area </a:t>
            </a:r>
            <a:r>
              <a:rPr lang="en-ID" sz="1200" dirty="0" err="1">
                <a:solidFill>
                  <a:srgbClr val="FFFFFF"/>
                </a:solidFill>
                <a:latin typeface="Aptos" panose="020B0004020202020204" pitchFamily="34" charset="0"/>
              </a:rPr>
              <a:t>benar-benar</a:t>
            </a:r>
            <a:r>
              <a:rPr lang="en-ID" sz="1200" dirty="0">
                <a:solidFill>
                  <a:srgbClr val="FFFFFF"/>
                </a:solidFill>
                <a:latin typeface="Aptos" panose="020B0004020202020204" pitchFamily="34" charset="0"/>
              </a:rPr>
              <a:t> eligible?</a:t>
            </a:r>
            <a:endParaRPr lang="en-ID" sz="1200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r>
              <a:rPr lang="en-ID" sz="1200" b="1" dirty="0">
                <a:solidFill>
                  <a:srgbClr val="FFFFFF"/>
                </a:solidFill>
                <a:latin typeface="Aptos" panose="020B0004020202020204" pitchFamily="34" charset="0"/>
              </a:rPr>
              <a:t>Blok </a:t>
            </a:r>
            <a:r>
              <a:rPr lang="en-ID" sz="1200" b="1" dirty="0" err="1">
                <a:solidFill>
                  <a:srgbClr val="FFFFFF"/>
                </a:solidFill>
                <a:latin typeface="Aptos" panose="020B0004020202020204" pitchFamily="34" charset="0"/>
              </a:rPr>
              <a:t>lindung</a:t>
            </a:r>
            <a:r>
              <a:rPr lang="en-ID" sz="1200" b="1" dirty="0">
                <a:solidFill>
                  <a:srgbClr val="FFFFFF"/>
                </a:solidFill>
                <a:latin typeface="Aptos" panose="020B0004020202020204" pitchFamily="34" charset="0"/>
              </a:rPr>
              <a:t> 71.349,6 ha </a:t>
            </a:r>
            <a:r>
              <a:rPr lang="en-ID" sz="1200" b="1" dirty="0" err="1">
                <a:solidFill>
                  <a:srgbClr val="FFFFFF"/>
                </a:solidFill>
                <a:latin typeface="Aptos" panose="020B0004020202020204" pitchFamily="34" charset="0"/>
              </a:rPr>
              <a:t>berada</a:t>
            </a:r>
            <a:r>
              <a:rPr lang="en-ID" sz="1200" b="1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solidFill>
                  <a:srgbClr val="FFFFFF"/>
                </a:solidFill>
                <a:latin typeface="Aptos" panose="020B0004020202020204" pitchFamily="34" charset="0"/>
              </a:rPr>
              <a:t>dalam</a:t>
            </a:r>
            <a:r>
              <a:rPr lang="en-ID" sz="1200" b="1" dirty="0">
                <a:solidFill>
                  <a:srgbClr val="FFFFFF"/>
                </a:solidFill>
                <a:latin typeface="Aptos" panose="020B0004020202020204" pitchFamily="34" charset="0"/>
              </a:rPr>
              <a:t> SK PBPH. </a:t>
            </a:r>
            <a:r>
              <a:rPr lang="en-ID" sz="1200" b="1" dirty="0" err="1">
                <a:solidFill>
                  <a:srgbClr val="FFFFFF"/>
                </a:solidFill>
                <a:latin typeface="Aptos" panose="020B0004020202020204" pitchFamily="34" charset="0"/>
              </a:rPr>
              <a:t>Berikutnya</a:t>
            </a:r>
            <a:r>
              <a:rPr lang="en-ID" sz="1200" b="1" dirty="0">
                <a:solidFill>
                  <a:srgbClr val="FFFFFF"/>
                </a:solidFill>
                <a:latin typeface="Aptos" panose="020B0004020202020204" pitchFamily="34" charset="0"/>
              </a:rPr>
              <a:t>: </a:t>
            </a:r>
            <a:r>
              <a:rPr lang="en-ID" sz="1200" b="1" dirty="0" err="1">
                <a:solidFill>
                  <a:srgbClr val="FFFFFF"/>
                </a:solidFill>
                <a:latin typeface="Aptos" panose="020B0004020202020204" pitchFamily="34" charset="0"/>
              </a:rPr>
              <a:t>verifikasi</a:t>
            </a:r>
            <a:r>
              <a:rPr lang="en-ID" sz="1200" b="1" dirty="0">
                <a:solidFill>
                  <a:srgbClr val="FFFFFF"/>
                </a:solidFill>
                <a:latin typeface="Aptos" panose="020B0004020202020204" pitchFamily="34" charset="0"/>
              </a:rPr>
              <a:t> SK PBPH, RKUPH &amp; </a:t>
            </a:r>
            <a:r>
              <a:rPr lang="en-ID" sz="1200" b="1" dirty="0" err="1">
                <a:solidFill>
                  <a:srgbClr val="FFFFFF"/>
                </a:solidFill>
                <a:latin typeface="Aptos" panose="020B0004020202020204" pitchFamily="34" charset="0"/>
              </a:rPr>
              <a:t>peta</a:t>
            </a:r>
            <a:r>
              <a:rPr lang="id-ID" altLang="en-ID" sz="1200" b="1" dirty="0" err="1">
                <a:solidFill>
                  <a:srgbClr val="FFFFFF"/>
                </a:solidFill>
                <a:latin typeface="Aptos" panose="020B0004020202020204" pitchFamily="34" charset="0"/>
              </a:rPr>
              <a:t>.</a:t>
            </a:r>
            <a:endParaRPr lang="id-ID" altLang="en-ID" sz="1200" b="1" dirty="0" err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2926080"/>
            <a:ext cx="3474720" cy="1920240"/>
          </a:xfrm>
          <a:prstGeom prst="roundRect">
            <a:avLst/>
          </a:prstGeom>
          <a:solidFill>
            <a:srgbClr val="1D3B45"/>
          </a:solidFill>
          <a:ln>
            <a:solidFill>
              <a:srgbClr val="4A8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5521" y="3127248"/>
            <a:ext cx="810478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4A877B"/>
                </a:solidFill>
                <a:latin typeface="Baskerville Old Face" panose="02020602080505020303" charset="0"/>
              </a:rPr>
              <a:t>GATE 2</a:t>
            </a:r>
            <a:endParaRPr sz="1600" b="1">
              <a:solidFill>
                <a:srgbClr val="4A877B"/>
              </a:solidFill>
              <a:latin typeface="Baskerville Old Face" panose="02020602080505020303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80560" y="3502152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CARBON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0560" y="3868928"/>
            <a:ext cx="3200400" cy="10147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D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Apakah</a:t>
            </a:r>
            <a:r>
              <a:rPr lang="en-ID" sz="1200" dirty="0">
                <a:solidFill>
                  <a:schemeClr val="bg1"/>
                </a:solidFill>
                <a:latin typeface="Aptos" panose="020B0004020202020204" pitchFamily="34" charset="0"/>
              </a:rPr>
              <a:t> additionality &amp; </a:t>
            </a:r>
            <a:r>
              <a:rPr lang="en-ID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metodologi</a:t>
            </a:r>
            <a:r>
              <a:rPr lang="en-ID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dapat</a:t>
            </a:r>
            <a:r>
              <a:rPr lang="en-ID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dipertahankan</a:t>
            </a:r>
            <a:r>
              <a:rPr lang="en-ID" sz="1200" dirty="0">
                <a:solidFill>
                  <a:schemeClr val="bg1"/>
                </a:solidFill>
                <a:latin typeface="Aptos" panose="020B0004020202020204" pitchFamily="34" charset="0"/>
              </a:rPr>
              <a:t>?</a:t>
            </a:r>
            <a:endParaRPr lang="en-ID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Estimasi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7,4–16,6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juta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tCO₂e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(6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th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).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Berikutnya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: uji additionality &amp;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metodologi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SRUK</a:t>
            </a:r>
            <a:r>
              <a:rPr lang="id-ID" alt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  <a:endParaRPr lang="id-ID" altLang="en-ID" sz="1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1000" y="2926080"/>
            <a:ext cx="3474720" cy="1920240"/>
          </a:xfrm>
          <a:prstGeom prst="roundRect">
            <a:avLst/>
          </a:prstGeom>
          <a:solidFill>
            <a:srgbClr val="1D3B45"/>
          </a:solidFill>
          <a:ln>
            <a:solidFill>
              <a:srgbClr val="C4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3121" y="3127248"/>
            <a:ext cx="810478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C47837"/>
                </a:solidFill>
                <a:latin typeface="Baskerville Old Face" panose="02020602080505020303" charset="0"/>
              </a:rPr>
              <a:t>GATE 3</a:t>
            </a:r>
            <a:endParaRPr sz="1600" b="1">
              <a:solidFill>
                <a:srgbClr val="C47837"/>
              </a:solidFill>
              <a:latin typeface="Baskerville Old Face" panose="02020602080505020303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38160" y="3502152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BUSINESS</a:t>
            </a:r>
            <a:endParaRPr sz="18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22920" y="3797129"/>
            <a:ext cx="3246120" cy="10147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D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Apakah</a:t>
            </a:r>
            <a:r>
              <a:rPr lang="en-ID" sz="1200" dirty="0">
                <a:solidFill>
                  <a:schemeClr val="bg1"/>
                </a:solidFill>
                <a:latin typeface="Aptos" panose="020B0004020202020204" pitchFamily="34" charset="0"/>
              </a:rPr>
              <a:t> risk-adjusted NPV </a:t>
            </a:r>
            <a:r>
              <a:rPr lang="en-ID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mengalahkan</a:t>
            </a:r>
            <a:r>
              <a:rPr lang="en-ID" sz="12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D" sz="1200" dirty="0" err="1">
                <a:solidFill>
                  <a:schemeClr val="bg1"/>
                </a:solidFill>
                <a:latin typeface="Aptos" panose="020B0004020202020204" pitchFamily="34" charset="0"/>
              </a:rPr>
              <a:t>alternatif</a:t>
            </a:r>
            <a:r>
              <a:rPr lang="en-ID" sz="1200" dirty="0">
                <a:solidFill>
                  <a:schemeClr val="bg1"/>
                </a:solidFill>
                <a:latin typeface="Aptos" panose="020B0004020202020204" pitchFamily="34" charset="0"/>
              </a:rPr>
              <a:t> HTI?</a:t>
            </a:r>
            <a:endParaRPr lang="en-ID" sz="12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Proyeksi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pendapatan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bersih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US$29,5–265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juta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vs opportunity cost US$23–51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juta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(6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th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),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sebelum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biaya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MRV, </a:t>
            </a:r>
            <a:r>
              <a:rPr lang="en-ID" sz="1200" b="1" dirty="0" err="1">
                <a:solidFill>
                  <a:schemeClr val="bg1"/>
                </a:solidFill>
                <a:latin typeface="Aptos" panose="020B0004020202020204" pitchFamily="34" charset="0"/>
              </a:rPr>
              <a:t>restorasi</a:t>
            </a:r>
            <a:r>
              <a:rPr 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 &amp; buffer</a:t>
            </a:r>
            <a:r>
              <a:rPr lang="id-ID" altLang="en-ID" sz="1200" b="1" dirty="0">
                <a:solidFill>
                  <a:schemeClr val="bg1"/>
                </a:solidFill>
                <a:latin typeface="Aptos" panose="020B0004020202020204" pitchFamily="34" charset="0"/>
              </a:rPr>
              <a:t>.</a:t>
            </a:r>
            <a:endParaRPr lang="id-ID" altLang="en-ID" sz="1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9530" y="5394960"/>
            <a:ext cx="9939580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Book Antiqua" panose="02040602050305030304" charset="0"/>
              </a:rPr>
              <a:t>Jika </a:t>
            </a:r>
            <a:r>
              <a:rPr sz="1600" b="1" dirty="0" err="1">
                <a:solidFill>
                  <a:srgbClr val="FFFFFF"/>
                </a:solidFill>
                <a:latin typeface="Book Antiqua" panose="02040602050305030304" charset="0"/>
              </a:rPr>
              <a:t>ketiga</a:t>
            </a:r>
            <a:r>
              <a:rPr sz="1600" b="1" dirty="0">
                <a:solidFill>
                  <a:srgbClr val="FFFFFF"/>
                </a:solidFill>
                <a:latin typeface="Book Antiqua" panose="02040602050305030304" charset="0"/>
              </a:rPr>
              <a:t> gate lolos → </a:t>
            </a:r>
            <a:r>
              <a:rPr sz="1600" b="1" dirty="0" err="1">
                <a:solidFill>
                  <a:srgbClr val="FFFFFF"/>
                </a:solidFill>
                <a:latin typeface="Book Antiqua" panose="02040602050305030304" charset="0"/>
              </a:rPr>
              <a:t>perubahan</a:t>
            </a:r>
            <a:r>
              <a:rPr sz="1600" b="1" dirty="0">
                <a:solidFill>
                  <a:srgbClr val="FFFFFF"/>
                </a:solidFill>
                <a:latin typeface="Book Antiqua" panose="02040602050305030304" charset="0"/>
              </a:rPr>
              <a:t> RKUPH + </a:t>
            </a:r>
            <a:r>
              <a:rPr sz="1600" b="1" dirty="0" err="1">
                <a:solidFill>
                  <a:srgbClr val="FFFFFF"/>
                </a:solidFill>
                <a:latin typeface="Book Antiqua" panose="02040602050305030304" charset="0"/>
              </a:rPr>
              <a:t>pengembangan</a:t>
            </a:r>
            <a:r>
              <a:rPr sz="1600" b="1" dirty="0">
                <a:solidFill>
                  <a:srgbClr val="FFFFFF"/>
                </a:solidFill>
                <a:latin typeface="Book Antiqua" panose="02040602050305030304" charset="0"/>
              </a:rPr>
              <a:t> MUK </a:t>
            </a:r>
            <a:r>
              <a:rPr sz="1600" b="1" dirty="0" err="1">
                <a:solidFill>
                  <a:srgbClr val="FFFFFF"/>
                </a:solidFill>
                <a:latin typeface="Book Antiqua" panose="02040602050305030304" charset="0"/>
              </a:rPr>
              <a:t>karbon</a:t>
            </a:r>
            <a:r>
              <a:rPr sz="1600" b="1" dirty="0">
                <a:solidFill>
                  <a:srgbClr val="FFFFFF"/>
                </a:solidFill>
                <a:latin typeface="Book Antiqua" panose="02040602050305030304" charset="0"/>
              </a:rPr>
              <a:t> ±</a:t>
            </a:r>
            <a:r>
              <a:rPr lang="en-US" sz="1600" b="1" dirty="0">
                <a:solidFill>
                  <a:srgbClr val="FFFFFF"/>
                </a:solidFill>
                <a:latin typeface="Book Antiqua" panose="02040602050305030304" charset="0"/>
              </a:rPr>
              <a:t>72.000</a:t>
            </a:r>
            <a:r>
              <a:rPr sz="1600" b="1" dirty="0">
                <a:solidFill>
                  <a:srgbClr val="FFFFFF"/>
                </a:solidFill>
                <a:latin typeface="Book Antiqua" panose="02040602050305030304" charset="0"/>
              </a:rPr>
              <a:t> ha </a:t>
            </a:r>
            <a:r>
              <a:rPr sz="1600" b="1" dirty="0" err="1">
                <a:solidFill>
                  <a:srgbClr val="FFFFFF"/>
                </a:solidFill>
                <a:latin typeface="Book Antiqua" panose="02040602050305030304" charset="0"/>
              </a:rPr>
              <a:t>layak</a:t>
            </a:r>
            <a:r>
              <a:rPr sz="1600" b="1" dirty="0">
                <a:solidFill>
                  <a:srgbClr val="FFFFFF"/>
                </a:solidFill>
                <a:latin typeface="Book Antiqua" panose="02040602050305030304" charset="0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Book Antiqua" panose="02040602050305030304" charset="0"/>
              </a:rPr>
              <a:t>dilanjutkan</a:t>
            </a:r>
            <a:r>
              <a:rPr sz="1600" b="1" dirty="0">
                <a:solidFill>
                  <a:srgbClr val="FFFFFF"/>
                </a:solidFill>
                <a:latin typeface="Book Antiqua" panose="02040602050305030304" charset="0"/>
              </a:rPr>
              <a:t>.</a:t>
            </a:r>
            <a:endParaRPr sz="1600" b="1" dirty="0">
              <a:solidFill>
                <a:srgbClr val="FFFFFF"/>
              </a:solidFill>
              <a:latin typeface="Book Antiqua" panose="0204060205030503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29406" y="6263640"/>
            <a:ext cx="4519827" cy="2308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0">
                <a:latin typeface="Aptos"/>
              </a:rPr>
              <a:t>Analisis awal • perlu dikonfirmasi dengan dokumen PBPH/RKUPH dan data spasial aktual</a:t>
            </a:r>
            <a:endParaRPr sz="900" b="0"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kema_PBPH_revis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89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8982" y="1121705"/>
            <a:ext cx="453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Stok Karbon Kawasan </a:t>
            </a:r>
            <a:r>
              <a:rPr lang="en-US" dirty="0" err="1">
                <a:latin typeface="Aptos" panose="020B0004020202020204" pitchFamily="34" charset="0"/>
              </a:rPr>
              <a:t>Budidaya</a:t>
            </a:r>
            <a:r>
              <a:rPr lang="en-US" dirty="0">
                <a:latin typeface="Aptos" panose="020B0004020202020204" pitchFamily="34" charset="0"/>
              </a:rPr>
              <a:t> (</a:t>
            </a:r>
            <a:r>
              <a:rPr lang="en-US" dirty="0" err="1">
                <a:latin typeface="Aptos" panose="020B0004020202020204" pitchFamily="34" charset="0"/>
              </a:rPr>
              <a:t>Produksi</a:t>
            </a:r>
            <a:r>
              <a:rPr lang="en-US" dirty="0">
                <a:latin typeface="Aptos" panose="020B0004020202020204" pitchFamily="34" charset="0"/>
              </a:rPr>
              <a:t>)</a:t>
            </a:r>
            <a:endParaRPr lang="en-ID" dirty="0"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2618" y="424689"/>
            <a:ext cx="354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erlin Sans FB" panose="020E0602020502020306" pitchFamily="34" charset="0"/>
              </a:rPr>
              <a:t>PBPH PT MAYAWANA PERSADA</a:t>
            </a:r>
            <a:endParaRPr lang="en-ID" dirty="0">
              <a:latin typeface="Berlin Sans FB" panose="020E0602020502020306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84827" y="1509755"/>
          <a:ext cx="6699828" cy="568428"/>
        </p:xfrm>
        <a:graphic>
          <a:graphicData uri="http://schemas.openxmlformats.org/drawingml/2006/table">
            <a:tbl>
              <a:tblPr/>
              <a:tblGrid>
                <a:gridCol w="834220"/>
                <a:gridCol w="834220"/>
                <a:gridCol w="1968237"/>
                <a:gridCol w="1590232"/>
                <a:gridCol w="1472919"/>
              </a:tblGrid>
              <a:tr h="2842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Tahun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Luas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Kandungan Karbon (tC/Ha)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Stok Karbon (tC)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Serapan CO2 (tCO2e)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2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66.908,4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59,5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3.981.049,800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14.597.182,600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7455" y="2331065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Stok Karbon Kawasan </a:t>
            </a:r>
            <a:r>
              <a:rPr lang="en-US" dirty="0" err="1">
                <a:latin typeface="Aptos" panose="020B0004020202020204" pitchFamily="34" charset="0"/>
              </a:rPr>
              <a:t>Lindung</a:t>
            </a:r>
            <a:endParaRPr lang="en-ID" dirty="0">
              <a:latin typeface="Aptos" panose="020B0004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94063" y="2775978"/>
          <a:ext cx="6690592" cy="568428"/>
        </p:xfrm>
        <a:graphic>
          <a:graphicData uri="http://schemas.openxmlformats.org/drawingml/2006/table">
            <a:tbl>
              <a:tblPr/>
              <a:tblGrid>
                <a:gridCol w="833070"/>
                <a:gridCol w="833070"/>
                <a:gridCol w="1965524"/>
                <a:gridCol w="1588039"/>
                <a:gridCol w="1470889"/>
              </a:tblGrid>
              <a:tr h="2842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Tahun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Luas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Kandungan Karbon (tC/Ha)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Stok Karbon (tC)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Serapan CO2 (tCO2e)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21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71.349,644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268,6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19.164.514,378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70.269.886,054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77455" y="3662393"/>
            <a:ext cx="495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</a:rPr>
              <a:t>Emisi</a:t>
            </a:r>
            <a:r>
              <a:rPr lang="en-US" dirty="0">
                <a:latin typeface="Aptos" panose="020B0004020202020204" pitchFamily="34" charset="0"/>
              </a:rPr>
              <a:t> Karbon </a:t>
            </a:r>
            <a:r>
              <a:rPr lang="en-US" dirty="0" err="1">
                <a:latin typeface="Aptos" panose="020B0004020202020204" pitchFamily="34" charset="0"/>
              </a:rPr>
              <a:t>dari</a:t>
            </a:r>
            <a:r>
              <a:rPr lang="en-US" dirty="0">
                <a:latin typeface="Aptos" panose="020B0004020202020204" pitchFamily="34" charset="0"/>
              </a:rPr>
              <a:t> Kawasan </a:t>
            </a:r>
            <a:r>
              <a:rPr lang="en-US" dirty="0" err="1">
                <a:latin typeface="Aptos" panose="020B0004020202020204" pitchFamily="34" charset="0"/>
              </a:rPr>
              <a:t>Budidaya</a:t>
            </a:r>
            <a:r>
              <a:rPr lang="en-US" dirty="0">
                <a:latin typeface="Aptos" panose="020B0004020202020204" pitchFamily="34" charset="0"/>
              </a:rPr>
              <a:t> (</a:t>
            </a:r>
            <a:r>
              <a:rPr lang="en-US" dirty="0" err="1">
                <a:latin typeface="Aptos" panose="020B0004020202020204" pitchFamily="34" charset="0"/>
              </a:rPr>
              <a:t>Produksi</a:t>
            </a:r>
            <a:r>
              <a:rPr lang="en-US" dirty="0">
                <a:latin typeface="Aptos" panose="020B0004020202020204" pitchFamily="34" charset="0"/>
              </a:rPr>
              <a:t>)</a:t>
            </a:r>
            <a:endParaRPr lang="en-ID" dirty="0">
              <a:latin typeface="Aptos" panose="020B0004020202020204" pitchFamily="34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84825" y="4139665"/>
          <a:ext cx="8288483" cy="1974808"/>
        </p:xfrm>
        <a:graphic>
          <a:graphicData uri="http://schemas.openxmlformats.org/drawingml/2006/table">
            <a:tbl>
              <a:tblPr/>
              <a:tblGrid>
                <a:gridCol w="882634"/>
                <a:gridCol w="882634"/>
                <a:gridCol w="2082464"/>
                <a:gridCol w="1682521"/>
                <a:gridCol w="1558400"/>
                <a:gridCol w="1199830"/>
              </a:tblGrid>
              <a:tr h="246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Tahun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Luas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Faktor Emisi (tC/Ha/th)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Emisi Karbon (tC/th)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Emisi CO2 (tCO2/th)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Emisi CO2 (tCO2)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4.884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97.680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358.160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2.148.960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8.162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163.240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598.547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2.992.733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19.221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384.420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1.409.540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5.638.160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1.571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31.420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115.207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345.620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1.890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37.800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138.600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277.200</a:t>
                      </a:r>
                      <a:endParaRPr lang="en-ID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218.400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800.800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800.800</a:t>
                      </a:r>
                      <a:endParaRPr lang="en-ID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8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46.648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932.960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3.420.853</a:t>
                      </a:r>
                      <a:endParaRPr lang="en-ID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12.203.473</a:t>
                      </a:r>
                      <a:endParaRPr lang="en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9920</Words>
  <Application>WPS Presentation</Application>
  <PresentationFormat>Widescreen</PresentationFormat>
  <Paragraphs>547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SimSun</vt:lpstr>
      <vt:lpstr>Wingdings</vt:lpstr>
      <vt:lpstr>Arial</vt:lpstr>
      <vt:lpstr>Arial Black</vt:lpstr>
      <vt:lpstr>Aptos</vt:lpstr>
      <vt:lpstr>Segoe UI</vt:lpstr>
      <vt:lpstr>Book Antiqua</vt:lpstr>
      <vt:lpstr>Baskerville Old Face</vt:lpstr>
      <vt:lpstr>Cascadia Code</vt:lpstr>
      <vt:lpstr>Century</vt:lpstr>
      <vt:lpstr>Cambria</vt:lpstr>
      <vt:lpstr>Aptos</vt:lpstr>
      <vt:lpstr>Berlin Sans FB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Multiusaha Kehutanan Karbon pada PBPH ±150.000 Ha</dc:title>
  <dc:creator>OpenAI</dc:creator>
  <dc:description>generated using python-pptx</dc:description>
  <dc:subject>Analisis hukum dan kelayakan usaha</dc:subject>
  <cp:lastModifiedBy>WPS_1678265648</cp:lastModifiedBy>
  <cp:revision>51</cp:revision>
  <dcterms:created xsi:type="dcterms:W3CDTF">2013-01-27T09:14:00Z</dcterms:created>
  <dcterms:modified xsi:type="dcterms:W3CDTF">2026-10-14T09:56:31Z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06890669BB63422087DC3FB79B1D6465_13</vt:lpwstr>
  </property>
  <property fmtid="{D5CDD505-2E9C-101B-9397-08002B2CF9AE}" pid="3" name="KSOProductBuildVer">
    <vt:lpwstr>1033-12.1.0.28485</vt:lpwstr>
  </property>
</Properties>
</file>