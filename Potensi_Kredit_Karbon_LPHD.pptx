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F6B6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F6B65"/>
                </a:solidFill>
                <a:latin typeface="+mn-lt"/>
              </a:rPr>
              <a:t>Potensi kredit karbon per skenario harga, Rp miliar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Porsi LPHD (60%)</c:v>
                </c:pt>
              </c:strCache>
            </c:strRef>
          </c:tx>
          <c:spPr>
            <a:solidFill>
              <a:srgbClr val="1F5A45"/>
            </a:solidFill>
            <a:effectLst/>
          </c:spPr>
          <c:invertIfNegative val="0"/>
          <c:dLbls>
            <c:numFmt formatCode="0\,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 USD/VCU</c:v>
                  </c:pt>
                  <c:pt idx="1">
                    <c:v>10 USD/VCU</c:v>
                  </c:pt>
                  <c:pt idx="2">
                    <c:v>15 USD/VCU</c:v>
                  </c:pt>
                  <c:pt idx="3">
                    <c:v>20 USD/VCU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106</c:v>
                </c:pt>
                <c:pt idx="2">
                  <c:v>159</c:v>
                </c:pt>
                <c:pt idx="3">
                  <c:v>212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Keseluruhan (100%)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\,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5 USD/VCU</c:v>
                  </c:pt>
                  <c:pt idx="1">
                    <c:v>10 USD/VCU</c:v>
                  </c:pt>
                  <c:pt idx="2">
                    <c:v>15 USD/VCU</c:v>
                  </c:pt>
                  <c:pt idx="3">
                    <c:v>20 USD/VCU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177</c:v>
                </c:pt>
                <c:pt idx="2">
                  <c:v>265</c:v>
                </c:pt>
                <c:pt idx="3">
                  <c:v>353</c:v>
                </c:pt>
              </c:numCache>
            </c:numRef>
          </c:val>
        </c:ser>
        <c:dLbls>
          <c:numFmt formatCode="0\,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F6B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 VCU seluruh areal 9.807,43 (setelah buffer 2.601.440 tCO2e dari stok 5.202.879 tCO2e). Porsi LPHD 60% = 5.884 VCU.
Nilai porsi LPHD: 20 USD Rp 2.118.404.234; 15 USD Rp 1.588.803.176; 10 USD Rp 1.059.202.117; 5 USD Rp 529.601.059.
Nilai keseluruhan (100%): 20 USD Rp 3.530.673.724; 15 USD Rp 2.648.005.293; 10 USD Rp 1.765.336.862; 5 USD Rp 882.668.431.
Kurs tersirat sekitar Rp18.000/USD. Stok per pool (tCO2e): AGB 38.415; BGB 111; serasah 1.152; tanah 338.752; tuplah 4.824.448.
Luas: hutan 1.443,1 ha (ARR), terdegradasi 1.025,4 ha (REDD).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POTENSI KREDIT KARBON  ·  LPHD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Porsi LPHD 5.884 VCU bernilai Rp 0,53–2,12 miliar pada harga karbon 5–20 USD per VCU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Stok karbon dan kredit</a:t>
            </a:r>
            <a:endParaRPr lang="en-US" sz="1300" dirty="0"/>
          </a:p>
        </p:txBody>
      </p:sp>
      <p:graphicFrame>
        <p:nvGraphicFramePr>
          <p:cNvPr id="2" name="tabel-sto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karbon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 CO₂e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338.752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Tuplah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1.315.759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4.824.448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stok karbon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1.418.967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5.202.879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2.601.440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VCU (100%)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9.807,43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Porsi LPHD (60%)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235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Luas areal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2.468,5 ha</a:t>
            </a:r>
            <a:endParaRPr lang="en-US" sz="1400" dirty="0"/>
          </a:p>
        </p:txBody>
      </p:sp>
      <p:sp>
        <p:nvSpPr>
          <p:cNvPr id="8" name="luas-arr"/>
          <p:cNvSpPr/>
          <p:nvPr/>
        </p:nvSpPr>
        <p:spPr>
          <a:xfrm>
            <a:off x="548640" y="5916168"/>
            <a:ext cx="2924064" cy="16459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luas-redd"/>
          <p:cNvSpPr/>
          <p:nvPr/>
        </p:nvSpPr>
        <p:spPr>
          <a:xfrm>
            <a:off x="3500136" y="5916168"/>
            <a:ext cx="2077704" cy="16459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48640" y="6153912"/>
            <a:ext cx="2924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Hutan · ARR  1.443,1 ha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500136" y="6153912"/>
            <a:ext cx="2077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Terdegradasi · REDD  1.025,4 ha</a:t>
            </a:r>
            <a:endParaRPr lang="en-US" sz="11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035040" y="1783080"/>
          <a:ext cx="5608015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el-skenari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4709160"/>
          <a:ext cx="56080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1332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Porsi LPHD 60%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5F6B6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Keseluruhan 100% (Rp)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USD/VCU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2.118.404.234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3.530.673.724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USD/VCU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1.588.803.176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2.648.005.293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USD/VCU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1.059.202.117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1.765.336.862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USD/VCU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5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529.601.059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882.668.431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B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6035040" y="6217920"/>
            <a:ext cx="5608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Kurs tersirat ±Rp18.000/USD. Sumber: perhitungan stok karbon LPHD.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yawana Karbon">
  <a:themeElements>
    <a:clrScheme name="Mayawana Karbon">
      <a:dk1>
        <a:srgbClr val="1B2420"/>
      </a:dk1>
      <a:lt1>
        <a:srgbClr val="FFFFFF"/>
      </a:lt1>
      <a:dk2>
        <a:srgbClr val="163A2E"/>
      </a:dk2>
      <a:lt2>
        <a:srgbClr val="EEF2EE"/>
      </a:lt2>
      <a:accent1>
        <a:srgbClr val="1F5A45"/>
      </a:accent1>
      <a:accent2>
        <a:srgbClr val="9C967F"/>
      </a:accent2>
      <a:accent3>
        <a:srgbClr val="B5551F"/>
      </a:accent3>
      <a:accent4>
        <a:srgbClr val="5F6B65"/>
      </a:accent4>
      <a:accent5>
        <a:srgbClr val="D5DBD6"/>
      </a:accent5>
      <a:accent6>
        <a:srgbClr val="7FB096"/>
      </a:accent6>
      <a:hlink>
        <a:srgbClr val="1F5A45"/>
      </a:hlink>
      <a:folHlink>
        <a:srgbClr val="5F6B65"/>
      </a:folHlink>
    </a:clrScheme>
    <a:fontScheme name="Mayawana Karb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Potensi Kredit Karbon LPHD</dc:title>
  <dc:subject>PptxGenJS Presentation</dc:subject>
  <dc:creator>PptxGenJS</dc:creator>
  <cp:lastModifiedBy>PptxGenJS</cp:lastModifiedBy>
  <cp:revision>1</cp:revision>
  <dcterms:created xsi:type="dcterms:W3CDTF">2026-10-23T05:50:23Z</dcterms:created>
  <dcterms:modified xsi:type="dcterms:W3CDTF">2026-10-23T05:50:23Z</dcterms:modified>
</cp:coreProperties>
</file>