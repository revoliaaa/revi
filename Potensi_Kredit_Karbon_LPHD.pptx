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F6B65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F6B65"/>
                </a:solidFill>
                <a:latin typeface="+mn-lt"/>
              </a:rPr>
              <a:t>Nilai kredit per skenario harga, Rp miliar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Porsi LPHD (60%)</c:v>
                </c:pt>
              </c:strCache>
            </c:strRef>
          </c:tx>
          <c:spPr>
            <a:solidFill>
              <a:srgbClr val="1F5A45"/>
            </a:solidFill>
            <a:effectLst/>
          </c:spPr>
          <c:invertIfNegative val="0"/>
          <c:dLbls>
            <c:numFmt formatCode="0\,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42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5 USD/VCU</c:v>
                  </c:pt>
                  <c:pt idx="1">
                    <c:v>10 USD/VCU</c:v>
                  </c:pt>
                  <c:pt idx="2">
                    <c:v>15 USD/VCU</c:v>
                  </c:pt>
                  <c:pt idx="3">
                    <c:v>20 USD/VCU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</c:v>
                </c:pt>
                <c:pt idx="1">
                  <c:v>106</c:v>
                </c:pt>
                <c:pt idx="2">
                  <c:v>159</c:v>
                </c:pt>
                <c:pt idx="3">
                  <c:v>212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Keseluruhan (100%)</c:v>
                </c:pt>
              </c:strCache>
            </c:strRef>
          </c:tx>
          <c:spPr>
            <a:solidFill>
              <a:srgbClr val="D5DBD6"/>
            </a:solidFill>
            <a:effectLst/>
          </c:spPr>
          <c:invertIfNegative val="0"/>
          <c:dLbls>
            <c:numFmt formatCode="0\,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42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5 USD/VCU</c:v>
                  </c:pt>
                  <c:pt idx="1">
                    <c:v>10 USD/VCU</c:v>
                  </c:pt>
                  <c:pt idx="2">
                    <c:v>15 USD/VCU</c:v>
                  </c:pt>
                  <c:pt idx="3">
                    <c:v>20 USD/VCU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88</c:v>
                </c:pt>
                <c:pt idx="1">
                  <c:v>177</c:v>
                </c:pt>
                <c:pt idx="2">
                  <c:v>265</c:v>
                </c:pt>
                <c:pt idx="3">
                  <c:v>353</c:v>
                </c:pt>
              </c:numCache>
            </c:numRef>
          </c:val>
        </c:ser>
        <c:dLbls>
          <c:numFmt formatCode="0\,00" sourceLinked="0"/>
          <c:txPr>
            <a:bodyPr/>
            <a:lstStyle/>
            <a:p>
              <a:pPr>
                <a:defRPr b="0" i="0" strike="noStrike" sz="1300" u="none">
                  <a:solidFill>
                    <a:srgbClr val="1B242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B6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5F6B6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Net VCU seluruh areal 9.807,43 (setelah buffer 2.601.440 tCO2e dari stok 5.202.879 tCO2e). Porsi LPHD 60% = 5.884 VCU.
Nilai porsi LPHD: 20 USD Rp 2.118.404.234; 15 USD Rp 1.588.803.176; 10 USD Rp 1.059.202.117; 5 USD Rp 529.601.059.
Nilai keseluruhan (100%): 20 USD Rp 3.530.673.724; 15 USD Rp 2.648.005.293; 10 USD Rp 1.765.336.862; 5 USD Rp 882.668.431.
Kurs tersirat sekitar Rp18.000/USD. Stok per pool (tCO2e): AGB 38.415; BGB 111; serasah 1.152; tanah 338.752; tuplah 4.824.448.
Luas: hutan 1.443,1 ha (ARR), terdegradasi 1.025,4 ha (REDD).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POTENSI KREDIT KARBON  ·  LPHD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Porsi LPHD 5.884 VCU bernilai Rp 0,53–2,12 miliar, tergantung harga karbon 5–20 USD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920240"/>
            <a:ext cx="3931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5.884</a:t>
            </a:r>
            <a:endParaRPr lang="en-US" sz="14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VCU porsi LPHD (60%)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200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dari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9.807,43</a:t>
            </a:r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 net VCU seluruh areal, setelah buffer 2.601.440 tCO₂e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3886200"/>
            <a:ext cx="393192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023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Stok karbon 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5.202.879 tCO₂e</a:t>
            </a:r>
            <a:endParaRPr lang="en-US" sz="1400" dirty="0"/>
          </a:p>
        </p:txBody>
      </p:sp>
      <p:sp>
        <p:nvSpPr>
          <p:cNvPr id="9" name="pool-tuplah"/>
          <p:cNvSpPr/>
          <p:nvPr/>
        </p:nvSpPr>
        <p:spPr>
          <a:xfrm>
            <a:off x="548640" y="4370832"/>
            <a:ext cx="3595059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pool-tanah"/>
          <p:cNvSpPr/>
          <p:nvPr/>
        </p:nvSpPr>
        <p:spPr>
          <a:xfrm>
            <a:off x="4171131" y="4370832"/>
            <a:ext cx="252430" cy="219456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1" name="pool-lain"/>
          <p:cNvSpPr/>
          <p:nvPr/>
        </p:nvSpPr>
        <p:spPr>
          <a:xfrm>
            <a:off x="4450993" y="4370832"/>
            <a:ext cx="36576" cy="21945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46634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Tuplah 92,7%  ·  tanah 6,5%  ·  AGB, BGB, serasah 0,8%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5074920"/>
            <a:ext cx="393192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52120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Luas areal 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2.468,5 ha</a:t>
            </a:r>
            <a:endParaRPr lang="en-US" sz="1400" dirty="0"/>
          </a:p>
        </p:txBody>
      </p:sp>
      <p:sp>
        <p:nvSpPr>
          <p:cNvPr id="15" name="luas-arr"/>
          <p:cNvSpPr/>
          <p:nvPr/>
        </p:nvSpPr>
        <p:spPr>
          <a:xfrm>
            <a:off x="548640" y="5559552"/>
            <a:ext cx="2282587" cy="219456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6" name="luas-redd"/>
          <p:cNvSpPr/>
          <p:nvPr/>
        </p:nvSpPr>
        <p:spPr>
          <a:xfrm>
            <a:off x="2858659" y="5559552"/>
            <a:ext cx="1621901" cy="219456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48640" y="5852160"/>
            <a:ext cx="228258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Hutan · ARR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1.443,1 ha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858659" y="5852160"/>
            <a:ext cx="162190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Terdegradasi · REDD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1.025,4 ha</a:t>
            </a:r>
            <a:endParaRPr lang="en-US" sz="14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5029200" y="1828800"/>
          <a:ext cx="6613855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ext 16"/>
          <p:cNvSpPr txBox="1"/>
          <p:nvPr/>
        </p:nvSpPr>
        <p:spPr>
          <a:xfrm>
            <a:off x="5029200" y="6144768"/>
            <a:ext cx="6613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Kurs tersirat ±Rp18.000/USD. Sumber: perhitungan stok karbon LPHD (AGB, BGB, serasah, tanah, tuplah).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yawana Karbon">
  <a:themeElements>
    <a:clrScheme name="Mayawana Karbon">
      <a:dk1>
        <a:srgbClr val="1B2420"/>
      </a:dk1>
      <a:lt1>
        <a:srgbClr val="FFFFFF"/>
      </a:lt1>
      <a:dk2>
        <a:srgbClr val="163A2E"/>
      </a:dk2>
      <a:lt2>
        <a:srgbClr val="EEF2EE"/>
      </a:lt2>
      <a:accent1>
        <a:srgbClr val="1F5A45"/>
      </a:accent1>
      <a:accent2>
        <a:srgbClr val="9C967F"/>
      </a:accent2>
      <a:accent3>
        <a:srgbClr val="B5551F"/>
      </a:accent3>
      <a:accent4>
        <a:srgbClr val="5F6B65"/>
      </a:accent4>
      <a:accent5>
        <a:srgbClr val="D5DBD6"/>
      </a:accent5>
      <a:accent6>
        <a:srgbClr val="7FB096"/>
      </a:accent6>
      <a:hlink>
        <a:srgbClr val="1F5A45"/>
      </a:hlink>
      <a:folHlink>
        <a:srgbClr val="5F6B65"/>
      </a:folHlink>
    </a:clrScheme>
    <a:fontScheme name="Mayawana Karb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Potensi Kredit Karbon LPHD</dc:title>
  <dc:subject>PptxGenJS Presentation</dc:subject>
  <dc:creator>PptxGenJS</dc:creator>
  <cp:lastModifiedBy>PptxGenJS</cp:lastModifiedBy>
  <cp:revision>1</cp:revision>
  <dcterms:created xsi:type="dcterms:W3CDTF">2026-10-23T05:46:26Z</dcterms:created>
  <dcterms:modified xsi:type="dcterms:W3CDTF">2026-10-23T05:46:26Z</dcterms:modified>
</cp:coreProperties>
</file>