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CU dan nilai karbon" id="{fab985c1-acb9-a8b7-4724-db555a871b48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Estimasi awal dengan rumus terkoreksi. REDD+ biomassa = 8,29 ha/tahun × 100 tC/ha × 44/12 = 3.040 tCO2e/tahun. REDD+ gambut = 8,29 × 16 tCO2e/ha/tahun × rata-rata 18 tahun berjalan = 2.388. ARR = 591,26 ha × 8 tCO2e/ha/tahun = 4.730. Total 10.157, dipotong buffer 35% (3.555) = 6.602 unit/tahun, 231.078 unit selama 35 tahun. Karbon biomassa 100 tC/ha dan serapan ARR 8 tCO2e/ha/tahun adalah asumsi; ganti dengan FREL KLHK/plot lapangan. Pendapatan kotor: belum dikurangi biaya validasi, registrasi, MRV, restorasi; belum memperhitungkan masa tumbuh ARR dan kebocoran. Plan Vivo menerbitkan Plan Vivo Certificate (PVC); 1 unit = 1 tCO2e. Angka spreadsheet (6,34 dan 13.745 unit/tahun) tidak dipakai karena rumusnya salah.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POTENSI KREDIT KARBON  ·  PLAN VIVO  ·  KHG SUNGAI MEMPAWAH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±6.602 unit per tahun, senilai Rp 1,06 miliar pada US$10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00200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DARI PENGURANGAN EMISI KE UNIT BERSIH (tCO₂e/TAHUN)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0116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REDD+ biomassa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F6B65"/>
                </a:solidFill>
              </a:rPr>
              <a:t>8,29 ha/th × 100 tC/ha × 44/12</a:t>
            </a:r>
            <a:endParaRPr lang="en-US" sz="1400" dirty="0"/>
          </a:p>
        </p:txBody>
      </p:sp>
      <p:sp>
        <p:nvSpPr>
          <p:cNvPr id="7" name="aliran-0"/>
          <p:cNvSpPr/>
          <p:nvPr/>
        </p:nvSpPr>
        <p:spPr>
          <a:xfrm>
            <a:off x="2834640" y="2103120"/>
            <a:ext cx="834613" cy="2743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760720" y="205740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3.040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2560320"/>
            <a:ext cx="5989320" cy="0"/>
          </a:xfrm>
          <a:prstGeom prst="line">
            <a:avLst/>
          </a:prstGeom>
          <a:noFill/>
          <a:ln w="9525">
            <a:solidFill>
              <a:srgbClr val="D5DBD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2615184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REDD+ gambut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F6B65"/>
                </a:solidFill>
              </a:rPr>
              <a:t>Terhindar, rata-rata 35 th</a:t>
            </a:r>
            <a:endParaRPr lang="en-US" sz="1400" dirty="0"/>
          </a:p>
        </p:txBody>
      </p:sp>
      <p:sp>
        <p:nvSpPr>
          <p:cNvPr id="11" name="aliran-1"/>
          <p:cNvSpPr/>
          <p:nvPr/>
        </p:nvSpPr>
        <p:spPr>
          <a:xfrm>
            <a:off x="3669253" y="2706624"/>
            <a:ext cx="655551" cy="27432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760720" y="2660904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2.388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" y="3163824"/>
            <a:ext cx="5989320" cy="0"/>
          </a:xfrm>
          <a:prstGeom prst="line">
            <a:avLst/>
          </a:prstGeom>
          <a:noFill/>
          <a:ln w="9525">
            <a:solidFill>
              <a:srgbClr val="D5DBD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321868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ARR serapan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F6B65"/>
                </a:solidFill>
              </a:rPr>
              <a:t>591,26 ha × 8 tCO₂e/ha</a:t>
            </a:r>
            <a:endParaRPr lang="en-US" sz="1400" dirty="0"/>
          </a:p>
        </p:txBody>
      </p:sp>
      <p:sp>
        <p:nvSpPr>
          <p:cNvPr id="15" name="aliran-2"/>
          <p:cNvSpPr/>
          <p:nvPr/>
        </p:nvSpPr>
        <p:spPr>
          <a:xfrm>
            <a:off x="4324804" y="3310128"/>
            <a:ext cx="1298756" cy="27432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760720" y="3264408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4.730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48640" y="3767328"/>
            <a:ext cx="5989320" cy="0"/>
          </a:xfrm>
          <a:prstGeom prst="line">
            <a:avLst/>
          </a:prstGeom>
          <a:noFill/>
          <a:ln w="9525">
            <a:solidFill>
              <a:srgbClr val="D5DBD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382219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Potongan buffer 35%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F6B65"/>
                </a:solidFill>
              </a:rPr>
              <a:t>Risiko dan ketidakpastian</a:t>
            </a:r>
            <a:endParaRPr lang="en-US" sz="1400" dirty="0"/>
          </a:p>
        </p:txBody>
      </p:sp>
      <p:sp>
        <p:nvSpPr>
          <p:cNvPr id="19" name="aliran-3"/>
          <p:cNvSpPr/>
          <p:nvPr/>
        </p:nvSpPr>
        <p:spPr>
          <a:xfrm>
            <a:off x="4647438" y="3913632"/>
            <a:ext cx="976122" cy="2743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760720" y="386791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− 3.555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48640" y="4370832"/>
            <a:ext cx="5989320" cy="0"/>
          </a:xfrm>
          <a:prstGeom prst="line">
            <a:avLst/>
          </a:prstGeom>
          <a:noFill/>
          <a:ln w="9525">
            <a:solidFill>
              <a:srgbClr val="D5DBD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48640" y="4443984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Unit bersih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5F6B65"/>
                </a:solidFill>
              </a:rPr>
              <a:t>231.078 unit selama 35 tahun</a:t>
            </a:r>
            <a:endParaRPr lang="en-US" sz="1500" dirty="0"/>
          </a:p>
        </p:txBody>
      </p:sp>
      <p:sp>
        <p:nvSpPr>
          <p:cNvPr id="23" name="aliran-bersih"/>
          <p:cNvSpPr/>
          <p:nvPr/>
        </p:nvSpPr>
        <p:spPr>
          <a:xfrm>
            <a:off x="2834640" y="4498848"/>
            <a:ext cx="1812798" cy="347472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394960" y="4443984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6.602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7040880" y="1600200"/>
            <a:ext cx="4602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SKENARIO HARGA · KURS Rp 16.000</a:t>
            </a:r>
            <a:endParaRPr lang="en-US" sz="1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0880" y="2011680"/>
          <a:ext cx="4602175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234440"/>
                <a:gridCol w="1234440"/>
                <a:gridCol w="1218895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F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Harga/unit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5F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tahun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5F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LPHD 60%/th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5F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35 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317 jt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5F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190 jt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11,09 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528 jt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5F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317 jt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18,49 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1,06 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634 jt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36,97 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1,58 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5F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951 jt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55,46 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7" name="Text 23"/>
          <p:cNvSpPr txBox="1"/>
          <p:nvPr/>
        </p:nvSpPr>
        <p:spPr>
          <a:xfrm>
            <a:off x="7040880" y="4206240"/>
            <a:ext cx="4602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 634 juta</a:t>
            </a:r>
            <a:pPr indent="0" marL="0">
              <a:buNone/>
            </a:pPr>
            <a:r>
              <a:rPr lang="en-US" sz="1400" dirty="0">
                <a:solidFill>
                  <a:srgbClr val="5F6B65"/>
                </a:solidFill>
              </a:rPr>
              <a:t>  per tahun untuk LPHD pada US$10</a:t>
            </a:r>
            <a:endParaRPr lang="en-US" sz="1400" dirty="0"/>
          </a:p>
        </p:txBody>
      </p:sp>
      <p:sp>
        <p:nvSpPr>
          <p:cNvPr id="28" name="Text 24"/>
          <p:cNvSpPr txBox="1"/>
          <p:nvPr/>
        </p:nvSpPr>
        <p:spPr>
          <a:xfrm>
            <a:off x="7040880" y="4754880"/>
            <a:ext cx="4602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65"/>
                </a:solidFill>
              </a:rPr>
              <a:t>Rp 22,2 miliar selama 35 tahun · pendapatan kotor, sebelum biaya proyek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548640" y="5440680"/>
            <a:ext cx="11094415" cy="56692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777240" y="5440680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Asumsi: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biomassa 100 tC/ha dan serapan ARR 8 tCO₂e/ha/th belum ada datanya; ganti dengan FREL KLHK atau plot. </a:t>
            </a:r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Dari data: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laju bruto 8,29 ha/th, emisi gambut +16 tCO₂e/ha/th, buffer 35%, porsi LPHD 60%.</a:t>
            </a:r>
            <a:endParaRPr lang="en-US" sz="1300" dirty="0"/>
          </a:p>
        </p:txBody>
      </p:sp>
      <p:sp>
        <p:nvSpPr>
          <p:cNvPr id="31" name="Text 27"/>
          <p:cNvSpPr txBox="1"/>
          <p:nvPr/>
        </p:nvSpPr>
        <p:spPr>
          <a:xfrm>
            <a:off x="548640" y="6217920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F6B65"/>
                </a:solidFill>
              </a:rPr>
              <a:t>Sumber: Export_Output_Gambut_M.xlsx. Plan Vivo menerbitkan PVC (1 unit = 1 tCO₂e). Angka spreadsheet (6,34 dan 13.745 unit/th) tidak dipakai karena rumusnya salah.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yawana Karbon">
  <a:themeElements>
    <a:clrScheme name="Mayawana Karbon">
      <a:dk1>
        <a:srgbClr val="1B2420"/>
      </a:dk1>
      <a:lt1>
        <a:srgbClr val="FFFFFF"/>
      </a:lt1>
      <a:dk2>
        <a:srgbClr val="163A2E"/>
      </a:dk2>
      <a:lt2>
        <a:srgbClr val="EEF2EE"/>
      </a:lt2>
      <a:accent1>
        <a:srgbClr val="1F5A45"/>
      </a:accent1>
      <a:accent2>
        <a:srgbClr val="9C967F"/>
      </a:accent2>
      <a:accent3>
        <a:srgbClr val="B5551F"/>
      </a:accent3>
      <a:accent4>
        <a:srgbClr val="C8901E"/>
      </a:accent4>
      <a:accent5>
        <a:srgbClr val="7FB096"/>
      </a:accent5>
      <a:accent6>
        <a:srgbClr val="3E78A8"/>
      </a:accent6>
      <a:hlink>
        <a:srgbClr val="1F5A45"/>
      </a:hlink>
      <a:folHlink>
        <a:srgbClr val="5F6B65"/>
      </a:folHlink>
    </a:clrScheme>
    <a:fontScheme name="Mayawana Karb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VCU dan Potensi Nilai Ekonomi Karbon</dc:title>
  <dc:subject>PptxGenJS Presentation</dc:subject>
  <dc:creator>PptxGenJS</dc:creator>
  <cp:lastModifiedBy>PptxGenJS</cp:lastModifiedBy>
  <cp:revision>1</cp:revision>
  <dcterms:created xsi:type="dcterms:W3CDTF">2026-10-23T01:20:53Z</dcterms:created>
  <dcterms:modified xsi:type="dcterms:W3CDTF">2026-10-23T01:20:53Z</dcterms:modified>
</cp:coreProperties>
</file>