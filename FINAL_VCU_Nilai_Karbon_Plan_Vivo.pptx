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CU dan nilai karbon" id="{7b303eba-637a-d748-a986-0deccc9cb4be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Estimasi awal dengan rumus terkoreksi. REDD+ biomassa = 8,29 ha/tahun × 100 tC/ha × 44/12 = 3.040 tCO2e/tahun. REDD+ gambut = 8,29 × 16 tCO2e/ha/tahun × rata-rata 10.5 tahun berjalan = 1.393. ARR = 591,26 ha × 8 tCO2e/ha/tahun = 4.730. Total 9.162, dipotong buffer 35% (3.207) = 5.956 unit/tahun, 119.112 unit selama 20 tahun. Karbon biomassa 100 tC/ha dan serapan ARR 8 tCO2e/ha/tahun adalah asumsi; ganti dengan FREL KLHK/plot lapangan. Pendapatan kotor: belum dikurangi biaya validasi, registrasi, MRV, restorasi; belum memperhitungkan masa tumbuh ARR dan kebocoran. Plan Vivo menerbitkan Plan Vivo Certificate (PVC); 1 unit = 1 tCO2e. Angka spreadsheet (6,34 dan 13.745 unit/tahun) tidak dipakai karena rumusnya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POTENSI KREDIT KARBON  ·  PLAN VIVO  ·  KHG SUNGAI MEMPAWAH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±5.956 unit per tahun, senilai Rp 953 juta pada US$10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DARI PENGURANGAN EMISI KE UNIT BERSIH (tCO₂e/TAHUN)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REDD+ biomassa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6B65"/>
                </a:solidFill>
              </a:rPr>
              <a:t>8,29 ha/th × 100 tC/ha × 44/12</a:t>
            </a:r>
            <a:endParaRPr lang="en-US" sz="1400" dirty="0"/>
          </a:p>
        </p:txBody>
      </p:sp>
      <p:sp>
        <p:nvSpPr>
          <p:cNvPr id="7" name="aliran-0"/>
          <p:cNvSpPr/>
          <p:nvPr/>
        </p:nvSpPr>
        <p:spPr>
          <a:xfrm>
            <a:off x="2834640" y="2103120"/>
            <a:ext cx="925230" cy="2743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60720" y="20574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3.040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560320"/>
            <a:ext cx="5989320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1518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REDD+ gambut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6B65"/>
                </a:solidFill>
              </a:rPr>
              <a:t>Terhindar, rata-rata 20 th</a:t>
            </a:r>
            <a:endParaRPr lang="en-US" sz="1400" dirty="0"/>
          </a:p>
        </p:txBody>
      </p:sp>
      <p:sp>
        <p:nvSpPr>
          <p:cNvPr id="11" name="aliran-1"/>
          <p:cNvSpPr/>
          <p:nvPr/>
        </p:nvSpPr>
        <p:spPr>
          <a:xfrm>
            <a:off x="3759870" y="2706624"/>
            <a:ext cx="423923" cy="27432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266090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1.393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163824"/>
            <a:ext cx="5989320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1868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ARR serapan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6B65"/>
                </a:solidFill>
              </a:rPr>
              <a:t>591,26 ha × 8 tCO₂e/ha</a:t>
            </a:r>
            <a:endParaRPr lang="en-US" sz="1400" dirty="0"/>
          </a:p>
        </p:txBody>
      </p:sp>
      <p:sp>
        <p:nvSpPr>
          <p:cNvPr id="15" name="aliran-2"/>
          <p:cNvSpPr/>
          <p:nvPr/>
        </p:nvSpPr>
        <p:spPr>
          <a:xfrm>
            <a:off x="4183793" y="3310128"/>
            <a:ext cx="1439767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760720" y="326440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4.730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3767328"/>
            <a:ext cx="5989320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82219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Potongan buffer 35%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6B65"/>
                </a:solidFill>
              </a:rPr>
              <a:t>Risiko dan ketidakpastian</a:t>
            </a:r>
            <a:endParaRPr lang="en-US" sz="1400" dirty="0"/>
          </a:p>
        </p:txBody>
      </p:sp>
      <p:sp>
        <p:nvSpPr>
          <p:cNvPr id="19" name="aliran-3"/>
          <p:cNvSpPr/>
          <p:nvPr/>
        </p:nvSpPr>
        <p:spPr>
          <a:xfrm>
            <a:off x="4647438" y="3913632"/>
            <a:ext cx="976122" cy="2743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760720" y="386791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− 3.207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370832"/>
            <a:ext cx="5989320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4398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Unit bersih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F6B65"/>
                </a:solidFill>
              </a:rPr>
              <a:t>119.112 unit selama 20 tahun</a:t>
            </a:r>
            <a:endParaRPr lang="en-US" sz="1500" dirty="0"/>
          </a:p>
        </p:txBody>
      </p:sp>
      <p:sp>
        <p:nvSpPr>
          <p:cNvPr id="23" name="aliran-bersih"/>
          <p:cNvSpPr/>
          <p:nvPr/>
        </p:nvSpPr>
        <p:spPr>
          <a:xfrm>
            <a:off x="2834640" y="4498848"/>
            <a:ext cx="1812798" cy="34747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394960" y="444398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5.956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160020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SKENARIO HARGA · KURS Rp 16.000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2011680"/>
          <a:ext cx="460217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234440"/>
                <a:gridCol w="1218895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Harga/unit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4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tahun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4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LPHD 60%/th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4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20 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4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286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172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5,72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476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286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9,53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953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572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19,06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1,43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F6B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858 jt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28,59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3"/>
          <p:cNvSpPr txBox="1"/>
          <p:nvPr/>
        </p:nvSpPr>
        <p:spPr>
          <a:xfrm>
            <a:off x="7040880" y="420624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572 juta</a:t>
            </a:r>
            <a:pPr indent="0" marL="0">
              <a:buNone/>
            </a:pPr>
            <a:r>
              <a:rPr lang="en-US" sz="1400" dirty="0">
                <a:solidFill>
                  <a:srgbClr val="5F6B65"/>
                </a:solidFill>
              </a:rPr>
              <a:t>  per tahun untuk LPHD pada US$10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7040880" y="475488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5"/>
                </a:solidFill>
              </a:rPr>
              <a:t>Rp 11,4 miliar selama 20 tahun · pendapatan kotor, sebelum biaya proyek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48640" y="5440680"/>
            <a:ext cx="11094415" cy="5669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777240" y="54406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Asumsi: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biomassa 100 tC/ha dan serapan ARR 8 tCO₂e/ha/th belum ada datanya; ganti dengan FREL KLHK atau plot.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Dari data: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laju bruto 8,29 ha/th, emisi gambut +16 tCO₂e/ha/th, buffer 35%, porsi LPHD 60%.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6217920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B65"/>
                </a:solidFill>
              </a:rPr>
              <a:t>Sumber: Export_Output_Gambut_M.xlsx. Plan Vivo menerbitkan PVC (1 unit = 1 tCO₂e). Angka spreadsheet (6,34 dan 13.745 unit/th) tidak dipakai karena rumusnya salah.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yawana Karbon">
  <a:themeElements>
    <a:clrScheme name="Mayawana Karbon">
      <a:dk1>
        <a:srgbClr val="1B2420"/>
      </a:dk1>
      <a:lt1>
        <a:srgbClr val="FFFFFF"/>
      </a:lt1>
      <a:dk2>
        <a:srgbClr val="163A2E"/>
      </a:dk2>
      <a:lt2>
        <a:srgbClr val="EEF2EE"/>
      </a:lt2>
      <a:accent1>
        <a:srgbClr val="1F5A45"/>
      </a:accent1>
      <a:accent2>
        <a:srgbClr val="9C967F"/>
      </a:accent2>
      <a:accent3>
        <a:srgbClr val="B5551F"/>
      </a:accent3>
      <a:accent4>
        <a:srgbClr val="C8901E"/>
      </a:accent4>
      <a:accent5>
        <a:srgbClr val="7FB096"/>
      </a:accent5>
      <a:accent6>
        <a:srgbClr val="3E78A8"/>
      </a:accent6>
      <a:hlink>
        <a:srgbClr val="1F5A45"/>
      </a:hlink>
      <a:folHlink>
        <a:srgbClr val="5F6B65"/>
      </a:folHlink>
    </a:clrScheme>
    <a:fontScheme name="Mayawana Karb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VCU dan Potensi Nilai Ekonomi Karbon</dc:title>
  <dc:subject>PptxGenJS Presentation</dc:subject>
  <dc:creator>PptxGenJS</dc:creator>
  <cp:lastModifiedBy>PptxGenJS</cp:lastModifiedBy>
  <cp:revision>1</cp:revision>
  <dcterms:created xsi:type="dcterms:W3CDTF">2026-10-22T14:38:16Z</dcterms:created>
  <dcterms:modified xsi:type="dcterms:W3CDTF">2026-10-22T14:38:16Z</dcterms:modified>
</cp:coreProperties>
</file>