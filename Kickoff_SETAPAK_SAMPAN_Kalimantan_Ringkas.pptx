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ingkasan" id="{49c0ff24-978d-d0ac-4fc3-0351f906d8b9}">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Program SETAPAK SAMPAN Kalimantan di Hutan Desa Pasir, Kabupaten Mempawah, 12 bulan (September 2026 – Agustus 2027). Empat angka kunci: ±2.468 ha Hutan Desa, 12 bulan, 4 output yang berkontribusi ke SETAPAK Output 1, 2, dan 4, serta target minimal 40% perempuan di kepengurusan LPHD dan KUPS. Hutan Desa Pasir adalah hasil pendampingan SETAPAK–TAF 2017–2019.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Hutan Desa Pasir ±2.468 ha, 81,6% gambut. Sekitar 60% masih berhutan; hampir 40% terdegradasi sehingga ada ruang rehabilitasi. Pre-assessment menunjukkan stok biomassa 773–835 ribu tCO2e (nilai indikatif Rp69–223 miliar pada US$5–15/t). Masalah utamanya bukan akses legal, melainkan pembiayaan pengelolaan yang ad hoc, kesiapan teknis karbon, dan peran perempuan dalam keputusan. Regulasi terbaru membuka peluang perdagangan karbon bagi pemegang 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output dan kontribusinya ke SETAPAK. Output 1 (SETAPAK O1 dan O4): FPIC/LSC dan safeguards, patroli, rehabilitasi 5 ha gambut, KUPS. Output 2 (SETAPAK O2): CCAL, baseline, DRAM/PDD, persetujuan perdagangan karbon, SRUK, lalu Plan Vivo. Output 3 (SETAPAK O2): kemitraan swasta. Output 4 (SETAPAK O1): GEDSI Action Plan, Women Forest Defender, pelatihan kepemimpinan, target 40% perempuan. Di bawah: peta jalan community carbon 16 tahap; program ini menempuh tahap 1–8, tahap 9–16 butuh pembiayaan lanjutan dari mitra swasta.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ringkas (detail per kegiatan ada di deck lengkap). Q1: konsultasi awal dan persetujuan pendampingan, pelatihan patroli, sosialisasi safeguards, Pra-FPIC, FPIC/LSC, pembentukan KUPS, Women Forest Defender, dan pelatihan kepemimpinan. Puncak beban kerja November 2026 dengan 10 kegiatan. Q2: CCAL, baseline, GEDSI Action Plan, mulai fasilitasi persetujuan dan SRUK. Q3: DRAM/PDD, rehabilitasi tahap 1, pendaftaran registri. Q4: rehabilitasi tahap 2 dan penandatanganan kerja sama swasta Juli–Agustus 2027. Pendampingan PS, rapat LPHD, dan patroli berjalan sepanjang tahun.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 inti tiga orang, didukung jejaring CSO dan koordinasi berjenjang dari desa hingga internasional. Tiga risiko utama beserta mitigasinya. Tutup dengan empat poin yang perlu disepakati bersama pimpinan TAF, lalu langkah 30 hari pertama: konsultasi awal dan persetujuan pendampingan LPHD–SAMPAN di desa, serta pelatihan patroli pada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120640" cy="1828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ph idx="101" type="body" hasCustomPrompt="1"/>
          </p:nvPr>
        </p:nvSpPr>
        <p:spPr>
          <a:xfrm>
            <a:off x="548640" y="3017520"/>
            <a:ext cx="5120640" cy="822960"/>
          </a:xfrm>
          <a:prstGeom prst="rect">
            <a:avLst/>
          </a:prstGeom>
          <a:noFill/>
          <a:ln/>
        </p:spPr>
        <p:txBody>
          <a:bodyPr wrap="square" rtlCol="0"/>
          <a:lstStyle>
            <a:lvl1pPr algn="l" indent="0" marL="0">
              <a:buNone/>
              <a:defRPr lang="en-US" sz="1400" dirty="0">
                <a:solidFill>
                  <a:schemeClr val="accent3"/>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1000" dirty="0">
                <a:solidFill>
                  <a:schemeClr val="accent5"/>
                </a:solidFill>
              </a:rPr>
              <a:t>SAMPAN Kalimantan  ·  Kickoff Program SETAPAK – The Asia Foundation</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elap">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1000" dirty="0">
                <a:solidFill>
                  <a:schemeClr val="accent3"/>
                </a:solidFill>
              </a:rPr>
              <a:t>SAMPAN Kalimantan  ·  Kickoff Program SETAPAK – The Asia Foundation</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eta Hutan Desa Pasir" descr="map_tall.jpg">    </p:cNvPr>
          <p:cNvPicPr>
            <a:picLocks noChangeAspect="1"/>
          </p:cNvPicPr>
          <p:nvPr/>
        </p:nvPicPr>
        <p:blipFill>
          <a:blip r:embed="rId1"/>
          <a:srcRect l="0" r="0" t="0" b="0"/>
          <a:stretch/>
        </p:blipFill>
        <p:spPr>
          <a:xfrm>
            <a:off x="5989320" y="0"/>
            <a:ext cx="3154680" cy="5143500"/>
          </a:xfrm>
          <a:prstGeom prst="rect">
            <a:avLst/>
          </a:prstGeom>
        </p:spPr>
      </p:pic>
      <p:sp>
        <p:nvSpPr>
          <p:cNvPr id="3" name="Text 0"/>
          <p:cNvSpPr txBox="1"/>
          <p:nvPr/>
        </p:nvSpPr>
        <p:spPr>
          <a:xfrm>
            <a:off x="548640" y="457200"/>
            <a:ext cx="5394960" cy="320040"/>
          </a:xfrm>
          <a:prstGeom prst="rect">
            <a:avLst/>
          </a:prstGeom>
          <a:noFill/>
          <a:ln/>
        </p:spPr>
        <p:txBody>
          <a:bodyPr wrap="square" lIns="0" tIns="0" rIns="0" bIns="0" rtlCol="0" anchor="t"/>
          <a:lstStyle/>
          <a:p>
            <a:pPr indent="0" marL="0">
              <a:buNone/>
            </a:pPr>
            <a:r>
              <a:rPr lang="en-US" sz="1100" b="1" spc="200" kern="0" dirty="0">
                <a:solidFill>
                  <a:schemeClr val="accent6"/>
                </a:solidFill>
              </a:rPr>
              <a:t>KICKOFF MEETING  ·  SETAPAK – THE ASIA FOUNDATION</a:t>
            </a:r>
            <a:endParaRPr lang="en-US" sz="1100" dirty="0"/>
          </a:p>
        </p:txBody>
      </p:sp>
      <p:sp>
        <p:nvSpPr>
          <p:cNvPr id="4" name="Text 0"/>
          <p:cNvSpPr/>
          <p:nvPr>
            <p:ph idx="100" type="title" hasCustomPrompt="1"/>
          </p:nvPr>
        </p:nvSpPr>
        <p:spPr>
          <a:xfrm>
            <a:off x="548640" y="1143000"/>
            <a:ext cx="5120640" cy="1828800"/>
          </a:xfrm>
          <a:prstGeom prst="rect">
            <a:avLst/>
          </a:prstGeom>
          <a:noFill/>
          <a:ln/>
        </p:spPr>
        <p:txBody>
          <a:bodyPr wrap="square"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Strengthening Women’s Roles and Leadership in Social Forestry through Community-Based Climate Mitigation</a:t>
            </a:r>
            <a:endParaRPr lang="en-US" sz="2800" dirty="0"/>
          </a:p>
        </p:txBody>
      </p:sp>
      <p:sp>
        <p:nvSpPr>
          <p:cNvPr id="5" name="Text 0"/>
          <p:cNvSpPr/>
          <p:nvPr>
            <p:ph idx="101" type="body" hasCustomPrompt="1"/>
          </p:nvPr>
        </p:nvSpPr>
        <p:spPr>
          <a:xfrm>
            <a:off x="548640" y="3017520"/>
            <a:ext cx="5120640" cy="822960"/>
          </a:xfrm>
          <a:prstGeom prst="rect">
            <a:avLst/>
          </a:prstGeom>
          <a:noFill/>
          <a:ln/>
        </p:spPr>
        <p:txBody>
          <a:bodyPr wrap="square" rtlCol="0" anchor="t"/>
          <a:lstStyle/>
          <a:p>
            <a:pPr algn="l" indent="0" marL="0">
              <a:buNone/>
            </a:pPr>
            <a:r>
              <a:rPr lang="en-US" sz="1400" dirty="0">
                <a:solidFill>
                  <a:schemeClr val="accent3"/>
                </a:solidFill>
              </a:rPr>
              <a:t>Penguatan peran dan kepemimpinan perempuan dalam Perhutanan Sosial melalui aksi mitigasi iklim berbasis masyarakat</a:t>
            </a:r>
            <a:endParaRPr lang="en-US" sz="1400" dirty="0"/>
          </a:p>
        </p:txBody>
      </p:sp>
      <p:sp>
        <p:nvSpPr>
          <p:cNvPr id="6" name="Text 3"/>
          <p:cNvSpPr txBox="1"/>
          <p:nvPr/>
        </p:nvSpPr>
        <p:spPr>
          <a:xfrm>
            <a:off x="548640" y="3566160"/>
            <a:ext cx="128016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±2.468 ha</a:t>
            </a:r>
            <a:endParaRPr lang="en-US" sz="1800" dirty="0"/>
          </a:p>
        </p:txBody>
      </p:sp>
      <p:sp>
        <p:nvSpPr>
          <p:cNvPr id="7" name="Text 4"/>
          <p:cNvSpPr txBox="1"/>
          <p:nvPr/>
        </p:nvSpPr>
        <p:spPr>
          <a:xfrm>
            <a:off x="548640" y="3931920"/>
            <a:ext cx="1280160" cy="365760"/>
          </a:xfrm>
          <a:prstGeom prst="rect">
            <a:avLst/>
          </a:prstGeom>
          <a:noFill/>
          <a:ln/>
        </p:spPr>
        <p:txBody>
          <a:bodyPr wrap="square" lIns="0" tIns="0" rIns="0" bIns="0" rtlCol="0" anchor="t"/>
          <a:lstStyle/>
          <a:p>
            <a:pPr indent="0" marL="0">
              <a:buNone/>
            </a:pPr>
            <a:r>
              <a:rPr lang="en-US" sz="1000" dirty="0">
                <a:solidFill>
                  <a:schemeClr val="accent3"/>
                </a:solidFill>
              </a:rPr>
              <a:t>Hutan Desa Pasir</a:t>
            </a:r>
            <a:endParaRPr lang="en-US" sz="1000" dirty="0"/>
          </a:p>
        </p:txBody>
      </p:sp>
      <p:sp>
        <p:nvSpPr>
          <p:cNvPr id="8" name="Text 5"/>
          <p:cNvSpPr txBox="1"/>
          <p:nvPr/>
        </p:nvSpPr>
        <p:spPr>
          <a:xfrm>
            <a:off x="1892808" y="3566160"/>
            <a:ext cx="128016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12 bulan</a:t>
            </a:r>
            <a:endParaRPr lang="en-US" sz="1800" dirty="0"/>
          </a:p>
        </p:txBody>
      </p:sp>
      <p:sp>
        <p:nvSpPr>
          <p:cNvPr id="9" name="Text 6"/>
          <p:cNvSpPr txBox="1"/>
          <p:nvPr/>
        </p:nvSpPr>
        <p:spPr>
          <a:xfrm>
            <a:off x="1892808" y="3931920"/>
            <a:ext cx="1280160" cy="365760"/>
          </a:xfrm>
          <a:prstGeom prst="rect">
            <a:avLst/>
          </a:prstGeom>
          <a:noFill/>
          <a:ln/>
        </p:spPr>
        <p:txBody>
          <a:bodyPr wrap="square" lIns="0" tIns="0" rIns="0" bIns="0" rtlCol="0" anchor="t"/>
          <a:lstStyle/>
          <a:p>
            <a:pPr indent="0" marL="0">
              <a:buNone/>
            </a:pPr>
            <a:r>
              <a:rPr lang="en-US" sz="1000" dirty="0">
                <a:solidFill>
                  <a:schemeClr val="accent3"/>
                </a:solidFill>
              </a:rPr>
              <a:t>Sep 2026 – Agt 2027</a:t>
            </a:r>
            <a:endParaRPr lang="en-US" sz="1000" dirty="0"/>
          </a:p>
        </p:txBody>
      </p:sp>
      <p:sp>
        <p:nvSpPr>
          <p:cNvPr id="10" name="Text 7"/>
          <p:cNvSpPr txBox="1"/>
          <p:nvPr/>
        </p:nvSpPr>
        <p:spPr>
          <a:xfrm>
            <a:off x="3236976" y="3566160"/>
            <a:ext cx="128016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4 output</a:t>
            </a:r>
            <a:endParaRPr lang="en-US" sz="1800" dirty="0"/>
          </a:p>
        </p:txBody>
      </p:sp>
      <p:sp>
        <p:nvSpPr>
          <p:cNvPr id="11" name="Text 8"/>
          <p:cNvSpPr txBox="1"/>
          <p:nvPr/>
        </p:nvSpPr>
        <p:spPr>
          <a:xfrm>
            <a:off x="3236976" y="3931920"/>
            <a:ext cx="1280160" cy="365760"/>
          </a:xfrm>
          <a:prstGeom prst="rect">
            <a:avLst/>
          </a:prstGeom>
          <a:noFill/>
          <a:ln/>
        </p:spPr>
        <p:txBody>
          <a:bodyPr wrap="square" lIns="0" tIns="0" rIns="0" bIns="0" rtlCol="0" anchor="t"/>
          <a:lstStyle/>
          <a:p>
            <a:pPr indent="0" marL="0">
              <a:buNone/>
            </a:pPr>
            <a:r>
              <a:rPr lang="en-US" sz="1000" dirty="0">
                <a:solidFill>
                  <a:schemeClr val="accent3"/>
                </a:solidFill>
              </a:rPr>
              <a:t>SETAPAK O1, O2, O4</a:t>
            </a:r>
            <a:endParaRPr lang="en-US" sz="1000" dirty="0"/>
          </a:p>
        </p:txBody>
      </p:sp>
      <p:sp>
        <p:nvSpPr>
          <p:cNvPr id="12" name="Text 9"/>
          <p:cNvSpPr txBox="1"/>
          <p:nvPr/>
        </p:nvSpPr>
        <p:spPr>
          <a:xfrm>
            <a:off x="4581144" y="3566160"/>
            <a:ext cx="1280160" cy="365760"/>
          </a:xfrm>
          <a:prstGeom prst="rect">
            <a:avLst/>
          </a:prstGeom>
          <a:noFill/>
          <a:ln/>
        </p:spPr>
        <p:txBody>
          <a:bodyPr wrap="square" lIns="0" tIns="0" rIns="0" bIns="0" rtlCol="0" anchor="t"/>
          <a:lstStyle/>
          <a:p>
            <a:pPr indent="0" marL="0">
              <a:buNone/>
            </a:pPr>
            <a:r>
              <a:rPr lang="en-US" sz="1800" b="1" dirty="0">
                <a:solidFill>
                  <a:schemeClr val="accent6"/>
                </a:solidFill>
                <a:latin typeface="Cambria" pitchFamily="34" charset="0"/>
                <a:ea typeface="Cambria" pitchFamily="34" charset="-122"/>
                <a:cs typeface="Cambria" pitchFamily="34" charset="-120"/>
              </a:rPr>
              <a:t>≥40%</a:t>
            </a:r>
            <a:endParaRPr lang="en-US" sz="1800" dirty="0"/>
          </a:p>
        </p:txBody>
      </p:sp>
      <p:sp>
        <p:nvSpPr>
          <p:cNvPr id="13" name="Text 10"/>
          <p:cNvSpPr txBox="1"/>
          <p:nvPr/>
        </p:nvSpPr>
        <p:spPr>
          <a:xfrm>
            <a:off x="4581144" y="3931920"/>
            <a:ext cx="1280160" cy="365760"/>
          </a:xfrm>
          <a:prstGeom prst="rect">
            <a:avLst/>
          </a:prstGeom>
          <a:noFill/>
          <a:ln/>
        </p:spPr>
        <p:txBody>
          <a:bodyPr wrap="square" lIns="0" tIns="0" rIns="0" bIns="0" rtlCol="0" anchor="t"/>
          <a:lstStyle/>
          <a:p>
            <a:pPr indent="0" marL="0">
              <a:buNone/>
            </a:pPr>
            <a:r>
              <a:rPr lang="en-US" sz="1000" dirty="0">
                <a:solidFill>
                  <a:schemeClr val="accent3"/>
                </a:solidFill>
              </a:rPr>
              <a:t>pengurus perempuan</a:t>
            </a:r>
            <a:endParaRPr lang="en-US" sz="1000" dirty="0"/>
          </a:p>
        </p:txBody>
      </p:sp>
      <p:sp>
        <p:nvSpPr>
          <p:cNvPr id="14" name="Text 11"/>
          <p:cNvSpPr txBox="1"/>
          <p:nvPr/>
        </p:nvSpPr>
        <p:spPr>
          <a:xfrm>
            <a:off x="548640" y="4480560"/>
            <a:ext cx="5303520" cy="274320"/>
          </a:xfrm>
          <a:prstGeom prst="rect">
            <a:avLst/>
          </a:prstGeom>
          <a:noFill/>
          <a:ln/>
        </p:spPr>
        <p:txBody>
          <a:bodyPr wrap="square" lIns="0" tIns="0" rIns="0" bIns="0" rtlCol="0" anchor="t"/>
          <a:lstStyle/>
          <a:p>
            <a:pPr indent="0" marL="0">
              <a:buNone/>
            </a:pPr>
            <a:r>
              <a:rPr lang="en-US" sz="1100" b="1" dirty="0">
                <a:solidFill>
                  <a:schemeClr val="bg1"/>
                </a:solidFill>
              </a:rPr>
              <a:t>SAMPAN Kalimantan  ·  Desa Pasir, Kab. Mempawah, Kalimantan Barat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Hak kelola dan potensi karbon sudah ada, pembiayaannya belum</a:t>
            </a:r>
            <a:endParaRPr lang="en-US" sz="2200" dirty="0"/>
          </a:p>
        </p:txBody>
      </p:sp>
      <p:pic>
        <p:nvPicPr>
          <p:cNvPr id="3" name="Peta tutupan lahan HD Pasir" descr="map_wide.jpg">    </p:cNvPr>
          <p:cNvPicPr>
            <a:picLocks noChangeAspect="1"/>
          </p:cNvPicPr>
          <p:nvPr/>
        </p:nvPicPr>
        <p:blipFill>
          <a:blip r:embed="rId1"/>
          <a:stretch>
            <a:fillRect/>
          </a:stretch>
        </p:blipFill>
        <p:spPr>
          <a:xfrm>
            <a:off x="457200" y="1143000"/>
            <a:ext cx="4206240" cy="2377440"/>
          </a:xfrm>
          <a:prstGeom prst="rect">
            <a:avLst/>
          </a:prstGeom>
        </p:spPr>
      </p:pic>
      <p:sp>
        <p:nvSpPr>
          <p:cNvPr id="4" name="Shape 1"/>
          <p:cNvSpPr/>
          <p:nvPr/>
        </p:nvSpPr>
        <p:spPr>
          <a:xfrm>
            <a:off x="457200" y="3630168"/>
            <a:ext cx="146304" cy="146304"/>
          </a:xfrm>
          <a:prstGeom prst="rect">
            <a:avLst/>
          </a:prstGeom>
          <a:solidFill>
            <a:srgbClr val="4CC41A"/>
          </a:solidFill>
          <a:ln w="6350">
            <a:solidFill>
              <a:srgbClr val="9AA59F"/>
            </a:solidFill>
            <a:prstDash val="solid"/>
          </a:ln>
        </p:spPr>
      </p:sp>
      <p:sp>
        <p:nvSpPr>
          <p:cNvPr id="5" name="Text 2"/>
          <p:cNvSpPr txBox="1"/>
          <p:nvPr/>
        </p:nvSpPr>
        <p:spPr>
          <a:xfrm>
            <a:off x="658368" y="3593592"/>
            <a:ext cx="841248" cy="219456"/>
          </a:xfrm>
          <a:prstGeom prst="rect">
            <a:avLst/>
          </a:prstGeom>
          <a:noFill/>
          <a:ln/>
        </p:spPr>
        <p:txBody>
          <a:bodyPr wrap="square" lIns="0" tIns="0" rIns="0" bIns="0" rtlCol="0" anchor="t"/>
          <a:lstStyle/>
          <a:p>
            <a:pPr indent="0" marL="0">
              <a:buNone/>
            </a:pPr>
            <a:r>
              <a:rPr lang="en-US" sz="1000" dirty="0">
                <a:solidFill>
                  <a:schemeClr val="accent5"/>
                </a:solidFill>
              </a:rPr>
              <a:t>Hutan</a:t>
            </a:r>
            <a:endParaRPr lang="en-US" sz="1000" dirty="0"/>
          </a:p>
        </p:txBody>
      </p:sp>
      <p:sp>
        <p:nvSpPr>
          <p:cNvPr id="6" name="Shape 3"/>
          <p:cNvSpPr/>
          <p:nvPr/>
        </p:nvSpPr>
        <p:spPr>
          <a:xfrm>
            <a:off x="1508760" y="3630168"/>
            <a:ext cx="146304" cy="146304"/>
          </a:xfrm>
          <a:prstGeom prst="rect">
            <a:avLst/>
          </a:prstGeom>
          <a:solidFill>
            <a:srgbClr val="D6EE8C"/>
          </a:solidFill>
          <a:ln w="6350">
            <a:solidFill>
              <a:srgbClr val="9AA59F"/>
            </a:solidFill>
            <a:prstDash val="solid"/>
          </a:ln>
        </p:spPr>
      </p:sp>
      <p:sp>
        <p:nvSpPr>
          <p:cNvPr id="7" name="Text 4"/>
          <p:cNvSpPr txBox="1"/>
          <p:nvPr/>
        </p:nvSpPr>
        <p:spPr>
          <a:xfrm>
            <a:off x="1709928" y="3593592"/>
            <a:ext cx="841248" cy="219456"/>
          </a:xfrm>
          <a:prstGeom prst="rect">
            <a:avLst/>
          </a:prstGeom>
          <a:noFill/>
          <a:ln/>
        </p:spPr>
        <p:txBody>
          <a:bodyPr wrap="square" lIns="0" tIns="0" rIns="0" bIns="0" rtlCol="0" anchor="t"/>
          <a:lstStyle/>
          <a:p>
            <a:pPr indent="0" marL="0">
              <a:buNone/>
            </a:pPr>
            <a:r>
              <a:rPr lang="en-US" sz="1000" dirty="0">
                <a:solidFill>
                  <a:schemeClr val="accent5"/>
                </a:solidFill>
              </a:rPr>
              <a:t>Lahan terbuka</a:t>
            </a:r>
            <a:endParaRPr lang="en-US" sz="1000" dirty="0"/>
          </a:p>
        </p:txBody>
      </p:sp>
      <p:sp>
        <p:nvSpPr>
          <p:cNvPr id="8" name="Shape 5"/>
          <p:cNvSpPr/>
          <p:nvPr/>
        </p:nvSpPr>
        <p:spPr>
          <a:xfrm>
            <a:off x="2560320" y="3630168"/>
            <a:ext cx="146304" cy="146304"/>
          </a:xfrm>
          <a:prstGeom prst="rect">
            <a:avLst/>
          </a:prstGeom>
          <a:solidFill>
            <a:srgbClr val="E08A1E"/>
          </a:solidFill>
          <a:ln w="6350">
            <a:solidFill>
              <a:srgbClr val="9AA59F"/>
            </a:solidFill>
            <a:prstDash val="solid"/>
          </a:ln>
        </p:spPr>
      </p:sp>
      <p:sp>
        <p:nvSpPr>
          <p:cNvPr id="9" name="Text 6"/>
          <p:cNvSpPr txBox="1"/>
          <p:nvPr/>
        </p:nvSpPr>
        <p:spPr>
          <a:xfrm>
            <a:off x="2761488" y="3593592"/>
            <a:ext cx="841248" cy="219456"/>
          </a:xfrm>
          <a:prstGeom prst="rect">
            <a:avLst/>
          </a:prstGeom>
          <a:noFill/>
          <a:ln/>
        </p:spPr>
        <p:txBody>
          <a:bodyPr wrap="square" lIns="0" tIns="0" rIns="0" bIns="0" rtlCol="0" anchor="t"/>
          <a:lstStyle/>
          <a:p>
            <a:pPr indent="0" marL="0">
              <a:buNone/>
            </a:pPr>
            <a:r>
              <a:rPr lang="en-US" sz="1000" dirty="0">
                <a:solidFill>
                  <a:schemeClr val="accent5"/>
                </a:solidFill>
              </a:rPr>
              <a:t>Sawit</a:t>
            </a:r>
            <a:endParaRPr lang="en-US" sz="1000" dirty="0"/>
          </a:p>
        </p:txBody>
      </p:sp>
      <p:sp>
        <p:nvSpPr>
          <p:cNvPr id="10" name="Shape 7"/>
          <p:cNvSpPr/>
          <p:nvPr/>
        </p:nvSpPr>
        <p:spPr>
          <a:xfrm>
            <a:off x="3611880" y="3630168"/>
            <a:ext cx="146304" cy="146304"/>
          </a:xfrm>
          <a:prstGeom prst="rect">
            <a:avLst/>
          </a:prstGeom>
          <a:solidFill>
            <a:srgbClr val="E6F4C8"/>
          </a:solidFill>
          <a:ln w="6350">
            <a:solidFill>
              <a:srgbClr val="9AA59F"/>
            </a:solidFill>
            <a:prstDash val="solid"/>
          </a:ln>
        </p:spPr>
      </p:sp>
      <p:sp>
        <p:nvSpPr>
          <p:cNvPr id="11" name="Text 8"/>
          <p:cNvSpPr txBox="1"/>
          <p:nvPr/>
        </p:nvSpPr>
        <p:spPr>
          <a:xfrm>
            <a:off x="3813048" y="3593592"/>
            <a:ext cx="841248" cy="219456"/>
          </a:xfrm>
          <a:prstGeom prst="rect">
            <a:avLst/>
          </a:prstGeom>
          <a:noFill/>
          <a:ln/>
        </p:spPr>
        <p:txBody>
          <a:bodyPr wrap="square" lIns="0" tIns="0" rIns="0" bIns="0" rtlCol="0" anchor="t"/>
          <a:lstStyle/>
          <a:p>
            <a:pPr indent="0" marL="0">
              <a:buNone/>
            </a:pPr>
            <a:r>
              <a:rPr lang="en-US" sz="1000" dirty="0">
                <a:solidFill>
                  <a:schemeClr val="accent5"/>
                </a:solidFill>
              </a:rPr>
              <a:t>Semak belukar</a:t>
            </a:r>
            <a:endParaRPr lang="en-US" sz="1000" dirty="0"/>
          </a:p>
        </p:txBody>
      </p:sp>
      <p:sp>
        <p:nvSpPr>
          <p:cNvPr id="12" name="Text 9"/>
          <p:cNvSpPr txBox="1"/>
          <p:nvPr/>
        </p:nvSpPr>
        <p:spPr>
          <a:xfrm>
            <a:off x="457200" y="3931920"/>
            <a:ext cx="13716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81,6%</a:t>
            </a:r>
            <a:endParaRPr lang="en-US" sz="1800" dirty="0"/>
          </a:p>
        </p:txBody>
      </p:sp>
      <p:sp>
        <p:nvSpPr>
          <p:cNvPr id="13" name="Text 10"/>
          <p:cNvSpPr txBox="1"/>
          <p:nvPr/>
        </p:nvSpPr>
        <p:spPr>
          <a:xfrm>
            <a:off x="457200" y="4279392"/>
            <a:ext cx="1325880" cy="411480"/>
          </a:xfrm>
          <a:prstGeom prst="rect">
            <a:avLst/>
          </a:prstGeom>
          <a:noFill/>
          <a:ln/>
        </p:spPr>
        <p:txBody>
          <a:bodyPr wrap="square" lIns="0" tIns="0" rIns="0" bIns="0" rtlCol="0" anchor="t"/>
          <a:lstStyle/>
          <a:p>
            <a:pPr indent="0" marL="0">
              <a:buNone/>
            </a:pPr>
            <a:r>
              <a:rPr lang="en-US" sz="1000" dirty="0">
                <a:solidFill>
                  <a:schemeClr val="tx1"/>
                </a:solidFill>
              </a:rPr>
              <a:t>gambut (2.014 ha)</a:t>
            </a:r>
            <a:endParaRPr lang="en-US" sz="1000" dirty="0"/>
          </a:p>
        </p:txBody>
      </p:sp>
      <p:sp>
        <p:nvSpPr>
          <p:cNvPr id="14" name="Text 11"/>
          <p:cNvSpPr txBox="1"/>
          <p:nvPr/>
        </p:nvSpPr>
        <p:spPr>
          <a:xfrm>
            <a:off x="1874520" y="3931920"/>
            <a:ext cx="13716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60%</a:t>
            </a:r>
            <a:endParaRPr lang="en-US" sz="1800" dirty="0"/>
          </a:p>
        </p:txBody>
      </p:sp>
      <p:sp>
        <p:nvSpPr>
          <p:cNvPr id="15" name="Text 12"/>
          <p:cNvSpPr txBox="1"/>
          <p:nvPr/>
        </p:nvSpPr>
        <p:spPr>
          <a:xfrm>
            <a:off x="1874520" y="4279392"/>
            <a:ext cx="1325880" cy="411480"/>
          </a:xfrm>
          <a:prstGeom prst="rect">
            <a:avLst/>
          </a:prstGeom>
          <a:noFill/>
          <a:ln/>
        </p:spPr>
        <p:txBody>
          <a:bodyPr wrap="square" lIns="0" tIns="0" rIns="0" bIns="0" rtlCol="0" anchor="t"/>
          <a:lstStyle/>
          <a:p>
            <a:pPr indent="0" marL="0">
              <a:buNone/>
            </a:pPr>
            <a:r>
              <a:rPr lang="en-US" sz="1000" dirty="0">
                <a:solidFill>
                  <a:schemeClr val="tx1"/>
                </a:solidFill>
              </a:rPr>
              <a:t>masih berhutan; ±40% terdegradasi</a:t>
            </a:r>
            <a:endParaRPr lang="en-US" sz="1000" dirty="0"/>
          </a:p>
        </p:txBody>
      </p:sp>
      <p:sp>
        <p:nvSpPr>
          <p:cNvPr id="16" name="Text 13"/>
          <p:cNvSpPr txBox="1"/>
          <p:nvPr/>
        </p:nvSpPr>
        <p:spPr>
          <a:xfrm>
            <a:off x="3291840" y="3931920"/>
            <a:ext cx="13716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773–835 rb</a:t>
            </a:r>
            <a:endParaRPr lang="en-US" sz="1800" dirty="0"/>
          </a:p>
        </p:txBody>
      </p:sp>
      <p:sp>
        <p:nvSpPr>
          <p:cNvPr id="17" name="Text 14"/>
          <p:cNvSpPr txBox="1"/>
          <p:nvPr/>
        </p:nvSpPr>
        <p:spPr>
          <a:xfrm>
            <a:off x="3291840" y="4279392"/>
            <a:ext cx="1325880" cy="411480"/>
          </a:xfrm>
          <a:prstGeom prst="rect">
            <a:avLst/>
          </a:prstGeom>
          <a:noFill/>
          <a:ln/>
        </p:spPr>
        <p:txBody>
          <a:bodyPr wrap="square" lIns="0" tIns="0" rIns="0" bIns="0" rtlCol="0" anchor="t"/>
          <a:lstStyle/>
          <a:p>
            <a:pPr indent="0" marL="0">
              <a:buNone/>
            </a:pPr>
            <a:r>
              <a:rPr lang="en-US" sz="1000" dirty="0">
                <a:solidFill>
                  <a:schemeClr val="tx1"/>
                </a:solidFill>
              </a:rPr>
              <a:t>tCO₂e stok biomassa (pre-assessment)</a:t>
            </a:r>
            <a:endParaRPr lang="en-US" sz="1000" dirty="0"/>
          </a:p>
        </p:txBody>
      </p:sp>
      <p:sp>
        <p:nvSpPr>
          <p:cNvPr id="18" name="Masalah 1 lingkaran"/>
          <p:cNvSpPr/>
          <p:nvPr/>
        </p:nvSpPr>
        <p:spPr>
          <a:xfrm>
            <a:off x="4983480" y="1188720"/>
            <a:ext cx="457200" cy="457200"/>
          </a:xfrm>
          <a:prstGeom prst="ellipse">
            <a:avLst/>
          </a:prstGeom>
          <a:solidFill>
            <a:schemeClr val="accent1"/>
          </a:solidFill>
          <a:ln/>
        </p:spPr>
      </p:sp>
      <p:pic>
        <p:nvPicPr>
          <p:cNvPr id="19" name="Masalah 1 ikon" descr="preencoded.png">    </p:cNvPr>
          <p:cNvPicPr>
            <a:picLocks noChangeAspect="1"/>
          </p:cNvPicPr>
          <p:nvPr/>
        </p:nvPicPr>
        <p:blipFill>
          <a:blip r:embed="rId2"/>
          <a:stretch>
            <a:fillRect/>
          </a:stretch>
        </p:blipFill>
        <p:spPr>
          <a:xfrm>
            <a:off x="5102352" y="1307592"/>
            <a:ext cx="219456" cy="219456"/>
          </a:xfrm>
          <a:prstGeom prst="rect">
            <a:avLst/>
          </a:prstGeom>
        </p:spPr>
      </p:pic>
      <p:sp>
        <p:nvSpPr>
          <p:cNvPr id="20" name="Text 16"/>
          <p:cNvSpPr txBox="1"/>
          <p:nvPr/>
        </p:nvSpPr>
        <p:spPr>
          <a:xfrm>
            <a:off x="5577840" y="1143000"/>
            <a:ext cx="3108960" cy="804672"/>
          </a:xfrm>
          <a:prstGeom prst="rect">
            <a:avLst/>
          </a:prstGeom>
          <a:noFill/>
          <a:ln/>
        </p:spPr>
        <p:txBody>
          <a:bodyPr wrap="square" lIns="0" tIns="0" rIns="0" bIns="0" rtlCol="0" anchor="t"/>
          <a:lstStyle/>
          <a:p>
            <a:pPr indent="0" marL="0">
              <a:buNone/>
            </a:pPr>
            <a:r>
              <a:rPr lang="en-US" sz="1400" b="1" dirty="0">
                <a:solidFill>
                  <a:schemeClr val="tx1"/>
                </a:solidFill>
              </a:rPr>
              <a:t>Pembiayaan masih ad hoc</a:t>
            </a:r>
            <a:endParaRPr lang="en-US" sz="1400" dirty="0"/>
          </a:p>
          <a:p>
            <a:pPr indent="0" marL="0">
              <a:buNone/>
            </a:pPr>
            <a:r>
              <a:rPr lang="en-US" sz="1200" dirty="0">
                <a:solidFill>
                  <a:schemeClr val="tx1"/>
                </a:solidFill>
              </a:rPr>
              <a:t>RKPS dan RKT ada, tetapi pelaksanaannya bergantung pada hibah jangka pendek; KUPS belum bisa menopang kawasan.</a:t>
            </a:r>
            <a:endParaRPr lang="en-US" sz="1400" dirty="0"/>
          </a:p>
        </p:txBody>
      </p:sp>
      <p:sp>
        <p:nvSpPr>
          <p:cNvPr id="21" name="Masalah 2 lingkaran"/>
          <p:cNvSpPr/>
          <p:nvPr/>
        </p:nvSpPr>
        <p:spPr>
          <a:xfrm>
            <a:off x="4983480" y="2029968"/>
            <a:ext cx="457200" cy="457200"/>
          </a:xfrm>
          <a:prstGeom prst="ellipse">
            <a:avLst/>
          </a:prstGeom>
          <a:solidFill>
            <a:schemeClr val="accent1"/>
          </a:solidFill>
          <a:ln/>
        </p:spPr>
      </p:sp>
      <p:pic>
        <p:nvPicPr>
          <p:cNvPr id="22" name="Masalah 2 ikon" descr="preencoded.png">    </p:cNvPr>
          <p:cNvPicPr>
            <a:picLocks noChangeAspect="1"/>
          </p:cNvPicPr>
          <p:nvPr/>
        </p:nvPicPr>
        <p:blipFill>
          <a:blip r:embed="rId3"/>
          <a:stretch>
            <a:fillRect/>
          </a:stretch>
        </p:blipFill>
        <p:spPr>
          <a:xfrm>
            <a:off x="5102352" y="2148840"/>
            <a:ext cx="219456" cy="219456"/>
          </a:xfrm>
          <a:prstGeom prst="rect">
            <a:avLst/>
          </a:prstGeom>
        </p:spPr>
      </p:pic>
      <p:sp>
        <p:nvSpPr>
          <p:cNvPr id="23" name="Text 18"/>
          <p:cNvSpPr txBox="1"/>
          <p:nvPr/>
        </p:nvSpPr>
        <p:spPr>
          <a:xfrm>
            <a:off x="5577840" y="1984248"/>
            <a:ext cx="3108960" cy="804672"/>
          </a:xfrm>
          <a:prstGeom prst="rect">
            <a:avLst/>
          </a:prstGeom>
          <a:noFill/>
          <a:ln/>
        </p:spPr>
        <p:txBody>
          <a:bodyPr wrap="square" lIns="0" tIns="0" rIns="0" bIns="0" rtlCol="0" anchor="t"/>
          <a:lstStyle/>
          <a:p>
            <a:pPr indent="0" marL="0">
              <a:buNone/>
            </a:pPr>
            <a:r>
              <a:rPr lang="en-US" sz="1400" b="1" dirty="0">
                <a:solidFill>
                  <a:schemeClr val="tx1"/>
                </a:solidFill>
              </a:rPr>
              <a:t>Kesiapan teknis karbon rendah</a:t>
            </a:r>
            <a:endParaRPr lang="en-US" sz="1400" dirty="0"/>
          </a:p>
          <a:p>
            <a:pPr indent="0" marL="0">
              <a:buNone/>
            </a:pPr>
            <a:r>
              <a:rPr lang="en-US" sz="1200" dirty="0">
                <a:solidFill>
                  <a:schemeClr val="tx1"/>
                </a:solidFill>
              </a:rPr>
              <a:t>Belum ada data baseline, MRV, safeguards, dan akses registri.</a:t>
            </a:r>
            <a:endParaRPr lang="en-US" sz="1400" dirty="0"/>
          </a:p>
        </p:txBody>
      </p:sp>
      <p:sp>
        <p:nvSpPr>
          <p:cNvPr id="24" name="Masalah 3 lingkaran"/>
          <p:cNvSpPr/>
          <p:nvPr/>
        </p:nvSpPr>
        <p:spPr>
          <a:xfrm>
            <a:off x="4983480" y="2871216"/>
            <a:ext cx="457200" cy="457200"/>
          </a:xfrm>
          <a:prstGeom prst="ellipse">
            <a:avLst/>
          </a:prstGeom>
          <a:solidFill>
            <a:schemeClr val="accent2"/>
          </a:solidFill>
          <a:ln/>
        </p:spPr>
      </p:sp>
      <p:pic>
        <p:nvPicPr>
          <p:cNvPr id="25" name="Masalah 3 ikon" descr="preencoded.png">    </p:cNvPr>
          <p:cNvPicPr>
            <a:picLocks noChangeAspect="1"/>
          </p:cNvPicPr>
          <p:nvPr/>
        </p:nvPicPr>
        <p:blipFill>
          <a:blip r:embed="rId4"/>
          <a:stretch>
            <a:fillRect/>
          </a:stretch>
        </p:blipFill>
        <p:spPr>
          <a:xfrm>
            <a:off x="5102352" y="2990088"/>
            <a:ext cx="219456" cy="219456"/>
          </a:xfrm>
          <a:prstGeom prst="rect">
            <a:avLst/>
          </a:prstGeom>
        </p:spPr>
      </p:pic>
      <p:sp>
        <p:nvSpPr>
          <p:cNvPr id="26" name="Text 20"/>
          <p:cNvSpPr txBox="1"/>
          <p:nvPr/>
        </p:nvSpPr>
        <p:spPr>
          <a:xfrm>
            <a:off x="5577840" y="2825496"/>
            <a:ext cx="3108960" cy="804672"/>
          </a:xfrm>
          <a:prstGeom prst="rect">
            <a:avLst/>
          </a:prstGeom>
          <a:noFill/>
          <a:ln/>
        </p:spPr>
        <p:txBody>
          <a:bodyPr wrap="square" lIns="0" tIns="0" rIns="0" bIns="0" rtlCol="0" anchor="t"/>
          <a:lstStyle/>
          <a:p>
            <a:pPr indent="0" marL="0">
              <a:buNone/>
            </a:pPr>
            <a:r>
              <a:rPr lang="en-US" sz="1400" b="1" dirty="0">
                <a:solidFill>
                  <a:schemeClr val="tx1"/>
                </a:solidFill>
              </a:rPr>
              <a:t>Suara perempuan terbatas</a:t>
            </a:r>
            <a:endParaRPr lang="en-US" sz="1400" dirty="0"/>
          </a:p>
          <a:p>
            <a:pPr indent="0" marL="0">
              <a:buNone/>
            </a:pPr>
            <a:r>
              <a:rPr lang="en-US" sz="1200" dirty="0">
                <a:solidFill>
                  <a:schemeClr val="tx1"/>
                </a:solidFill>
              </a:rPr>
              <a:t>Perempuan baru hadir sebagai penerima manfaat, belum pengambil keputusan.</a:t>
            </a:r>
            <a:endParaRPr lang="en-US" sz="1400" dirty="0"/>
          </a:p>
        </p:txBody>
      </p:sp>
      <p:sp>
        <p:nvSpPr>
          <p:cNvPr id="27" name="Kotak peluang"/>
          <p:cNvSpPr/>
          <p:nvPr/>
        </p:nvSpPr>
        <p:spPr>
          <a:xfrm>
            <a:off x="4983480" y="3749040"/>
            <a:ext cx="3703320" cy="868680"/>
          </a:xfrm>
          <a:prstGeom prst="rect">
            <a:avLst/>
          </a:prstGeom>
          <a:solidFill>
            <a:schemeClr val="bg2"/>
          </a:solidFill>
          <a:ln/>
        </p:spPr>
      </p:sp>
      <p:sp>
        <p:nvSpPr>
          <p:cNvPr id="28" name="Text 22"/>
          <p:cNvSpPr txBox="1"/>
          <p:nvPr/>
        </p:nvSpPr>
        <p:spPr>
          <a:xfrm>
            <a:off x="5120640" y="3794760"/>
            <a:ext cx="3474720" cy="777240"/>
          </a:xfrm>
          <a:prstGeom prst="rect">
            <a:avLst/>
          </a:prstGeom>
          <a:noFill/>
          <a:ln/>
        </p:spPr>
        <p:txBody>
          <a:bodyPr wrap="square" lIns="0" tIns="0" rIns="0" bIns="0" rtlCol="0" anchor="ctr"/>
          <a:lstStyle/>
          <a:p>
            <a:pPr indent="0" marL="0">
              <a:buNone/>
            </a:pPr>
            <a:r>
              <a:rPr lang="en-US" sz="1200" b="1" dirty="0">
                <a:solidFill>
                  <a:schemeClr val="tx2"/>
                </a:solidFill>
              </a:rPr>
              <a:t>Peluang: </a:t>
            </a:r>
            <a:pPr indent="0" marL="0">
              <a:buNone/>
            </a:pPr>
            <a:r>
              <a:rPr lang="en-US" sz="1200" dirty="0">
                <a:solidFill>
                  <a:schemeClr val="tx1"/>
                </a:solidFill>
              </a:rPr>
              <a:t>Permen LHK 9/2021, Perpres 110/2025, dan Permenhut 6/2026 membuka perdagangan karbon oleh pemegang PS.</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Empat output menempuh 8 dari 16 tahap karbon masyarakat</a:t>
            </a:r>
            <a:endParaRPr lang="en-US" sz="2200" dirty="0"/>
          </a:p>
        </p:txBody>
      </p:sp>
      <p:sp>
        <p:nvSpPr>
          <p:cNvPr id="3" name="Output 1"/>
          <p:cNvSpPr/>
          <p:nvPr/>
        </p:nvSpPr>
        <p:spPr>
          <a:xfrm>
            <a:off x="457200" y="1097280"/>
            <a:ext cx="1965960" cy="685800"/>
          </a:xfrm>
          <a:prstGeom prst="rect">
            <a:avLst/>
          </a:prstGeom>
          <a:solidFill>
            <a:schemeClr val="accent1"/>
          </a:solidFill>
          <a:ln/>
        </p:spPr>
      </p:sp>
      <p:sp>
        <p:nvSpPr>
          <p:cNvPr id="4" name="Text 2"/>
          <p:cNvSpPr txBox="1"/>
          <p:nvPr/>
        </p:nvSpPr>
        <p:spPr>
          <a:xfrm>
            <a:off x="566928" y="1097280"/>
            <a:ext cx="1783080" cy="685800"/>
          </a:xfrm>
          <a:prstGeom prst="rect">
            <a:avLst/>
          </a:prstGeom>
          <a:noFill/>
          <a:ln/>
        </p:spPr>
        <p:txBody>
          <a:bodyPr wrap="square" lIns="0" tIns="0" rIns="0" bIns="0" rtlCol="0" anchor="ctr"/>
          <a:lstStyle/>
          <a:p>
            <a:pPr indent="0" marL="0">
              <a:buNone/>
            </a:pPr>
            <a:r>
              <a:rPr lang="en-US" sz="1100" b="1" dirty="0">
                <a:solidFill>
                  <a:schemeClr val="bg1"/>
                </a:solidFill>
              </a:rPr>
              <a:t>Output 1</a:t>
            </a:r>
            <a:endParaRPr lang="en-US" sz="1300" dirty="0"/>
          </a:p>
          <a:p>
            <a:pPr indent="0" marL="0">
              <a:buNone/>
            </a:pPr>
            <a:r>
              <a:rPr lang="en-US" sz="1300" b="1" dirty="0">
                <a:solidFill>
                  <a:schemeClr val="bg1"/>
                </a:solidFill>
              </a:rPr>
              <a:t>Aksi mitigasi berbasis masyarakat</a:t>
            </a:r>
            <a:endParaRPr lang="en-US" sz="1300" dirty="0"/>
          </a:p>
        </p:txBody>
      </p:sp>
      <p:sp>
        <p:nvSpPr>
          <p:cNvPr id="5" name="Shape 3"/>
          <p:cNvSpPr/>
          <p:nvPr/>
        </p:nvSpPr>
        <p:spPr>
          <a:xfrm>
            <a:off x="457200" y="1783080"/>
            <a:ext cx="1965960" cy="1325880"/>
          </a:xfrm>
          <a:prstGeom prst="rect">
            <a:avLst/>
          </a:prstGeom>
          <a:solidFill>
            <a:schemeClr val="bg2"/>
          </a:solidFill>
          <a:ln/>
        </p:spPr>
      </p:sp>
      <p:sp>
        <p:nvSpPr>
          <p:cNvPr id="6" name="Text 4"/>
          <p:cNvSpPr txBox="1"/>
          <p:nvPr/>
        </p:nvSpPr>
        <p:spPr>
          <a:xfrm>
            <a:off x="566928" y="1874520"/>
            <a:ext cx="1764792" cy="822960"/>
          </a:xfrm>
          <a:prstGeom prst="rect">
            <a:avLst/>
          </a:prstGeom>
          <a:noFill/>
          <a:ln/>
        </p:spPr>
        <p:txBody>
          <a:bodyPr wrap="square" lIns="0" tIns="0" rIns="0" bIns="0" rtlCol="0" anchor="t"/>
          <a:lstStyle/>
          <a:p>
            <a:pPr indent="0" marL="0">
              <a:buNone/>
            </a:pPr>
            <a:r>
              <a:rPr lang="en-US" sz="1200" dirty="0">
                <a:solidFill>
                  <a:schemeClr val="tx1"/>
                </a:solidFill>
              </a:rPr>
              <a:t>FPIC/LSC &amp; safeguards, patroli rutin, rehabilitasi 5 ha gambut, KUPS</a:t>
            </a:r>
            <a:endParaRPr lang="en-US" sz="1200" dirty="0"/>
          </a:p>
        </p:txBody>
      </p:sp>
      <p:sp>
        <p:nvSpPr>
          <p:cNvPr id="7" name="Text 5"/>
          <p:cNvSpPr txBox="1"/>
          <p:nvPr/>
        </p:nvSpPr>
        <p:spPr>
          <a:xfrm>
            <a:off x="566928" y="2743200"/>
            <a:ext cx="1764792" cy="274320"/>
          </a:xfrm>
          <a:prstGeom prst="rect">
            <a:avLst/>
          </a:prstGeom>
          <a:noFill/>
          <a:ln/>
        </p:spPr>
        <p:txBody>
          <a:bodyPr wrap="square" lIns="0" tIns="0" rIns="0" bIns="0" rtlCol="0" anchor="t"/>
          <a:lstStyle/>
          <a:p>
            <a:pPr indent="0" marL="0">
              <a:buNone/>
            </a:pPr>
            <a:r>
              <a:rPr lang="en-US" sz="1000" b="1" dirty="0">
                <a:solidFill>
                  <a:schemeClr val="accent1"/>
                </a:solidFill>
              </a:rPr>
              <a:t>SETAPAK O1 · O4</a:t>
            </a:r>
            <a:endParaRPr lang="en-US" sz="1000" dirty="0"/>
          </a:p>
        </p:txBody>
      </p:sp>
      <p:sp>
        <p:nvSpPr>
          <p:cNvPr id="8" name="Output 2"/>
          <p:cNvSpPr/>
          <p:nvPr/>
        </p:nvSpPr>
        <p:spPr>
          <a:xfrm>
            <a:off x="2560320" y="1097280"/>
            <a:ext cx="1965960" cy="685800"/>
          </a:xfrm>
          <a:prstGeom prst="rect">
            <a:avLst/>
          </a:prstGeom>
          <a:solidFill>
            <a:schemeClr val="accent4"/>
          </a:solidFill>
          <a:ln/>
        </p:spPr>
      </p:sp>
      <p:sp>
        <p:nvSpPr>
          <p:cNvPr id="9" name="Text 7"/>
          <p:cNvSpPr txBox="1"/>
          <p:nvPr/>
        </p:nvSpPr>
        <p:spPr>
          <a:xfrm>
            <a:off x="2670048" y="1097280"/>
            <a:ext cx="1783080" cy="685800"/>
          </a:xfrm>
          <a:prstGeom prst="rect">
            <a:avLst/>
          </a:prstGeom>
          <a:noFill/>
          <a:ln/>
        </p:spPr>
        <p:txBody>
          <a:bodyPr wrap="square" lIns="0" tIns="0" rIns="0" bIns="0" rtlCol="0" anchor="ctr"/>
          <a:lstStyle/>
          <a:p>
            <a:pPr indent="0" marL="0">
              <a:buNone/>
            </a:pPr>
            <a:r>
              <a:rPr lang="en-US" sz="1100" b="1" dirty="0">
                <a:solidFill>
                  <a:schemeClr val="bg1"/>
                </a:solidFill>
              </a:rPr>
              <a:t>Output 2</a:t>
            </a:r>
            <a:endParaRPr lang="en-US" sz="1300" dirty="0"/>
          </a:p>
          <a:p>
            <a:pPr indent="0" marL="0">
              <a:buNone/>
            </a:pPr>
            <a:r>
              <a:rPr lang="en-US" sz="1300" b="1" dirty="0">
                <a:solidFill>
                  <a:schemeClr val="bg1"/>
                </a:solidFill>
              </a:rPr>
              <a:t>Proyek karbon siap registri</a:t>
            </a:r>
            <a:endParaRPr lang="en-US" sz="1300" dirty="0"/>
          </a:p>
        </p:txBody>
      </p:sp>
      <p:sp>
        <p:nvSpPr>
          <p:cNvPr id="10" name="Shape 8"/>
          <p:cNvSpPr/>
          <p:nvPr/>
        </p:nvSpPr>
        <p:spPr>
          <a:xfrm>
            <a:off x="2560320" y="1783080"/>
            <a:ext cx="1965960" cy="1325880"/>
          </a:xfrm>
          <a:prstGeom prst="rect">
            <a:avLst/>
          </a:prstGeom>
          <a:solidFill>
            <a:schemeClr val="bg2"/>
          </a:solidFill>
          <a:ln/>
        </p:spPr>
      </p:sp>
      <p:sp>
        <p:nvSpPr>
          <p:cNvPr id="11" name="Text 9"/>
          <p:cNvSpPr txBox="1"/>
          <p:nvPr/>
        </p:nvSpPr>
        <p:spPr>
          <a:xfrm>
            <a:off x="2670048" y="1874520"/>
            <a:ext cx="1764792" cy="822960"/>
          </a:xfrm>
          <a:prstGeom prst="rect">
            <a:avLst/>
          </a:prstGeom>
          <a:noFill/>
          <a:ln/>
        </p:spPr>
        <p:txBody>
          <a:bodyPr wrap="square" lIns="0" tIns="0" rIns="0" bIns="0" rtlCol="0" anchor="t"/>
          <a:lstStyle/>
          <a:p>
            <a:pPr indent="0" marL="0">
              <a:buNone/>
            </a:pPr>
            <a:r>
              <a:rPr lang="en-US" sz="1200" dirty="0">
                <a:solidFill>
                  <a:schemeClr val="tx1"/>
                </a:solidFill>
              </a:rPr>
              <a:t>CCAL, data baseline, DRAM/PDD, persetujuan, SRUK &amp; Plan Vivo</a:t>
            </a:r>
            <a:endParaRPr lang="en-US" sz="1200" dirty="0"/>
          </a:p>
        </p:txBody>
      </p:sp>
      <p:sp>
        <p:nvSpPr>
          <p:cNvPr id="12" name="Text 10"/>
          <p:cNvSpPr txBox="1"/>
          <p:nvPr/>
        </p:nvSpPr>
        <p:spPr>
          <a:xfrm>
            <a:off x="2670048" y="2743200"/>
            <a:ext cx="1764792" cy="274320"/>
          </a:xfrm>
          <a:prstGeom prst="rect">
            <a:avLst/>
          </a:prstGeom>
          <a:noFill/>
          <a:ln/>
        </p:spPr>
        <p:txBody>
          <a:bodyPr wrap="square" lIns="0" tIns="0" rIns="0" bIns="0" rtlCol="0" anchor="t"/>
          <a:lstStyle/>
          <a:p>
            <a:pPr indent="0" marL="0">
              <a:buNone/>
            </a:pPr>
            <a:r>
              <a:rPr lang="en-US" sz="1000" b="1" dirty="0">
                <a:solidFill>
                  <a:schemeClr val="accent4"/>
                </a:solidFill>
              </a:rPr>
              <a:t>SETAPAK O2</a:t>
            </a:r>
            <a:endParaRPr lang="en-US" sz="1000" dirty="0"/>
          </a:p>
        </p:txBody>
      </p:sp>
      <p:sp>
        <p:nvSpPr>
          <p:cNvPr id="13" name="Output 3"/>
          <p:cNvSpPr/>
          <p:nvPr/>
        </p:nvSpPr>
        <p:spPr>
          <a:xfrm>
            <a:off x="4663440" y="1097280"/>
            <a:ext cx="1965960" cy="685800"/>
          </a:xfrm>
          <a:prstGeom prst="rect">
            <a:avLst/>
          </a:prstGeom>
          <a:solidFill>
            <a:schemeClr val="accent6"/>
          </a:solidFill>
          <a:ln/>
        </p:spPr>
      </p:sp>
      <p:sp>
        <p:nvSpPr>
          <p:cNvPr id="14" name="Text 12"/>
          <p:cNvSpPr txBox="1"/>
          <p:nvPr/>
        </p:nvSpPr>
        <p:spPr>
          <a:xfrm>
            <a:off x="4773168" y="1097280"/>
            <a:ext cx="1783080" cy="685800"/>
          </a:xfrm>
          <a:prstGeom prst="rect">
            <a:avLst/>
          </a:prstGeom>
          <a:noFill/>
          <a:ln/>
        </p:spPr>
        <p:txBody>
          <a:bodyPr wrap="square" lIns="0" tIns="0" rIns="0" bIns="0" rtlCol="0" anchor="ctr"/>
          <a:lstStyle/>
          <a:p>
            <a:pPr indent="0" marL="0">
              <a:buNone/>
            </a:pPr>
            <a:r>
              <a:rPr lang="en-US" sz="1100" b="1" dirty="0">
                <a:solidFill>
                  <a:schemeClr val="bg1"/>
                </a:solidFill>
              </a:rPr>
              <a:t>Output 3</a:t>
            </a:r>
            <a:endParaRPr lang="en-US" sz="1300" dirty="0"/>
          </a:p>
          <a:p>
            <a:pPr indent="0" marL="0">
              <a:buNone/>
            </a:pPr>
            <a:r>
              <a:rPr lang="en-US" sz="1300" b="1" dirty="0">
                <a:solidFill>
                  <a:schemeClr val="bg1"/>
                </a:solidFill>
              </a:rPr>
              <a:t>Kemitraan pembiayaan swasta</a:t>
            </a:r>
            <a:endParaRPr lang="en-US" sz="1300" dirty="0"/>
          </a:p>
        </p:txBody>
      </p:sp>
      <p:sp>
        <p:nvSpPr>
          <p:cNvPr id="15" name="Shape 13"/>
          <p:cNvSpPr/>
          <p:nvPr/>
        </p:nvSpPr>
        <p:spPr>
          <a:xfrm>
            <a:off x="4663440" y="1783080"/>
            <a:ext cx="1965960" cy="1325880"/>
          </a:xfrm>
          <a:prstGeom prst="rect">
            <a:avLst/>
          </a:prstGeom>
          <a:solidFill>
            <a:schemeClr val="bg2"/>
          </a:solidFill>
          <a:ln/>
        </p:spPr>
      </p:sp>
      <p:sp>
        <p:nvSpPr>
          <p:cNvPr id="16" name="Text 14"/>
          <p:cNvSpPr txBox="1"/>
          <p:nvPr/>
        </p:nvSpPr>
        <p:spPr>
          <a:xfrm>
            <a:off x="4773168" y="1874520"/>
            <a:ext cx="1764792" cy="822960"/>
          </a:xfrm>
          <a:prstGeom prst="rect">
            <a:avLst/>
          </a:prstGeom>
          <a:noFill/>
          <a:ln/>
        </p:spPr>
        <p:txBody>
          <a:bodyPr wrap="square" lIns="0" tIns="0" rIns="0" bIns="0" rtlCol="0" anchor="t"/>
          <a:lstStyle/>
          <a:p>
            <a:pPr indent="0" marL="0">
              <a:buNone/>
            </a:pPr>
            <a:r>
              <a:rPr lang="en-US" sz="1200" dirty="0">
                <a:solidFill>
                  <a:schemeClr val="tx1"/>
                </a:solidFill>
              </a:rPr>
              <a:t>Feasibility study, high-level meeting, perjanjian kerja sama</a:t>
            </a:r>
            <a:endParaRPr lang="en-US" sz="1200" dirty="0"/>
          </a:p>
        </p:txBody>
      </p:sp>
      <p:sp>
        <p:nvSpPr>
          <p:cNvPr id="17" name="Text 15"/>
          <p:cNvSpPr txBox="1"/>
          <p:nvPr/>
        </p:nvSpPr>
        <p:spPr>
          <a:xfrm>
            <a:off x="4773168" y="2743200"/>
            <a:ext cx="1764792" cy="274320"/>
          </a:xfrm>
          <a:prstGeom prst="rect">
            <a:avLst/>
          </a:prstGeom>
          <a:noFill/>
          <a:ln/>
        </p:spPr>
        <p:txBody>
          <a:bodyPr wrap="square" lIns="0" tIns="0" rIns="0" bIns="0" rtlCol="0" anchor="t"/>
          <a:lstStyle/>
          <a:p>
            <a:pPr indent="0" marL="0">
              <a:buNone/>
            </a:pPr>
            <a:r>
              <a:rPr lang="en-US" sz="1000" b="1" dirty="0">
                <a:solidFill>
                  <a:schemeClr val="accent6"/>
                </a:solidFill>
              </a:rPr>
              <a:t>SETAPAK O2</a:t>
            </a:r>
            <a:endParaRPr lang="en-US" sz="1000" dirty="0"/>
          </a:p>
        </p:txBody>
      </p:sp>
      <p:sp>
        <p:nvSpPr>
          <p:cNvPr id="18" name="Output 4"/>
          <p:cNvSpPr/>
          <p:nvPr/>
        </p:nvSpPr>
        <p:spPr>
          <a:xfrm>
            <a:off x="6766560" y="1097280"/>
            <a:ext cx="1965960" cy="685800"/>
          </a:xfrm>
          <a:prstGeom prst="rect">
            <a:avLst/>
          </a:prstGeom>
          <a:solidFill>
            <a:schemeClr val="accent2"/>
          </a:solidFill>
          <a:ln/>
        </p:spPr>
      </p:sp>
      <p:sp>
        <p:nvSpPr>
          <p:cNvPr id="19" name="Text 17"/>
          <p:cNvSpPr txBox="1"/>
          <p:nvPr/>
        </p:nvSpPr>
        <p:spPr>
          <a:xfrm>
            <a:off x="6876288" y="1097280"/>
            <a:ext cx="1783080" cy="685800"/>
          </a:xfrm>
          <a:prstGeom prst="rect">
            <a:avLst/>
          </a:prstGeom>
          <a:noFill/>
          <a:ln/>
        </p:spPr>
        <p:txBody>
          <a:bodyPr wrap="square" lIns="0" tIns="0" rIns="0" bIns="0" rtlCol="0" anchor="ctr"/>
          <a:lstStyle/>
          <a:p>
            <a:pPr indent="0" marL="0">
              <a:buNone/>
            </a:pPr>
            <a:r>
              <a:rPr lang="en-US" sz="1100" b="1" dirty="0">
                <a:solidFill>
                  <a:schemeClr val="bg1"/>
                </a:solidFill>
              </a:rPr>
              <a:t>Output 4</a:t>
            </a:r>
            <a:endParaRPr lang="en-US" sz="1300" dirty="0"/>
          </a:p>
          <a:p>
            <a:pPr indent="0" marL="0">
              <a:buNone/>
            </a:pPr>
            <a:r>
              <a:rPr lang="en-US" sz="1300" b="1" dirty="0">
                <a:solidFill>
                  <a:schemeClr val="bg1"/>
                </a:solidFill>
              </a:rPr>
              <a:t>Kepemimpinan perempuan</a:t>
            </a:r>
            <a:endParaRPr lang="en-US" sz="1300" dirty="0"/>
          </a:p>
        </p:txBody>
      </p:sp>
      <p:sp>
        <p:nvSpPr>
          <p:cNvPr id="20" name="Shape 18"/>
          <p:cNvSpPr/>
          <p:nvPr/>
        </p:nvSpPr>
        <p:spPr>
          <a:xfrm>
            <a:off x="6766560" y="1783080"/>
            <a:ext cx="1965960" cy="1325880"/>
          </a:xfrm>
          <a:prstGeom prst="rect">
            <a:avLst/>
          </a:prstGeom>
          <a:solidFill>
            <a:schemeClr val="bg2"/>
          </a:solidFill>
          <a:ln/>
        </p:spPr>
      </p:sp>
      <p:sp>
        <p:nvSpPr>
          <p:cNvPr id="21" name="Text 19"/>
          <p:cNvSpPr txBox="1"/>
          <p:nvPr/>
        </p:nvSpPr>
        <p:spPr>
          <a:xfrm>
            <a:off x="6876288" y="1874520"/>
            <a:ext cx="1764792" cy="822960"/>
          </a:xfrm>
          <a:prstGeom prst="rect">
            <a:avLst/>
          </a:prstGeom>
          <a:noFill/>
          <a:ln/>
        </p:spPr>
        <p:txBody>
          <a:bodyPr wrap="square" lIns="0" tIns="0" rIns="0" bIns="0" rtlCol="0" anchor="t"/>
          <a:lstStyle/>
          <a:p>
            <a:pPr indent="0" marL="0">
              <a:buNone/>
            </a:pPr>
            <a:r>
              <a:rPr lang="en-US" sz="1200" dirty="0">
                <a:solidFill>
                  <a:schemeClr val="tx1"/>
                </a:solidFill>
              </a:rPr>
              <a:t>GEDSI Action Plan, Women Forest Defender, pelatihan kepemimpinan</a:t>
            </a:r>
            <a:endParaRPr lang="en-US" sz="1200" dirty="0"/>
          </a:p>
        </p:txBody>
      </p:sp>
      <p:sp>
        <p:nvSpPr>
          <p:cNvPr id="22" name="Text 20"/>
          <p:cNvSpPr txBox="1"/>
          <p:nvPr/>
        </p:nvSpPr>
        <p:spPr>
          <a:xfrm>
            <a:off x="6876288" y="2743200"/>
            <a:ext cx="1764792" cy="274320"/>
          </a:xfrm>
          <a:prstGeom prst="rect">
            <a:avLst/>
          </a:prstGeom>
          <a:noFill/>
          <a:ln/>
        </p:spPr>
        <p:txBody>
          <a:bodyPr wrap="square" lIns="0" tIns="0" rIns="0" bIns="0" rtlCol="0" anchor="t"/>
          <a:lstStyle/>
          <a:p>
            <a:pPr indent="0" marL="0">
              <a:buNone/>
            </a:pPr>
            <a:r>
              <a:rPr lang="en-US" sz="1000" b="1" dirty="0">
                <a:solidFill>
                  <a:schemeClr val="accent2"/>
                </a:solidFill>
              </a:rPr>
              <a:t>SETAPAK O1</a:t>
            </a:r>
            <a:endParaRPr lang="en-US" sz="1000" dirty="0"/>
          </a:p>
        </p:txBody>
      </p:sp>
      <p:sp>
        <p:nvSpPr>
          <p:cNvPr id="23" name="Text 21"/>
          <p:cNvSpPr txBox="1"/>
          <p:nvPr/>
        </p:nvSpPr>
        <p:spPr>
          <a:xfrm>
            <a:off x="457200" y="3291840"/>
            <a:ext cx="8229600" cy="228600"/>
          </a:xfrm>
          <a:prstGeom prst="rect">
            <a:avLst/>
          </a:prstGeom>
          <a:noFill/>
          <a:ln/>
        </p:spPr>
        <p:txBody>
          <a:bodyPr wrap="square" lIns="0" tIns="0" rIns="0" bIns="0" rtlCol="0" anchor="t"/>
          <a:lstStyle/>
          <a:p>
            <a:pPr indent="0" marL="0">
              <a:buNone/>
            </a:pPr>
            <a:r>
              <a:rPr lang="en-US" sz="1100" b="1" dirty="0">
                <a:solidFill>
                  <a:schemeClr val="accent1"/>
                </a:solidFill>
              </a:rPr>
              <a:t>Dalam program SETAPAK: tahap 1–8</a:t>
            </a:r>
            <a:pPr indent="0" marL="0">
              <a:buNone/>
            </a:pPr>
            <a:r>
              <a:rPr lang="en-US" sz="1100" dirty="0">
                <a:solidFill>
                  <a:schemeClr val="accent5"/>
                </a:solidFill>
              </a:rPr>
              <a:t>     Tahap 9–16 dibiayai kemitraan swasta (Output 3)</a:t>
            </a:r>
            <a:endParaRPr lang="en-US" sz="1100" dirty="0"/>
          </a:p>
        </p:txBody>
      </p:sp>
      <p:sp>
        <p:nvSpPr>
          <p:cNvPr id="24" name="Shape 22"/>
          <p:cNvSpPr/>
          <p:nvPr/>
        </p:nvSpPr>
        <p:spPr>
          <a:xfrm>
            <a:off x="714375" y="3749040"/>
            <a:ext cx="7715250" cy="0"/>
          </a:xfrm>
          <a:prstGeom prst="line">
            <a:avLst/>
          </a:prstGeom>
          <a:noFill/>
          <a:ln w="15875">
            <a:solidFill>
              <a:srgbClr val="B9C4BE"/>
            </a:solidFill>
            <a:prstDash val="solid"/>
          </a:ln>
        </p:spPr>
      </p:sp>
      <p:sp>
        <p:nvSpPr>
          <p:cNvPr id="25" name="Tahap 1"/>
          <p:cNvSpPr/>
          <p:nvPr/>
        </p:nvSpPr>
        <p:spPr>
          <a:xfrm>
            <a:off x="577215" y="3611880"/>
            <a:ext cx="274320" cy="274320"/>
          </a:xfrm>
          <a:prstGeom prst="ellipse">
            <a:avLst/>
          </a:prstGeom>
          <a:solidFill>
            <a:schemeClr val="accent1"/>
          </a:solidFill>
          <a:ln/>
        </p:spPr>
      </p:sp>
      <p:sp>
        <p:nvSpPr>
          <p:cNvPr id="26" name="Text 24"/>
          <p:cNvSpPr txBox="1"/>
          <p:nvPr/>
        </p:nvSpPr>
        <p:spPr>
          <a:xfrm>
            <a:off x="577215" y="361188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7" name="Text 25"/>
          <p:cNvSpPr txBox="1"/>
          <p:nvPr/>
        </p:nvSpPr>
        <p:spPr>
          <a:xfrm>
            <a:off x="466344" y="3931920"/>
            <a:ext cx="496062" cy="685800"/>
          </a:xfrm>
          <a:prstGeom prst="rect">
            <a:avLst/>
          </a:prstGeom>
          <a:noFill/>
          <a:ln/>
        </p:spPr>
        <p:txBody>
          <a:bodyPr wrap="square" lIns="0" tIns="0" rIns="0" bIns="0" rtlCol="0" anchor="t"/>
          <a:lstStyle/>
          <a:p>
            <a:pPr algn="ctr" indent="0" marL="0">
              <a:buNone/>
            </a:pPr>
            <a:r>
              <a:rPr lang="en-US" sz="900" dirty="0">
                <a:solidFill>
                  <a:schemeClr val="tx1"/>
                </a:solidFill>
              </a:rPr>
              <a:t>Legalitas PS</a:t>
            </a:r>
            <a:endParaRPr lang="en-US" sz="900" dirty="0"/>
          </a:p>
        </p:txBody>
      </p:sp>
      <p:sp>
        <p:nvSpPr>
          <p:cNvPr id="28" name="Tahap 2"/>
          <p:cNvSpPr/>
          <p:nvPr/>
        </p:nvSpPr>
        <p:spPr>
          <a:xfrm>
            <a:off x="1091565" y="3611880"/>
            <a:ext cx="274320" cy="274320"/>
          </a:xfrm>
          <a:prstGeom prst="ellipse">
            <a:avLst/>
          </a:prstGeom>
          <a:solidFill>
            <a:schemeClr val="accent1"/>
          </a:solidFill>
          <a:ln/>
        </p:spPr>
      </p:sp>
      <p:sp>
        <p:nvSpPr>
          <p:cNvPr id="29" name="Text 27"/>
          <p:cNvSpPr txBox="1"/>
          <p:nvPr/>
        </p:nvSpPr>
        <p:spPr>
          <a:xfrm>
            <a:off x="1091565" y="361188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30" name="Text 28"/>
          <p:cNvSpPr txBox="1"/>
          <p:nvPr/>
        </p:nvSpPr>
        <p:spPr>
          <a:xfrm>
            <a:off x="980694" y="3931920"/>
            <a:ext cx="496062" cy="685800"/>
          </a:xfrm>
          <a:prstGeom prst="rect">
            <a:avLst/>
          </a:prstGeom>
          <a:noFill/>
          <a:ln/>
        </p:spPr>
        <p:txBody>
          <a:bodyPr wrap="square" lIns="0" tIns="0" rIns="0" bIns="0" rtlCol="0" anchor="t"/>
          <a:lstStyle/>
          <a:p>
            <a:pPr algn="ctr" indent="0" marL="0">
              <a:buNone/>
            </a:pPr>
            <a:r>
              <a:rPr lang="en-US" sz="900" dirty="0">
                <a:solidFill>
                  <a:schemeClr val="tx1"/>
                </a:solidFill>
              </a:rPr>
              <a:t>Izin damping</a:t>
            </a:r>
            <a:endParaRPr lang="en-US" sz="900" dirty="0"/>
          </a:p>
        </p:txBody>
      </p:sp>
      <p:sp>
        <p:nvSpPr>
          <p:cNvPr id="31" name="Tahap 3"/>
          <p:cNvSpPr/>
          <p:nvPr/>
        </p:nvSpPr>
        <p:spPr>
          <a:xfrm>
            <a:off x="1605915" y="3611880"/>
            <a:ext cx="274320" cy="274320"/>
          </a:xfrm>
          <a:prstGeom prst="ellipse">
            <a:avLst/>
          </a:prstGeom>
          <a:solidFill>
            <a:schemeClr val="accent1"/>
          </a:solidFill>
          <a:ln/>
        </p:spPr>
      </p:sp>
      <p:sp>
        <p:nvSpPr>
          <p:cNvPr id="32" name="Text 30"/>
          <p:cNvSpPr txBox="1"/>
          <p:nvPr/>
        </p:nvSpPr>
        <p:spPr>
          <a:xfrm>
            <a:off x="1605915" y="361188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33" name="Text 31"/>
          <p:cNvSpPr txBox="1"/>
          <p:nvPr/>
        </p:nvSpPr>
        <p:spPr>
          <a:xfrm>
            <a:off x="1495044" y="3931920"/>
            <a:ext cx="496062" cy="685800"/>
          </a:xfrm>
          <a:prstGeom prst="rect">
            <a:avLst/>
          </a:prstGeom>
          <a:noFill/>
          <a:ln/>
        </p:spPr>
        <p:txBody>
          <a:bodyPr wrap="square" lIns="0" tIns="0" rIns="0" bIns="0" rtlCol="0" anchor="t"/>
          <a:lstStyle/>
          <a:p>
            <a:pPr algn="ctr" indent="0" marL="0">
              <a:buNone/>
            </a:pPr>
            <a:r>
              <a:rPr lang="en-US" sz="900" dirty="0">
                <a:solidFill>
                  <a:schemeClr val="tx1"/>
                </a:solidFill>
              </a:rPr>
              <a:t>FPIC</a:t>
            </a:r>
            <a:endParaRPr lang="en-US" sz="900" dirty="0"/>
          </a:p>
        </p:txBody>
      </p:sp>
      <p:sp>
        <p:nvSpPr>
          <p:cNvPr id="34" name="Tahap 4"/>
          <p:cNvSpPr/>
          <p:nvPr/>
        </p:nvSpPr>
        <p:spPr>
          <a:xfrm>
            <a:off x="2120265" y="3611880"/>
            <a:ext cx="274320" cy="274320"/>
          </a:xfrm>
          <a:prstGeom prst="ellipse">
            <a:avLst/>
          </a:prstGeom>
          <a:solidFill>
            <a:schemeClr val="accent1"/>
          </a:solidFill>
          <a:ln/>
        </p:spPr>
      </p:sp>
      <p:sp>
        <p:nvSpPr>
          <p:cNvPr id="35" name="Text 33"/>
          <p:cNvSpPr txBox="1"/>
          <p:nvPr/>
        </p:nvSpPr>
        <p:spPr>
          <a:xfrm>
            <a:off x="2120265" y="361188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6" name="Text 34"/>
          <p:cNvSpPr txBox="1"/>
          <p:nvPr/>
        </p:nvSpPr>
        <p:spPr>
          <a:xfrm>
            <a:off x="2009394" y="3931920"/>
            <a:ext cx="496062" cy="685800"/>
          </a:xfrm>
          <a:prstGeom prst="rect">
            <a:avLst/>
          </a:prstGeom>
          <a:noFill/>
          <a:ln/>
        </p:spPr>
        <p:txBody>
          <a:bodyPr wrap="square" lIns="0" tIns="0" rIns="0" bIns="0" rtlCol="0" anchor="t"/>
          <a:lstStyle/>
          <a:p>
            <a:pPr algn="ctr" indent="0" marL="0">
              <a:buNone/>
            </a:pPr>
            <a:r>
              <a:rPr lang="en-US" sz="900" dirty="0">
                <a:solidFill>
                  <a:schemeClr val="tx1"/>
                </a:solidFill>
              </a:rPr>
              <a:t>Mitra terdaftar</a:t>
            </a:r>
            <a:endParaRPr lang="en-US" sz="900" dirty="0"/>
          </a:p>
        </p:txBody>
      </p:sp>
      <p:sp>
        <p:nvSpPr>
          <p:cNvPr id="37" name="Tahap 5"/>
          <p:cNvSpPr/>
          <p:nvPr/>
        </p:nvSpPr>
        <p:spPr>
          <a:xfrm>
            <a:off x="2634615" y="3611880"/>
            <a:ext cx="274320" cy="274320"/>
          </a:xfrm>
          <a:prstGeom prst="ellipse">
            <a:avLst/>
          </a:prstGeom>
          <a:solidFill>
            <a:schemeClr val="accent1"/>
          </a:solidFill>
          <a:ln/>
        </p:spPr>
      </p:sp>
      <p:sp>
        <p:nvSpPr>
          <p:cNvPr id="38" name="Text 36"/>
          <p:cNvSpPr txBox="1"/>
          <p:nvPr/>
        </p:nvSpPr>
        <p:spPr>
          <a:xfrm>
            <a:off x="2634615" y="361188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39" name="Text 37"/>
          <p:cNvSpPr txBox="1"/>
          <p:nvPr/>
        </p:nvSpPr>
        <p:spPr>
          <a:xfrm>
            <a:off x="2523744" y="3931920"/>
            <a:ext cx="496062" cy="685800"/>
          </a:xfrm>
          <a:prstGeom prst="rect">
            <a:avLst/>
          </a:prstGeom>
          <a:noFill/>
          <a:ln/>
        </p:spPr>
        <p:txBody>
          <a:bodyPr wrap="square" lIns="0" tIns="0" rIns="0" bIns="0" rtlCol="0" anchor="t"/>
          <a:lstStyle/>
          <a:p>
            <a:pPr algn="ctr" indent="0" marL="0">
              <a:buNone/>
            </a:pPr>
            <a:r>
              <a:rPr lang="en-US" sz="900" dirty="0">
                <a:solidFill>
                  <a:schemeClr val="tx1"/>
                </a:solidFill>
              </a:rPr>
              <a:t>Data baseline</a:t>
            </a:r>
            <a:endParaRPr lang="en-US" sz="900" dirty="0"/>
          </a:p>
        </p:txBody>
      </p:sp>
      <p:sp>
        <p:nvSpPr>
          <p:cNvPr id="40" name="Tahap 6"/>
          <p:cNvSpPr/>
          <p:nvPr/>
        </p:nvSpPr>
        <p:spPr>
          <a:xfrm>
            <a:off x="3148965" y="3611880"/>
            <a:ext cx="274320" cy="274320"/>
          </a:xfrm>
          <a:prstGeom prst="ellipse">
            <a:avLst/>
          </a:prstGeom>
          <a:solidFill>
            <a:schemeClr val="accent1"/>
          </a:solidFill>
          <a:ln/>
        </p:spPr>
      </p:sp>
      <p:sp>
        <p:nvSpPr>
          <p:cNvPr id="41" name="Text 39"/>
          <p:cNvSpPr txBox="1"/>
          <p:nvPr/>
        </p:nvSpPr>
        <p:spPr>
          <a:xfrm>
            <a:off x="3148965" y="361188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42" name="Text 40"/>
          <p:cNvSpPr txBox="1"/>
          <p:nvPr/>
        </p:nvSpPr>
        <p:spPr>
          <a:xfrm>
            <a:off x="3038094" y="3931920"/>
            <a:ext cx="496062" cy="685800"/>
          </a:xfrm>
          <a:prstGeom prst="rect">
            <a:avLst/>
          </a:prstGeom>
          <a:noFill/>
          <a:ln/>
        </p:spPr>
        <p:txBody>
          <a:bodyPr wrap="square" lIns="0" tIns="0" rIns="0" bIns="0" rtlCol="0" anchor="t"/>
          <a:lstStyle/>
          <a:p>
            <a:pPr algn="ctr" indent="0" marL="0">
              <a:buNone/>
            </a:pPr>
            <a:r>
              <a:rPr lang="en-US" sz="900" dirty="0">
                <a:solidFill>
                  <a:schemeClr val="tx1"/>
                </a:solidFill>
              </a:rPr>
              <a:t>PDD / DRAM</a:t>
            </a:r>
            <a:endParaRPr lang="en-US" sz="900" dirty="0"/>
          </a:p>
        </p:txBody>
      </p:sp>
      <p:sp>
        <p:nvSpPr>
          <p:cNvPr id="43" name="Tahap 7"/>
          <p:cNvSpPr/>
          <p:nvPr/>
        </p:nvSpPr>
        <p:spPr>
          <a:xfrm>
            <a:off x="3663315" y="3611880"/>
            <a:ext cx="274320" cy="274320"/>
          </a:xfrm>
          <a:prstGeom prst="ellipse">
            <a:avLst/>
          </a:prstGeom>
          <a:solidFill>
            <a:schemeClr val="accent1"/>
          </a:solidFill>
          <a:ln/>
        </p:spPr>
      </p:sp>
      <p:sp>
        <p:nvSpPr>
          <p:cNvPr id="44" name="Text 42"/>
          <p:cNvSpPr txBox="1"/>
          <p:nvPr/>
        </p:nvSpPr>
        <p:spPr>
          <a:xfrm>
            <a:off x="3663315" y="361188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45" name="Text 43"/>
          <p:cNvSpPr txBox="1"/>
          <p:nvPr/>
        </p:nvSpPr>
        <p:spPr>
          <a:xfrm>
            <a:off x="3552444" y="3931920"/>
            <a:ext cx="496062" cy="685800"/>
          </a:xfrm>
          <a:prstGeom prst="rect">
            <a:avLst/>
          </a:prstGeom>
          <a:noFill/>
          <a:ln/>
        </p:spPr>
        <p:txBody>
          <a:bodyPr wrap="square" lIns="0" tIns="0" rIns="0" bIns="0" rtlCol="0" anchor="t"/>
          <a:lstStyle/>
          <a:p>
            <a:pPr algn="ctr" indent="0" marL="0">
              <a:buNone/>
            </a:pPr>
            <a:r>
              <a:rPr lang="en-US" sz="900" dirty="0">
                <a:solidFill>
                  <a:schemeClr val="tx1"/>
                </a:solidFill>
              </a:rPr>
              <a:t>Daftar SRUK</a:t>
            </a:r>
            <a:endParaRPr lang="en-US" sz="900" dirty="0"/>
          </a:p>
        </p:txBody>
      </p:sp>
      <p:sp>
        <p:nvSpPr>
          <p:cNvPr id="46" name="Tahap 8"/>
          <p:cNvSpPr/>
          <p:nvPr/>
        </p:nvSpPr>
        <p:spPr>
          <a:xfrm>
            <a:off x="4177665" y="3611880"/>
            <a:ext cx="274320" cy="274320"/>
          </a:xfrm>
          <a:prstGeom prst="ellipse">
            <a:avLst/>
          </a:prstGeom>
          <a:solidFill>
            <a:schemeClr val="accent1"/>
          </a:solidFill>
          <a:ln/>
        </p:spPr>
      </p:sp>
      <p:sp>
        <p:nvSpPr>
          <p:cNvPr id="47" name="Text 45"/>
          <p:cNvSpPr txBox="1"/>
          <p:nvPr/>
        </p:nvSpPr>
        <p:spPr>
          <a:xfrm>
            <a:off x="4177665" y="361188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48" name="Text 46"/>
          <p:cNvSpPr txBox="1"/>
          <p:nvPr/>
        </p:nvSpPr>
        <p:spPr>
          <a:xfrm>
            <a:off x="4066794" y="3931920"/>
            <a:ext cx="496062" cy="685800"/>
          </a:xfrm>
          <a:prstGeom prst="rect">
            <a:avLst/>
          </a:prstGeom>
          <a:noFill/>
          <a:ln/>
        </p:spPr>
        <p:txBody>
          <a:bodyPr wrap="square" lIns="0" tIns="0" rIns="0" bIns="0" rtlCol="0" anchor="t"/>
          <a:lstStyle/>
          <a:p>
            <a:pPr algn="ctr" indent="0" marL="0">
              <a:buNone/>
            </a:pPr>
            <a:r>
              <a:rPr lang="en-US" sz="900" dirty="0">
                <a:solidFill>
                  <a:schemeClr val="tx1"/>
                </a:solidFill>
              </a:rPr>
              <a:t>Mitra investor</a:t>
            </a:r>
            <a:endParaRPr lang="en-US" sz="900" dirty="0"/>
          </a:p>
        </p:txBody>
      </p:sp>
      <p:sp>
        <p:nvSpPr>
          <p:cNvPr id="49" name="Tahap 9"/>
          <p:cNvSpPr/>
          <p:nvPr/>
        </p:nvSpPr>
        <p:spPr>
          <a:xfrm>
            <a:off x="4692015" y="3611880"/>
            <a:ext cx="274320" cy="274320"/>
          </a:xfrm>
          <a:prstGeom prst="ellipse">
            <a:avLst/>
          </a:prstGeom>
          <a:solidFill>
            <a:schemeClr val="bg1"/>
          </a:solidFill>
          <a:ln w="12700">
            <a:solidFill>
              <a:srgbClr val="9AA59F"/>
            </a:solidFill>
            <a:prstDash val="solid"/>
          </a:ln>
        </p:spPr>
      </p:sp>
      <p:sp>
        <p:nvSpPr>
          <p:cNvPr id="50" name="Text 48"/>
          <p:cNvSpPr txBox="1"/>
          <p:nvPr/>
        </p:nvSpPr>
        <p:spPr>
          <a:xfrm>
            <a:off x="4692015" y="3611880"/>
            <a:ext cx="274320" cy="274320"/>
          </a:xfrm>
          <a:prstGeom prst="rect">
            <a:avLst/>
          </a:prstGeom>
          <a:noFill/>
          <a:ln/>
        </p:spPr>
        <p:txBody>
          <a:bodyPr wrap="square" lIns="0" tIns="0" rIns="0" bIns="0" rtlCol="0" anchor="ctr"/>
          <a:lstStyle/>
          <a:p>
            <a:pPr algn="ctr" indent="0" marL="0">
              <a:buNone/>
            </a:pPr>
            <a:r>
              <a:rPr lang="en-US" sz="1000" b="1" dirty="0">
                <a:solidFill>
                  <a:schemeClr val="accent5"/>
                </a:solidFill>
              </a:rPr>
              <a:t>9</a:t>
            </a:r>
            <a:endParaRPr lang="en-US" sz="1000" dirty="0"/>
          </a:p>
        </p:txBody>
      </p:sp>
      <p:sp>
        <p:nvSpPr>
          <p:cNvPr id="51" name="Text 49"/>
          <p:cNvSpPr txBox="1"/>
          <p:nvPr/>
        </p:nvSpPr>
        <p:spPr>
          <a:xfrm>
            <a:off x="4581144" y="3931920"/>
            <a:ext cx="496062" cy="685800"/>
          </a:xfrm>
          <a:prstGeom prst="rect">
            <a:avLst/>
          </a:prstGeom>
          <a:noFill/>
          <a:ln/>
        </p:spPr>
        <p:txBody>
          <a:bodyPr wrap="square" lIns="0" tIns="0" rIns="0" bIns="0" rtlCol="0" anchor="t"/>
          <a:lstStyle/>
          <a:p>
            <a:pPr algn="ctr" indent="0" marL="0">
              <a:buNone/>
            </a:pPr>
            <a:r>
              <a:rPr lang="en-US" sz="900" dirty="0">
                <a:solidFill>
                  <a:schemeClr val="accent5"/>
                </a:solidFill>
              </a:rPr>
              <a:t>Listing</a:t>
            </a:r>
            <a:endParaRPr lang="en-US" sz="900" dirty="0"/>
          </a:p>
        </p:txBody>
      </p:sp>
      <p:sp>
        <p:nvSpPr>
          <p:cNvPr id="52" name="Tahap 10"/>
          <p:cNvSpPr/>
          <p:nvPr/>
        </p:nvSpPr>
        <p:spPr>
          <a:xfrm>
            <a:off x="5206365" y="3611880"/>
            <a:ext cx="274320" cy="274320"/>
          </a:xfrm>
          <a:prstGeom prst="ellipse">
            <a:avLst/>
          </a:prstGeom>
          <a:solidFill>
            <a:schemeClr val="bg1"/>
          </a:solidFill>
          <a:ln w="12700">
            <a:solidFill>
              <a:srgbClr val="9AA59F"/>
            </a:solidFill>
            <a:prstDash val="solid"/>
          </a:ln>
        </p:spPr>
      </p:sp>
      <p:sp>
        <p:nvSpPr>
          <p:cNvPr id="53" name="Text 51"/>
          <p:cNvSpPr txBox="1"/>
          <p:nvPr/>
        </p:nvSpPr>
        <p:spPr>
          <a:xfrm>
            <a:off x="5206365" y="3611880"/>
            <a:ext cx="274320" cy="274320"/>
          </a:xfrm>
          <a:prstGeom prst="rect">
            <a:avLst/>
          </a:prstGeom>
          <a:noFill/>
          <a:ln/>
        </p:spPr>
        <p:txBody>
          <a:bodyPr wrap="square" lIns="0" tIns="0" rIns="0" bIns="0" rtlCol="0" anchor="ctr"/>
          <a:lstStyle/>
          <a:p>
            <a:pPr algn="ctr" indent="0" marL="0">
              <a:buNone/>
            </a:pPr>
            <a:r>
              <a:rPr lang="en-US" sz="1000" b="1" dirty="0">
                <a:solidFill>
                  <a:schemeClr val="accent5"/>
                </a:solidFill>
              </a:rPr>
              <a:t>10</a:t>
            </a:r>
            <a:endParaRPr lang="en-US" sz="1000" dirty="0"/>
          </a:p>
        </p:txBody>
      </p:sp>
      <p:sp>
        <p:nvSpPr>
          <p:cNvPr id="54" name="Text 52"/>
          <p:cNvSpPr txBox="1"/>
          <p:nvPr/>
        </p:nvSpPr>
        <p:spPr>
          <a:xfrm>
            <a:off x="5095494" y="3931920"/>
            <a:ext cx="496062" cy="685800"/>
          </a:xfrm>
          <a:prstGeom prst="rect">
            <a:avLst/>
          </a:prstGeom>
          <a:noFill/>
          <a:ln/>
        </p:spPr>
        <p:txBody>
          <a:bodyPr wrap="square" lIns="0" tIns="0" rIns="0" bIns="0" rtlCol="0" anchor="t"/>
          <a:lstStyle/>
          <a:p>
            <a:pPr algn="ctr" indent="0" marL="0">
              <a:buNone/>
            </a:pPr>
            <a:r>
              <a:rPr lang="en-US" sz="900" dirty="0">
                <a:solidFill>
                  <a:schemeClr val="accent5"/>
                </a:solidFill>
              </a:rPr>
              <a:t>Daftar proyek</a:t>
            </a:r>
            <a:endParaRPr lang="en-US" sz="900" dirty="0"/>
          </a:p>
        </p:txBody>
      </p:sp>
      <p:sp>
        <p:nvSpPr>
          <p:cNvPr id="55" name="Tahap 11"/>
          <p:cNvSpPr/>
          <p:nvPr/>
        </p:nvSpPr>
        <p:spPr>
          <a:xfrm>
            <a:off x="5720715" y="3611880"/>
            <a:ext cx="274320" cy="274320"/>
          </a:xfrm>
          <a:prstGeom prst="ellipse">
            <a:avLst/>
          </a:prstGeom>
          <a:solidFill>
            <a:schemeClr val="bg1"/>
          </a:solidFill>
          <a:ln w="12700">
            <a:solidFill>
              <a:srgbClr val="9AA59F"/>
            </a:solidFill>
            <a:prstDash val="solid"/>
          </a:ln>
        </p:spPr>
      </p:sp>
      <p:sp>
        <p:nvSpPr>
          <p:cNvPr id="56" name="Text 54"/>
          <p:cNvSpPr txBox="1"/>
          <p:nvPr/>
        </p:nvSpPr>
        <p:spPr>
          <a:xfrm>
            <a:off x="5720715" y="3611880"/>
            <a:ext cx="274320" cy="274320"/>
          </a:xfrm>
          <a:prstGeom prst="rect">
            <a:avLst/>
          </a:prstGeom>
          <a:noFill/>
          <a:ln/>
        </p:spPr>
        <p:txBody>
          <a:bodyPr wrap="square" lIns="0" tIns="0" rIns="0" bIns="0" rtlCol="0" anchor="ctr"/>
          <a:lstStyle/>
          <a:p>
            <a:pPr algn="ctr" indent="0" marL="0">
              <a:buNone/>
            </a:pPr>
            <a:r>
              <a:rPr lang="en-US" sz="1000" b="1" dirty="0">
                <a:solidFill>
                  <a:schemeClr val="accent5"/>
                </a:solidFill>
              </a:rPr>
              <a:t>11</a:t>
            </a:r>
            <a:endParaRPr lang="en-US" sz="1000" dirty="0"/>
          </a:p>
        </p:txBody>
      </p:sp>
      <p:sp>
        <p:nvSpPr>
          <p:cNvPr id="57" name="Text 55"/>
          <p:cNvSpPr txBox="1"/>
          <p:nvPr/>
        </p:nvSpPr>
        <p:spPr>
          <a:xfrm>
            <a:off x="5609844" y="3931920"/>
            <a:ext cx="496062" cy="685800"/>
          </a:xfrm>
          <a:prstGeom prst="rect">
            <a:avLst/>
          </a:prstGeom>
          <a:noFill/>
          <a:ln/>
        </p:spPr>
        <p:txBody>
          <a:bodyPr wrap="square" lIns="0" tIns="0" rIns="0" bIns="0" rtlCol="0" anchor="t"/>
          <a:lstStyle/>
          <a:p>
            <a:pPr algn="ctr" indent="0" marL="0">
              <a:buNone/>
            </a:pPr>
            <a:r>
              <a:rPr lang="en-US" sz="900" dirty="0">
                <a:solidFill>
                  <a:schemeClr val="accent5"/>
                </a:solidFill>
              </a:rPr>
              <a:t>Laporan MR</a:t>
            </a:r>
            <a:endParaRPr lang="en-US" sz="900" dirty="0"/>
          </a:p>
        </p:txBody>
      </p:sp>
      <p:sp>
        <p:nvSpPr>
          <p:cNvPr id="58" name="Tahap 12"/>
          <p:cNvSpPr/>
          <p:nvPr/>
        </p:nvSpPr>
        <p:spPr>
          <a:xfrm>
            <a:off x="6235065" y="3611880"/>
            <a:ext cx="274320" cy="274320"/>
          </a:xfrm>
          <a:prstGeom prst="ellipse">
            <a:avLst/>
          </a:prstGeom>
          <a:solidFill>
            <a:schemeClr val="bg1"/>
          </a:solidFill>
          <a:ln w="12700">
            <a:solidFill>
              <a:srgbClr val="9AA59F"/>
            </a:solidFill>
            <a:prstDash val="solid"/>
          </a:ln>
        </p:spPr>
      </p:sp>
      <p:sp>
        <p:nvSpPr>
          <p:cNvPr id="59" name="Text 57"/>
          <p:cNvSpPr txBox="1"/>
          <p:nvPr/>
        </p:nvSpPr>
        <p:spPr>
          <a:xfrm>
            <a:off x="6235065" y="3611880"/>
            <a:ext cx="274320" cy="274320"/>
          </a:xfrm>
          <a:prstGeom prst="rect">
            <a:avLst/>
          </a:prstGeom>
          <a:noFill/>
          <a:ln/>
        </p:spPr>
        <p:txBody>
          <a:bodyPr wrap="square" lIns="0" tIns="0" rIns="0" bIns="0" rtlCol="0" anchor="ctr"/>
          <a:lstStyle/>
          <a:p>
            <a:pPr algn="ctr" indent="0" marL="0">
              <a:buNone/>
            </a:pPr>
            <a:r>
              <a:rPr lang="en-US" sz="1000" b="1" dirty="0">
                <a:solidFill>
                  <a:schemeClr val="accent5"/>
                </a:solidFill>
              </a:rPr>
              <a:t>12</a:t>
            </a:r>
            <a:endParaRPr lang="en-US" sz="1000" dirty="0"/>
          </a:p>
        </p:txBody>
      </p:sp>
      <p:sp>
        <p:nvSpPr>
          <p:cNvPr id="60" name="Text 58"/>
          <p:cNvSpPr txBox="1"/>
          <p:nvPr/>
        </p:nvSpPr>
        <p:spPr>
          <a:xfrm>
            <a:off x="6124194" y="3931920"/>
            <a:ext cx="496062" cy="685800"/>
          </a:xfrm>
          <a:prstGeom prst="rect">
            <a:avLst/>
          </a:prstGeom>
          <a:noFill/>
          <a:ln/>
        </p:spPr>
        <p:txBody>
          <a:bodyPr wrap="square" lIns="0" tIns="0" rIns="0" bIns="0" rtlCol="0" anchor="t"/>
          <a:lstStyle/>
          <a:p>
            <a:pPr algn="ctr" indent="0" marL="0">
              <a:buNone/>
            </a:pPr>
            <a:r>
              <a:rPr lang="en-US" sz="900" dirty="0">
                <a:solidFill>
                  <a:schemeClr val="accent5"/>
                </a:solidFill>
              </a:rPr>
              <a:t>Verifikasi LVV</a:t>
            </a:r>
            <a:endParaRPr lang="en-US" sz="900" dirty="0"/>
          </a:p>
        </p:txBody>
      </p:sp>
      <p:sp>
        <p:nvSpPr>
          <p:cNvPr id="61" name="Tahap 13"/>
          <p:cNvSpPr/>
          <p:nvPr/>
        </p:nvSpPr>
        <p:spPr>
          <a:xfrm>
            <a:off x="6749415" y="3611880"/>
            <a:ext cx="274320" cy="274320"/>
          </a:xfrm>
          <a:prstGeom prst="ellipse">
            <a:avLst/>
          </a:prstGeom>
          <a:solidFill>
            <a:schemeClr val="bg1"/>
          </a:solidFill>
          <a:ln w="12700">
            <a:solidFill>
              <a:srgbClr val="9AA59F"/>
            </a:solidFill>
            <a:prstDash val="solid"/>
          </a:ln>
        </p:spPr>
      </p:sp>
      <p:sp>
        <p:nvSpPr>
          <p:cNvPr id="62" name="Text 60"/>
          <p:cNvSpPr txBox="1"/>
          <p:nvPr/>
        </p:nvSpPr>
        <p:spPr>
          <a:xfrm>
            <a:off x="6749415" y="3611880"/>
            <a:ext cx="274320" cy="274320"/>
          </a:xfrm>
          <a:prstGeom prst="rect">
            <a:avLst/>
          </a:prstGeom>
          <a:noFill/>
          <a:ln/>
        </p:spPr>
        <p:txBody>
          <a:bodyPr wrap="square" lIns="0" tIns="0" rIns="0" bIns="0" rtlCol="0" anchor="ctr"/>
          <a:lstStyle/>
          <a:p>
            <a:pPr algn="ctr" indent="0" marL="0">
              <a:buNone/>
            </a:pPr>
            <a:r>
              <a:rPr lang="en-US" sz="1000" b="1" dirty="0">
                <a:solidFill>
                  <a:schemeClr val="accent5"/>
                </a:solidFill>
              </a:rPr>
              <a:t>13</a:t>
            </a:r>
            <a:endParaRPr lang="en-US" sz="1000" dirty="0"/>
          </a:p>
        </p:txBody>
      </p:sp>
      <p:sp>
        <p:nvSpPr>
          <p:cNvPr id="63" name="Text 61"/>
          <p:cNvSpPr txBox="1"/>
          <p:nvPr/>
        </p:nvSpPr>
        <p:spPr>
          <a:xfrm>
            <a:off x="6638544" y="3931920"/>
            <a:ext cx="496062" cy="685800"/>
          </a:xfrm>
          <a:prstGeom prst="rect">
            <a:avLst/>
          </a:prstGeom>
          <a:noFill/>
          <a:ln/>
        </p:spPr>
        <p:txBody>
          <a:bodyPr wrap="square" lIns="0" tIns="0" rIns="0" bIns="0" rtlCol="0" anchor="t"/>
          <a:lstStyle/>
          <a:p>
            <a:pPr algn="ctr" indent="0" marL="0">
              <a:buNone/>
            </a:pPr>
            <a:r>
              <a:rPr lang="en-US" sz="900" dirty="0">
                <a:solidFill>
                  <a:schemeClr val="accent5"/>
                </a:solidFill>
              </a:rPr>
              <a:t>Usulan unit</a:t>
            </a:r>
            <a:endParaRPr lang="en-US" sz="900" dirty="0"/>
          </a:p>
        </p:txBody>
      </p:sp>
      <p:sp>
        <p:nvSpPr>
          <p:cNvPr id="64" name="Tahap 14"/>
          <p:cNvSpPr/>
          <p:nvPr/>
        </p:nvSpPr>
        <p:spPr>
          <a:xfrm>
            <a:off x="7263765" y="3611880"/>
            <a:ext cx="274320" cy="274320"/>
          </a:xfrm>
          <a:prstGeom prst="ellipse">
            <a:avLst/>
          </a:prstGeom>
          <a:solidFill>
            <a:schemeClr val="bg1"/>
          </a:solidFill>
          <a:ln w="12700">
            <a:solidFill>
              <a:srgbClr val="9AA59F"/>
            </a:solidFill>
            <a:prstDash val="solid"/>
          </a:ln>
        </p:spPr>
      </p:sp>
      <p:sp>
        <p:nvSpPr>
          <p:cNvPr id="65" name="Text 63"/>
          <p:cNvSpPr txBox="1"/>
          <p:nvPr/>
        </p:nvSpPr>
        <p:spPr>
          <a:xfrm>
            <a:off x="7263765" y="3611880"/>
            <a:ext cx="274320" cy="274320"/>
          </a:xfrm>
          <a:prstGeom prst="rect">
            <a:avLst/>
          </a:prstGeom>
          <a:noFill/>
          <a:ln/>
        </p:spPr>
        <p:txBody>
          <a:bodyPr wrap="square" lIns="0" tIns="0" rIns="0" bIns="0" rtlCol="0" anchor="ctr"/>
          <a:lstStyle/>
          <a:p>
            <a:pPr algn="ctr" indent="0" marL="0">
              <a:buNone/>
            </a:pPr>
            <a:r>
              <a:rPr lang="en-US" sz="1000" b="1" dirty="0">
                <a:solidFill>
                  <a:schemeClr val="accent5"/>
                </a:solidFill>
              </a:rPr>
              <a:t>14</a:t>
            </a:r>
            <a:endParaRPr lang="en-US" sz="1000" dirty="0"/>
          </a:p>
        </p:txBody>
      </p:sp>
      <p:sp>
        <p:nvSpPr>
          <p:cNvPr id="66" name="Text 64"/>
          <p:cNvSpPr txBox="1"/>
          <p:nvPr/>
        </p:nvSpPr>
        <p:spPr>
          <a:xfrm>
            <a:off x="7152894" y="3931920"/>
            <a:ext cx="496062" cy="685800"/>
          </a:xfrm>
          <a:prstGeom prst="rect">
            <a:avLst/>
          </a:prstGeom>
          <a:noFill/>
          <a:ln/>
        </p:spPr>
        <p:txBody>
          <a:bodyPr wrap="square" lIns="0" tIns="0" rIns="0" bIns="0" rtlCol="0" anchor="t"/>
          <a:lstStyle/>
          <a:p>
            <a:pPr algn="ctr" indent="0" marL="0">
              <a:buNone/>
            </a:pPr>
            <a:r>
              <a:rPr lang="en-US" sz="900" dirty="0">
                <a:solidFill>
                  <a:schemeClr val="accent5"/>
                </a:solidFill>
              </a:rPr>
              <a:t>Sertifikat unit</a:t>
            </a:r>
            <a:endParaRPr lang="en-US" sz="900" dirty="0"/>
          </a:p>
        </p:txBody>
      </p:sp>
      <p:sp>
        <p:nvSpPr>
          <p:cNvPr id="67" name="Tahap 15"/>
          <p:cNvSpPr/>
          <p:nvPr/>
        </p:nvSpPr>
        <p:spPr>
          <a:xfrm>
            <a:off x="7778115" y="3611880"/>
            <a:ext cx="274320" cy="274320"/>
          </a:xfrm>
          <a:prstGeom prst="ellipse">
            <a:avLst/>
          </a:prstGeom>
          <a:solidFill>
            <a:schemeClr val="bg1"/>
          </a:solidFill>
          <a:ln w="12700">
            <a:solidFill>
              <a:srgbClr val="9AA59F"/>
            </a:solidFill>
            <a:prstDash val="solid"/>
          </a:ln>
        </p:spPr>
      </p:sp>
      <p:sp>
        <p:nvSpPr>
          <p:cNvPr id="68" name="Text 66"/>
          <p:cNvSpPr txBox="1"/>
          <p:nvPr/>
        </p:nvSpPr>
        <p:spPr>
          <a:xfrm>
            <a:off x="7778115" y="3611880"/>
            <a:ext cx="274320" cy="274320"/>
          </a:xfrm>
          <a:prstGeom prst="rect">
            <a:avLst/>
          </a:prstGeom>
          <a:noFill/>
          <a:ln/>
        </p:spPr>
        <p:txBody>
          <a:bodyPr wrap="square" lIns="0" tIns="0" rIns="0" bIns="0" rtlCol="0" anchor="ctr"/>
          <a:lstStyle/>
          <a:p>
            <a:pPr algn="ctr" indent="0" marL="0">
              <a:buNone/>
            </a:pPr>
            <a:r>
              <a:rPr lang="en-US" sz="1000" b="1" dirty="0">
                <a:solidFill>
                  <a:schemeClr val="accent5"/>
                </a:solidFill>
              </a:rPr>
              <a:t>15</a:t>
            </a:r>
            <a:endParaRPr lang="en-US" sz="1000" dirty="0"/>
          </a:p>
        </p:txBody>
      </p:sp>
      <p:sp>
        <p:nvSpPr>
          <p:cNvPr id="69" name="Text 67"/>
          <p:cNvSpPr txBox="1"/>
          <p:nvPr/>
        </p:nvSpPr>
        <p:spPr>
          <a:xfrm>
            <a:off x="7667244" y="3931920"/>
            <a:ext cx="496062" cy="685800"/>
          </a:xfrm>
          <a:prstGeom prst="rect">
            <a:avLst/>
          </a:prstGeom>
          <a:noFill/>
          <a:ln/>
        </p:spPr>
        <p:txBody>
          <a:bodyPr wrap="square" lIns="0" tIns="0" rIns="0" bIns="0" rtlCol="0" anchor="t"/>
          <a:lstStyle/>
          <a:p>
            <a:pPr algn="ctr" indent="0" marL="0">
              <a:buNone/>
            </a:pPr>
            <a:r>
              <a:rPr lang="en-US" sz="900" dirty="0">
                <a:solidFill>
                  <a:schemeClr val="accent5"/>
                </a:solidFill>
              </a:rPr>
              <a:t>Jual unit</a:t>
            </a:r>
            <a:endParaRPr lang="en-US" sz="900" dirty="0"/>
          </a:p>
        </p:txBody>
      </p:sp>
      <p:sp>
        <p:nvSpPr>
          <p:cNvPr id="70" name="Tahap 16"/>
          <p:cNvSpPr/>
          <p:nvPr/>
        </p:nvSpPr>
        <p:spPr>
          <a:xfrm>
            <a:off x="8292465" y="3611880"/>
            <a:ext cx="274320" cy="274320"/>
          </a:xfrm>
          <a:prstGeom prst="ellipse">
            <a:avLst/>
          </a:prstGeom>
          <a:solidFill>
            <a:schemeClr val="bg1"/>
          </a:solidFill>
          <a:ln w="12700">
            <a:solidFill>
              <a:srgbClr val="9AA59F"/>
            </a:solidFill>
            <a:prstDash val="solid"/>
          </a:ln>
        </p:spPr>
      </p:sp>
      <p:sp>
        <p:nvSpPr>
          <p:cNvPr id="71" name="Text 69"/>
          <p:cNvSpPr txBox="1"/>
          <p:nvPr/>
        </p:nvSpPr>
        <p:spPr>
          <a:xfrm>
            <a:off x="8292465" y="3611880"/>
            <a:ext cx="274320" cy="274320"/>
          </a:xfrm>
          <a:prstGeom prst="rect">
            <a:avLst/>
          </a:prstGeom>
          <a:noFill/>
          <a:ln/>
        </p:spPr>
        <p:txBody>
          <a:bodyPr wrap="square" lIns="0" tIns="0" rIns="0" bIns="0" rtlCol="0" anchor="ctr"/>
          <a:lstStyle/>
          <a:p>
            <a:pPr algn="ctr" indent="0" marL="0">
              <a:buNone/>
            </a:pPr>
            <a:r>
              <a:rPr lang="en-US" sz="1000" b="1" dirty="0">
                <a:solidFill>
                  <a:schemeClr val="accent5"/>
                </a:solidFill>
              </a:rPr>
              <a:t>16</a:t>
            </a:r>
            <a:endParaRPr lang="en-US" sz="1000" dirty="0"/>
          </a:p>
        </p:txBody>
      </p:sp>
      <p:sp>
        <p:nvSpPr>
          <p:cNvPr id="72" name="Text 70"/>
          <p:cNvSpPr txBox="1"/>
          <p:nvPr/>
        </p:nvSpPr>
        <p:spPr>
          <a:xfrm>
            <a:off x="8181594" y="3931920"/>
            <a:ext cx="496062" cy="685800"/>
          </a:xfrm>
          <a:prstGeom prst="rect">
            <a:avLst/>
          </a:prstGeom>
          <a:noFill/>
          <a:ln/>
        </p:spPr>
        <p:txBody>
          <a:bodyPr wrap="square" lIns="0" tIns="0" rIns="0" bIns="0" rtlCol="0" anchor="t"/>
          <a:lstStyle/>
          <a:p>
            <a:pPr algn="ctr" indent="0" marL="0">
              <a:buNone/>
            </a:pPr>
            <a:r>
              <a:rPr lang="en-US" sz="900" dirty="0">
                <a:solidFill>
                  <a:schemeClr val="accent5"/>
                </a:solidFill>
              </a:rPr>
              <a:t>Bagi manfaat</a:t>
            </a:r>
            <a:endParaRPr lang="en-US" sz="9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Timeline: fondasi sosial di Q1, dokumen karbon menyusul</a:t>
            </a:r>
            <a:endParaRPr lang="en-US" sz="2200" dirty="0"/>
          </a:p>
        </p:txBody>
      </p:sp>
      <p:sp>
        <p:nvSpPr>
          <p:cNvPr id="3" name="Shape 1"/>
          <p:cNvSpPr/>
          <p:nvPr/>
        </p:nvSpPr>
        <p:spPr>
          <a:xfrm>
            <a:off x="3950208" y="1005840"/>
            <a:ext cx="1152144" cy="182880"/>
          </a:xfrm>
          <a:prstGeom prst="rect">
            <a:avLst/>
          </a:prstGeom>
          <a:solidFill>
            <a:schemeClr val="tx2"/>
          </a:solidFill>
          <a:ln/>
        </p:spPr>
      </p:sp>
      <p:sp>
        <p:nvSpPr>
          <p:cNvPr id="4" name="Text 2"/>
          <p:cNvSpPr txBox="1"/>
          <p:nvPr/>
        </p:nvSpPr>
        <p:spPr>
          <a:xfrm>
            <a:off x="3931920" y="100584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Q1</a:t>
            </a:r>
            <a:endParaRPr lang="en-US" sz="1000" dirty="0"/>
          </a:p>
        </p:txBody>
      </p:sp>
      <p:sp>
        <p:nvSpPr>
          <p:cNvPr id="5" name="Shape 3"/>
          <p:cNvSpPr/>
          <p:nvPr/>
        </p:nvSpPr>
        <p:spPr>
          <a:xfrm>
            <a:off x="5138928" y="1005840"/>
            <a:ext cx="1152144" cy="182880"/>
          </a:xfrm>
          <a:prstGeom prst="rect">
            <a:avLst/>
          </a:prstGeom>
          <a:solidFill>
            <a:schemeClr val="tx2"/>
          </a:solidFill>
          <a:ln/>
        </p:spPr>
      </p:sp>
      <p:sp>
        <p:nvSpPr>
          <p:cNvPr id="6" name="Text 4"/>
          <p:cNvSpPr txBox="1"/>
          <p:nvPr/>
        </p:nvSpPr>
        <p:spPr>
          <a:xfrm>
            <a:off x="5120640" y="100584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Q2</a:t>
            </a:r>
            <a:endParaRPr lang="en-US" sz="1000" dirty="0"/>
          </a:p>
        </p:txBody>
      </p:sp>
      <p:sp>
        <p:nvSpPr>
          <p:cNvPr id="7" name="Shape 5"/>
          <p:cNvSpPr/>
          <p:nvPr/>
        </p:nvSpPr>
        <p:spPr>
          <a:xfrm>
            <a:off x="6327648" y="1005840"/>
            <a:ext cx="1152144" cy="182880"/>
          </a:xfrm>
          <a:prstGeom prst="rect">
            <a:avLst/>
          </a:prstGeom>
          <a:solidFill>
            <a:schemeClr val="tx2"/>
          </a:solidFill>
          <a:ln/>
        </p:spPr>
      </p:sp>
      <p:sp>
        <p:nvSpPr>
          <p:cNvPr id="8" name="Text 6"/>
          <p:cNvSpPr txBox="1"/>
          <p:nvPr/>
        </p:nvSpPr>
        <p:spPr>
          <a:xfrm>
            <a:off x="6309360" y="100584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Q3</a:t>
            </a:r>
            <a:endParaRPr lang="en-US" sz="1000" dirty="0"/>
          </a:p>
        </p:txBody>
      </p:sp>
      <p:sp>
        <p:nvSpPr>
          <p:cNvPr id="9" name="Shape 7"/>
          <p:cNvSpPr/>
          <p:nvPr/>
        </p:nvSpPr>
        <p:spPr>
          <a:xfrm>
            <a:off x="7516368" y="1005840"/>
            <a:ext cx="1152144" cy="182880"/>
          </a:xfrm>
          <a:prstGeom prst="rect">
            <a:avLst/>
          </a:prstGeom>
          <a:solidFill>
            <a:schemeClr val="tx2"/>
          </a:solidFill>
          <a:ln/>
        </p:spPr>
      </p:sp>
      <p:sp>
        <p:nvSpPr>
          <p:cNvPr id="10" name="Text 8"/>
          <p:cNvSpPr txBox="1"/>
          <p:nvPr/>
        </p:nvSpPr>
        <p:spPr>
          <a:xfrm>
            <a:off x="7498080" y="100584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Q4</a:t>
            </a:r>
            <a:endParaRPr lang="en-US" sz="1000" dirty="0"/>
          </a:p>
        </p:txBody>
      </p:sp>
      <p:sp>
        <p:nvSpPr>
          <p:cNvPr id="11" name="Text 9"/>
          <p:cNvSpPr txBox="1"/>
          <p:nvPr/>
        </p:nvSpPr>
        <p:spPr>
          <a:xfrm>
            <a:off x="388620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Sep 26</a:t>
            </a:r>
            <a:endParaRPr lang="en-US" sz="1000" dirty="0"/>
          </a:p>
        </p:txBody>
      </p:sp>
      <p:sp>
        <p:nvSpPr>
          <p:cNvPr id="12" name="Text 10"/>
          <p:cNvSpPr txBox="1"/>
          <p:nvPr/>
        </p:nvSpPr>
        <p:spPr>
          <a:xfrm>
            <a:off x="428244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Okt</a:t>
            </a:r>
            <a:endParaRPr lang="en-US" sz="1000" dirty="0"/>
          </a:p>
        </p:txBody>
      </p:sp>
      <p:sp>
        <p:nvSpPr>
          <p:cNvPr id="13" name="Text 11"/>
          <p:cNvSpPr txBox="1"/>
          <p:nvPr/>
        </p:nvSpPr>
        <p:spPr>
          <a:xfrm>
            <a:off x="467868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Nov</a:t>
            </a:r>
            <a:endParaRPr lang="en-US" sz="1000" dirty="0"/>
          </a:p>
        </p:txBody>
      </p:sp>
      <p:sp>
        <p:nvSpPr>
          <p:cNvPr id="14" name="Text 12"/>
          <p:cNvSpPr txBox="1"/>
          <p:nvPr/>
        </p:nvSpPr>
        <p:spPr>
          <a:xfrm>
            <a:off x="507492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Des</a:t>
            </a:r>
            <a:endParaRPr lang="en-US" sz="1000" dirty="0"/>
          </a:p>
        </p:txBody>
      </p:sp>
      <p:sp>
        <p:nvSpPr>
          <p:cNvPr id="15" name="Text 13"/>
          <p:cNvSpPr txBox="1"/>
          <p:nvPr/>
        </p:nvSpPr>
        <p:spPr>
          <a:xfrm>
            <a:off x="547116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Jan 27</a:t>
            </a:r>
            <a:endParaRPr lang="en-US" sz="1000" dirty="0"/>
          </a:p>
        </p:txBody>
      </p:sp>
      <p:sp>
        <p:nvSpPr>
          <p:cNvPr id="16" name="Text 14"/>
          <p:cNvSpPr txBox="1"/>
          <p:nvPr/>
        </p:nvSpPr>
        <p:spPr>
          <a:xfrm>
            <a:off x="586740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Feb</a:t>
            </a:r>
            <a:endParaRPr lang="en-US" sz="1000" dirty="0"/>
          </a:p>
        </p:txBody>
      </p:sp>
      <p:sp>
        <p:nvSpPr>
          <p:cNvPr id="17" name="Text 15"/>
          <p:cNvSpPr txBox="1"/>
          <p:nvPr/>
        </p:nvSpPr>
        <p:spPr>
          <a:xfrm>
            <a:off x="626364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Mar</a:t>
            </a:r>
            <a:endParaRPr lang="en-US" sz="1000" dirty="0"/>
          </a:p>
        </p:txBody>
      </p:sp>
      <p:sp>
        <p:nvSpPr>
          <p:cNvPr id="18" name="Text 16"/>
          <p:cNvSpPr txBox="1"/>
          <p:nvPr/>
        </p:nvSpPr>
        <p:spPr>
          <a:xfrm>
            <a:off x="665988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Apr</a:t>
            </a:r>
            <a:endParaRPr lang="en-US" sz="1000" dirty="0"/>
          </a:p>
        </p:txBody>
      </p:sp>
      <p:sp>
        <p:nvSpPr>
          <p:cNvPr id="19" name="Text 17"/>
          <p:cNvSpPr txBox="1"/>
          <p:nvPr/>
        </p:nvSpPr>
        <p:spPr>
          <a:xfrm>
            <a:off x="705612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Mei</a:t>
            </a:r>
            <a:endParaRPr lang="en-US" sz="1000" dirty="0"/>
          </a:p>
        </p:txBody>
      </p:sp>
      <p:sp>
        <p:nvSpPr>
          <p:cNvPr id="20" name="Text 18"/>
          <p:cNvSpPr txBox="1"/>
          <p:nvPr/>
        </p:nvSpPr>
        <p:spPr>
          <a:xfrm>
            <a:off x="745236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Jun</a:t>
            </a:r>
            <a:endParaRPr lang="en-US" sz="1000" dirty="0"/>
          </a:p>
        </p:txBody>
      </p:sp>
      <p:sp>
        <p:nvSpPr>
          <p:cNvPr id="21" name="Text 19"/>
          <p:cNvSpPr txBox="1"/>
          <p:nvPr/>
        </p:nvSpPr>
        <p:spPr>
          <a:xfrm>
            <a:off x="784860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Jul</a:t>
            </a:r>
            <a:endParaRPr lang="en-US" sz="1000" dirty="0"/>
          </a:p>
        </p:txBody>
      </p:sp>
      <p:sp>
        <p:nvSpPr>
          <p:cNvPr id="22" name="Text 20"/>
          <p:cNvSpPr txBox="1"/>
          <p:nvPr/>
        </p:nvSpPr>
        <p:spPr>
          <a:xfrm>
            <a:off x="8244840" y="118872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Agt</a:t>
            </a:r>
            <a:endParaRPr lang="en-US" sz="1000" dirty="0"/>
          </a:p>
        </p:txBody>
      </p:sp>
      <p:sp>
        <p:nvSpPr>
          <p:cNvPr id="23" name="Shape 21"/>
          <p:cNvSpPr/>
          <p:nvPr/>
        </p:nvSpPr>
        <p:spPr>
          <a:xfrm>
            <a:off x="457200" y="1371600"/>
            <a:ext cx="3429000" cy="228600"/>
          </a:xfrm>
          <a:prstGeom prst="rect">
            <a:avLst/>
          </a:prstGeom>
          <a:solidFill>
            <a:schemeClr val="bg2"/>
          </a:solidFill>
          <a:ln/>
        </p:spPr>
      </p:sp>
      <p:sp>
        <p:nvSpPr>
          <p:cNvPr id="24" name="Text 22"/>
          <p:cNvSpPr txBox="1"/>
          <p:nvPr/>
        </p:nvSpPr>
        <p:spPr>
          <a:xfrm>
            <a:off x="530352" y="1371600"/>
            <a:ext cx="3383280" cy="228600"/>
          </a:xfrm>
          <a:prstGeom prst="rect">
            <a:avLst/>
          </a:prstGeom>
          <a:noFill/>
          <a:ln/>
        </p:spPr>
        <p:txBody>
          <a:bodyPr wrap="square" lIns="0" tIns="0" rIns="0" bIns="0" rtlCol="0" anchor="ctr"/>
          <a:lstStyle/>
          <a:p>
            <a:pPr indent="0" marL="0">
              <a:buNone/>
            </a:pPr>
            <a:r>
              <a:rPr lang="en-US" sz="1000" b="1" dirty="0">
                <a:solidFill>
                  <a:schemeClr val="accent1"/>
                </a:solidFill>
              </a:rPr>
              <a:t>O1  </a:t>
            </a:r>
            <a:pPr indent="0" marL="0">
              <a:buNone/>
            </a:pPr>
            <a:r>
              <a:rPr lang="en-US" sz="1000" dirty="0">
                <a:solidFill>
                  <a:schemeClr val="tx1"/>
                </a:solidFill>
              </a:rPr>
              <a:t>Konsultasi awal &amp; persetujuan pendampingan</a:t>
            </a:r>
            <a:endParaRPr lang="en-US" sz="1000" dirty="0"/>
          </a:p>
        </p:txBody>
      </p:sp>
      <p:sp>
        <p:nvSpPr>
          <p:cNvPr id="25" name="Shape 23"/>
          <p:cNvSpPr/>
          <p:nvPr/>
        </p:nvSpPr>
        <p:spPr>
          <a:xfrm>
            <a:off x="3954780" y="1403604"/>
            <a:ext cx="350520" cy="164592"/>
          </a:xfrm>
          <a:prstGeom prst="rect">
            <a:avLst/>
          </a:prstGeom>
          <a:solidFill>
            <a:schemeClr val="accent1"/>
          </a:solidFill>
          <a:ln/>
        </p:spPr>
      </p:sp>
      <p:sp>
        <p:nvSpPr>
          <p:cNvPr id="26" name="Shape 24"/>
          <p:cNvSpPr/>
          <p:nvPr/>
        </p:nvSpPr>
        <p:spPr>
          <a:xfrm>
            <a:off x="4351020" y="1403604"/>
            <a:ext cx="350520" cy="164592"/>
          </a:xfrm>
          <a:prstGeom prst="rect">
            <a:avLst/>
          </a:prstGeom>
          <a:solidFill>
            <a:schemeClr val="bg1"/>
          </a:solidFill>
          <a:ln w="6350">
            <a:solidFill>
              <a:srgbClr val="E1E7E3"/>
            </a:solidFill>
            <a:prstDash val="solid"/>
          </a:ln>
        </p:spPr>
      </p:sp>
      <p:sp>
        <p:nvSpPr>
          <p:cNvPr id="27" name="Shape 25"/>
          <p:cNvSpPr/>
          <p:nvPr/>
        </p:nvSpPr>
        <p:spPr>
          <a:xfrm>
            <a:off x="4747260" y="1403604"/>
            <a:ext cx="350520" cy="164592"/>
          </a:xfrm>
          <a:prstGeom prst="rect">
            <a:avLst/>
          </a:prstGeom>
          <a:solidFill>
            <a:schemeClr val="bg1"/>
          </a:solidFill>
          <a:ln w="6350">
            <a:solidFill>
              <a:srgbClr val="E1E7E3"/>
            </a:solidFill>
            <a:prstDash val="solid"/>
          </a:ln>
        </p:spPr>
      </p:sp>
      <p:sp>
        <p:nvSpPr>
          <p:cNvPr id="28" name="Shape 26"/>
          <p:cNvSpPr/>
          <p:nvPr/>
        </p:nvSpPr>
        <p:spPr>
          <a:xfrm>
            <a:off x="5143500" y="1403604"/>
            <a:ext cx="350520" cy="164592"/>
          </a:xfrm>
          <a:prstGeom prst="rect">
            <a:avLst/>
          </a:prstGeom>
          <a:solidFill>
            <a:schemeClr val="bg1"/>
          </a:solidFill>
          <a:ln w="6350">
            <a:solidFill>
              <a:srgbClr val="E1E7E3"/>
            </a:solidFill>
            <a:prstDash val="solid"/>
          </a:ln>
        </p:spPr>
      </p:sp>
      <p:sp>
        <p:nvSpPr>
          <p:cNvPr id="29" name="Shape 27"/>
          <p:cNvSpPr/>
          <p:nvPr/>
        </p:nvSpPr>
        <p:spPr>
          <a:xfrm>
            <a:off x="5539740" y="1403604"/>
            <a:ext cx="350520" cy="164592"/>
          </a:xfrm>
          <a:prstGeom prst="rect">
            <a:avLst/>
          </a:prstGeom>
          <a:solidFill>
            <a:schemeClr val="bg1"/>
          </a:solidFill>
          <a:ln w="6350">
            <a:solidFill>
              <a:srgbClr val="E1E7E3"/>
            </a:solidFill>
            <a:prstDash val="solid"/>
          </a:ln>
        </p:spPr>
      </p:sp>
      <p:sp>
        <p:nvSpPr>
          <p:cNvPr id="30" name="Shape 28"/>
          <p:cNvSpPr/>
          <p:nvPr/>
        </p:nvSpPr>
        <p:spPr>
          <a:xfrm>
            <a:off x="5935980" y="1403604"/>
            <a:ext cx="350520" cy="164592"/>
          </a:xfrm>
          <a:prstGeom prst="rect">
            <a:avLst/>
          </a:prstGeom>
          <a:solidFill>
            <a:schemeClr val="bg1"/>
          </a:solidFill>
          <a:ln w="6350">
            <a:solidFill>
              <a:srgbClr val="E1E7E3"/>
            </a:solidFill>
            <a:prstDash val="solid"/>
          </a:ln>
        </p:spPr>
      </p:sp>
      <p:sp>
        <p:nvSpPr>
          <p:cNvPr id="31" name="Shape 29"/>
          <p:cNvSpPr/>
          <p:nvPr/>
        </p:nvSpPr>
        <p:spPr>
          <a:xfrm>
            <a:off x="6332220" y="1403604"/>
            <a:ext cx="350520" cy="164592"/>
          </a:xfrm>
          <a:prstGeom prst="rect">
            <a:avLst/>
          </a:prstGeom>
          <a:solidFill>
            <a:schemeClr val="bg1"/>
          </a:solidFill>
          <a:ln w="6350">
            <a:solidFill>
              <a:srgbClr val="E1E7E3"/>
            </a:solidFill>
            <a:prstDash val="solid"/>
          </a:ln>
        </p:spPr>
      </p:sp>
      <p:sp>
        <p:nvSpPr>
          <p:cNvPr id="32" name="Shape 30"/>
          <p:cNvSpPr/>
          <p:nvPr/>
        </p:nvSpPr>
        <p:spPr>
          <a:xfrm>
            <a:off x="6728460" y="1403604"/>
            <a:ext cx="350520" cy="164592"/>
          </a:xfrm>
          <a:prstGeom prst="rect">
            <a:avLst/>
          </a:prstGeom>
          <a:solidFill>
            <a:schemeClr val="bg1"/>
          </a:solidFill>
          <a:ln w="6350">
            <a:solidFill>
              <a:srgbClr val="E1E7E3"/>
            </a:solidFill>
            <a:prstDash val="solid"/>
          </a:ln>
        </p:spPr>
      </p:sp>
      <p:sp>
        <p:nvSpPr>
          <p:cNvPr id="33" name="Shape 31"/>
          <p:cNvSpPr/>
          <p:nvPr/>
        </p:nvSpPr>
        <p:spPr>
          <a:xfrm>
            <a:off x="7124700" y="1403604"/>
            <a:ext cx="350520" cy="164592"/>
          </a:xfrm>
          <a:prstGeom prst="rect">
            <a:avLst/>
          </a:prstGeom>
          <a:solidFill>
            <a:schemeClr val="bg1"/>
          </a:solidFill>
          <a:ln w="6350">
            <a:solidFill>
              <a:srgbClr val="E1E7E3"/>
            </a:solidFill>
            <a:prstDash val="solid"/>
          </a:ln>
        </p:spPr>
      </p:sp>
      <p:sp>
        <p:nvSpPr>
          <p:cNvPr id="34" name="Shape 32"/>
          <p:cNvSpPr/>
          <p:nvPr/>
        </p:nvSpPr>
        <p:spPr>
          <a:xfrm>
            <a:off x="7520940" y="1403604"/>
            <a:ext cx="350520" cy="164592"/>
          </a:xfrm>
          <a:prstGeom prst="rect">
            <a:avLst/>
          </a:prstGeom>
          <a:solidFill>
            <a:schemeClr val="bg1"/>
          </a:solidFill>
          <a:ln w="6350">
            <a:solidFill>
              <a:srgbClr val="E1E7E3"/>
            </a:solidFill>
            <a:prstDash val="solid"/>
          </a:ln>
        </p:spPr>
      </p:sp>
      <p:sp>
        <p:nvSpPr>
          <p:cNvPr id="35" name="Shape 33"/>
          <p:cNvSpPr/>
          <p:nvPr/>
        </p:nvSpPr>
        <p:spPr>
          <a:xfrm>
            <a:off x="7917180" y="1403604"/>
            <a:ext cx="350520" cy="164592"/>
          </a:xfrm>
          <a:prstGeom prst="rect">
            <a:avLst/>
          </a:prstGeom>
          <a:solidFill>
            <a:schemeClr val="bg1"/>
          </a:solidFill>
          <a:ln w="6350">
            <a:solidFill>
              <a:srgbClr val="E1E7E3"/>
            </a:solidFill>
            <a:prstDash val="solid"/>
          </a:ln>
        </p:spPr>
      </p:sp>
      <p:sp>
        <p:nvSpPr>
          <p:cNvPr id="36" name="Shape 34"/>
          <p:cNvSpPr/>
          <p:nvPr/>
        </p:nvSpPr>
        <p:spPr>
          <a:xfrm>
            <a:off x="8313420" y="1403604"/>
            <a:ext cx="350520" cy="164592"/>
          </a:xfrm>
          <a:prstGeom prst="rect">
            <a:avLst/>
          </a:prstGeom>
          <a:solidFill>
            <a:schemeClr val="bg1"/>
          </a:solidFill>
          <a:ln w="6350">
            <a:solidFill>
              <a:srgbClr val="E1E7E3"/>
            </a:solidFill>
            <a:prstDash val="solid"/>
          </a:ln>
        </p:spPr>
      </p:sp>
      <p:sp>
        <p:nvSpPr>
          <p:cNvPr id="37" name="Text 35"/>
          <p:cNvSpPr txBox="1"/>
          <p:nvPr/>
        </p:nvSpPr>
        <p:spPr>
          <a:xfrm>
            <a:off x="530352" y="1600200"/>
            <a:ext cx="3383280" cy="228600"/>
          </a:xfrm>
          <a:prstGeom prst="rect">
            <a:avLst/>
          </a:prstGeom>
          <a:noFill/>
          <a:ln/>
        </p:spPr>
        <p:txBody>
          <a:bodyPr wrap="square" lIns="0" tIns="0" rIns="0" bIns="0" rtlCol="0" anchor="ctr"/>
          <a:lstStyle/>
          <a:p>
            <a:pPr indent="0" marL="0">
              <a:buNone/>
            </a:pPr>
            <a:r>
              <a:rPr lang="en-US" sz="1000" b="1" dirty="0">
                <a:solidFill>
                  <a:schemeClr val="accent1"/>
                </a:solidFill>
              </a:rPr>
              <a:t>O1  </a:t>
            </a:r>
            <a:pPr indent="0" marL="0">
              <a:buNone/>
            </a:pPr>
            <a:r>
              <a:rPr lang="en-US" sz="1000" dirty="0">
                <a:solidFill>
                  <a:schemeClr val="tx1"/>
                </a:solidFill>
              </a:rPr>
              <a:t>Sosialisasi safeguards, Pra-FPIC, FPIC &amp; LSC</a:t>
            </a:r>
            <a:endParaRPr lang="en-US" sz="1000" dirty="0"/>
          </a:p>
        </p:txBody>
      </p:sp>
      <p:sp>
        <p:nvSpPr>
          <p:cNvPr id="38" name="Shape 36"/>
          <p:cNvSpPr/>
          <p:nvPr/>
        </p:nvSpPr>
        <p:spPr>
          <a:xfrm>
            <a:off x="3954780" y="1632204"/>
            <a:ext cx="350520" cy="164592"/>
          </a:xfrm>
          <a:prstGeom prst="rect">
            <a:avLst/>
          </a:prstGeom>
          <a:solidFill>
            <a:schemeClr val="bg1"/>
          </a:solidFill>
          <a:ln w="6350">
            <a:solidFill>
              <a:srgbClr val="E1E7E3"/>
            </a:solidFill>
            <a:prstDash val="solid"/>
          </a:ln>
        </p:spPr>
      </p:sp>
      <p:sp>
        <p:nvSpPr>
          <p:cNvPr id="39" name="Shape 37"/>
          <p:cNvSpPr/>
          <p:nvPr/>
        </p:nvSpPr>
        <p:spPr>
          <a:xfrm>
            <a:off x="4351020" y="1632204"/>
            <a:ext cx="350520" cy="164592"/>
          </a:xfrm>
          <a:prstGeom prst="rect">
            <a:avLst/>
          </a:prstGeom>
          <a:solidFill>
            <a:schemeClr val="accent1"/>
          </a:solidFill>
          <a:ln/>
        </p:spPr>
      </p:sp>
      <p:sp>
        <p:nvSpPr>
          <p:cNvPr id="40" name="Shape 38"/>
          <p:cNvSpPr/>
          <p:nvPr/>
        </p:nvSpPr>
        <p:spPr>
          <a:xfrm>
            <a:off x="4747260" y="1632204"/>
            <a:ext cx="350520" cy="164592"/>
          </a:xfrm>
          <a:prstGeom prst="rect">
            <a:avLst/>
          </a:prstGeom>
          <a:solidFill>
            <a:schemeClr val="accent1"/>
          </a:solidFill>
          <a:ln/>
        </p:spPr>
      </p:sp>
      <p:sp>
        <p:nvSpPr>
          <p:cNvPr id="41" name="Shape 39"/>
          <p:cNvSpPr/>
          <p:nvPr/>
        </p:nvSpPr>
        <p:spPr>
          <a:xfrm>
            <a:off x="5143500" y="1632204"/>
            <a:ext cx="350520" cy="164592"/>
          </a:xfrm>
          <a:prstGeom prst="rect">
            <a:avLst/>
          </a:prstGeom>
          <a:solidFill>
            <a:schemeClr val="accent1"/>
          </a:solidFill>
          <a:ln/>
        </p:spPr>
      </p:sp>
      <p:sp>
        <p:nvSpPr>
          <p:cNvPr id="42" name="Shape 40"/>
          <p:cNvSpPr/>
          <p:nvPr/>
        </p:nvSpPr>
        <p:spPr>
          <a:xfrm>
            <a:off x="5539740" y="1632204"/>
            <a:ext cx="350520" cy="164592"/>
          </a:xfrm>
          <a:prstGeom prst="rect">
            <a:avLst/>
          </a:prstGeom>
          <a:solidFill>
            <a:schemeClr val="bg1"/>
          </a:solidFill>
          <a:ln w="6350">
            <a:solidFill>
              <a:srgbClr val="E1E7E3"/>
            </a:solidFill>
            <a:prstDash val="solid"/>
          </a:ln>
        </p:spPr>
      </p:sp>
      <p:sp>
        <p:nvSpPr>
          <p:cNvPr id="43" name="Shape 41"/>
          <p:cNvSpPr/>
          <p:nvPr/>
        </p:nvSpPr>
        <p:spPr>
          <a:xfrm>
            <a:off x="5935980" y="1632204"/>
            <a:ext cx="350520" cy="164592"/>
          </a:xfrm>
          <a:prstGeom prst="rect">
            <a:avLst/>
          </a:prstGeom>
          <a:solidFill>
            <a:schemeClr val="bg1"/>
          </a:solidFill>
          <a:ln w="6350">
            <a:solidFill>
              <a:srgbClr val="E1E7E3"/>
            </a:solidFill>
            <a:prstDash val="solid"/>
          </a:ln>
        </p:spPr>
      </p:sp>
      <p:sp>
        <p:nvSpPr>
          <p:cNvPr id="44" name="Shape 42"/>
          <p:cNvSpPr/>
          <p:nvPr/>
        </p:nvSpPr>
        <p:spPr>
          <a:xfrm>
            <a:off x="6332220" y="1632204"/>
            <a:ext cx="350520" cy="164592"/>
          </a:xfrm>
          <a:prstGeom prst="rect">
            <a:avLst/>
          </a:prstGeom>
          <a:solidFill>
            <a:schemeClr val="bg1"/>
          </a:solidFill>
          <a:ln w="6350">
            <a:solidFill>
              <a:srgbClr val="E1E7E3"/>
            </a:solidFill>
            <a:prstDash val="solid"/>
          </a:ln>
        </p:spPr>
      </p:sp>
      <p:sp>
        <p:nvSpPr>
          <p:cNvPr id="45" name="Shape 43"/>
          <p:cNvSpPr/>
          <p:nvPr/>
        </p:nvSpPr>
        <p:spPr>
          <a:xfrm>
            <a:off x="6728460" y="1632204"/>
            <a:ext cx="350520" cy="164592"/>
          </a:xfrm>
          <a:prstGeom prst="rect">
            <a:avLst/>
          </a:prstGeom>
          <a:solidFill>
            <a:schemeClr val="bg1"/>
          </a:solidFill>
          <a:ln w="6350">
            <a:solidFill>
              <a:srgbClr val="E1E7E3"/>
            </a:solidFill>
            <a:prstDash val="solid"/>
          </a:ln>
        </p:spPr>
      </p:sp>
      <p:sp>
        <p:nvSpPr>
          <p:cNvPr id="46" name="Shape 44"/>
          <p:cNvSpPr/>
          <p:nvPr/>
        </p:nvSpPr>
        <p:spPr>
          <a:xfrm>
            <a:off x="7124700" y="1632204"/>
            <a:ext cx="350520" cy="164592"/>
          </a:xfrm>
          <a:prstGeom prst="rect">
            <a:avLst/>
          </a:prstGeom>
          <a:solidFill>
            <a:schemeClr val="bg1"/>
          </a:solidFill>
          <a:ln w="6350">
            <a:solidFill>
              <a:srgbClr val="E1E7E3"/>
            </a:solidFill>
            <a:prstDash val="solid"/>
          </a:ln>
        </p:spPr>
      </p:sp>
      <p:sp>
        <p:nvSpPr>
          <p:cNvPr id="47" name="Shape 45"/>
          <p:cNvSpPr/>
          <p:nvPr/>
        </p:nvSpPr>
        <p:spPr>
          <a:xfrm>
            <a:off x="7520940" y="1632204"/>
            <a:ext cx="350520" cy="164592"/>
          </a:xfrm>
          <a:prstGeom prst="rect">
            <a:avLst/>
          </a:prstGeom>
          <a:solidFill>
            <a:schemeClr val="bg1"/>
          </a:solidFill>
          <a:ln w="6350">
            <a:solidFill>
              <a:srgbClr val="E1E7E3"/>
            </a:solidFill>
            <a:prstDash val="solid"/>
          </a:ln>
        </p:spPr>
      </p:sp>
      <p:sp>
        <p:nvSpPr>
          <p:cNvPr id="48" name="Shape 46"/>
          <p:cNvSpPr/>
          <p:nvPr/>
        </p:nvSpPr>
        <p:spPr>
          <a:xfrm>
            <a:off x="7917180" y="1632204"/>
            <a:ext cx="350520" cy="164592"/>
          </a:xfrm>
          <a:prstGeom prst="rect">
            <a:avLst/>
          </a:prstGeom>
          <a:solidFill>
            <a:schemeClr val="bg1"/>
          </a:solidFill>
          <a:ln w="6350">
            <a:solidFill>
              <a:srgbClr val="E1E7E3"/>
            </a:solidFill>
            <a:prstDash val="solid"/>
          </a:ln>
        </p:spPr>
      </p:sp>
      <p:sp>
        <p:nvSpPr>
          <p:cNvPr id="49" name="Shape 47"/>
          <p:cNvSpPr/>
          <p:nvPr/>
        </p:nvSpPr>
        <p:spPr>
          <a:xfrm>
            <a:off x="8313420" y="1632204"/>
            <a:ext cx="350520" cy="164592"/>
          </a:xfrm>
          <a:prstGeom prst="rect">
            <a:avLst/>
          </a:prstGeom>
          <a:solidFill>
            <a:schemeClr val="bg1"/>
          </a:solidFill>
          <a:ln w="6350">
            <a:solidFill>
              <a:srgbClr val="E1E7E3"/>
            </a:solidFill>
            <a:prstDash val="solid"/>
          </a:ln>
        </p:spPr>
      </p:sp>
      <p:sp>
        <p:nvSpPr>
          <p:cNvPr id="50" name="Shape 48"/>
          <p:cNvSpPr/>
          <p:nvPr/>
        </p:nvSpPr>
        <p:spPr>
          <a:xfrm>
            <a:off x="457200" y="1828800"/>
            <a:ext cx="3429000" cy="228600"/>
          </a:xfrm>
          <a:prstGeom prst="rect">
            <a:avLst/>
          </a:prstGeom>
          <a:solidFill>
            <a:schemeClr val="bg2"/>
          </a:solidFill>
          <a:ln/>
        </p:spPr>
      </p:sp>
      <p:sp>
        <p:nvSpPr>
          <p:cNvPr id="51" name="Text 49"/>
          <p:cNvSpPr txBox="1"/>
          <p:nvPr/>
        </p:nvSpPr>
        <p:spPr>
          <a:xfrm>
            <a:off x="530352" y="1828800"/>
            <a:ext cx="3383280" cy="228600"/>
          </a:xfrm>
          <a:prstGeom prst="rect">
            <a:avLst/>
          </a:prstGeom>
          <a:noFill/>
          <a:ln/>
        </p:spPr>
        <p:txBody>
          <a:bodyPr wrap="square" lIns="0" tIns="0" rIns="0" bIns="0" rtlCol="0" anchor="ctr"/>
          <a:lstStyle/>
          <a:p>
            <a:pPr indent="0" marL="0">
              <a:buNone/>
            </a:pPr>
            <a:r>
              <a:rPr lang="en-US" sz="1000" b="1" dirty="0">
                <a:solidFill>
                  <a:schemeClr val="accent1"/>
                </a:solidFill>
              </a:rPr>
              <a:t>O1  </a:t>
            </a:r>
            <a:pPr indent="0" marL="0">
              <a:buNone/>
            </a:pPr>
            <a:r>
              <a:rPr lang="en-US" sz="1000" dirty="0">
                <a:solidFill>
                  <a:schemeClr val="tx1"/>
                </a:solidFill>
              </a:rPr>
              <a:t>Pendampingan PS, rapat LPHD &amp; patroli</a:t>
            </a:r>
            <a:endParaRPr lang="en-US" sz="1000" dirty="0"/>
          </a:p>
        </p:txBody>
      </p:sp>
      <p:sp>
        <p:nvSpPr>
          <p:cNvPr id="52" name="Shape 50"/>
          <p:cNvSpPr/>
          <p:nvPr/>
        </p:nvSpPr>
        <p:spPr>
          <a:xfrm>
            <a:off x="3954780" y="1860804"/>
            <a:ext cx="350520" cy="164592"/>
          </a:xfrm>
          <a:prstGeom prst="rect">
            <a:avLst/>
          </a:prstGeom>
          <a:solidFill>
            <a:schemeClr val="accent1"/>
          </a:solidFill>
          <a:ln/>
        </p:spPr>
      </p:sp>
      <p:sp>
        <p:nvSpPr>
          <p:cNvPr id="53" name="Shape 51"/>
          <p:cNvSpPr/>
          <p:nvPr/>
        </p:nvSpPr>
        <p:spPr>
          <a:xfrm>
            <a:off x="4351020" y="1860804"/>
            <a:ext cx="350520" cy="164592"/>
          </a:xfrm>
          <a:prstGeom prst="rect">
            <a:avLst/>
          </a:prstGeom>
          <a:solidFill>
            <a:schemeClr val="accent1"/>
          </a:solidFill>
          <a:ln/>
        </p:spPr>
      </p:sp>
      <p:sp>
        <p:nvSpPr>
          <p:cNvPr id="54" name="Shape 52"/>
          <p:cNvSpPr/>
          <p:nvPr/>
        </p:nvSpPr>
        <p:spPr>
          <a:xfrm>
            <a:off x="4747260" y="1860804"/>
            <a:ext cx="350520" cy="164592"/>
          </a:xfrm>
          <a:prstGeom prst="rect">
            <a:avLst/>
          </a:prstGeom>
          <a:solidFill>
            <a:schemeClr val="accent1"/>
          </a:solidFill>
          <a:ln/>
        </p:spPr>
      </p:sp>
      <p:sp>
        <p:nvSpPr>
          <p:cNvPr id="55" name="Shape 53"/>
          <p:cNvSpPr/>
          <p:nvPr/>
        </p:nvSpPr>
        <p:spPr>
          <a:xfrm>
            <a:off x="5143500" y="1860804"/>
            <a:ext cx="350520" cy="164592"/>
          </a:xfrm>
          <a:prstGeom prst="rect">
            <a:avLst/>
          </a:prstGeom>
          <a:solidFill>
            <a:schemeClr val="accent1"/>
          </a:solidFill>
          <a:ln/>
        </p:spPr>
      </p:sp>
      <p:sp>
        <p:nvSpPr>
          <p:cNvPr id="56" name="Shape 54"/>
          <p:cNvSpPr/>
          <p:nvPr/>
        </p:nvSpPr>
        <p:spPr>
          <a:xfrm>
            <a:off x="5539740" y="1860804"/>
            <a:ext cx="350520" cy="164592"/>
          </a:xfrm>
          <a:prstGeom prst="rect">
            <a:avLst/>
          </a:prstGeom>
          <a:solidFill>
            <a:schemeClr val="accent1"/>
          </a:solidFill>
          <a:ln/>
        </p:spPr>
      </p:sp>
      <p:sp>
        <p:nvSpPr>
          <p:cNvPr id="57" name="Shape 55"/>
          <p:cNvSpPr/>
          <p:nvPr/>
        </p:nvSpPr>
        <p:spPr>
          <a:xfrm>
            <a:off x="5935980" y="1860804"/>
            <a:ext cx="350520" cy="164592"/>
          </a:xfrm>
          <a:prstGeom prst="rect">
            <a:avLst/>
          </a:prstGeom>
          <a:solidFill>
            <a:schemeClr val="accent1"/>
          </a:solidFill>
          <a:ln/>
        </p:spPr>
      </p:sp>
      <p:sp>
        <p:nvSpPr>
          <p:cNvPr id="58" name="Shape 56"/>
          <p:cNvSpPr/>
          <p:nvPr/>
        </p:nvSpPr>
        <p:spPr>
          <a:xfrm>
            <a:off x="6332220" y="1860804"/>
            <a:ext cx="350520" cy="164592"/>
          </a:xfrm>
          <a:prstGeom prst="rect">
            <a:avLst/>
          </a:prstGeom>
          <a:solidFill>
            <a:schemeClr val="accent1"/>
          </a:solidFill>
          <a:ln/>
        </p:spPr>
      </p:sp>
      <p:sp>
        <p:nvSpPr>
          <p:cNvPr id="59" name="Shape 57"/>
          <p:cNvSpPr/>
          <p:nvPr/>
        </p:nvSpPr>
        <p:spPr>
          <a:xfrm>
            <a:off x="6728460" y="1860804"/>
            <a:ext cx="350520" cy="164592"/>
          </a:xfrm>
          <a:prstGeom prst="rect">
            <a:avLst/>
          </a:prstGeom>
          <a:solidFill>
            <a:schemeClr val="accent1"/>
          </a:solidFill>
          <a:ln/>
        </p:spPr>
      </p:sp>
      <p:sp>
        <p:nvSpPr>
          <p:cNvPr id="60" name="Shape 58"/>
          <p:cNvSpPr/>
          <p:nvPr/>
        </p:nvSpPr>
        <p:spPr>
          <a:xfrm>
            <a:off x="7124700" y="1860804"/>
            <a:ext cx="350520" cy="164592"/>
          </a:xfrm>
          <a:prstGeom prst="rect">
            <a:avLst/>
          </a:prstGeom>
          <a:solidFill>
            <a:schemeClr val="accent1"/>
          </a:solidFill>
          <a:ln/>
        </p:spPr>
      </p:sp>
      <p:sp>
        <p:nvSpPr>
          <p:cNvPr id="61" name="Shape 59"/>
          <p:cNvSpPr/>
          <p:nvPr/>
        </p:nvSpPr>
        <p:spPr>
          <a:xfrm>
            <a:off x="7520940" y="1860804"/>
            <a:ext cx="350520" cy="164592"/>
          </a:xfrm>
          <a:prstGeom prst="rect">
            <a:avLst/>
          </a:prstGeom>
          <a:solidFill>
            <a:schemeClr val="accent1"/>
          </a:solidFill>
          <a:ln/>
        </p:spPr>
      </p:sp>
      <p:sp>
        <p:nvSpPr>
          <p:cNvPr id="62" name="Shape 60"/>
          <p:cNvSpPr/>
          <p:nvPr/>
        </p:nvSpPr>
        <p:spPr>
          <a:xfrm>
            <a:off x="7917180" y="1860804"/>
            <a:ext cx="350520" cy="164592"/>
          </a:xfrm>
          <a:prstGeom prst="rect">
            <a:avLst/>
          </a:prstGeom>
          <a:solidFill>
            <a:schemeClr val="accent1"/>
          </a:solidFill>
          <a:ln/>
        </p:spPr>
      </p:sp>
      <p:sp>
        <p:nvSpPr>
          <p:cNvPr id="63" name="Shape 61"/>
          <p:cNvSpPr/>
          <p:nvPr/>
        </p:nvSpPr>
        <p:spPr>
          <a:xfrm>
            <a:off x="8313420" y="1860804"/>
            <a:ext cx="350520" cy="164592"/>
          </a:xfrm>
          <a:prstGeom prst="rect">
            <a:avLst/>
          </a:prstGeom>
          <a:solidFill>
            <a:schemeClr val="bg1"/>
          </a:solidFill>
          <a:ln w="6350">
            <a:solidFill>
              <a:srgbClr val="E1E7E3"/>
            </a:solidFill>
            <a:prstDash val="solid"/>
          </a:ln>
        </p:spPr>
      </p:sp>
      <p:sp>
        <p:nvSpPr>
          <p:cNvPr id="64" name="Text 62"/>
          <p:cNvSpPr txBox="1"/>
          <p:nvPr/>
        </p:nvSpPr>
        <p:spPr>
          <a:xfrm>
            <a:off x="530352" y="2057400"/>
            <a:ext cx="3383280" cy="228600"/>
          </a:xfrm>
          <a:prstGeom prst="rect">
            <a:avLst/>
          </a:prstGeom>
          <a:noFill/>
          <a:ln/>
        </p:spPr>
        <p:txBody>
          <a:bodyPr wrap="square" lIns="0" tIns="0" rIns="0" bIns="0" rtlCol="0" anchor="ctr"/>
          <a:lstStyle/>
          <a:p>
            <a:pPr indent="0" marL="0">
              <a:buNone/>
            </a:pPr>
            <a:r>
              <a:rPr lang="en-US" sz="1000" b="1" dirty="0">
                <a:solidFill>
                  <a:schemeClr val="accent1"/>
                </a:solidFill>
              </a:rPr>
              <a:t>O1  </a:t>
            </a:r>
            <a:pPr indent="0" marL="0">
              <a:buNone/>
            </a:pPr>
            <a:r>
              <a:rPr lang="en-US" sz="1000" dirty="0">
                <a:solidFill>
                  <a:schemeClr val="tx1"/>
                </a:solidFill>
              </a:rPr>
              <a:t>Rehabilitasi 5 ha gambut (survei, FPIC, tanam)</a:t>
            </a:r>
            <a:endParaRPr lang="en-US" sz="1000" dirty="0"/>
          </a:p>
        </p:txBody>
      </p:sp>
      <p:sp>
        <p:nvSpPr>
          <p:cNvPr id="65" name="Shape 63"/>
          <p:cNvSpPr/>
          <p:nvPr/>
        </p:nvSpPr>
        <p:spPr>
          <a:xfrm>
            <a:off x="3954780" y="2089404"/>
            <a:ext cx="350520" cy="164592"/>
          </a:xfrm>
          <a:prstGeom prst="rect">
            <a:avLst/>
          </a:prstGeom>
          <a:solidFill>
            <a:schemeClr val="bg1"/>
          </a:solidFill>
          <a:ln w="6350">
            <a:solidFill>
              <a:srgbClr val="E1E7E3"/>
            </a:solidFill>
            <a:prstDash val="solid"/>
          </a:ln>
        </p:spPr>
      </p:sp>
      <p:sp>
        <p:nvSpPr>
          <p:cNvPr id="66" name="Shape 64"/>
          <p:cNvSpPr/>
          <p:nvPr/>
        </p:nvSpPr>
        <p:spPr>
          <a:xfrm>
            <a:off x="4351020" y="2089404"/>
            <a:ext cx="350520" cy="164592"/>
          </a:xfrm>
          <a:prstGeom prst="rect">
            <a:avLst/>
          </a:prstGeom>
          <a:solidFill>
            <a:schemeClr val="bg1"/>
          </a:solidFill>
          <a:ln w="6350">
            <a:solidFill>
              <a:srgbClr val="E1E7E3"/>
            </a:solidFill>
            <a:prstDash val="solid"/>
          </a:ln>
        </p:spPr>
      </p:sp>
      <p:sp>
        <p:nvSpPr>
          <p:cNvPr id="67" name="Shape 65"/>
          <p:cNvSpPr/>
          <p:nvPr/>
        </p:nvSpPr>
        <p:spPr>
          <a:xfrm>
            <a:off x="4747260" y="2089404"/>
            <a:ext cx="350520" cy="164592"/>
          </a:xfrm>
          <a:prstGeom prst="rect">
            <a:avLst/>
          </a:prstGeom>
          <a:solidFill>
            <a:schemeClr val="bg1"/>
          </a:solidFill>
          <a:ln w="6350">
            <a:solidFill>
              <a:srgbClr val="E1E7E3"/>
            </a:solidFill>
            <a:prstDash val="solid"/>
          </a:ln>
        </p:spPr>
      </p:sp>
      <p:sp>
        <p:nvSpPr>
          <p:cNvPr id="68" name="Shape 66"/>
          <p:cNvSpPr/>
          <p:nvPr/>
        </p:nvSpPr>
        <p:spPr>
          <a:xfrm>
            <a:off x="5143500" y="2089404"/>
            <a:ext cx="350520" cy="164592"/>
          </a:xfrm>
          <a:prstGeom prst="rect">
            <a:avLst/>
          </a:prstGeom>
          <a:solidFill>
            <a:schemeClr val="bg1"/>
          </a:solidFill>
          <a:ln w="6350">
            <a:solidFill>
              <a:srgbClr val="E1E7E3"/>
            </a:solidFill>
            <a:prstDash val="solid"/>
          </a:ln>
        </p:spPr>
      </p:sp>
      <p:sp>
        <p:nvSpPr>
          <p:cNvPr id="69" name="Shape 67"/>
          <p:cNvSpPr/>
          <p:nvPr/>
        </p:nvSpPr>
        <p:spPr>
          <a:xfrm>
            <a:off x="5539740" y="2089404"/>
            <a:ext cx="350520" cy="164592"/>
          </a:xfrm>
          <a:prstGeom prst="rect">
            <a:avLst/>
          </a:prstGeom>
          <a:solidFill>
            <a:schemeClr val="bg1"/>
          </a:solidFill>
          <a:ln w="6350">
            <a:solidFill>
              <a:srgbClr val="E1E7E3"/>
            </a:solidFill>
            <a:prstDash val="solid"/>
          </a:ln>
        </p:spPr>
      </p:sp>
      <p:sp>
        <p:nvSpPr>
          <p:cNvPr id="70" name="Shape 68"/>
          <p:cNvSpPr/>
          <p:nvPr/>
        </p:nvSpPr>
        <p:spPr>
          <a:xfrm>
            <a:off x="5935980" y="2089404"/>
            <a:ext cx="350520" cy="164592"/>
          </a:xfrm>
          <a:prstGeom prst="rect">
            <a:avLst/>
          </a:prstGeom>
          <a:solidFill>
            <a:schemeClr val="bg1"/>
          </a:solidFill>
          <a:ln w="6350">
            <a:solidFill>
              <a:srgbClr val="E1E7E3"/>
            </a:solidFill>
            <a:prstDash val="solid"/>
          </a:ln>
        </p:spPr>
      </p:sp>
      <p:sp>
        <p:nvSpPr>
          <p:cNvPr id="71" name="Shape 69"/>
          <p:cNvSpPr/>
          <p:nvPr/>
        </p:nvSpPr>
        <p:spPr>
          <a:xfrm>
            <a:off x="6332220" y="2089404"/>
            <a:ext cx="350520" cy="164592"/>
          </a:xfrm>
          <a:prstGeom prst="rect">
            <a:avLst/>
          </a:prstGeom>
          <a:solidFill>
            <a:schemeClr val="accent1"/>
          </a:solidFill>
          <a:ln/>
        </p:spPr>
      </p:sp>
      <p:sp>
        <p:nvSpPr>
          <p:cNvPr id="72" name="Shape 70"/>
          <p:cNvSpPr/>
          <p:nvPr/>
        </p:nvSpPr>
        <p:spPr>
          <a:xfrm>
            <a:off x="6728460" y="2089404"/>
            <a:ext cx="350520" cy="164592"/>
          </a:xfrm>
          <a:prstGeom prst="rect">
            <a:avLst/>
          </a:prstGeom>
          <a:solidFill>
            <a:schemeClr val="bg1"/>
          </a:solidFill>
          <a:ln w="6350">
            <a:solidFill>
              <a:srgbClr val="E1E7E3"/>
            </a:solidFill>
            <a:prstDash val="solid"/>
          </a:ln>
        </p:spPr>
      </p:sp>
      <p:sp>
        <p:nvSpPr>
          <p:cNvPr id="73" name="Shape 71"/>
          <p:cNvSpPr/>
          <p:nvPr/>
        </p:nvSpPr>
        <p:spPr>
          <a:xfrm>
            <a:off x="7124700" y="2089404"/>
            <a:ext cx="350520" cy="164592"/>
          </a:xfrm>
          <a:prstGeom prst="rect">
            <a:avLst/>
          </a:prstGeom>
          <a:solidFill>
            <a:schemeClr val="bg1"/>
          </a:solidFill>
          <a:ln w="6350">
            <a:solidFill>
              <a:srgbClr val="E1E7E3"/>
            </a:solidFill>
            <a:prstDash val="solid"/>
          </a:ln>
        </p:spPr>
      </p:sp>
      <p:sp>
        <p:nvSpPr>
          <p:cNvPr id="74" name="Shape 72"/>
          <p:cNvSpPr/>
          <p:nvPr/>
        </p:nvSpPr>
        <p:spPr>
          <a:xfrm>
            <a:off x="7520940" y="2089404"/>
            <a:ext cx="350520" cy="164592"/>
          </a:xfrm>
          <a:prstGeom prst="rect">
            <a:avLst/>
          </a:prstGeom>
          <a:solidFill>
            <a:schemeClr val="accent1"/>
          </a:solidFill>
          <a:ln/>
        </p:spPr>
      </p:sp>
      <p:sp>
        <p:nvSpPr>
          <p:cNvPr id="75" name="Shape 73"/>
          <p:cNvSpPr/>
          <p:nvPr/>
        </p:nvSpPr>
        <p:spPr>
          <a:xfrm>
            <a:off x="7917180" y="2089404"/>
            <a:ext cx="350520" cy="164592"/>
          </a:xfrm>
          <a:prstGeom prst="rect">
            <a:avLst/>
          </a:prstGeom>
          <a:solidFill>
            <a:schemeClr val="bg1"/>
          </a:solidFill>
          <a:ln w="6350">
            <a:solidFill>
              <a:srgbClr val="E1E7E3"/>
            </a:solidFill>
            <a:prstDash val="solid"/>
          </a:ln>
        </p:spPr>
      </p:sp>
      <p:sp>
        <p:nvSpPr>
          <p:cNvPr id="76" name="Shape 74"/>
          <p:cNvSpPr/>
          <p:nvPr/>
        </p:nvSpPr>
        <p:spPr>
          <a:xfrm>
            <a:off x="8313420" y="2089404"/>
            <a:ext cx="350520" cy="164592"/>
          </a:xfrm>
          <a:prstGeom prst="rect">
            <a:avLst/>
          </a:prstGeom>
          <a:solidFill>
            <a:schemeClr val="bg1"/>
          </a:solidFill>
          <a:ln w="6350">
            <a:solidFill>
              <a:srgbClr val="E1E7E3"/>
            </a:solidFill>
            <a:prstDash val="solid"/>
          </a:ln>
        </p:spPr>
      </p:sp>
      <p:sp>
        <p:nvSpPr>
          <p:cNvPr id="77" name="Shape 75"/>
          <p:cNvSpPr/>
          <p:nvPr/>
        </p:nvSpPr>
        <p:spPr>
          <a:xfrm>
            <a:off x="457200" y="2286000"/>
            <a:ext cx="3429000" cy="228600"/>
          </a:xfrm>
          <a:prstGeom prst="rect">
            <a:avLst/>
          </a:prstGeom>
          <a:solidFill>
            <a:schemeClr val="bg2"/>
          </a:solidFill>
          <a:ln/>
        </p:spPr>
      </p:sp>
      <p:sp>
        <p:nvSpPr>
          <p:cNvPr id="78" name="Text 76"/>
          <p:cNvSpPr txBox="1"/>
          <p:nvPr/>
        </p:nvSpPr>
        <p:spPr>
          <a:xfrm>
            <a:off x="530352" y="2286000"/>
            <a:ext cx="3383280" cy="228600"/>
          </a:xfrm>
          <a:prstGeom prst="rect">
            <a:avLst/>
          </a:prstGeom>
          <a:noFill/>
          <a:ln/>
        </p:spPr>
        <p:txBody>
          <a:bodyPr wrap="square" lIns="0" tIns="0" rIns="0" bIns="0" rtlCol="0" anchor="ctr"/>
          <a:lstStyle/>
          <a:p>
            <a:pPr indent="0" marL="0">
              <a:buNone/>
            </a:pPr>
            <a:r>
              <a:rPr lang="en-US" sz="1000" b="1" dirty="0">
                <a:solidFill>
                  <a:schemeClr val="accent1"/>
                </a:solidFill>
              </a:rPr>
              <a:t>O1  </a:t>
            </a:r>
            <a:pPr indent="0" marL="0">
              <a:buNone/>
            </a:pPr>
            <a:r>
              <a:rPr lang="en-US" sz="1000" dirty="0">
                <a:solidFill>
                  <a:schemeClr val="tx1"/>
                </a:solidFill>
              </a:rPr>
              <a:t>KUPS: identifikasi, pembentukan, pelatihan</a:t>
            </a:r>
            <a:endParaRPr lang="en-US" sz="1000" dirty="0"/>
          </a:p>
        </p:txBody>
      </p:sp>
      <p:sp>
        <p:nvSpPr>
          <p:cNvPr id="79" name="Shape 77"/>
          <p:cNvSpPr/>
          <p:nvPr/>
        </p:nvSpPr>
        <p:spPr>
          <a:xfrm>
            <a:off x="3954780" y="2318004"/>
            <a:ext cx="350520" cy="164592"/>
          </a:xfrm>
          <a:prstGeom prst="rect">
            <a:avLst/>
          </a:prstGeom>
          <a:solidFill>
            <a:schemeClr val="bg1"/>
          </a:solidFill>
          <a:ln w="6350">
            <a:solidFill>
              <a:srgbClr val="E1E7E3"/>
            </a:solidFill>
            <a:prstDash val="solid"/>
          </a:ln>
        </p:spPr>
      </p:sp>
      <p:sp>
        <p:nvSpPr>
          <p:cNvPr id="80" name="Shape 78"/>
          <p:cNvSpPr/>
          <p:nvPr/>
        </p:nvSpPr>
        <p:spPr>
          <a:xfrm>
            <a:off x="4351020" y="2318004"/>
            <a:ext cx="350520" cy="164592"/>
          </a:xfrm>
          <a:prstGeom prst="rect">
            <a:avLst/>
          </a:prstGeom>
          <a:solidFill>
            <a:schemeClr val="accent1"/>
          </a:solidFill>
          <a:ln/>
        </p:spPr>
      </p:sp>
      <p:sp>
        <p:nvSpPr>
          <p:cNvPr id="81" name="Shape 79"/>
          <p:cNvSpPr/>
          <p:nvPr/>
        </p:nvSpPr>
        <p:spPr>
          <a:xfrm>
            <a:off x="4747260" y="2318004"/>
            <a:ext cx="350520" cy="164592"/>
          </a:xfrm>
          <a:prstGeom prst="rect">
            <a:avLst/>
          </a:prstGeom>
          <a:solidFill>
            <a:schemeClr val="accent1"/>
          </a:solidFill>
          <a:ln/>
        </p:spPr>
      </p:sp>
      <p:sp>
        <p:nvSpPr>
          <p:cNvPr id="82" name="Shape 80"/>
          <p:cNvSpPr/>
          <p:nvPr/>
        </p:nvSpPr>
        <p:spPr>
          <a:xfrm>
            <a:off x="5143500" y="2318004"/>
            <a:ext cx="350520" cy="164592"/>
          </a:xfrm>
          <a:prstGeom prst="rect">
            <a:avLst/>
          </a:prstGeom>
          <a:solidFill>
            <a:schemeClr val="bg1"/>
          </a:solidFill>
          <a:ln w="6350">
            <a:solidFill>
              <a:srgbClr val="E1E7E3"/>
            </a:solidFill>
            <a:prstDash val="solid"/>
          </a:ln>
        </p:spPr>
      </p:sp>
      <p:sp>
        <p:nvSpPr>
          <p:cNvPr id="83" name="Shape 81"/>
          <p:cNvSpPr/>
          <p:nvPr/>
        </p:nvSpPr>
        <p:spPr>
          <a:xfrm>
            <a:off x="5539740" y="2318004"/>
            <a:ext cx="350520" cy="164592"/>
          </a:xfrm>
          <a:prstGeom prst="rect">
            <a:avLst/>
          </a:prstGeom>
          <a:solidFill>
            <a:schemeClr val="bg1"/>
          </a:solidFill>
          <a:ln w="6350">
            <a:solidFill>
              <a:srgbClr val="E1E7E3"/>
            </a:solidFill>
            <a:prstDash val="solid"/>
          </a:ln>
        </p:spPr>
      </p:sp>
      <p:sp>
        <p:nvSpPr>
          <p:cNvPr id="84" name="Shape 82"/>
          <p:cNvSpPr/>
          <p:nvPr/>
        </p:nvSpPr>
        <p:spPr>
          <a:xfrm>
            <a:off x="5935980" y="2318004"/>
            <a:ext cx="350520" cy="164592"/>
          </a:xfrm>
          <a:prstGeom prst="rect">
            <a:avLst/>
          </a:prstGeom>
          <a:solidFill>
            <a:schemeClr val="bg1"/>
          </a:solidFill>
          <a:ln w="6350">
            <a:solidFill>
              <a:srgbClr val="E1E7E3"/>
            </a:solidFill>
            <a:prstDash val="solid"/>
          </a:ln>
        </p:spPr>
      </p:sp>
      <p:sp>
        <p:nvSpPr>
          <p:cNvPr id="85" name="Shape 83"/>
          <p:cNvSpPr/>
          <p:nvPr/>
        </p:nvSpPr>
        <p:spPr>
          <a:xfrm>
            <a:off x="6332220" y="2318004"/>
            <a:ext cx="350520" cy="164592"/>
          </a:xfrm>
          <a:prstGeom prst="rect">
            <a:avLst/>
          </a:prstGeom>
          <a:solidFill>
            <a:schemeClr val="bg1"/>
          </a:solidFill>
          <a:ln w="6350">
            <a:solidFill>
              <a:srgbClr val="E1E7E3"/>
            </a:solidFill>
            <a:prstDash val="solid"/>
          </a:ln>
        </p:spPr>
      </p:sp>
      <p:sp>
        <p:nvSpPr>
          <p:cNvPr id="86" name="Shape 84"/>
          <p:cNvSpPr/>
          <p:nvPr/>
        </p:nvSpPr>
        <p:spPr>
          <a:xfrm>
            <a:off x="6728460" y="2318004"/>
            <a:ext cx="350520" cy="164592"/>
          </a:xfrm>
          <a:prstGeom prst="rect">
            <a:avLst/>
          </a:prstGeom>
          <a:solidFill>
            <a:schemeClr val="bg1"/>
          </a:solidFill>
          <a:ln w="6350">
            <a:solidFill>
              <a:srgbClr val="E1E7E3"/>
            </a:solidFill>
            <a:prstDash val="solid"/>
          </a:ln>
        </p:spPr>
      </p:sp>
      <p:sp>
        <p:nvSpPr>
          <p:cNvPr id="87" name="Shape 85"/>
          <p:cNvSpPr/>
          <p:nvPr/>
        </p:nvSpPr>
        <p:spPr>
          <a:xfrm>
            <a:off x="7124700" y="2318004"/>
            <a:ext cx="350520" cy="164592"/>
          </a:xfrm>
          <a:prstGeom prst="rect">
            <a:avLst/>
          </a:prstGeom>
          <a:solidFill>
            <a:schemeClr val="bg1"/>
          </a:solidFill>
          <a:ln w="6350">
            <a:solidFill>
              <a:srgbClr val="E1E7E3"/>
            </a:solidFill>
            <a:prstDash val="solid"/>
          </a:ln>
        </p:spPr>
      </p:sp>
      <p:sp>
        <p:nvSpPr>
          <p:cNvPr id="88" name="Shape 86"/>
          <p:cNvSpPr/>
          <p:nvPr/>
        </p:nvSpPr>
        <p:spPr>
          <a:xfrm>
            <a:off x="7520940" y="2318004"/>
            <a:ext cx="350520" cy="164592"/>
          </a:xfrm>
          <a:prstGeom prst="rect">
            <a:avLst/>
          </a:prstGeom>
          <a:solidFill>
            <a:schemeClr val="bg1"/>
          </a:solidFill>
          <a:ln w="6350">
            <a:solidFill>
              <a:srgbClr val="E1E7E3"/>
            </a:solidFill>
            <a:prstDash val="solid"/>
          </a:ln>
        </p:spPr>
      </p:sp>
      <p:sp>
        <p:nvSpPr>
          <p:cNvPr id="89" name="Shape 87"/>
          <p:cNvSpPr/>
          <p:nvPr/>
        </p:nvSpPr>
        <p:spPr>
          <a:xfrm>
            <a:off x="7917180" y="2318004"/>
            <a:ext cx="350520" cy="164592"/>
          </a:xfrm>
          <a:prstGeom prst="rect">
            <a:avLst/>
          </a:prstGeom>
          <a:solidFill>
            <a:schemeClr val="bg1"/>
          </a:solidFill>
          <a:ln w="6350">
            <a:solidFill>
              <a:srgbClr val="E1E7E3"/>
            </a:solidFill>
            <a:prstDash val="solid"/>
          </a:ln>
        </p:spPr>
      </p:sp>
      <p:sp>
        <p:nvSpPr>
          <p:cNvPr id="90" name="Shape 88"/>
          <p:cNvSpPr/>
          <p:nvPr/>
        </p:nvSpPr>
        <p:spPr>
          <a:xfrm>
            <a:off x="8313420" y="2318004"/>
            <a:ext cx="350520" cy="164592"/>
          </a:xfrm>
          <a:prstGeom prst="rect">
            <a:avLst/>
          </a:prstGeom>
          <a:solidFill>
            <a:schemeClr val="bg1"/>
          </a:solidFill>
          <a:ln w="6350">
            <a:solidFill>
              <a:srgbClr val="E1E7E3"/>
            </a:solidFill>
            <a:prstDash val="solid"/>
          </a:ln>
        </p:spPr>
      </p:sp>
      <p:sp>
        <p:nvSpPr>
          <p:cNvPr id="91" name="Text 89"/>
          <p:cNvSpPr txBox="1"/>
          <p:nvPr/>
        </p:nvSpPr>
        <p:spPr>
          <a:xfrm>
            <a:off x="530352" y="2514600"/>
            <a:ext cx="3383280" cy="228600"/>
          </a:xfrm>
          <a:prstGeom prst="rect">
            <a:avLst/>
          </a:prstGeom>
          <a:noFill/>
          <a:ln/>
        </p:spPr>
        <p:txBody>
          <a:bodyPr wrap="square" lIns="0" tIns="0" rIns="0" bIns="0" rtlCol="0" anchor="ctr"/>
          <a:lstStyle/>
          <a:p>
            <a:pPr indent="0" marL="0">
              <a:buNone/>
            </a:pPr>
            <a:r>
              <a:rPr lang="en-US" sz="1000" b="1" dirty="0">
                <a:solidFill>
                  <a:schemeClr val="accent4"/>
                </a:solidFill>
              </a:rPr>
              <a:t>O2  </a:t>
            </a:r>
            <a:pPr indent="0" marL="0">
              <a:buNone/>
            </a:pPr>
            <a:r>
              <a:rPr lang="en-US" sz="1000" dirty="0">
                <a:solidFill>
                  <a:schemeClr val="tx1"/>
                </a:solidFill>
              </a:rPr>
              <a:t>CCAL &amp; pengambilan data baseline</a:t>
            </a:r>
            <a:endParaRPr lang="en-US" sz="1000" dirty="0"/>
          </a:p>
        </p:txBody>
      </p:sp>
      <p:sp>
        <p:nvSpPr>
          <p:cNvPr id="92" name="Shape 90"/>
          <p:cNvSpPr/>
          <p:nvPr/>
        </p:nvSpPr>
        <p:spPr>
          <a:xfrm>
            <a:off x="3954780" y="2546604"/>
            <a:ext cx="350520" cy="164592"/>
          </a:xfrm>
          <a:prstGeom prst="rect">
            <a:avLst/>
          </a:prstGeom>
          <a:solidFill>
            <a:schemeClr val="accent4"/>
          </a:solidFill>
          <a:ln/>
        </p:spPr>
      </p:sp>
      <p:sp>
        <p:nvSpPr>
          <p:cNvPr id="93" name="Shape 91"/>
          <p:cNvSpPr/>
          <p:nvPr/>
        </p:nvSpPr>
        <p:spPr>
          <a:xfrm>
            <a:off x="4351020" y="2546604"/>
            <a:ext cx="350520" cy="164592"/>
          </a:xfrm>
          <a:prstGeom prst="rect">
            <a:avLst/>
          </a:prstGeom>
          <a:solidFill>
            <a:schemeClr val="bg1"/>
          </a:solidFill>
          <a:ln w="6350">
            <a:solidFill>
              <a:srgbClr val="E1E7E3"/>
            </a:solidFill>
            <a:prstDash val="solid"/>
          </a:ln>
        </p:spPr>
      </p:sp>
      <p:sp>
        <p:nvSpPr>
          <p:cNvPr id="94" name="Shape 92"/>
          <p:cNvSpPr/>
          <p:nvPr/>
        </p:nvSpPr>
        <p:spPr>
          <a:xfrm>
            <a:off x="4747260" y="2546604"/>
            <a:ext cx="350520" cy="164592"/>
          </a:xfrm>
          <a:prstGeom prst="rect">
            <a:avLst/>
          </a:prstGeom>
          <a:solidFill>
            <a:schemeClr val="bg1"/>
          </a:solidFill>
          <a:ln w="6350">
            <a:solidFill>
              <a:srgbClr val="E1E7E3"/>
            </a:solidFill>
            <a:prstDash val="solid"/>
          </a:ln>
        </p:spPr>
      </p:sp>
      <p:sp>
        <p:nvSpPr>
          <p:cNvPr id="95" name="Shape 93"/>
          <p:cNvSpPr/>
          <p:nvPr/>
        </p:nvSpPr>
        <p:spPr>
          <a:xfrm>
            <a:off x="5143500" y="2546604"/>
            <a:ext cx="350520" cy="164592"/>
          </a:xfrm>
          <a:prstGeom prst="rect">
            <a:avLst/>
          </a:prstGeom>
          <a:solidFill>
            <a:schemeClr val="bg1"/>
          </a:solidFill>
          <a:ln w="6350">
            <a:solidFill>
              <a:srgbClr val="E1E7E3"/>
            </a:solidFill>
            <a:prstDash val="solid"/>
          </a:ln>
        </p:spPr>
      </p:sp>
      <p:sp>
        <p:nvSpPr>
          <p:cNvPr id="96" name="Shape 94"/>
          <p:cNvSpPr/>
          <p:nvPr/>
        </p:nvSpPr>
        <p:spPr>
          <a:xfrm>
            <a:off x="5539740" y="2546604"/>
            <a:ext cx="350520" cy="164592"/>
          </a:xfrm>
          <a:prstGeom prst="rect">
            <a:avLst/>
          </a:prstGeom>
          <a:solidFill>
            <a:schemeClr val="accent4"/>
          </a:solidFill>
          <a:ln/>
        </p:spPr>
      </p:sp>
      <p:sp>
        <p:nvSpPr>
          <p:cNvPr id="97" name="Shape 95"/>
          <p:cNvSpPr/>
          <p:nvPr/>
        </p:nvSpPr>
        <p:spPr>
          <a:xfrm>
            <a:off x="5935980" y="2546604"/>
            <a:ext cx="350520" cy="164592"/>
          </a:xfrm>
          <a:prstGeom prst="rect">
            <a:avLst/>
          </a:prstGeom>
          <a:solidFill>
            <a:schemeClr val="accent4"/>
          </a:solidFill>
          <a:ln/>
        </p:spPr>
      </p:sp>
      <p:sp>
        <p:nvSpPr>
          <p:cNvPr id="98" name="Shape 96"/>
          <p:cNvSpPr/>
          <p:nvPr/>
        </p:nvSpPr>
        <p:spPr>
          <a:xfrm>
            <a:off x="6332220" y="2546604"/>
            <a:ext cx="350520" cy="164592"/>
          </a:xfrm>
          <a:prstGeom prst="rect">
            <a:avLst/>
          </a:prstGeom>
          <a:solidFill>
            <a:schemeClr val="bg1"/>
          </a:solidFill>
          <a:ln w="6350">
            <a:solidFill>
              <a:srgbClr val="E1E7E3"/>
            </a:solidFill>
            <a:prstDash val="solid"/>
          </a:ln>
        </p:spPr>
      </p:sp>
      <p:sp>
        <p:nvSpPr>
          <p:cNvPr id="99" name="Shape 97"/>
          <p:cNvSpPr/>
          <p:nvPr/>
        </p:nvSpPr>
        <p:spPr>
          <a:xfrm>
            <a:off x="6728460" y="2546604"/>
            <a:ext cx="350520" cy="164592"/>
          </a:xfrm>
          <a:prstGeom prst="rect">
            <a:avLst/>
          </a:prstGeom>
          <a:solidFill>
            <a:schemeClr val="bg1"/>
          </a:solidFill>
          <a:ln w="6350">
            <a:solidFill>
              <a:srgbClr val="E1E7E3"/>
            </a:solidFill>
            <a:prstDash val="solid"/>
          </a:ln>
        </p:spPr>
      </p:sp>
      <p:sp>
        <p:nvSpPr>
          <p:cNvPr id="100" name="Shape 98"/>
          <p:cNvSpPr/>
          <p:nvPr/>
        </p:nvSpPr>
        <p:spPr>
          <a:xfrm>
            <a:off x="7124700" y="2546604"/>
            <a:ext cx="350520" cy="164592"/>
          </a:xfrm>
          <a:prstGeom prst="rect">
            <a:avLst/>
          </a:prstGeom>
          <a:solidFill>
            <a:schemeClr val="bg1"/>
          </a:solidFill>
          <a:ln w="6350">
            <a:solidFill>
              <a:srgbClr val="E1E7E3"/>
            </a:solidFill>
            <a:prstDash val="solid"/>
          </a:ln>
        </p:spPr>
      </p:sp>
      <p:sp>
        <p:nvSpPr>
          <p:cNvPr id="101" name="Shape 99"/>
          <p:cNvSpPr/>
          <p:nvPr/>
        </p:nvSpPr>
        <p:spPr>
          <a:xfrm>
            <a:off x="7520940" y="2546604"/>
            <a:ext cx="350520" cy="164592"/>
          </a:xfrm>
          <a:prstGeom prst="rect">
            <a:avLst/>
          </a:prstGeom>
          <a:solidFill>
            <a:schemeClr val="bg1"/>
          </a:solidFill>
          <a:ln w="6350">
            <a:solidFill>
              <a:srgbClr val="E1E7E3"/>
            </a:solidFill>
            <a:prstDash val="solid"/>
          </a:ln>
        </p:spPr>
      </p:sp>
      <p:sp>
        <p:nvSpPr>
          <p:cNvPr id="102" name="Shape 100"/>
          <p:cNvSpPr/>
          <p:nvPr/>
        </p:nvSpPr>
        <p:spPr>
          <a:xfrm>
            <a:off x="7917180" y="2546604"/>
            <a:ext cx="350520" cy="164592"/>
          </a:xfrm>
          <a:prstGeom prst="rect">
            <a:avLst/>
          </a:prstGeom>
          <a:solidFill>
            <a:schemeClr val="bg1"/>
          </a:solidFill>
          <a:ln w="6350">
            <a:solidFill>
              <a:srgbClr val="E1E7E3"/>
            </a:solidFill>
            <a:prstDash val="solid"/>
          </a:ln>
        </p:spPr>
      </p:sp>
      <p:sp>
        <p:nvSpPr>
          <p:cNvPr id="103" name="Shape 101"/>
          <p:cNvSpPr/>
          <p:nvPr/>
        </p:nvSpPr>
        <p:spPr>
          <a:xfrm>
            <a:off x="8313420" y="2546604"/>
            <a:ext cx="350520" cy="164592"/>
          </a:xfrm>
          <a:prstGeom prst="rect">
            <a:avLst/>
          </a:prstGeom>
          <a:solidFill>
            <a:schemeClr val="bg1"/>
          </a:solidFill>
          <a:ln w="6350">
            <a:solidFill>
              <a:srgbClr val="E1E7E3"/>
            </a:solidFill>
            <a:prstDash val="solid"/>
          </a:ln>
        </p:spPr>
      </p:sp>
      <p:sp>
        <p:nvSpPr>
          <p:cNvPr id="104" name="Shape 102"/>
          <p:cNvSpPr/>
          <p:nvPr/>
        </p:nvSpPr>
        <p:spPr>
          <a:xfrm>
            <a:off x="457200" y="2743200"/>
            <a:ext cx="3429000" cy="228600"/>
          </a:xfrm>
          <a:prstGeom prst="rect">
            <a:avLst/>
          </a:prstGeom>
          <a:solidFill>
            <a:schemeClr val="bg2"/>
          </a:solidFill>
          <a:ln/>
        </p:spPr>
      </p:sp>
      <p:sp>
        <p:nvSpPr>
          <p:cNvPr id="105" name="Text 103"/>
          <p:cNvSpPr txBox="1"/>
          <p:nvPr/>
        </p:nvSpPr>
        <p:spPr>
          <a:xfrm>
            <a:off x="530352" y="2743200"/>
            <a:ext cx="3383280" cy="228600"/>
          </a:xfrm>
          <a:prstGeom prst="rect">
            <a:avLst/>
          </a:prstGeom>
          <a:noFill/>
          <a:ln/>
        </p:spPr>
        <p:txBody>
          <a:bodyPr wrap="square" lIns="0" tIns="0" rIns="0" bIns="0" rtlCol="0" anchor="ctr"/>
          <a:lstStyle/>
          <a:p>
            <a:pPr indent="0" marL="0">
              <a:buNone/>
            </a:pPr>
            <a:r>
              <a:rPr lang="en-US" sz="1000" b="1" dirty="0">
                <a:solidFill>
                  <a:schemeClr val="accent4"/>
                </a:solidFill>
              </a:rPr>
              <a:t>O2  </a:t>
            </a:r>
            <a:pPr indent="0" marL="0">
              <a:buNone/>
            </a:pPr>
            <a:r>
              <a:rPr lang="en-US" sz="1000" dirty="0">
                <a:solidFill>
                  <a:schemeClr val="tx1"/>
                </a:solidFill>
              </a:rPr>
              <a:t>Penyusunan DRAM / PDD</a:t>
            </a:r>
            <a:endParaRPr lang="en-US" sz="1000" dirty="0"/>
          </a:p>
        </p:txBody>
      </p:sp>
      <p:sp>
        <p:nvSpPr>
          <p:cNvPr id="106" name="Shape 104"/>
          <p:cNvSpPr/>
          <p:nvPr/>
        </p:nvSpPr>
        <p:spPr>
          <a:xfrm>
            <a:off x="3954780" y="2775204"/>
            <a:ext cx="350520" cy="164592"/>
          </a:xfrm>
          <a:prstGeom prst="rect">
            <a:avLst/>
          </a:prstGeom>
          <a:solidFill>
            <a:schemeClr val="bg1"/>
          </a:solidFill>
          <a:ln w="6350">
            <a:solidFill>
              <a:srgbClr val="E1E7E3"/>
            </a:solidFill>
            <a:prstDash val="solid"/>
          </a:ln>
        </p:spPr>
      </p:sp>
      <p:sp>
        <p:nvSpPr>
          <p:cNvPr id="107" name="Shape 105"/>
          <p:cNvSpPr/>
          <p:nvPr/>
        </p:nvSpPr>
        <p:spPr>
          <a:xfrm>
            <a:off x="4351020" y="2775204"/>
            <a:ext cx="350520" cy="164592"/>
          </a:xfrm>
          <a:prstGeom prst="rect">
            <a:avLst/>
          </a:prstGeom>
          <a:solidFill>
            <a:schemeClr val="bg1"/>
          </a:solidFill>
          <a:ln w="6350">
            <a:solidFill>
              <a:srgbClr val="E1E7E3"/>
            </a:solidFill>
            <a:prstDash val="solid"/>
          </a:ln>
        </p:spPr>
      </p:sp>
      <p:sp>
        <p:nvSpPr>
          <p:cNvPr id="108" name="Shape 106"/>
          <p:cNvSpPr/>
          <p:nvPr/>
        </p:nvSpPr>
        <p:spPr>
          <a:xfrm>
            <a:off x="4747260" y="2775204"/>
            <a:ext cx="350520" cy="164592"/>
          </a:xfrm>
          <a:prstGeom prst="rect">
            <a:avLst/>
          </a:prstGeom>
          <a:solidFill>
            <a:schemeClr val="bg1"/>
          </a:solidFill>
          <a:ln w="6350">
            <a:solidFill>
              <a:srgbClr val="E1E7E3"/>
            </a:solidFill>
            <a:prstDash val="solid"/>
          </a:ln>
        </p:spPr>
      </p:sp>
      <p:sp>
        <p:nvSpPr>
          <p:cNvPr id="109" name="Shape 107"/>
          <p:cNvSpPr/>
          <p:nvPr/>
        </p:nvSpPr>
        <p:spPr>
          <a:xfrm>
            <a:off x="5143500" y="2775204"/>
            <a:ext cx="350520" cy="164592"/>
          </a:xfrm>
          <a:prstGeom prst="rect">
            <a:avLst/>
          </a:prstGeom>
          <a:solidFill>
            <a:schemeClr val="bg1"/>
          </a:solidFill>
          <a:ln w="6350">
            <a:solidFill>
              <a:srgbClr val="E1E7E3"/>
            </a:solidFill>
            <a:prstDash val="solid"/>
          </a:ln>
        </p:spPr>
      </p:sp>
      <p:sp>
        <p:nvSpPr>
          <p:cNvPr id="110" name="Shape 108"/>
          <p:cNvSpPr/>
          <p:nvPr/>
        </p:nvSpPr>
        <p:spPr>
          <a:xfrm>
            <a:off x="5539740" y="2775204"/>
            <a:ext cx="350520" cy="164592"/>
          </a:xfrm>
          <a:prstGeom prst="rect">
            <a:avLst/>
          </a:prstGeom>
          <a:solidFill>
            <a:schemeClr val="bg1"/>
          </a:solidFill>
          <a:ln w="6350">
            <a:solidFill>
              <a:srgbClr val="E1E7E3"/>
            </a:solidFill>
            <a:prstDash val="solid"/>
          </a:ln>
        </p:spPr>
      </p:sp>
      <p:sp>
        <p:nvSpPr>
          <p:cNvPr id="111" name="Shape 109"/>
          <p:cNvSpPr/>
          <p:nvPr/>
        </p:nvSpPr>
        <p:spPr>
          <a:xfrm>
            <a:off x="5935980" y="2775204"/>
            <a:ext cx="350520" cy="164592"/>
          </a:xfrm>
          <a:prstGeom prst="rect">
            <a:avLst/>
          </a:prstGeom>
          <a:solidFill>
            <a:schemeClr val="bg1"/>
          </a:solidFill>
          <a:ln w="6350">
            <a:solidFill>
              <a:srgbClr val="E1E7E3"/>
            </a:solidFill>
            <a:prstDash val="solid"/>
          </a:ln>
        </p:spPr>
      </p:sp>
      <p:sp>
        <p:nvSpPr>
          <p:cNvPr id="112" name="Shape 110"/>
          <p:cNvSpPr/>
          <p:nvPr/>
        </p:nvSpPr>
        <p:spPr>
          <a:xfrm>
            <a:off x="6332220" y="2775204"/>
            <a:ext cx="350520" cy="164592"/>
          </a:xfrm>
          <a:prstGeom prst="rect">
            <a:avLst/>
          </a:prstGeom>
          <a:solidFill>
            <a:schemeClr val="accent4"/>
          </a:solidFill>
          <a:ln/>
        </p:spPr>
      </p:sp>
      <p:sp>
        <p:nvSpPr>
          <p:cNvPr id="113" name="Shape 111"/>
          <p:cNvSpPr/>
          <p:nvPr/>
        </p:nvSpPr>
        <p:spPr>
          <a:xfrm>
            <a:off x="6728460" y="2775204"/>
            <a:ext cx="350520" cy="164592"/>
          </a:xfrm>
          <a:prstGeom prst="rect">
            <a:avLst/>
          </a:prstGeom>
          <a:solidFill>
            <a:schemeClr val="accent4"/>
          </a:solidFill>
          <a:ln/>
        </p:spPr>
      </p:sp>
      <p:sp>
        <p:nvSpPr>
          <p:cNvPr id="114" name="Shape 112"/>
          <p:cNvSpPr/>
          <p:nvPr/>
        </p:nvSpPr>
        <p:spPr>
          <a:xfrm>
            <a:off x="7124700" y="2775204"/>
            <a:ext cx="350520" cy="164592"/>
          </a:xfrm>
          <a:prstGeom prst="rect">
            <a:avLst/>
          </a:prstGeom>
          <a:solidFill>
            <a:schemeClr val="bg1"/>
          </a:solidFill>
          <a:ln w="6350">
            <a:solidFill>
              <a:srgbClr val="E1E7E3"/>
            </a:solidFill>
            <a:prstDash val="solid"/>
          </a:ln>
        </p:spPr>
      </p:sp>
      <p:sp>
        <p:nvSpPr>
          <p:cNvPr id="115" name="Shape 113"/>
          <p:cNvSpPr/>
          <p:nvPr/>
        </p:nvSpPr>
        <p:spPr>
          <a:xfrm>
            <a:off x="7520940" y="2775204"/>
            <a:ext cx="350520" cy="164592"/>
          </a:xfrm>
          <a:prstGeom prst="rect">
            <a:avLst/>
          </a:prstGeom>
          <a:solidFill>
            <a:schemeClr val="bg1"/>
          </a:solidFill>
          <a:ln w="6350">
            <a:solidFill>
              <a:srgbClr val="E1E7E3"/>
            </a:solidFill>
            <a:prstDash val="solid"/>
          </a:ln>
        </p:spPr>
      </p:sp>
      <p:sp>
        <p:nvSpPr>
          <p:cNvPr id="116" name="Shape 114"/>
          <p:cNvSpPr/>
          <p:nvPr/>
        </p:nvSpPr>
        <p:spPr>
          <a:xfrm>
            <a:off x="7917180" y="2775204"/>
            <a:ext cx="350520" cy="164592"/>
          </a:xfrm>
          <a:prstGeom prst="rect">
            <a:avLst/>
          </a:prstGeom>
          <a:solidFill>
            <a:schemeClr val="bg1"/>
          </a:solidFill>
          <a:ln w="6350">
            <a:solidFill>
              <a:srgbClr val="E1E7E3"/>
            </a:solidFill>
            <a:prstDash val="solid"/>
          </a:ln>
        </p:spPr>
      </p:sp>
      <p:sp>
        <p:nvSpPr>
          <p:cNvPr id="117" name="Shape 115"/>
          <p:cNvSpPr/>
          <p:nvPr/>
        </p:nvSpPr>
        <p:spPr>
          <a:xfrm>
            <a:off x="8313420" y="2775204"/>
            <a:ext cx="350520" cy="164592"/>
          </a:xfrm>
          <a:prstGeom prst="rect">
            <a:avLst/>
          </a:prstGeom>
          <a:solidFill>
            <a:schemeClr val="bg1"/>
          </a:solidFill>
          <a:ln w="6350">
            <a:solidFill>
              <a:srgbClr val="E1E7E3"/>
            </a:solidFill>
            <a:prstDash val="solid"/>
          </a:ln>
        </p:spPr>
      </p:sp>
      <p:sp>
        <p:nvSpPr>
          <p:cNvPr id="118" name="Text 116"/>
          <p:cNvSpPr txBox="1"/>
          <p:nvPr/>
        </p:nvSpPr>
        <p:spPr>
          <a:xfrm>
            <a:off x="530352" y="2971800"/>
            <a:ext cx="3383280" cy="228600"/>
          </a:xfrm>
          <a:prstGeom prst="rect">
            <a:avLst/>
          </a:prstGeom>
          <a:noFill/>
          <a:ln/>
        </p:spPr>
        <p:txBody>
          <a:bodyPr wrap="square" lIns="0" tIns="0" rIns="0" bIns="0" rtlCol="0" anchor="ctr"/>
          <a:lstStyle/>
          <a:p>
            <a:pPr indent="0" marL="0">
              <a:buNone/>
            </a:pPr>
            <a:r>
              <a:rPr lang="en-US" sz="1000" b="1" dirty="0">
                <a:solidFill>
                  <a:schemeClr val="accent4"/>
                </a:solidFill>
              </a:rPr>
              <a:t>O2  </a:t>
            </a:r>
            <a:pPr indent="0" marL="0">
              <a:buNone/>
            </a:pPr>
            <a:r>
              <a:rPr lang="en-US" sz="1000" dirty="0">
                <a:solidFill>
                  <a:schemeClr val="tx1"/>
                </a:solidFill>
              </a:rPr>
              <a:t>Persetujuan, SRUK &amp; pendaftaran registri</a:t>
            </a:r>
            <a:endParaRPr lang="en-US" sz="1000" dirty="0"/>
          </a:p>
        </p:txBody>
      </p:sp>
      <p:sp>
        <p:nvSpPr>
          <p:cNvPr id="119" name="Shape 117"/>
          <p:cNvSpPr/>
          <p:nvPr/>
        </p:nvSpPr>
        <p:spPr>
          <a:xfrm>
            <a:off x="3954780" y="3003804"/>
            <a:ext cx="350520" cy="164592"/>
          </a:xfrm>
          <a:prstGeom prst="rect">
            <a:avLst/>
          </a:prstGeom>
          <a:solidFill>
            <a:schemeClr val="bg1"/>
          </a:solidFill>
          <a:ln w="6350">
            <a:solidFill>
              <a:srgbClr val="E1E7E3"/>
            </a:solidFill>
            <a:prstDash val="solid"/>
          </a:ln>
        </p:spPr>
      </p:sp>
      <p:sp>
        <p:nvSpPr>
          <p:cNvPr id="120" name="Shape 118"/>
          <p:cNvSpPr/>
          <p:nvPr/>
        </p:nvSpPr>
        <p:spPr>
          <a:xfrm>
            <a:off x="4351020" y="3003804"/>
            <a:ext cx="350520" cy="164592"/>
          </a:xfrm>
          <a:prstGeom prst="rect">
            <a:avLst/>
          </a:prstGeom>
          <a:solidFill>
            <a:schemeClr val="bg1"/>
          </a:solidFill>
          <a:ln w="6350">
            <a:solidFill>
              <a:srgbClr val="E1E7E3"/>
            </a:solidFill>
            <a:prstDash val="solid"/>
          </a:ln>
        </p:spPr>
      </p:sp>
      <p:sp>
        <p:nvSpPr>
          <p:cNvPr id="121" name="Shape 119"/>
          <p:cNvSpPr/>
          <p:nvPr/>
        </p:nvSpPr>
        <p:spPr>
          <a:xfrm>
            <a:off x="4747260" y="3003804"/>
            <a:ext cx="350520" cy="164592"/>
          </a:xfrm>
          <a:prstGeom prst="rect">
            <a:avLst/>
          </a:prstGeom>
          <a:solidFill>
            <a:schemeClr val="bg1"/>
          </a:solidFill>
          <a:ln w="6350">
            <a:solidFill>
              <a:srgbClr val="E1E7E3"/>
            </a:solidFill>
            <a:prstDash val="solid"/>
          </a:ln>
        </p:spPr>
      </p:sp>
      <p:sp>
        <p:nvSpPr>
          <p:cNvPr id="122" name="Shape 120"/>
          <p:cNvSpPr/>
          <p:nvPr/>
        </p:nvSpPr>
        <p:spPr>
          <a:xfrm>
            <a:off x="5143500" y="3003804"/>
            <a:ext cx="350520" cy="164592"/>
          </a:xfrm>
          <a:prstGeom prst="rect">
            <a:avLst/>
          </a:prstGeom>
          <a:solidFill>
            <a:schemeClr val="accent4"/>
          </a:solidFill>
          <a:ln/>
        </p:spPr>
      </p:sp>
      <p:sp>
        <p:nvSpPr>
          <p:cNvPr id="123" name="Shape 121"/>
          <p:cNvSpPr/>
          <p:nvPr/>
        </p:nvSpPr>
        <p:spPr>
          <a:xfrm>
            <a:off x="5539740" y="3003804"/>
            <a:ext cx="350520" cy="164592"/>
          </a:xfrm>
          <a:prstGeom prst="rect">
            <a:avLst/>
          </a:prstGeom>
          <a:solidFill>
            <a:schemeClr val="accent4"/>
          </a:solidFill>
          <a:ln/>
        </p:spPr>
      </p:sp>
      <p:sp>
        <p:nvSpPr>
          <p:cNvPr id="124" name="Shape 122"/>
          <p:cNvSpPr/>
          <p:nvPr/>
        </p:nvSpPr>
        <p:spPr>
          <a:xfrm>
            <a:off x="5935980" y="3003804"/>
            <a:ext cx="350520" cy="164592"/>
          </a:xfrm>
          <a:prstGeom prst="rect">
            <a:avLst/>
          </a:prstGeom>
          <a:solidFill>
            <a:schemeClr val="accent4"/>
          </a:solidFill>
          <a:ln/>
        </p:spPr>
      </p:sp>
      <p:sp>
        <p:nvSpPr>
          <p:cNvPr id="125" name="Shape 123"/>
          <p:cNvSpPr/>
          <p:nvPr/>
        </p:nvSpPr>
        <p:spPr>
          <a:xfrm>
            <a:off x="6332220" y="3003804"/>
            <a:ext cx="350520" cy="164592"/>
          </a:xfrm>
          <a:prstGeom prst="rect">
            <a:avLst/>
          </a:prstGeom>
          <a:solidFill>
            <a:schemeClr val="accent4"/>
          </a:solidFill>
          <a:ln/>
        </p:spPr>
      </p:sp>
      <p:sp>
        <p:nvSpPr>
          <p:cNvPr id="126" name="Shape 124"/>
          <p:cNvSpPr/>
          <p:nvPr/>
        </p:nvSpPr>
        <p:spPr>
          <a:xfrm>
            <a:off x="6728460" y="3003804"/>
            <a:ext cx="350520" cy="164592"/>
          </a:xfrm>
          <a:prstGeom prst="rect">
            <a:avLst/>
          </a:prstGeom>
          <a:solidFill>
            <a:schemeClr val="accent4"/>
          </a:solidFill>
          <a:ln/>
        </p:spPr>
      </p:sp>
      <p:sp>
        <p:nvSpPr>
          <p:cNvPr id="127" name="Shape 125"/>
          <p:cNvSpPr/>
          <p:nvPr/>
        </p:nvSpPr>
        <p:spPr>
          <a:xfrm>
            <a:off x="7124700" y="3003804"/>
            <a:ext cx="350520" cy="164592"/>
          </a:xfrm>
          <a:prstGeom prst="rect">
            <a:avLst/>
          </a:prstGeom>
          <a:solidFill>
            <a:schemeClr val="accent4"/>
          </a:solidFill>
          <a:ln/>
        </p:spPr>
      </p:sp>
      <p:sp>
        <p:nvSpPr>
          <p:cNvPr id="128" name="Shape 126"/>
          <p:cNvSpPr/>
          <p:nvPr/>
        </p:nvSpPr>
        <p:spPr>
          <a:xfrm>
            <a:off x="7520940" y="3003804"/>
            <a:ext cx="350520" cy="164592"/>
          </a:xfrm>
          <a:prstGeom prst="rect">
            <a:avLst/>
          </a:prstGeom>
          <a:solidFill>
            <a:schemeClr val="accent4"/>
          </a:solidFill>
          <a:ln/>
        </p:spPr>
      </p:sp>
      <p:sp>
        <p:nvSpPr>
          <p:cNvPr id="129" name="Shape 127"/>
          <p:cNvSpPr/>
          <p:nvPr/>
        </p:nvSpPr>
        <p:spPr>
          <a:xfrm>
            <a:off x="7917180" y="3003804"/>
            <a:ext cx="350520" cy="164592"/>
          </a:xfrm>
          <a:prstGeom prst="rect">
            <a:avLst/>
          </a:prstGeom>
          <a:solidFill>
            <a:schemeClr val="accent4"/>
          </a:solidFill>
          <a:ln/>
        </p:spPr>
      </p:sp>
      <p:sp>
        <p:nvSpPr>
          <p:cNvPr id="130" name="Shape 128"/>
          <p:cNvSpPr/>
          <p:nvPr/>
        </p:nvSpPr>
        <p:spPr>
          <a:xfrm>
            <a:off x="8313420" y="3003804"/>
            <a:ext cx="350520" cy="164592"/>
          </a:xfrm>
          <a:prstGeom prst="rect">
            <a:avLst/>
          </a:prstGeom>
          <a:solidFill>
            <a:schemeClr val="bg1"/>
          </a:solidFill>
          <a:ln w="6350">
            <a:solidFill>
              <a:srgbClr val="E1E7E3"/>
            </a:solidFill>
            <a:prstDash val="solid"/>
          </a:ln>
        </p:spPr>
      </p:sp>
      <p:sp>
        <p:nvSpPr>
          <p:cNvPr id="131" name="Shape 129"/>
          <p:cNvSpPr/>
          <p:nvPr/>
        </p:nvSpPr>
        <p:spPr>
          <a:xfrm>
            <a:off x="457200" y="3200400"/>
            <a:ext cx="3429000" cy="228600"/>
          </a:xfrm>
          <a:prstGeom prst="rect">
            <a:avLst/>
          </a:prstGeom>
          <a:solidFill>
            <a:schemeClr val="bg2"/>
          </a:solidFill>
          <a:ln/>
        </p:spPr>
      </p:sp>
      <p:sp>
        <p:nvSpPr>
          <p:cNvPr id="132" name="Text 130"/>
          <p:cNvSpPr txBox="1"/>
          <p:nvPr/>
        </p:nvSpPr>
        <p:spPr>
          <a:xfrm>
            <a:off x="530352" y="3200400"/>
            <a:ext cx="3383280" cy="228600"/>
          </a:xfrm>
          <a:prstGeom prst="rect">
            <a:avLst/>
          </a:prstGeom>
          <a:noFill/>
          <a:ln/>
        </p:spPr>
        <p:txBody>
          <a:bodyPr wrap="square" lIns="0" tIns="0" rIns="0" bIns="0" rtlCol="0" anchor="ctr"/>
          <a:lstStyle/>
          <a:p>
            <a:pPr indent="0" marL="0">
              <a:buNone/>
            </a:pPr>
            <a:r>
              <a:rPr lang="en-US" sz="1000" b="1" dirty="0">
                <a:solidFill>
                  <a:schemeClr val="accent6"/>
                </a:solidFill>
              </a:rPr>
              <a:t>O3  </a:t>
            </a:r>
            <a:pPr indent="0" marL="0">
              <a:buNone/>
            </a:pPr>
            <a:r>
              <a:rPr lang="en-US" sz="1000" dirty="0">
                <a:solidFill>
                  <a:schemeClr val="tx1"/>
                </a:solidFill>
              </a:rPr>
              <a:t>High-level meeting dengan swasta</a:t>
            </a:r>
            <a:endParaRPr lang="en-US" sz="1000" dirty="0"/>
          </a:p>
        </p:txBody>
      </p:sp>
      <p:sp>
        <p:nvSpPr>
          <p:cNvPr id="133" name="Shape 131"/>
          <p:cNvSpPr/>
          <p:nvPr/>
        </p:nvSpPr>
        <p:spPr>
          <a:xfrm>
            <a:off x="3954780" y="3232404"/>
            <a:ext cx="350520" cy="164592"/>
          </a:xfrm>
          <a:prstGeom prst="rect">
            <a:avLst/>
          </a:prstGeom>
          <a:solidFill>
            <a:schemeClr val="bg1"/>
          </a:solidFill>
          <a:ln w="6350">
            <a:solidFill>
              <a:srgbClr val="E1E7E3"/>
            </a:solidFill>
            <a:prstDash val="solid"/>
          </a:ln>
        </p:spPr>
      </p:sp>
      <p:sp>
        <p:nvSpPr>
          <p:cNvPr id="134" name="Shape 132"/>
          <p:cNvSpPr/>
          <p:nvPr/>
        </p:nvSpPr>
        <p:spPr>
          <a:xfrm>
            <a:off x="4351020" y="3232404"/>
            <a:ext cx="350520" cy="164592"/>
          </a:xfrm>
          <a:prstGeom prst="rect">
            <a:avLst/>
          </a:prstGeom>
          <a:solidFill>
            <a:schemeClr val="accent6"/>
          </a:solidFill>
          <a:ln/>
        </p:spPr>
      </p:sp>
      <p:sp>
        <p:nvSpPr>
          <p:cNvPr id="135" name="Shape 133"/>
          <p:cNvSpPr/>
          <p:nvPr/>
        </p:nvSpPr>
        <p:spPr>
          <a:xfrm>
            <a:off x="4747260" y="3232404"/>
            <a:ext cx="350520" cy="164592"/>
          </a:xfrm>
          <a:prstGeom prst="rect">
            <a:avLst/>
          </a:prstGeom>
          <a:solidFill>
            <a:schemeClr val="bg1"/>
          </a:solidFill>
          <a:ln w="6350">
            <a:solidFill>
              <a:srgbClr val="E1E7E3"/>
            </a:solidFill>
            <a:prstDash val="solid"/>
          </a:ln>
        </p:spPr>
      </p:sp>
      <p:sp>
        <p:nvSpPr>
          <p:cNvPr id="136" name="Shape 134"/>
          <p:cNvSpPr/>
          <p:nvPr/>
        </p:nvSpPr>
        <p:spPr>
          <a:xfrm>
            <a:off x="5143500" y="3232404"/>
            <a:ext cx="350520" cy="164592"/>
          </a:xfrm>
          <a:prstGeom prst="rect">
            <a:avLst/>
          </a:prstGeom>
          <a:solidFill>
            <a:schemeClr val="accent6"/>
          </a:solidFill>
          <a:ln/>
        </p:spPr>
      </p:sp>
      <p:sp>
        <p:nvSpPr>
          <p:cNvPr id="137" name="Shape 135"/>
          <p:cNvSpPr/>
          <p:nvPr/>
        </p:nvSpPr>
        <p:spPr>
          <a:xfrm>
            <a:off x="5539740" y="3232404"/>
            <a:ext cx="350520" cy="164592"/>
          </a:xfrm>
          <a:prstGeom prst="rect">
            <a:avLst/>
          </a:prstGeom>
          <a:solidFill>
            <a:schemeClr val="bg1"/>
          </a:solidFill>
          <a:ln w="6350">
            <a:solidFill>
              <a:srgbClr val="E1E7E3"/>
            </a:solidFill>
            <a:prstDash val="solid"/>
          </a:ln>
        </p:spPr>
      </p:sp>
      <p:sp>
        <p:nvSpPr>
          <p:cNvPr id="138" name="Shape 136"/>
          <p:cNvSpPr/>
          <p:nvPr/>
        </p:nvSpPr>
        <p:spPr>
          <a:xfrm>
            <a:off x="5935980" y="3232404"/>
            <a:ext cx="350520" cy="164592"/>
          </a:xfrm>
          <a:prstGeom prst="rect">
            <a:avLst/>
          </a:prstGeom>
          <a:solidFill>
            <a:schemeClr val="accent6"/>
          </a:solidFill>
          <a:ln/>
        </p:spPr>
      </p:sp>
      <p:sp>
        <p:nvSpPr>
          <p:cNvPr id="139" name="Shape 137"/>
          <p:cNvSpPr/>
          <p:nvPr/>
        </p:nvSpPr>
        <p:spPr>
          <a:xfrm>
            <a:off x="6332220" y="3232404"/>
            <a:ext cx="350520" cy="164592"/>
          </a:xfrm>
          <a:prstGeom prst="rect">
            <a:avLst/>
          </a:prstGeom>
          <a:solidFill>
            <a:schemeClr val="bg1"/>
          </a:solidFill>
          <a:ln w="6350">
            <a:solidFill>
              <a:srgbClr val="E1E7E3"/>
            </a:solidFill>
            <a:prstDash val="solid"/>
          </a:ln>
        </p:spPr>
      </p:sp>
      <p:sp>
        <p:nvSpPr>
          <p:cNvPr id="140" name="Shape 138"/>
          <p:cNvSpPr/>
          <p:nvPr/>
        </p:nvSpPr>
        <p:spPr>
          <a:xfrm>
            <a:off x="6728460" y="3232404"/>
            <a:ext cx="350520" cy="164592"/>
          </a:xfrm>
          <a:prstGeom prst="rect">
            <a:avLst/>
          </a:prstGeom>
          <a:solidFill>
            <a:schemeClr val="accent6"/>
          </a:solidFill>
          <a:ln/>
        </p:spPr>
      </p:sp>
      <p:sp>
        <p:nvSpPr>
          <p:cNvPr id="141" name="Shape 139"/>
          <p:cNvSpPr/>
          <p:nvPr/>
        </p:nvSpPr>
        <p:spPr>
          <a:xfrm>
            <a:off x="7124700" y="3232404"/>
            <a:ext cx="350520" cy="164592"/>
          </a:xfrm>
          <a:prstGeom prst="rect">
            <a:avLst/>
          </a:prstGeom>
          <a:solidFill>
            <a:schemeClr val="bg1"/>
          </a:solidFill>
          <a:ln w="6350">
            <a:solidFill>
              <a:srgbClr val="E1E7E3"/>
            </a:solidFill>
            <a:prstDash val="solid"/>
          </a:ln>
        </p:spPr>
      </p:sp>
      <p:sp>
        <p:nvSpPr>
          <p:cNvPr id="142" name="Shape 140"/>
          <p:cNvSpPr/>
          <p:nvPr/>
        </p:nvSpPr>
        <p:spPr>
          <a:xfrm>
            <a:off x="7520940" y="3232404"/>
            <a:ext cx="350520" cy="164592"/>
          </a:xfrm>
          <a:prstGeom prst="rect">
            <a:avLst/>
          </a:prstGeom>
          <a:solidFill>
            <a:schemeClr val="accent6"/>
          </a:solidFill>
          <a:ln/>
        </p:spPr>
      </p:sp>
      <p:sp>
        <p:nvSpPr>
          <p:cNvPr id="143" name="Shape 141"/>
          <p:cNvSpPr/>
          <p:nvPr/>
        </p:nvSpPr>
        <p:spPr>
          <a:xfrm>
            <a:off x="7917180" y="3232404"/>
            <a:ext cx="350520" cy="164592"/>
          </a:xfrm>
          <a:prstGeom prst="rect">
            <a:avLst/>
          </a:prstGeom>
          <a:solidFill>
            <a:schemeClr val="bg1"/>
          </a:solidFill>
          <a:ln w="6350">
            <a:solidFill>
              <a:srgbClr val="E1E7E3"/>
            </a:solidFill>
            <a:prstDash val="solid"/>
          </a:ln>
        </p:spPr>
      </p:sp>
      <p:sp>
        <p:nvSpPr>
          <p:cNvPr id="144" name="Shape 142"/>
          <p:cNvSpPr/>
          <p:nvPr/>
        </p:nvSpPr>
        <p:spPr>
          <a:xfrm>
            <a:off x="8313420" y="3232404"/>
            <a:ext cx="350520" cy="164592"/>
          </a:xfrm>
          <a:prstGeom prst="rect">
            <a:avLst/>
          </a:prstGeom>
          <a:solidFill>
            <a:schemeClr val="bg1"/>
          </a:solidFill>
          <a:ln w="6350">
            <a:solidFill>
              <a:srgbClr val="E1E7E3"/>
            </a:solidFill>
            <a:prstDash val="solid"/>
          </a:ln>
        </p:spPr>
      </p:sp>
      <p:sp>
        <p:nvSpPr>
          <p:cNvPr id="145" name="Text 143"/>
          <p:cNvSpPr txBox="1"/>
          <p:nvPr/>
        </p:nvSpPr>
        <p:spPr>
          <a:xfrm>
            <a:off x="530352" y="3429000"/>
            <a:ext cx="3383280" cy="228600"/>
          </a:xfrm>
          <a:prstGeom prst="rect">
            <a:avLst/>
          </a:prstGeom>
          <a:noFill/>
          <a:ln/>
        </p:spPr>
        <p:txBody>
          <a:bodyPr wrap="square" lIns="0" tIns="0" rIns="0" bIns="0" rtlCol="0" anchor="ctr"/>
          <a:lstStyle/>
          <a:p>
            <a:pPr indent="0" marL="0">
              <a:buNone/>
            </a:pPr>
            <a:r>
              <a:rPr lang="en-US" sz="1000" b="1" dirty="0">
                <a:solidFill>
                  <a:schemeClr val="accent6"/>
                </a:solidFill>
              </a:rPr>
              <a:t>O3  </a:t>
            </a:r>
            <a:pPr indent="0" marL="0">
              <a:buNone/>
            </a:pPr>
            <a:r>
              <a:rPr lang="en-US" sz="1000" dirty="0">
                <a:solidFill>
                  <a:schemeClr val="tx1"/>
                </a:solidFill>
              </a:rPr>
              <a:t>Penandatanganan kerja sama swasta</a:t>
            </a:r>
            <a:endParaRPr lang="en-US" sz="1000" dirty="0"/>
          </a:p>
        </p:txBody>
      </p:sp>
      <p:sp>
        <p:nvSpPr>
          <p:cNvPr id="146" name="Shape 144"/>
          <p:cNvSpPr/>
          <p:nvPr/>
        </p:nvSpPr>
        <p:spPr>
          <a:xfrm>
            <a:off x="3954780" y="3461004"/>
            <a:ext cx="350520" cy="164592"/>
          </a:xfrm>
          <a:prstGeom prst="rect">
            <a:avLst/>
          </a:prstGeom>
          <a:solidFill>
            <a:schemeClr val="bg1"/>
          </a:solidFill>
          <a:ln w="6350">
            <a:solidFill>
              <a:srgbClr val="E1E7E3"/>
            </a:solidFill>
            <a:prstDash val="solid"/>
          </a:ln>
        </p:spPr>
      </p:sp>
      <p:sp>
        <p:nvSpPr>
          <p:cNvPr id="147" name="Shape 145"/>
          <p:cNvSpPr/>
          <p:nvPr/>
        </p:nvSpPr>
        <p:spPr>
          <a:xfrm>
            <a:off x="4351020" y="3461004"/>
            <a:ext cx="350520" cy="164592"/>
          </a:xfrm>
          <a:prstGeom prst="rect">
            <a:avLst/>
          </a:prstGeom>
          <a:solidFill>
            <a:schemeClr val="bg1"/>
          </a:solidFill>
          <a:ln w="6350">
            <a:solidFill>
              <a:srgbClr val="E1E7E3"/>
            </a:solidFill>
            <a:prstDash val="solid"/>
          </a:ln>
        </p:spPr>
      </p:sp>
      <p:sp>
        <p:nvSpPr>
          <p:cNvPr id="148" name="Shape 146"/>
          <p:cNvSpPr/>
          <p:nvPr/>
        </p:nvSpPr>
        <p:spPr>
          <a:xfrm>
            <a:off x="4747260" y="3461004"/>
            <a:ext cx="350520" cy="164592"/>
          </a:xfrm>
          <a:prstGeom prst="rect">
            <a:avLst/>
          </a:prstGeom>
          <a:solidFill>
            <a:schemeClr val="bg1"/>
          </a:solidFill>
          <a:ln w="6350">
            <a:solidFill>
              <a:srgbClr val="E1E7E3"/>
            </a:solidFill>
            <a:prstDash val="solid"/>
          </a:ln>
        </p:spPr>
      </p:sp>
      <p:sp>
        <p:nvSpPr>
          <p:cNvPr id="149" name="Shape 147"/>
          <p:cNvSpPr/>
          <p:nvPr/>
        </p:nvSpPr>
        <p:spPr>
          <a:xfrm>
            <a:off x="5143500" y="3461004"/>
            <a:ext cx="350520" cy="164592"/>
          </a:xfrm>
          <a:prstGeom prst="rect">
            <a:avLst/>
          </a:prstGeom>
          <a:solidFill>
            <a:schemeClr val="bg1"/>
          </a:solidFill>
          <a:ln w="6350">
            <a:solidFill>
              <a:srgbClr val="E1E7E3"/>
            </a:solidFill>
            <a:prstDash val="solid"/>
          </a:ln>
        </p:spPr>
      </p:sp>
      <p:sp>
        <p:nvSpPr>
          <p:cNvPr id="150" name="Shape 148"/>
          <p:cNvSpPr/>
          <p:nvPr/>
        </p:nvSpPr>
        <p:spPr>
          <a:xfrm>
            <a:off x="5539740" y="3461004"/>
            <a:ext cx="350520" cy="164592"/>
          </a:xfrm>
          <a:prstGeom prst="rect">
            <a:avLst/>
          </a:prstGeom>
          <a:solidFill>
            <a:schemeClr val="bg1"/>
          </a:solidFill>
          <a:ln w="6350">
            <a:solidFill>
              <a:srgbClr val="E1E7E3"/>
            </a:solidFill>
            <a:prstDash val="solid"/>
          </a:ln>
        </p:spPr>
      </p:sp>
      <p:sp>
        <p:nvSpPr>
          <p:cNvPr id="151" name="Shape 149"/>
          <p:cNvSpPr/>
          <p:nvPr/>
        </p:nvSpPr>
        <p:spPr>
          <a:xfrm>
            <a:off x="5935980" y="3461004"/>
            <a:ext cx="350520" cy="164592"/>
          </a:xfrm>
          <a:prstGeom prst="rect">
            <a:avLst/>
          </a:prstGeom>
          <a:solidFill>
            <a:schemeClr val="bg1"/>
          </a:solidFill>
          <a:ln w="6350">
            <a:solidFill>
              <a:srgbClr val="E1E7E3"/>
            </a:solidFill>
            <a:prstDash val="solid"/>
          </a:ln>
        </p:spPr>
      </p:sp>
      <p:sp>
        <p:nvSpPr>
          <p:cNvPr id="152" name="Shape 150"/>
          <p:cNvSpPr/>
          <p:nvPr/>
        </p:nvSpPr>
        <p:spPr>
          <a:xfrm>
            <a:off x="6332220" y="3461004"/>
            <a:ext cx="350520" cy="164592"/>
          </a:xfrm>
          <a:prstGeom prst="rect">
            <a:avLst/>
          </a:prstGeom>
          <a:solidFill>
            <a:schemeClr val="bg1"/>
          </a:solidFill>
          <a:ln w="6350">
            <a:solidFill>
              <a:srgbClr val="E1E7E3"/>
            </a:solidFill>
            <a:prstDash val="solid"/>
          </a:ln>
        </p:spPr>
      </p:sp>
      <p:sp>
        <p:nvSpPr>
          <p:cNvPr id="153" name="Shape 151"/>
          <p:cNvSpPr/>
          <p:nvPr/>
        </p:nvSpPr>
        <p:spPr>
          <a:xfrm>
            <a:off x="6728460" y="3461004"/>
            <a:ext cx="350520" cy="164592"/>
          </a:xfrm>
          <a:prstGeom prst="rect">
            <a:avLst/>
          </a:prstGeom>
          <a:solidFill>
            <a:schemeClr val="bg1"/>
          </a:solidFill>
          <a:ln w="6350">
            <a:solidFill>
              <a:srgbClr val="E1E7E3"/>
            </a:solidFill>
            <a:prstDash val="solid"/>
          </a:ln>
        </p:spPr>
      </p:sp>
      <p:sp>
        <p:nvSpPr>
          <p:cNvPr id="154" name="Shape 152"/>
          <p:cNvSpPr/>
          <p:nvPr/>
        </p:nvSpPr>
        <p:spPr>
          <a:xfrm>
            <a:off x="7124700" y="3461004"/>
            <a:ext cx="350520" cy="164592"/>
          </a:xfrm>
          <a:prstGeom prst="rect">
            <a:avLst/>
          </a:prstGeom>
          <a:solidFill>
            <a:schemeClr val="bg1"/>
          </a:solidFill>
          <a:ln w="6350">
            <a:solidFill>
              <a:srgbClr val="E1E7E3"/>
            </a:solidFill>
            <a:prstDash val="solid"/>
          </a:ln>
        </p:spPr>
      </p:sp>
      <p:sp>
        <p:nvSpPr>
          <p:cNvPr id="155" name="Shape 153"/>
          <p:cNvSpPr/>
          <p:nvPr/>
        </p:nvSpPr>
        <p:spPr>
          <a:xfrm>
            <a:off x="7520940" y="3461004"/>
            <a:ext cx="350520" cy="164592"/>
          </a:xfrm>
          <a:prstGeom prst="rect">
            <a:avLst/>
          </a:prstGeom>
          <a:solidFill>
            <a:schemeClr val="bg1"/>
          </a:solidFill>
          <a:ln w="6350">
            <a:solidFill>
              <a:srgbClr val="E1E7E3"/>
            </a:solidFill>
            <a:prstDash val="solid"/>
          </a:ln>
        </p:spPr>
      </p:sp>
      <p:sp>
        <p:nvSpPr>
          <p:cNvPr id="156" name="Shape 154"/>
          <p:cNvSpPr/>
          <p:nvPr/>
        </p:nvSpPr>
        <p:spPr>
          <a:xfrm>
            <a:off x="7917180" y="3461004"/>
            <a:ext cx="350520" cy="164592"/>
          </a:xfrm>
          <a:prstGeom prst="rect">
            <a:avLst/>
          </a:prstGeom>
          <a:solidFill>
            <a:schemeClr val="accent6"/>
          </a:solidFill>
          <a:ln/>
        </p:spPr>
      </p:sp>
      <p:sp>
        <p:nvSpPr>
          <p:cNvPr id="157" name="Shape 155"/>
          <p:cNvSpPr/>
          <p:nvPr/>
        </p:nvSpPr>
        <p:spPr>
          <a:xfrm>
            <a:off x="8313420" y="3461004"/>
            <a:ext cx="350520" cy="164592"/>
          </a:xfrm>
          <a:prstGeom prst="rect">
            <a:avLst/>
          </a:prstGeom>
          <a:solidFill>
            <a:schemeClr val="accent6"/>
          </a:solidFill>
          <a:ln/>
        </p:spPr>
      </p:sp>
      <p:sp>
        <p:nvSpPr>
          <p:cNvPr id="158" name="Shape 156"/>
          <p:cNvSpPr/>
          <p:nvPr/>
        </p:nvSpPr>
        <p:spPr>
          <a:xfrm>
            <a:off x="457200" y="3657600"/>
            <a:ext cx="3429000" cy="228600"/>
          </a:xfrm>
          <a:prstGeom prst="rect">
            <a:avLst/>
          </a:prstGeom>
          <a:solidFill>
            <a:schemeClr val="bg2"/>
          </a:solidFill>
          <a:ln/>
        </p:spPr>
      </p:sp>
      <p:sp>
        <p:nvSpPr>
          <p:cNvPr id="159" name="Text 157"/>
          <p:cNvSpPr txBox="1"/>
          <p:nvPr/>
        </p:nvSpPr>
        <p:spPr>
          <a:xfrm>
            <a:off x="530352" y="3657600"/>
            <a:ext cx="3383280" cy="228600"/>
          </a:xfrm>
          <a:prstGeom prst="rect">
            <a:avLst/>
          </a:prstGeom>
          <a:noFill/>
          <a:ln/>
        </p:spPr>
        <p:txBody>
          <a:bodyPr wrap="square" lIns="0" tIns="0" rIns="0" bIns="0" rtlCol="0" anchor="ctr"/>
          <a:lstStyle/>
          <a:p>
            <a:pPr indent="0" marL="0">
              <a:buNone/>
            </a:pPr>
            <a:r>
              <a:rPr lang="en-US" sz="1000" b="1" dirty="0">
                <a:solidFill>
                  <a:schemeClr val="accent2"/>
                </a:solidFill>
              </a:rPr>
              <a:t>O4  </a:t>
            </a:r>
            <a:pPr indent="0" marL="0">
              <a:buNone/>
            </a:pPr>
            <a:r>
              <a:rPr lang="en-US" sz="1000" dirty="0">
                <a:solidFill>
                  <a:schemeClr val="tx1"/>
                </a:solidFill>
              </a:rPr>
              <a:t>Women Forest Defender &amp; pelatihan kepemimpinan</a:t>
            </a:r>
            <a:endParaRPr lang="en-US" sz="1000" dirty="0"/>
          </a:p>
        </p:txBody>
      </p:sp>
      <p:sp>
        <p:nvSpPr>
          <p:cNvPr id="160" name="Shape 158"/>
          <p:cNvSpPr/>
          <p:nvPr/>
        </p:nvSpPr>
        <p:spPr>
          <a:xfrm>
            <a:off x="3954780" y="3689604"/>
            <a:ext cx="350520" cy="164592"/>
          </a:xfrm>
          <a:prstGeom prst="rect">
            <a:avLst/>
          </a:prstGeom>
          <a:solidFill>
            <a:schemeClr val="bg1"/>
          </a:solidFill>
          <a:ln w="6350">
            <a:solidFill>
              <a:srgbClr val="E1E7E3"/>
            </a:solidFill>
            <a:prstDash val="solid"/>
          </a:ln>
        </p:spPr>
      </p:sp>
      <p:sp>
        <p:nvSpPr>
          <p:cNvPr id="161" name="Shape 159"/>
          <p:cNvSpPr/>
          <p:nvPr/>
        </p:nvSpPr>
        <p:spPr>
          <a:xfrm>
            <a:off x="4351020" y="3689604"/>
            <a:ext cx="350520" cy="164592"/>
          </a:xfrm>
          <a:prstGeom prst="rect">
            <a:avLst/>
          </a:prstGeom>
          <a:solidFill>
            <a:schemeClr val="accent2"/>
          </a:solidFill>
          <a:ln/>
        </p:spPr>
      </p:sp>
      <p:sp>
        <p:nvSpPr>
          <p:cNvPr id="162" name="Shape 160"/>
          <p:cNvSpPr/>
          <p:nvPr/>
        </p:nvSpPr>
        <p:spPr>
          <a:xfrm>
            <a:off x="4747260" y="3689604"/>
            <a:ext cx="350520" cy="164592"/>
          </a:xfrm>
          <a:prstGeom prst="rect">
            <a:avLst/>
          </a:prstGeom>
          <a:solidFill>
            <a:schemeClr val="accent2"/>
          </a:solidFill>
          <a:ln/>
        </p:spPr>
      </p:sp>
      <p:sp>
        <p:nvSpPr>
          <p:cNvPr id="163" name="Shape 161"/>
          <p:cNvSpPr/>
          <p:nvPr/>
        </p:nvSpPr>
        <p:spPr>
          <a:xfrm>
            <a:off x="5143500" y="3689604"/>
            <a:ext cx="350520" cy="164592"/>
          </a:xfrm>
          <a:prstGeom prst="rect">
            <a:avLst/>
          </a:prstGeom>
          <a:solidFill>
            <a:schemeClr val="bg1"/>
          </a:solidFill>
          <a:ln w="6350">
            <a:solidFill>
              <a:srgbClr val="E1E7E3"/>
            </a:solidFill>
            <a:prstDash val="solid"/>
          </a:ln>
        </p:spPr>
      </p:sp>
      <p:sp>
        <p:nvSpPr>
          <p:cNvPr id="164" name="Shape 162"/>
          <p:cNvSpPr/>
          <p:nvPr/>
        </p:nvSpPr>
        <p:spPr>
          <a:xfrm>
            <a:off x="5539740" y="3689604"/>
            <a:ext cx="350520" cy="164592"/>
          </a:xfrm>
          <a:prstGeom prst="rect">
            <a:avLst/>
          </a:prstGeom>
          <a:solidFill>
            <a:schemeClr val="bg1"/>
          </a:solidFill>
          <a:ln w="6350">
            <a:solidFill>
              <a:srgbClr val="E1E7E3"/>
            </a:solidFill>
            <a:prstDash val="solid"/>
          </a:ln>
        </p:spPr>
      </p:sp>
      <p:sp>
        <p:nvSpPr>
          <p:cNvPr id="165" name="Shape 163"/>
          <p:cNvSpPr/>
          <p:nvPr/>
        </p:nvSpPr>
        <p:spPr>
          <a:xfrm>
            <a:off x="5935980" y="3689604"/>
            <a:ext cx="350520" cy="164592"/>
          </a:xfrm>
          <a:prstGeom prst="rect">
            <a:avLst/>
          </a:prstGeom>
          <a:solidFill>
            <a:schemeClr val="bg1"/>
          </a:solidFill>
          <a:ln w="6350">
            <a:solidFill>
              <a:srgbClr val="E1E7E3"/>
            </a:solidFill>
            <a:prstDash val="solid"/>
          </a:ln>
        </p:spPr>
      </p:sp>
      <p:sp>
        <p:nvSpPr>
          <p:cNvPr id="166" name="Shape 164"/>
          <p:cNvSpPr/>
          <p:nvPr/>
        </p:nvSpPr>
        <p:spPr>
          <a:xfrm>
            <a:off x="6332220" y="3689604"/>
            <a:ext cx="350520" cy="164592"/>
          </a:xfrm>
          <a:prstGeom prst="rect">
            <a:avLst/>
          </a:prstGeom>
          <a:solidFill>
            <a:schemeClr val="bg1"/>
          </a:solidFill>
          <a:ln w="6350">
            <a:solidFill>
              <a:srgbClr val="E1E7E3"/>
            </a:solidFill>
            <a:prstDash val="solid"/>
          </a:ln>
        </p:spPr>
      </p:sp>
      <p:sp>
        <p:nvSpPr>
          <p:cNvPr id="167" name="Shape 165"/>
          <p:cNvSpPr/>
          <p:nvPr/>
        </p:nvSpPr>
        <p:spPr>
          <a:xfrm>
            <a:off x="6728460" y="3689604"/>
            <a:ext cx="350520" cy="164592"/>
          </a:xfrm>
          <a:prstGeom prst="rect">
            <a:avLst/>
          </a:prstGeom>
          <a:solidFill>
            <a:schemeClr val="bg1"/>
          </a:solidFill>
          <a:ln w="6350">
            <a:solidFill>
              <a:srgbClr val="E1E7E3"/>
            </a:solidFill>
            <a:prstDash val="solid"/>
          </a:ln>
        </p:spPr>
      </p:sp>
      <p:sp>
        <p:nvSpPr>
          <p:cNvPr id="168" name="Shape 166"/>
          <p:cNvSpPr/>
          <p:nvPr/>
        </p:nvSpPr>
        <p:spPr>
          <a:xfrm>
            <a:off x="7124700" y="3689604"/>
            <a:ext cx="350520" cy="164592"/>
          </a:xfrm>
          <a:prstGeom prst="rect">
            <a:avLst/>
          </a:prstGeom>
          <a:solidFill>
            <a:schemeClr val="bg1"/>
          </a:solidFill>
          <a:ln w="6350">
            <a:solidFill>
              <a:srgbClr val="E1E7E3"/>
            </a:solidFill>
            <a:prstDash val="solid"/>
          </a:ln>
        </p:spPr>
      </p:sp>
      <p:sp>
        <p:nvSpPr>
          <p:cNvPr id="169" name="Shape 167"/>
          <p:cNvSpPr/>
          <p:nvPr/>
        </p:nvSpPr>
        <p:spPr>
          <a:xfrm>
            <a:off x="7520940" y="3689604"/>
            <a:ext cx="350520" cy="164592"/>
          </a:xfrm>
          <a:prstGeom prst="rect">
            <a:avLst/>
          </a:prstGeom>
          <a:solidFill>
            <a:schemeClr val="bg1"/>
          </a:solidFill>
          <a:ln w="6350">
            <a:solidFill>
              <a:srgbClr val="E1E7E3"/>
            </a:solidFill>
            <a:prstDash val="solid"/>
          </a:ln>
        </p:spPr>
      </p:sp>
      <p:sp>
        <p:nvSpPr>
          <p:cNvPr id="170" name="Shape 168"/>
          <p:cNvSpPr/>
          <p:nvPr/>
        </p:nvSpPr>
        <p:spPr>
          <a:xfrm>
            <a:off x="7917180" y="3689604"/>
            <a:ext cx="350520" cy="164592"/>
          </a:xfrm>
          <a:prstGeom prst="rect">
            <a:avLst/>
          </a:prstGeom>
          <a:solidFill>
            <a:schemeClr val="bg1"/>
          </a:solidFill>
          <a:ln w="6350">
            <a:solidFill>
              <a:srgbClr val="E1E7E3"/>
            </a:solidFill>
            <a:prstDash val="solid"/>
          </a:ln>
        </p:spPr>
      </p:sp>
      <p:sp>
        <p:nvSpPr>
          <p:cNvPr id="171" name="Shape 169"/>
          <p:cNvSpPr/>
          <p:nvPr/>
        </p:nvSpPr>
        <p:spPr>
          <a:xfrm>
            <a:off x="8313420" y="3689604"/>
            <a:ext cx="350520" cy="164592"/>
          </a:xfrm>
          <a:prstGeom prst="rect">
            <a:avLst/>
          </a:prstGeom>
          <a:solidFill>
            <a:schemeClr val="bg1"/>
          </a:solidFill>
          <a:ln w="6350">
            <a:solidFill>
              <a:srgbClr val="E1E7E3"/>
            </a:solidFill>
            <a:prstDash val="solid"/>
          </a:ln>
        </p:spPr>
      </p:sp>
      <p:sp>
        <p:nvSpPr>
          <p:cNvPr id="172" name="Text 170"/>
          <p:cNvSpPr txBox="1"/>
          <p:nvPr/>
        </p:nvSpPr>
        <p:spPr>
          <a:xfrm>
            <a:off x="530352" y="3886200"/>
            <a:ext cx="3383280" cy="228600"/>
          </a:xfrm>
          <a:prstGeom prst="rect">
            <a:avLst/>
          </a:prstGeom>
          <a:noFill/>
          <a:ln/>
        </p:spPr>
        <p:txBody>
          <a:bodyPr wrap="square" lIns="0" tIns="0" rIns="0" bIns="0" rtlCol="0" anchor="ctr"/>
          <a:lstStyle/>
          <a:p>
            <a:pPr indent="0" marL="0">
              <a:buNone/>
            </a:pPr>
            <a:r>
              <a:rPr lang="en-US" sz="1000" b="1" dirty="0">
                <a:solidFill>
                  <a:schemeClr val="accent2"/>
                </a:solidFill>
              </a:rPr>
              <a:t>O4  </a:t>
            </a:r>
            <a:pPr indent="0" marL="0">
              <a:buNone/>
            </a:pPr>
            <a:r>
              <a:rPr lang="en-US" sz="1000" dirty="0">
                <a:solidFill>
                  <a:schemeClr val="tx1"/>
                </a:solidFill>
              </a:rPr>
              <a:t>Penyusunan GEDSI Action Plan</a:t>
            </a:r>
            <a:endParaRPr lang="en-US" sz="1000" dirty="0"/>
          </a:p>
        </p:txBody>
      </p:sp>
      <p:sp>
        <p:nvSpPr>
          <p:cNvPr id="173" name="Shape 171"/>
          <p:cNvSpPr/>
          <p:nvPr/>
        </p:nvSpPr>
        <p:spPr>
          <a:xfrm>
            <a:off x="3954780" y="3918204"/>
            <a:ext cx="350520" cy="164592"/>
          </a:xfrm>
          <a:prstGeom prst="rect">
            <a:avLst/>
          </a:prstGeom>
          <a:solidFill>
            <a:schemeClr val="bg1"/>
          </a:solidFill>
          <a:ln w="6350">
            <a:solidFill>
              <a:srgbClr val="E1E7E3"/>
            </a:solidFill>
            <a:prstDash val="solid"/>
          </a:ln>
        </p:spPr>
      </p:sp>
      <p:sp>
        <p:nvSpPr>
          <p:cNvPr id="174" name="Shape 172"/>
          <p:cNvSpPr/>
          <p:nvPr/>
        </p:nvSpPr>
        <p:spPr>
          <a:xfrm>
            <a:off x="4351020" y="3918204"/>
            <a:ext cx="350520" cy="164592"/>
          </a:xfrm>
          <a:prstGeom prst="rect">
            <a:avLst/>
          </a:prstGeom>
          <a:solidFill>
            <a:schemeClr val="bg1"/>
          </a:solidFill>
          <a:ln w="6350">
            <a:solidFill>
              <a:srgbClr val="E1E7E3"/>
            </a:solidFill>
            <a:prstDash val="solid"/>
          </a:ln>
        </p:spPr>
      </p:sp>
      <p:sp>
        <p:nvSpPr>
          <p:cNvPr id="175" name="Shape 173"/>
          <p:cNvSpPr/>
          <p:nvPr/>
        </p:nvSpPr>
        <p:spPr>
          <a:xfrm>
            <a:off x="4747260" y="3918204"/>
            <a:ext cx="350520" cy="164592"/>
          </a:xfrm>
          <a:prstGeom prst="rect">
            <a:avLst/>
          </a:prstGeom>
          <a:solidFill>
            <a:schemeClr val="bg1"/>
          </a:solidFill>
          <a:ln w="6350">
            <a:solidFill>
              <a:srgbClr val="E1E7E3"/>
            </a:solidFill>
            <a:prstDash val="solid"/>
          </a:ln>
        </p:spPr>
      </p:sp>
      <p:sp>
        <p:nvSpPr>
          <p:cNvPr id="176" name="Shape 174"/>
          <p:cNvSpPr/>
          <p:nvPr/>
        </p:nvSpPr>
        <p:spPr>
          <a:xfrm>
            <a:off x="5143500" y="3918204"/>
            <a:ext cx="350520" cy="164592"/>
          </a:xfrm>
          <a:prstGeom prst="rect">
            <a:avLst/>
          </a:prstGeom>
          <a:solidFill>
            <a:schemeClr val="bg1"/>
          </a:solidFill>
          <a:ln w="6350">
            <a:solidFill>
              <a:srgbClr val="E1E7E3"/>
            </a:solidFill>
            <a:prstDash val="solid"/>
          </a:ln>
        </p:spPr>
      </p:sp>
      <p:sp>
        <p:nvSpPr>
          <p:cNvPr id="177" name="Shape 175"/>
          <p:cNvSpPr/>
          <p:nvPr/>
        </p:nvSpPr>
        <p:spPr>
          <a:xfrm>
            <a:off x="5539740" y="3918204"/>
            <a:ext cx="350520" cy="164592"/>
          </a:xfrm>
          <a:prstGeom prst="rect">
            <a:avLst/>
          </a:prstGeom>
          <a:solidFill>
            <a:schemeClr val="accent2"/>
          </a:solidFill>
          <a:ln/>
        </p:spPr>
      </p:sp>
      <p:sp>
        <p:nvSpPr>
          <p:cNvPr id="178" name="Shape 176"/>
          <p:cNvSpPr/>
          <p:nvPr/>
        </p:nvSpPr>
        <p:spPr>
          <a:xfrm>
            <a:off x="5935980" y="3918204"/>
            <a:ext cx="350520" cy="164592"/>
          </a:xfrm>
          <a:prstGeom prst="rect">
            <a:avLst/>
          </a:prstGeom>
          <a:solidFill>
            <a:schemeClr val="accent2"/>
          </a:solidFill>
          <a:ln/>
        </p:spPr>
      </p:sp>
      <p:sp>
        <p:nvSpPr>
          <p:cNvPr id="179" name="Shape 177"/>
          <p:cNvSpPr/>
          <p:nvPr/>
        </p:nvSpPr>
        <p:spPr>
          <a:xfrm>
            <a:off x="6332220" y="3918204"/>
            <a:ext cx="350520" cy="164592"/>
          </a:xfrm>
          <a:prstGeom prst="rect">
            <a:avLst/>
          </a:prstGeom>
          <a:solidFill>
            <a:schemeClr val="bg1"/>
          </a:solidFill>
          <a:ln w="6350">
            <a:solidFill>
              <a:srgbClr val="E1E7E3"/>
            </a:solidFill>
            <a:prstDash val="solid"/>
          </a:ln>
        </p:spPr>
      </p:sp>
      <p:sp>
        <p:nvSpPr>
          <p:cNvPr id="180" name="Shape 178"/>
          <p:cNvSpPr/>
          <p:nvPr/>
        </p:nvSpPr>
        <p:spPr>
          <a:xfrm>
            <a:off x="6728460" y="3918204"/>
            <a:ext cx="350520" cy="164592"/>
          </a:xfrm>
          <a:prstGeom prst="rect">
            <a:avLst/>
          </a:prstGeom>
          <a:solidFill>
            <a:schemeClr val="bg1"/>
          </a:solidFill>
          <a:ln w="6350">
            <a:solidFill>
              <a:srgbClr val="E1E7E3"/>
            </a:solidFill>
            <a:prstDash val="solid"/>
          </a:ln>
        </p:spPr>
      </p:sp>
      <p:sp>
        <p:nvSpPr>
          <p:cNvPr id="181" name="Shape 179"/>
          <p:cNvSpPr/>
          <p:nvPr/>
        </p:nvSpPr>
        <p:spPr>
          <a:xfrm>
            <a:off x="7124700" y="3918204"/>
            <a:ext cx="350520" cy="164592"/>
          </a:xfrm>
          <a:prstGeom prst="rect">
            <a:avLst/>
          </a:prstGeom>
          <a:solidFill>
            <a:schemeClr val="bg1"/>
          </a:solidFill>
          <a:ln w="6350">
            <a:solidFill>
              <a:srgbClr val="E1E7E3"/>
            </a:solidFill>
            <a:prstDash val="solid"/>
          </a:ln>
        </p:spPr>
      </p:sp>
      <p:sp>
        <p:nvSpPr>
          <p:cNvPr id="182" name="Shape 180"/>
          <p:cNvSpPr/>
          <p:nvPr/>
        </p:nvSpPr>
        <p:spPr>
          <a:xfrm>
            <a:off x="7520940" y="3918204"/>
            <a:ext cx="350520" cy="164592"/>
          </a:xfrm>
          <a:prstGeom prst="rect">
            <a:avLst/>
          </a:prstGeom>
          <a:solidFill>
            <a:schemeClr val="bg1"/>
          </a:solidFill>
          <a:ln w="6350">
            <a:solidFill>
              <a:srgbClr val="E1E7E3"/>
            </a:solidFill>
            <a:prstDash val="solid"/>
          </a:ln>
        </p:spPr>
      </p:sp>
      <p:sp>
        <p:nvSpPr>
          <p:cNvPr id="183" name="Shape 181"/>
          <p:cNvSpPr/>
          <p:nvPr/>
        </p:nvSpPr>
        <p:spPr>
          <a:xfrm>
            <a:off x="7917180" y="3918204"/>
            <a:ext cx="350520" cy="164592"/>
          </a:xfrm>
          <a:prstGeom prst="rect">
            <a:avLst/>
          </a:prstGeom>
          <a:solidFill>
            <a:schemeClr val="bg1"/>
          </a:solidFill>
          <a:ln w="6350">
            <a:solidFill>
              <a:srgbClr val="E1E7E3"/>
            </a:solidFill>
            <a:prstDash val="solid"/>
          </a:ln>
        </p:spPr>
      </p:sp>
      <p:sp>
        <p:nvSpPr>
          <p:cNvPr id="184" name="Shape 182"/>
          <p:cNvSpPr/>
          <p:nvPr/>
        </p:nvSpPr>
        <p:spPr>
          <a:xfrm>
            <a:off x="8313420" y="3918204"/>
            <a:ext cx="350520" cy="164592"/>
          </a:xfrm>
          <a:prstGeom prst="rect">
            <a:avLst/>
          </a:prstGeom>
          <a:solidFill>
            <a:schemeClr val="bg1"/>
          </a:solidFill>
          <a:ln w="6350">
            <a:solidFill>
              <a:srgbClr val="E1E7E3"/>
            </a:solidFill>
            <a:prstDash val="solid"/>
          </a:ln>
        </p:spPr>
      </p:sp>
      <p:sp>
        <p:nvSpPr>
          <p:cNvPr id="185" name="Text 183"/>
          <p:cNvSpPr txBox="1"/>
          <p:nvPr/>
        </p:nvSpPr>
        <p:spPr>
          <a:xfrm>
            <a:off x="530352" y="4224528"/>
            <a:ext cx="3383280" cy="274320"/>
          </a:xfrm>
          <a:prstGeom prst="rect">
            <a:avLst/>
          </a:prstGeom>
          <a:noFill/>
          <a:ln/>
        </p:spPr>
        <p:txBody>
          <a:bodyPr wrap="square" lIns="0" tIns="0" rIns="0" bIns="0" rtlCol="0" anchor="ctr"/>
          <a:lstStyle/>
          <a:p>
            <a:pPr indent="0" marL="0">
              <a:buNone/>
            </a:pPr>
            <a:r>
              <a:rPr lang="en-US" sz="1000" b="1" dirty="0">
                <a:solidFill>
                  <a:schemeClr val="tx1"/>
                </a:solidFill>
              </a:rPr>
              <a:t>Jumlah kegiatan berjalan per bulan</a:t>
            </a:r>
            <a:endParaRPr lang="en-US" sz="1000" dirty="0"/>
          </a:p>
        </p:txBody>
      </p:sp>
      <p:sp>
        <p:nvSpPr>
          <p:cNvPr id="186" name="Shape 184"/>
          <p:cNvSpPr/>
          <p:nvPr/>
        </p:nvSpPr>
        <p:spPr>
          <a:xfrm>
            <a:off x="3954780" y="4224528"/>
            <a:ext cx="350520" cy="274320"/>
          </a:xfrm>
          <a:prstGeom prst="rect">
            <a:avLst/>
          </a:prstGeom>
          <a:solidFill>
            <a:schemeClr val="tx2"/>
          </a:solidFill>
          <a:ln/>
        </p:spPr>
      </p:sp>
      <p:sp>
        <p:nvSpPr>
          <p:cNvPr id="187" name="Text 185"/>
          <p:cNvSpPr txBox="1"/>
          <p:nvPr/>
        </p:nvSpPr>
        <p:spPr>
          <a:xfrm>
            <a:off x="393192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8" name="Shape 186"/>
          <p:cNvSpPr/>
          <p:nvPr/>
        </p:nvSpPr>
        <p:spPr>
          <a:xfrm>
            <a:off x="4351020" y="4224528"/>
            <a:ext cx="350520" cy="274320"/>
          </a:xfrm>
          <a:prstGeom prst="rect">
            <a:avLst/>
          </a:prstGeom>
          <a:solidFill>
            <a:schemeClr val="tx2"/>
          </a:solidFill>
          <a:ln/>
        </p:spPr>
      </p:sp>
      <p:sp>
        <p:nvSpPr>
          <p:cNvPr id="189" name="Text 187"/>
          <p:cNvSpPr txBox="1"/>
          <p:nvPr/>
        </p:nvSpPr>
        <p:spPr>
          <a:xfrm>
            <a:off x="432816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90" name="Shape 188"/>
          <p:cNvSpPr/>
          <p:nvPr/>
        </p:nvSpPr>
        <p:spPr>
          <a:xfrm>
            <a:off x="4747260" y="4224528"/>
            <a:ext cx="350520" cy="274320"/>
          </a:xfrm>
          <a:prstGeom prst="rect">
            <a:avLst/>
          </a:prstGeom>
          <a:solidFill>
            <a:schemeClr val="accent2"/>
          </a:solidFill>
          <a:ln/>
        </p:spPr>
      </p:sp>
      <p:sp>
        <p:nvSpPr>
          <p:cNvPr id="191" name="Text 189"/>
          <p:cNvSpPr txBox="1"/>
          <p:nvPr/>
        </p:nvSpPr>
        <p:spPr>
          <a:xfrm>
            <a:off x="472440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10</a:t>
            </a:r>
            <a:endParaRPr lang="en-US" sz="1100" dirty="0"/>
          </a:p>
        </p:txBody>
      </p:sp>
      <p:sp>
        <p:nvSpPr>
          <p:cNvPr id="192" name="Shape 190"/>
          <p:cNvSpPr/>
          <p:nvPr/>
        </p:nvSpPr>
        <p:spPr>
          <a:xfrm>
            <a:off x="5143500" y="4224528"/>
            <a:ext cx="350520" cy="274320"/>
          </a:xfrm>
          <a:prstGeom prst="rect">
            <a:avLst/>
          </a:prstGeom>
          <a:solidFill>
            <a:schemeClr val="tx2"/>
          </a:solidFill>
          <a:ln/>
        </p:spPr>
      </p:sp>
      <p:sp>
        <p:nvSpPr>
          <p:cNvPr id="193" name="Text 191"/>
          <p:cNvSpPr txBox="1"/>
          <p:nvPr/>
        </p:nvSpPr>
        <p:spPr>
          <a:xfrm>
            <a:off x="512064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194" name="Shape 192"/>
          <p:cNvSpPr/>
          <p:nvPr/>
        </p:nvSpPr>
        <p:spPr>
          <a:xfrm>
            <a:off x="5539740" y="4224528"/>
            <a:ext cx="350520" cy="274320"/>
          </a:xfrm>
          <a:prstGeom prst="rect">
            <a:avLst/>
          </a:prstGeom>
          <a:solidFill>
            <a:schemeClr val="tx2"/>
          </a:solidFill>
          <a:ln/>
        </p:spPr>
      </p:sp>
      <p:sp>
        <p:nvSpPr>
          <p:cNvPr id="195" name="Text 193"/>
          <p:cNvSpPr txBox="1"/>
          <p:nvPr/>
        </p:nvSpPr>
        <p:spPr>
          <a:xfrm>
            <a:off x="551688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96" name="Shape 194"/>
          <p:cNvSpPr/>
          <p:nvPr/>
        </p:nvSpPr>
        <p:spPr>
          <a:xfrm>
            <a:off x="5935980" y="4224528"/>
            <a:ext cx="350520" cy="274320"/>
          </a:xfrm>
          <a:prstGeom prst="rect">
            <a:avLst/>
          </a:prstGeom>
          <a:solidFill>
            <a:schemeClr val="tx2"/>
          </a:solidFill>
          <a:ln/>
        </p:spPr>
      </p:sp>
      <p:sp>
        <p:nvSpPr>
          <p:cNvPr id="197" name="Text 195"/>
          <p:cNvSpPr txBox="1"/>
          <p:nvPr/>
        </p:nvSpPr>
        <p:spPr>
          <a:xfrm>
            <a:off x="591312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98" name="Shape 196"/>
          <p:cNvSpPr/>
          <p:nvPr/>
        </p:nvSpPr>
        <p:spPr>
          <a:xfrm>
            <a:off x="6332220" y="4224528"/>
            <a:ext cx="350520" cy="274320"/>
          </a:xfrm>
          <a:prstGeom prst="rect">
            <a:avLst/>
          </a:prstGeom>
          <a:solidFill>
            <a:schemeClr val="tx2"/>
          </a:solidFill>
          <a:ln/>
        </p:spPr>
      </p:sp>
      <p:sp>
        <p:nvSpPr>
          <p:cNvPr id="199" name="Text 197"/>
          <p:cNvSpPr txBox="1"/>
          <p:nvPr/>
        </p:nvSpPr>
        <p:spPr>
          <a:xfrm>
            <a:off x="630936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200" name="Shape 198"/>
          <p:cNvSpPr/>
          <p:nvPr/>
        </p:nvSpPr>
        <p:spPr>
          <a:xfrm>
            <a:off x="6728460" y="4224528"/>
            <a:ext cx="350520" cy="274320"/>
          </a:xfrm>
          <a:prstGeom prst="rect">
            <a:avLst/>
          </a:prstGeom>
          <a:solidFill>
            <a:schemeClr val="tx2"/>
          </a:solidFill>
          <a:ln/>
        </p:spPr>
      </p:sp>
      <p:sp>
        <p:nvSpPr>
          <p:cNvPr id="201" name="Text 199"/>
          <p:cNvSpPr txBox="1"/>
          <p:nvPr/>
        </p:nvSpPr>
        <p:spPr>
          <a:xfrm>
            <a:off x="670560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02" name="Shape 200"/>
          <p:cNvSpPr/>
          <p:nvPr/>
        </p:nvSpPr>
        <p:spPr>
          <a:xfrm>
            <a:off x="7124700" y="4224528"/>
            <a:ext cx="350520" cy="274320"/>
          </a:xfrm>
          <a:prstGeom prst="rect">
            <a:avLst/>
          </a:prstGeom>
          <a:solidFill>
            <a:schemeClr val="tx2"/>
          </a:solidFill>
          <a:ln/>
        </p:spPr>
      </p:sp>
      <p:sp>
        <p:nvSpPr>
          <p:cNvPr id="203" name="Text 201"/>
          <p:cNvSpPr txBox="1"/>
          <p:nvPr/>
        </p:nvSpPr>
        <p:spPr>
          <a:xfrm>
            <a:off x="710184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04" name="Shape 202"/>
          <p:cNvSpPr/>
          <p:nvPr/>
        </p:nvSpPr>
        <p:spPr>
          <a:xfrm>
            <a:off x="7520940" y="4224528"/>
            <a:ext cx="350520" cy="274320"/>
          </a:xfrm>
          <a:prstGeom prst="rect">
            <a:avLst/>
          </a:prstGeom>
          <a:solidFill>
            <a:schemeClr val="tx2"/>
          </a:solidFill>
          <a:ln/>
        </p:spPr>
      </p:sp>
      <p:sp>
        <p:nvSpPr>
          <p:cNvPr id="205" name="Text 203"/>
          <p:cNvSpPr txBox="1"/>
          <p:nvPr/>
        </p:nvSpPr>
        <p:spPr>
          <a:xfrm>
            <a:off x="749808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206" name="Shape 204"/>
          <p:cNvSpPr/>
          <p:nvPr/>
        </p:nvSpPr>
        <p:spPr>
          <a:xfrm>
            <a:off x="7917180" y="4224528"/>
            <a:ext cx="350520" cy="274320"/>
          </a:xfrm>
          <a:prstGeom prst="rect">
            <a:avLst/>
          </a:prstGeom>
          <a:solidFill>
            <a:schemeClr val="tx2"/>
          </a:solidFill>
          <a:ln/>
        </p:spPr>
      </p:sp>
      <p:sp>
        <p:nvSpPr>
          <p:cNvPr id="207" name="Text 205"/>
          <p:cNvSpPr txBox="1"/>
          <p:nvPr/>
        </p:nvSpPr>
        <p:spPr>
          <a:xfrm>
            <a:off x="789432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08" name="Shape 206"/>
          <p:cNvSpPr/>
          <p:nvPr/>
        </p:nvSpPr>
        <p:spPr>
          <a:xfrm>
            <a:off x="8313420" y="4224528"/>
            <a:ext cx="350520" cy="274320"/>
          </a:xfrm>
          <a:prstGeom prst="rect">
            <a:avLst/>
          </a:prstGeom>
          <a:solidFill>
            <a:schemeClr val="tx2"/>
          </a:solidFill>
          <a:ln/>
        </p:spPr>
      </p:sp>
      <p:sp>
        <p:nvSpPr>
          <p:cNvPr id="209" name="Text 207"/>
          <p:cNvSpPr txBox="1"/>
          <p:nvPr/>
        </p:nvSpPr>
        <p:spPr>
          <a:xfrm>
            <a:off x="8290560" y="42245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Tim, risiko, dan poin yang perlu disepakati dengan TAF</a:t>
            </a:r>
            <a:endParaRPr lang="en-US" sz="2200" dirty="0"/>
          </a:p>
        </p:txBody>
      </p:sp>
      <p:sp>
        <p:nvSpPr>
          <p:cNvPr id="3" name="Text 1"/>
          <p:cNvSpPr txBox="1"/>
          <p:nvPr/>
        </p:nvSpPr>
        <p:spPr>
          <a:xfrm>
            <a:off x="457200" y="1097280"/>
            <a:ext cx="2651760" cy="274320"/>
          </a:xfrm>
          <a:prstGeom prst="rect">
            <a:avLst/>
          </a:prstGeom>
          <a:noFill/>
          <a:ln/>
        </p:spPr>
        <p:txBody>
          <a:bodyPr wrap="square" lIns="0" tIns="0" rIns="0" bIns="0" rtlCol="0" anchor="t"/>
          <a:lstStyle/>
          <a:p>
            <a:pPr indent="0" marL="0">
              <a:buNone/>
            </a:pPr>
            <a:r>
              <a:rPr lang="en-US" sz="1400" b="1" dirty="0">
                <a:solidFill>
                  <a:schemeClr val="tx2"/>
                </a:solidFill>
              </a:rPr>
              <a:t>Tim inti</a:t>
            </a:r>
            <a:endParaRPr lang="en-US" sz="1400" dirty="0"/>
          </a:p>
        </p:txBody>
      </p:sp>
      <p:sp>
        <p:nvSpPr>
          <p:cNvPr id="4" name="Shape 2"/>
          <p:cNvSpPr/>
          <p:nvPr/>
        </p:nvSpPr>
        <p:spPr>
          <a:xfrm>
            <a:off x="457200" y="1463040"/>
            <a:ext cx="411480" cy="411480"/>
          </a:xfrm>
          <a:prstGeom prst="ellipse">
            <a:avLst/>
          </a:prstGeom>
          <a:solidFill>
            <a:schemeClr val="accent1"/>
          </a:solidFill>
          <a:ln/>
        </p:spPr>
      </p:sp>
      <p:sp>
        <p:nvSpPr>
          <p:cNvPr id="5" name="Text 3"/>
          <p:cNvSpPr txBox="1"/>
          <p:nvPr/>
        </p:nvSpPr>
        <p:spPr>
          <a:xfrm>
            <a:off x="457200" y="146304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RA</a:t>
            </a:r>
            <a:endParaRPr lang="en-US" sz="1200" dirty="0"/>
          </a:p>
        </p:txBody>
      </p:sp>
      <p:sp>
        <p:nvSpPr>
          <p:cNvPr id="6" name="Text 4"/>
          <p:cNvSpPr txBox="1"/>
          <p:nvPr/>
        </p:nvSpPr>
        <p:spPr>
          <a:xfrm>
            <a:off x="960120" y="1444752"/>
            <a:ext cx="2103120" cy="457200"/>
          </a:xfrm>
          <a:prstGeom prst="rect">
            <a:avLst/>
          </a:prstGeom>
          <a:noFill/>
          <a:ln/>
        </p:spPr>
        <p:txBody>
          <a:bodyPr wrap="square" lIns="0" tIns="0" rIns="0" bIns="0" rtlCol="0" anchor="t"/>
          <a:lstStyle/>
          <a:p>
            <a:pPr indent="0" marL="0">
              <a:buNone/>
            </a:pPr>
            <a:r>
              <a:rPr lang="en-US" sz="1200" b="1" dirty="0">
                <a:solidFill>
                  <a:schemeClr val="tx1"/>
                </a:solidFill>
              </a:rPr>
              <a:t>Revolia Az-Zahra</a:t>
            </a:r>
            <a:endParaRPr lang="en-US" sz="1200" dirty="0"/>
          </a:p>
          <a:p>
            <a:pPr indent="0" marL="0">
              <a:buNone/>
            </a:pPr>
            <a:r>
              <a:rPr lang="en-US" sz="1100" dirty="0">
                <a:solidFill>
                  <a:schemeClr val="accent1"/>
                </a:solidFill>
              </a:rPr>
              <a:t>Program Manager</a:t>
            </a:r>
            <a:endParaRPr lang="en-US" sz="1200" dirty="0"/>
          </a:p>
        </p:txBody>
      </p:sp>
      <p:sp>
        <p:nvSpPr>
          <p:cNvPr id="7" name="Shape 5"/>
          <p:cNvSpPr/>
          <p:nvPr/>
        </p:nvSpPr>
        <p:spPr>
          <a:xfrm>
            <a:off x="457200" y="2029968"/>
            <a:ext cx="411480" cy="411480"/>
          </a:xfrm>
          <a:prstGeom prst="ellipse">
            <a:avLst/>
          </a:prstGeom>
          <a:solidFill>
            <a:schemeClr val="accent1"/>
          </a:solidFill>
          <a:ln/>
        </p:spPr>
      </p:sp>
      <p:sp>
        <p:nvSpPr>
          <p:cNvPr id="8" name="Text 6"/>
          <p:cNvSpPr txBox="1"/>
          <p:nvPr/>
        </p:nvSpPr>
        <p:spPr>
          <a:xfrm>
            <a:off x="457200" y="2029968"/>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DK</a:t>
            </a:r>
            <a:endParaRPr lang="en-US" sz="1200" dirty="0"/>
          </a:p>
        </p:txBody>
      </p:sp>
      <p:sp>
        <p:nvSpPr>
          <p:cNvPr id="9" name="Text 7"/>
          <p:cNvSpPr txBox="1"/>
          <p:nvPr/>
        </p:nvSpPr>
        <p:spPr>
          <a:xfrm>
            <a:off x="960120" y="2011680"/>
            <a:ext cx="2103120" cy="457200"/>
          </a:xfrm>
          <a:prstGeom prst="rect">
            <a:avLst/>
          </a:prstGeom>
          <a:noFill/>
          <a:ln/>
        </p:spPr>
        <p:txBody>
          <a:bodyPr wrap="square" lIns="0" tIns="0" rIns="0" bIns="0" rtlCol="0" anchor="t"/>
          <a:lstStyle/>
          <a:p>
            <a:pPr indent="0" marL="0">
              <a:buNone/>
            </a:pPr>
            <a:r>
              <a:rPr lang="en-US" sz="1200" b="1" dirty="0">
                <a:solidFill>
                  <a:schemeClr val="tx1"/>
                </a:solidFill>
              </a:rPr>
              <a:t>Damar Keina Lebaying</a:t>
            </a:r>
            <a:endParaRPr lang="en-US" sz="1200" dirty="0"/>
          </a:p>
          <a:p>
            <a:pPr indent="0" marL="0">
              <a:buNone/>
            </a:pPr>
            <a:r>
              <a:rPr lang="en-US" sz="1100" dirty="0">
                <a:solidFill>
                  <a:schemeClr val="accent1"/>
                </a:solidFill>
              </a:rPr>
              <a:t>Program Officer</a:t>
            </a:r>
            <a:endParaRPr lang="en-US" sz="1200" dirty="0"/>
          </a:p>
        </p:txBody>
      </p:sp>
      <p:sp>
        <p:nvSpPr>
          <p:cNvPr id="10" name="Shape 8"/>
          <p:cNvSpPr/>
          <p:nvPr/>
        </p:nvSpPr>
        <p:spPr>
          <a:xfrm>
            <a:off x="457200" y="2596896"/>
            <a:ext cx="411480" cy="411480"/>
          </a:xfrm>
          <a:prstGeom prst="ellipse">
            <a:avLst/>
          </a:prstGeom>
          <a:solidFill>
            <a:schemeClr val="accent1"/>
          </a:solidFill>
          <a:ln/>
        </p:spPr>
      </p:sp>
      <p:sp>
        <p:nvSpPr>
          <p:cNvPr id="11" name="Text 9"/>
          <p:cNvSpPr txBox="1"/>
          <p:nvPr/>
        </p:nvSpPr>
        <p:spPr>
          <a:xfrm>
            <a:off x="457200" y="2596896"/>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AD</a:t>
            </a:r>
            <a:endParaRPr lang="en-US" sz="1200" dirty="0"/>
          </a:p>
        </p:txBody>
      </p:sp>
      <p:sp>
        <p:nvSpPr>
          <p:cNvPr id="12" name="Text 10"/>
          <p:cNvSpPr txBox="1"/>
          <p:nvPr/>
        </p:nvSpPr>
        <p:spPr>
          <a:xfrm>
            <a:off x="960120" y="2578608"/>
            <a:ext cx="2103120" cy="457200"/>
          </a:xfrm>
          <a:prstGeom prst="rect">
            <a:avLst/>
          </a:prstGeom>
          <a:noFill/>
          <a:ln/>
        </p:spPr>
        <p:txBody>
          <a:bodyPr wrap="square" lIns="0" tIns="0" rIns="0" bIns="0" rtlCol="0" anchor="t"/>
          <a:lstStyle/>
          <a:p>
            <a:pPr indent="0" marL="0">
              <a:buNone/>
            </a:pPr>
            <a:r>
              <a:rPr lang="en-US" sz="1200" b="1" dirty="0">
                <a:solidFill>
                  <a:schemeClr val="tx1"/>
                </a:solidFill>
              </a:rPr>
              <a:t>Ariesti Dwi Damayanti</a:t>
            </a:r>
            <a:endParaRPr lang="en-US" sz="1200" dirty="0"/>
          </a:p>
          <a:p>
            <a:pPr indent="0" marL="0">
              <a:buNone/>
            </a:pPr>
            <a:r>
              <a:rPr lang="en-US" sz="1100" dirty="0">
                <a:solidFill>
                  <a:schemeClr val="accent1"/>
                </a:solidFill>
              </a:rPr>
              <a:t>Finance Officer</a:t>
            </a:r>
            <a:endParaRPr lang="en-US" sz="1200" dirty="0"/>
          </a:p>
        </p:txBody>
      </p:sp>
      <p:sp>
        <p:nvSpPr>
          <p:cNvPr id="13" name="Text 11"/>
          <p:cNvSpPr txBox="1"/>
          <p:nvPr/>
        </p:nvSpPr>
        <p:spPr>
          <a:xfrm>
            <a:off x="457200" y="3246120"/>
            <a:ext cx="2651760" cy="1280160"/>
          </a:xfrm>
          <a:prstGeom prst="rect">
            <a:avLst/>
          </a:prstGeom>
          <a:noFill/>
          <a:ln/>
        </p:spPr>
        <p:txBody>
          <a:bodyPr wrap="square" lIns="0" tIns="0" rIns="0" bIns="0" rtlCol="0" anchor="t"/>
          <a:lstStyle/>
          <a:p>
            <a:pPr indent="0" marL="0">
              <a:buNone/>
            </a:pPr>
            <a:r>
              <a:rPr lang="en-US" sz="1100" i="1" dirty="0">
                <a:solidFill>
                  <a:schemeClr val="accent5"/>
                </a:solidFill>
              </a:rPr>
              <a:t>Didukung Pondasi Rumah Hijau, PAKIS, LinkAr Borneo; berkoordinasi dengan LPHD &amp; Pemdes Pasir, KPH, DLHK Kalbar, Kemenhut, KLH, dan Plan Vivo.</a:t>
            </a:r>
            <a:endParaRPr lang="en-US" sz="1100" dirty="0"/>
          </a:p>
        </p:txBody>
      </p:sp>
      <p:sp>
        <p:nvSpPr>
          <p:cNvPr id="14" name="Text 12"/>
          <p:cNvSpPr txBox="1"/>
          <p:nvPr/>
        </p:nvSpPr>
        <p:spPr>
          <a:xfrm>
            <a:off x="3337560" y="1097280"/>
            <a:ext cx="2560320" cy="274320"/>
          </a:xfrm>
          <a:prstGeom prst="rect">
            <a:avLst/>
          </a:prstGeom>
          <a:noFill/>
          <a:ln/>
        </p:spPr>
        <p:txBody>
          <a:bodyPr wrap="square" lIns="0" tIns="0" rIns="0" bIns="0" rtlCol="0" anchor="t"/>
          <a:lstStyle/>
          <a:p>
            <a:pPr indent="0" marL="0">
              <a:buNone/>
            </a:pPr>
            <a:r>
              <a:rPr lang="en-US" sz="1400" b="1" dirty="0">
                <a:solidFill>
                  <a:schemeClr val="tx2"/>
                </a:solidFill>
              </a:rPr>
              <a:t>Risiko utama → mitigasi</a:t>
            </a:r>
            <a:endParaRPr lang="en-US" sz="1400" dirty="0"/>
          </a:p>
        </p:txBody>
      </p:sp>
      <p:sp>
        <p:nvSpPr>
          <p:cNvPr id="15" name="Risiko 1 lingkaran"/>
          <p:cNvSpPr/>
          <p:nvPr/>
        </p:nvSpPr>
        <p:spPr>
          <a:xfrm>
            <a:off x="3337560" y="1463040"/>
            <a:ext cx="384048" cy="384048"/>
          </a:xfrm>
          <a:prstGeom prst="ellipse">
            <a:avLst/>
          </a:prstGeom>
          <a:solidFill>
            <a:schemeClr val="accent2"/>
          </a:solidFill>
          <a:ln/>
        </p:spPr>
      </p:sp>
      <p:pic>
        <p:nvPicPr>
          <p:cNvPr id="16" name="Risiko 1 ikon" descr="preencoded.png">    </p:cNvPr>
          <p:cNvPicPr>
            <a:picLocks noChangeAspect="1"/>
          </p:cNvPicPr>
          <p:nvPr/>
        </p:nvPicPr>
        <p:blipFill>
          <a:blip r:embed="rId1"/>
          <a:stretch>
            <a:fillRect/>
          </a:stretch>
        </p:blipFill>
        <p:spPr>
          <a:xfrm>
            <a:off x="3437412" y="1562892"/>
            <a:ext cx="184343" cy="184343"/>
          </a:xfrm>
          <a:prstGeom prst="rect">
            <a:avLst/>
          </a:prstGeom>
        </p:spPr>
      </p:pic>
      <p:sp>
        <p:nvSpPr>
          <p:cNvPr id="17" name="Text 14"/>
          <p:cNvSpPr txBox="1"/>
          <p:nvPr/>
        </p:nvSpPr>
        <p:spPr>
          <a:xfrm>
            <a:off x="3813048" y="1435608"/>
            <a:ext cx="2103120" cy="914400"/>
          </a:xfrm>
          <a:prstGeom prst="rect">
            <a:avLst/>
          </a:prstGeom>
          <a:noFill/>
          <a:ln/>
        </p:spPr>
        <p:txBody>
          <a:bodyPr wrap="square" lIns="0" tIns="0" rIns="0" bIns="0" rtlCol="0" anchor="t"/>
          <a:lstStyle/>
          <a:p>
            <a:pPr indent="0" marL="0">
              <a:buNone/>
            </a:pPr>
            <a:r>
              <a:rPr lang="en-US" sz="1200" b="1" dirty="0">
                <a:solidFill>
                  <a:schemeClr val="tx1"/>
                </a:solidFill>
              </a:rPr>
              <a:t>Illegal logging &amp; konversi lahan</a:t>
            </a:r>
            <a:endParaRPr lang="en-US" sz="1200" dirty="0"/>
          </a:p>
          <a:p>
            <a:pPr indent="0" marL="0">
              <a:buNone/>
            </a:pPr>
            <a:r>
              <a:rPr lang="en-US" sz="1100" dirty="0">
                <a:solidFill>
                  <a:schemeClr val="tx1"/>
                </a:solidFill>
              </a:rPr>
              <a:t>Patroli partisipatif, peringatan dini, KUPS sebagai alternatif</a:t>
            </a:r>
            <a:endParaRPr lang="en-US" sz="1200" dirty="0"/>
          </a:p>
        </p:txBody>
      </p:sp>
      <p:sp>
        <p:nvSpPr>
          <p:cNvPr id="18" name="Risiko 2 lingkaran"/>
          <p:cNvSpPr/>
          <p:nvPr/>
        </p:nvSpPr>
        <p:spPr>
          <a:xfrm>
            <a:off x="3337560" y="2468880"/>
            <a:ext cx="384048" cy="384048"/>
          </a:xfrm>
          <a:prstGeom prst="ellipse">
            <a:avLst/>
          </a:prstGeom>
          <a:solidFill>
            <a:schemeClr val="accent2"/>
          </a:solidFill>
          <a:ln/>
        </p:spPr>
      </p:sp>
      <p:pic>
        <p:nvPicPr>
          <p:cNvPr id="19" name="Risiko 2 ikon" descr="preencoded.png">    </p:cNvPr>
          <p:cNvPicPr>
            <a:picLocks noChangeAspect="1"/>
          </p:cNvPicPr>
          <p:nvPr/>
        </p:nvPicPr>
        <p:blipFill>
          <a:blip r:embed="rId2"/>
          <a:stretch>
            <a:fillRect/>
          </a:stretch>
        </p:blipFill>
        <p:spPr>
          <a:xfrm>
            <a:off x="3437412" y="2568732"/>
            <a:ext cx="184343" cy="184343"/>
          </a:xfrm>
          <a:prstGeom prst="rect">
            <a:avLst/>
          </a:prstGeom>
        </p:spPr>
      </p:pic>
      <p:sp>
        <p:nvSpPr>
          <p:cNvPr id="20" name="Text 16"/>
          <p:cNvSpPr txBox="1"/>
          <p:nvPr/>
        </p:nvSpPr>
        <p:spPr>
          <a:xfrm>
            <a:off x="3813048" y="2441448"/>
            <a:ext cx="2103120" cy="914400"/>
          </a:xfrm>
          <a:prstGeom prst="rect">
            <a:avLst/>
          </a:prstGeom>
          <a:noFill/>
          <a:ln/>
        </p:spPr>
        <p:txBody>
          <a:bodyPr wrap="square" lIns="0" tIns="0" rIns="0" bIns="0" rtlCol="0" anchor="t"/>
          <a:lstStyle/>
          <a:p>
            <a:pPr indent="0" marL="0">
              <a:buNone/>
            </a:pPr>
            <a:r>
              <a:rPr lang="en-US" sz="1200" b="1" dirty="0">
                <a:solidFill>
                  <a:schemeClr val="tx1"/>
                </a:solidFill>
              </a:rPr>
              <a:t>Kapasitas LPHD terbatas</a:t>
            </a:r>
            <a:endParaRPr lang="en-US" sz="1200" dirty="0"/>
          </a:p>
          <a:p>
            <a:pPr indent="0" marL="0">
              <a:buNone/>
            </a:pPr>
            <a:r>
              <a:rPr lang="en-US" sz="1100" dirty="0">
                <a:solidFill>
                  <a:schemeClr val="tx1"/>
                </a:solidFill>
              </a:rPr>
              <a:t>Pelatihan tata kelola dan regulasi kelembagaan</a:t>
            </a:r>
            <a:endParaRPr lang="en-US" sz="1200" dirty="0"/>
          </a:p>
        </p:txBody>
      </p:sp>
      <p:sp>
        <p:nvSpPr>
          <p:cNvPr id="21" name="Risiko 3 lingkaran"/>
          <p:cNvSpPr/>
          <p:nvPr/>
        </p:nvSpPr>
        <p:spPr>
          <a:xfrm>
            <a:off x="3337560" y="3474720"/>
            <a:ext cx="384048" cy="384048"/>
          </a:xfrm>
          <a:prstGeom prst="ellipse">
            <a:avLst/>
          </a:prstGeom>
          <a:solidFill>
            <a:schemeClr val="accent2"/>
          </a:solidFill>
          <a:ln/>
        </p:spPr>
      </p:sp>
      <p:pic>
        <p:nvPicPr>
          <p:cNvPr id="22" name="Risiko 3 ikon" descr="preencoded.png">    </p:cNvPr>
          <p:cNvPicPr>
            <a:picLocks noChangeAspect="1"/>
          </p:cNvPicPr>
          <p:nvPr/>
        </p:nvPicPr>
        <p:blipFill>
          <a:blip r:embed="rId3"/>
          <a:stretch>
            <a:fillRect/>
          </a:stretch>
        </p:blipFill>
        <p:spPr>
          <a:xfrm>
            <a:off x="3437412" y="3574572"/>
            <a:ext cx="184343" cy="184343"/>
          </a:xfrm>
          <a:prstGeom prst="rect">
            <a:avLst/>
          </a:prstGeom>
        </p:spPr>
      </p:pic>
      <p:sp>
        <p:nvSpPr>
          <p:cNvPr id="23" name="Text 18"/>
          <p:cNvSpPr txBox="1"/>
          <p:nvPr/>
        </p:nvSpPr>
        <p:spPr>
          <a:xfrm>
            <a:off x="3813048" y="3447288"/>
            <a:ext cx="2103120" cy="914400"/>
          </a:xfrm>
          <a:prstGeom prst="rect">
            <a:avLst/>
          </a:prstGeom>
          <a:noFill/>
          <a:ln/>
        </p:spPr>
        <p:txBody>
          <a:bodyPr wrap="square" lIns="0" tIns="0" rIns="0" bIns="0" rtlCol="0" anchor="t"/>
          <a:lstStyle/>
          <a:p>
            <a:pPr indent="0" marL="0">
              <a:buNone/>
            </a:pPr>
            <a:r>
              <a:rPr lang="en-US" sz="1200" b="1" dirty="0">
                <a:solidFill>
                  <a:schemeClr val="tx1"/>
                </a:solidFill>
              </a:rPr>
              <a:t>Perempuan &amp; kelompok rentan minim terlibat</a:t>
            </a:r>
            <a:endParaRPr lang="en-US" sz="1200" dirty="0"/>
          </a:p>
          <a:p>
            <a:pPr indent="0" marL="0">
              <a:buNone/>
            </a:pPr>
            <a:r>
              <a:rPr lang="en-US" sz="1100" dirty="0">
                <a:solidFill>
                  <a:schemeClr val="tx1"/>
                </a:solidFill>
              </a:rPr>
              <a:t>GEDSI Action Plan dan kuota 40%</a:t>
            </a:r>
            <a:endParaRPr lang="en-US" sz="1200" dirty="0"/>
          </a:p>
        </p:txBody>
      </p:sp>
      <p:sp>
        <p:nvSpPr>
          <p:cNvPr id="24" name="Poin diskusi"/>
          <p:cNvSpPr/>
          <p:nvPr/>
        </p:nvSpPr>
        <p:spPr>
          <a:xfrm>
            <a:off x="6126480" y="1097280"/>
            <a:ext cx="2560320" cy="3429000"/>
          </a:xfrm>
          <a:prstGeom prst="rect">
            <a:avLst/>
          </a:prstGeom>
          <a:solidFill>
            <a:schemeClr val="tx2"/>
          </a:solidFill>
          <a:ln/>
        </p:spPr>
      </p:sp>
      <p:sp>
        <p:nvSpPr>
          <p:cNvPr id="25" name="Text 20"/>
          <p:cNvSpPr txBox="1"/>
          <p:nvPr/>
        </p:nvSpPr>
        <p:spPr>
          <a:xfrm>
            <a:off x="6327648" y="1261872"/>
            <a:ext cx="2194560" cy="320040"/>
          </a:xfrm>
          <a:prstGeom prst="rect">
            <a:avLst/>
          </a:prstGeom>
          <a:noFill/>
          <a:ln/>
        </p:spPr>
        <p:txBody>
          <a:bodyPr wrap="square" lIns="0" tIns="0" rIns="0" bIns="0" rtlCol="0" anchor="t"/>
          <a:lstStyle/>
          <a:p>
            <a:pPr indent="0" marL="0">
              <a:buNone/>
            </a:pPr>
            <a:r>
              <a:rPr lang="en-US" sz="1500" b="1" dirty="0">
                <a:solidFill>
                  <a:schemeClr val="accent6"/>
                </a:solidFill>
                <a:latin typeface="Cambria" pitchFamily="34" charset="0"/>
                <a:ea typeface="Cambria" pitchFamily="34" charset="-122"/>
                <a:cs typeface="Cambria" pitchFamily="34" charset="-120"/>
              </a:rPr>
              <a:t>Untuk disepakati</a:t>
            </a:r>
            <a:endParaRPr lang="en-US" sz="1500" dirty="0"/>
          </a:p>
        </p:txBody>
      </p:sp>
      <p:sp>
        <p:nvSpPr>
          <p:cNvPr id="26" name="Text 21"/>
          <p:cNvSpPr txBox="1"/>
          <p:nvPr/>
        </p:nvSpPr>
        <p:spPr>
          <a:xfrm>
            <a:off x="6327648" y="1691640"/>
            <a:ext cx="2240280" cy="26974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chemeClr val="bg1"/>
                </a:solidFill>
              </a:rPr>
              <a:t>Timeline, tonggak capaian, dan indikator kinerja</a:t>
            </a:r>
            <a:endParaRPr lang="en-US" sz="1300" dirty="0"/>
          </a:p>
          <a:p>
            <a:pPr marL="342900" indent="-342900">
              <a:spcAft>
                <a:spcPts val="800"/>
              </a:spcAft>
              <a:buSzPct val="100000"/>
              <a:buFont typeface="+mj-lt"/>
              <a:buAutoNum type="arabicPeriod" startAt="1"/>
            </a:pPr>
            <a:r>
              <a:rPr lang="en-US" sz="1300" dirty="0">
                <a:solidFill>
                  <a:schemeClr val="bg1"/>
                </a:solidFill>
              </a:rPr>
              <a:t>Format dan jadwal pelaporan program &amp; keuangan</a:t>
            </a:r>
            <a:endParaRPr lang="en-US" sz="1300" dirty="0"/>
          </a:p>
          <a:p>
            <a:pPr marL="342900" indent="-342900">
              <a:spcAft>
                <a:spcPts val="800"/>
              </a:spcAft>
              <a:buSzPct val="100000"/>
              <a:buFont typeface="+mj-lt"/>
              <a:buAutoNum type="arabicPeriod" startAt="1"/>
            </a:pPr>
            <a:r>
              <a:rPr lang="en-US" sz="1300" dirty="0">
                <a:solidFill>
                  <a:schemeClr val="bg1"/>
                </a:solidFill>
              </a:rPr>
              <a:t>Dukungan akses ke Kemenhut dan KLH</a:t>
            </a:r>
            <a:endParaRPr lang="en-US" sz="1300" dirty="0"/>
          </a:p>
          <a:p>
            <a:pPr marL="342900" indent="-342900">
              <a:spcAft>
                <a:spcPts val="800"/>
              </a:spcAft>
              <a:buSzPct val="100000"/>
              <a:buFont typeface="+mj-lt"/>
              <a:buAutoNum type="arabicPeriod" startAt="1"/>
            </a:pPr>
            <a:r>
              <a:rPr lang="en-US" sz="1300" dirty="0">
                <a:solidFill>
                  <a:schemeClr val="bg1"/>
                </a:solidFill>
              </a:rPr>
              <a:t>Jejaring TAF untuk calon mitra swasta</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SAMPAN Hutan Desa">
  <a:themeElements>
    <a:clrScheme name="SAMPAN Hutan Desa">
      <a:dk1>
        <a:srgbClr val="1C2B25"/>
      </a:dk1>
      <a:lt1>
        <a:srgbClr val="FFFFFF"/>
      </a:lt1>
      <a:dk2>
        <a:srgbClr val="173F35"/>
      </a:dk2>
      <a:lt2>
        <a:srgbClr val="EEF3EF"/>
      </a:lt2>
      <a:accent1>
        <a:srgbClr val="2E7D5B"/>
      </a:accent1>
      <a:accent2>
        <a:srgbClr val="C8642A"/>
      </a:accent2>
      <a:accent3>
        <a:srgbClr val="8FC1A6"/>
      </a:accent3>
      <a:accent4>
        <a:srgbClr val="2F7183"/>
      </a:accent4>
      <a:accent5>
        <a:srgbClr val="8C6A4A"/>
      </a:accent5>
      <a:accent6>
        <a:srgbClr val="C99A2E"/>
      </a:accent6>
      <a:hlink>
        <a:srgbClr val="2E7D5B"/>
      </a:hlink>
      <a:folHlink>
        <a:srgbClr val="2F7183"/>
      </a:folHlink>
    </a:clrScheme>
    <a:fontScheme name="SAMPAN Hutan De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SAMPAN Kalimantan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Kickoff Meeting Program SETAPAK – SAMPAN Kalimantan (Ringkas)</dc:title>
  <dc:subject>PptxGenJS Presentation</dc:subject>
  <dc:creator>SAMPAN Kalimantan</dc:creator>
  <cp:lastModifiedBy>SAMPAN Kalimantan</cp:lastModifiedBy>
  <cp:revision>1</cp:revision>
  <dcterms:created xsi:type="dcterms:W3CDTF">2026-10-20T08:38:27Z</dcterms:created>
  <dcterms:modified xsi:type="dcterms:W3CDTF">2026-10-20T08:38:27Z</dcterms:modified>
</cp:coreProperties>
</file>