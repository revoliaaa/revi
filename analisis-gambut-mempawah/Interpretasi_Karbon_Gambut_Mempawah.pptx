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99bc2adb-c80f-b0bf-fdf9-b1164cc44a09}">
          <p14:sldIdLst>
            <p14:sldId id="256"/>
            <p14:sldId id="257"/>
          </p14:sldIdLst>
        </p14:section>
        <p14:section name="Kondisi areal" id="{e77fe318-5049-fcef-346c-d8a86d9f4591}">
          <p14:sldIdLst>
            <p14:sldId id="258"/>
            <p14:sldId id="259"/>
          </p14:sldIdLst>
        </p14:section>
        <p14:section name="Validitas perhitungan" id="{16e080e4-490b-12a2-ab11-bed8fd12d55c}">
          <p14:sldIdLst>
            <p14:sldId id="260"/>
            <p14:sldId id="261"/>
            <p14:sldId id="262"/>
            <p14:sldId id="263"/>
            <p14:sldId id="264"/>
          </p14:sldIdLst>
        </p14:section>
        <p14:section name="Additionality &amp; leakage" id="{7865a122-fb60-5378-4ccd-ed60a84fd2c0}">
          <p14:sldIdLst>
            <p14:sldId id="265"/>
            <p14:sldId id="266"/>
            <p14:sldId id="267"/>
          </p14:sldIdLst>
        </p14:section>
        <p14:section name="Langkah berikutnya" id="{75fb62ef-3071-d1b3-2429-0d51dfda7211}">
          <p14:sldIdLst>
            <p14:sldId id="268"/>
          </p14:sldIdLst>
        </p14:section>
        <p14:section name="Lampiran" id="{168dbe85-f4ac-12d9-3b8a-d11f687495f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55E"/>
                </a:solidFill>
                <a:latin typeface="+mn-lt"/>
              </a:defRPr>
            </a:pPr>
            <a:r>
              <a:rPr sz="1200" b="0" i="0" u="none" strike="noStrike">
                <a:solidFill>
                  <a:srgbClr val="6B655E"/>
                </a:solidFill>
                <a:latin typeface="+mn-lt"/>
              </a:rPr>
              <a:t>Luas per kelas kedalaman gambut, ha</a:t>
            </a:r>
          </a:p>
        </c:rich>
      </c:tx>
      <c:layout/>
      <c:overlay val="0"/>
    </c:title>
    <c:autoTitleDeleted val="0"/>
    <c:plotArea>
      <c:layout/>
      <c:barChart>
        <c:barDir val="bar"/>
        <c:grouping val="clustered"/>
        <c:varyColors val="0"/>
        <c:ser>
          <c:idx val="0"/>
          <c:order val="0"/>
          <c:tx>
            <c:strRef>
              <c:f>Sheet1!$B$1</c:f>
              <c:strCache>
                <c:ptCount val="1"/>
                <c:pt idx="0">
                  <c:v>Luas (ha)</c:v>
                </c:pt>
              </c:strCache>
            </c:strRef>
          </c:tx>
          <c:spPr>
            <a:solidFill>
              <a:srgbClr val="8C9A5B"/>
            </a:solidFill>
            <a:effectLst/>
          </c:spPr>
          <c:invertIfNegative val="0"/>
          <c:dLbls>
            <c:numFmt formatCode="[&gt;=1000]0&quot;.&quot;000;0" sourceLinked="0"/>
            <c:txPr>
              <a:bodyPr/>
              <a:lstStyle/>
              <a:p>
                <a:pPr>
                  <a:defRPr b="0" i="0" strike="noStrike" sz="1300" u="none">
                    <a:solidFill>
                      <a:srgbClr val="1E1C19"/>
                    </a:solidFill>
                    <a:latin typeface="+mn-lt"/>
                  </a:defRPr>
                </a:pPr>
              </a:p>
            </c:txPr>
            <c:showLegendKey val="0"/>
            <c:showVal val="1"/>
            <c:showCatName val="0"/>
            <c:showSerName val="0"/>
            <c:showPercent val="0"/>
            <c:showBubbleSize val="0"/>
            <c:showLeaderLines val="0"/>
          </c:dLbls>
          <c:dPt>
            <c:idx val="0"/>
            <c:invertIfNegative val="0"/>
            <c:bubble3D val="0"/>
            <c:spPr>
              <a:solidFill>
                <a:srgbClr val="8C9A5B"/>
              </a:solidFill>
              <a:effectLst/>
            </c:spPr>
          </c:dPt>
          <c:dPt>
            <c:idx val="1"/>
            <c:invertIfNegative val="0"/>
            <c:bubble3D val="0"/>
            <c:spPr>
              <a:solidFill>
                <a:srgbClr val="2F5D46"/>
              </a:solidFill>
              <a:effectLst/>
            </c:spPr>
          </c:dPt>
          <c:dPt>
            <c:idx val="2"/>
            <c:invertIfNegative val="0"/>
            <c:bubble3D val="0"/>
            <c:spPr>
              <a:solidFill>
                <a:srgbClr val="2B241E"/>
              </a:solidFill>
              <a:effectLst/>
            </c:spPr>
          </c:dPt>
          <c:cat>
            <c:multiLvlStrRef>
              <c:f>Sheet1!$A$2:$A$4</c:f>
              <c:multiLvlStrCache>
                <c:ptCount val="3"/>
                <c:lvl>
                  <c:pt idx="0">
                    <c:v>Bergambut &lt; 50 cm</c:v>
                  </c:pt>
                  <c:pt idx="1">
                    <c:v>Gambut 100–200 cm</c:v>
                  </c:pt>
                  <c:pt idx="2">
                    <c:v>Gambut 200–300 cm</c:v>
                  </c:pt>
                </c:lvl>
              </c:multiLvlStrCache>
            </c:multiLvlStrRef>
          </c:cat>
          <c:val>
            <c:numRef>
              <c:f>Sheet1!$B$2:$B$4</c:f>
              <c:numCache>
                <c:formatCode>General</c:formatCode>
                <c:ptCount val="3"/>
                <c:pt idx="0">
                  <c:v>454</c:v>
                </c:pt>
                <c:pt idx="1">
                  <c:v>1586</c:v>
                </c:pt>
                <c:pt idx="2">
                  <c:v>429</c:v>
                </c:pt>
              </c:numCache>
            </c:numRef>
          </c:val>
        </c:ser>
        <c:dLbls>
          <c:numFmt formatCode="[&gt;=1000]0&quot;.&quot;000;0" sourceLinked="0"/>
          <c:txPr>
            <a:bodyPr/>
            <a:lstStyle/>
            <a:p>
              <a:pPr>
                <a:defRPr b="0" i="0" strike="noStrike" sz="1300" u="none">
                  <a:solidFill>
                    <a:srgbClr val="1E1C19"/>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6B655E"/>
                </a:solidFill>
                <a:latin typeface="+mn-lt"/>
              </a:defRPr>
            </a:pPr>
            <a:endParaRPr lang="en-US"/>
          </a:p>
        </c:txPr>
        <c:crossAx val="2094734552"/>
        <c:crosses val="autoZero"/>
        <c:auto val="1"/>
        <c:lblAlgn val="ctr"/>
        <c:noMultiLvlLbl val="1"/>
      </c:catAx>
      <c:valAx>
        <c:axId val="2094734552"/>
        <c:scaling>
          <c:orientation val="minMax"/>
          <c:max val="19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655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55E"/>
                </a:solidFill>
                <a:latin typeface="+mn-lt"/>
              </a:defRPr>
            </a:pPr>
            <a:r>
              <a:rPr sz="1200" b="0" i="0" u="none" strike="noStrike">
                <a:solidFill>
                  <a:srgbClr val="6B655E"/>
                </a:solidFill>
                <a:latin typeface="+mn-lt"/>
              </a:rPr>
              <a:t>Luas tutupan lahan, ha</a:t>
            </a:r>
          </a:p>
        </c:rich>
      </c:tx>
      <c:layout/>
      <c:overlay val="0"/>
    </c:title>
    <c:autoTitleDeleted val="0"/>
    <c:plotArea>
      <c:layout/>
      <c:barChart>
        <c:barDir val="col"/>
        <c:grouping val="clustered"/>
        <c:varyColors val="0"/>
        <c:ser>
          <c:idx val="0"/>
          <c:order val="0"/>
          <c:tx>
            <c:strRef>
              <c:f>Sheet1!$B$1</c:f>
              <c:strCache>
                <c:ptCount val="1"/>
                <c:pt idx="0">
                  <c:v>Hutan sekunder</c:v>
                </c:pt>
              </c:strCache>
            </c:strRef>
          </c:tx>
          <c:spPr>
            <a:solidFill>
              <a:srgbClr val="2F5D46"/>
            </a:solidFill>
            <a:effectLst/>
          </c:spPr>
          <c:invertIfNegative val="0"/>
          <c:dLbls>
            <c:numFmt formatCode="[&gt;=1000]0&quot;.&quot;000;0" sourceLinked="0"/>
            <c:txPr>
              <a:bodyPr/>
              <a:lstStyle/>
              <a:p>
                <a:pPr>
                  <a:defRPr b="0" i="0" strike="noStrike" sz="1100" u="none">
                    <a:solidFill>
                      <a:srgbClr val="1E1C19"/>
                    </a:solidFill>
                    <a:latin typeface="+mn-lt"/>
                  </a:defRPr>
                </a:pPr>
              </a:p>
            </c:txPr>
            <c:showLegendKey val="0"/>
            <c:showVal val="1"/>
            <c:showCatName val="0"/>
            <c:showSerName val="0"/>
            <c:showPercent val="0"/>
            <c:showBubbleSize val="0"/>
            <c:showLeaderLines val="0"/>
          </c:dLbls>
          <c:cat>
            <c:multiLvlStrRef>
              <c:f>Sheet1!$A$2:$A$4</c:f>
              <c:multiLvlStrCache>
                <c:ptCount val="3"/>
                <c:lvl>
                  <c:pt idx="0">
                    <c:v>2016</c:v>
                  </c:pt>
                  <c:pt idx="1">
                    <c:v>2021</c:v>
                  </c:pt>
                  <c:pt idx="2">
                    <c:v>2026</c:v>
                  </c:pt>
                </c:lvl>
              </c:multiLvlStrCache>
            </c:multiLvlStrRef>
          </c:cat>
          <c:val>
            <c:numRef>
              <c:f>Sheet1!$B$2:$B$4</c:f>
              <c:numCache>
                <c:formatCode>General</c:formatCode>
                <c:ptCount val="3"/>
                <c:pt idx="0">
                  <c:v>1452</c:v>
                </c:pt>
                <c:pt idx="1">
                  <c:v>1549</c:v>
                </c:pt>
                <c:pt idx="2">
                  <c:v>1411</c:v>
                </c:pt>
              </c:numCache>
            </c:numRef>
          </c:val>
        </c:ser>
        <c:ser>
          <c:idx val="1"/>
          <c:order val="1"/>
          <c:tx>
            <c:strRef>
              <c:f>Sheet1!$C$1</c:f>
              <c:strCache>
                <c:ptCount val="1"/>
                <c:pt idx="0">
                  <c:v>Semak belukar</c:v>
                </c:pt>
              </c:strCache>
            </c:strRef>
          </c:tx>
          <c:spPr>
            <a:solidFill>
              <a:srgbClr val="8C9A5B"/>
            </a:solidFill>
            <a:effectLst/>
          </c:spPr>
          <c:invertIfNegative val="0"/>
          <c:dLbls>
            <c:numFmt formatCode="[&gt;=1000]0&quot;.&quot;000;0" sourceLinked="0"/>
            <c:txPr>
              <a:bodyPr/>
              <a:lstStyle/>
              <a:p>
                <a:pPr>
                  <a:defRPr b="0" i="0" strike="noStrike" sz="1100" u="none">
                    <a:solidFill>
                      <a:srgbClr val="1E1C19"/>
                    </a:solidFill>
                    <a:latin typeface="+mn-lt"/>
                  </a:defRPr>
                </a:pPr>
              </a:p>
            </c:txPr>
            <c:showLegendKey val="0"/>
            <c:showVal val="1"/>
            <c:showCatName val="0"/>
            <c:showSerName val="0"/>
            <c:showPercent val="0"/>
            <c:showBubbleSize val="0"/>
            <c:showLeaderLines val="0"/>
          </c:dLbls>
          <c:cat>
            <c:multiLvlStrRef>
              <c:f>Sheet1!$A$2:$A$4</c:f>
              <c:multiLvlStrCache>
                <c:ptCount val="3"/>
                <c:lvl>
                  <c:pt idx="0">
                    <c:v>2016</c:v>
                  </c:pt>
                  <c:pt idx="1">
                    <c:v>2021</c:v>
                  </c:pt>
                  <c:pt idx="2">
                    <c:v>2026</c:v>
                  </c:pt>
                </c:lvl>
              </c:multiLvlStrCache>
            </c:multiLvlStrRef>
          </c:cat>
          <c:val>
            <c:numRef>
              <c:f>Sheet1!$C$2:$C$4</c:f>
              <c:numCache>
                <c:formatCode>General</c:formatCode>
                <c:ptCount val="3"/>
                <c:pt idx="0">
                  <c:v>968</c:v>
                </c:pt>
                <c:pt idx="1">
                  <c:v>857</c:v>
                </c:pt>
                <c:pt idx="2">
                  <c:v>609</c:v>
                </c:pt>
              </c:numCache>
            </c:numRef>
          </c:val>
        </c:ser>
        <c:ser>
          <c:idx val="2"/>
          <c:order val="2"/>
          <c:tx>
            <c:strRef>
              <c:f>Sheet1!$D$1</c:f>
              <c:strCache>
                <c:ptCount val="1"/>
                <c:pt idx="0">
                  <c:v>Perkebunan</c:v>
                </c:pt>
              </c:strCache>
            </c:strRef>
          </c:tx>
          <c:spPr>
            <a:solidFill>
              <a:srgbClr val="C08A3E"/>
            </a:solidFill>
            <a:effectLst/>
          </c:spPr>
          <c:invertIfNegative val="0"/>
          <c:dLbls>
            <c:numFmt formatCode="[&gt;=1000]0&quot;.&quot;000;0" sourceLinked="0"/>
            <c:txPr>
              <a:bodyPr/>
              <a:lstStyle/>
              <a:p>
                <a:pPr>
                  <a:defRPr b="0" i="0" strike="noStrike" sz="1100" u="none">
                    <a:solidFill>
                      <a:srgbClr val="1E1C19"/>
                    </a:solidFill>
                    <a:latin typeface="+mn-lt"/>
                  </a:defRPr>
                </a:pPr>
              </a:p>
            </c:txPr>
            <c:showLegendKey val="0"/>
            <c:showVal val="1"/>
            <c:showCatName val="0"/>
            <c:showSerName val="0"/>
            <c:showPercent val="0"/>
            <c:showBubbleSize val="0"/>
            <c:showLeaderLines val="0"/>
          </c:dLbls>
          <c:cat>
            <c:multiLvlStrRef>
              <c:f>Sheet1!$A$2:$A$4</c:f>
              <c:multiLvlStrCache>
                <c:ptCount val="3"/>
                <c:lvl>
                  <c:pt idx="0">
                    <c:v>2016</c:v>
                  </c:pt>
                  <c:pt idx="1">
                    <c:v>2021</c:v>
                  </c:pt>
                  <c:pt idx="2">
                    <c:v>2026</c:v>
                  </c:pt>
                </c:lvl>
              </c:multiLvlStrCache>
            </c:multiLvlStrRef>
          </c:cat>
          <c:val>
            <c:numRef>
              <c:f>Sheet1!$D$2:$D$4</c:f>
              <c:numCache>
                <c:formatCode>General</c:formatCode>
                <c:ptCount val="3"/>
                <c:pt idx="0">
                  <c:v>6</c:v>
                </c:pt>
                <c:pt idx="1">
                  <c:v>26</c:v>
                </c:pt>
                <c:pt idx="2">
                  <c:v>359</c:v>
                </c:pt>
              </c:numCache>
            </c:numRef>
          </c:val>
        </c:ser>
        <c:ser>
          <c:idx val="3"/>
          <c:order val="3"/>
          <c:tx>
            <c:strRef>
              <c:f>Sheet1!$E$1</c:f>
              <c:strCache>
                <c:ptCount val="1"/>
                <c:pt idx="0">
                  <c:v>Lahan terbuka</c:v>
                </c:pt>
              </c:strCache>
            </c:strRef>
          </c:tx>
          <c:spPr>
            <a:solidFill>
              <a:srgbClr val="B9AE9C"/>
            </a:solidFill>
            <a:effectLst/>
          </c:spPr>
          <c:invertIfNegative val="0"/>
          <c:dLbls>
            <c:numFmt formatCode="[&gt;=1000]0&quot;.&quot;000;0" sourceLinked="0"/>
            <c:txPr>
              <a:bodyPr/>
              <a:lstStyle/>
              <a:p>
                <a:pPr>
                  <a:defRPr b="0" i="0" strike="noStrike" sz="1100" u="none">
                    <a:solidFill>
                      <a:srgbClr val="1E1C19"/>
                    </a:solidFill>
                    <a:latin typeface="+mn-lt"/>
                  </a:defRPr>
                </a:pPr>
              </a:p>
            </c:txPr>
            <c:showLegendKey val="0"/>
            <c:showVal val="1"/>
            <c:showCatName val="0"/>
            <c:showSerName val="0"/>
            <c:showPercent val="0"/>
            <c:showBubbleSize val="0"/>
            <c:showLeaderLines val="0"/>
          </c:dLbls>
          <c:cat>
            <c:multiLvlStrRef>
              <c:f>Sheet1!$A$2:$A$4</c:f>
              <c:multiLvlStrCache>
                <c:ptCount val="3"/>
                <c:lvl>
                  <c:pt idx="0">
                    <c:v>2016</c:v>
                  </c:pt>
                  <c:pt idx="1">
                    <c:v>2021</c:v>
                  </c:pt>
                  <c:pt idx="2">
                    <c:v>2026</c:v>
                  </c:pt>
                </c:lvl>
              </c:multiLvlStrCache>
            </c:multiLvlStrRef>
          </c:cat>
          <c:val>
            <c:numRef>
              <c:f>Sheet1!$E$2:$E$4</c:f>
              <c:numCache>
                <c:formatCode>General</c:formatCode>
                <c:ptCount val="3"/>
                <c:pt idx="0">
                  <c:v>0</c:v>
                </c:pt>
                <c:pt idx="1">
                  <c:v>0</c:v>
                </c:pt>
                <c:pt idx="2">
                  <c:v>58</c:v>
                </c:pt>
              </c:numCache>
            </c:numRef>
          </c:val>
        </c:ser>
        <c:dLbls>
          <c:numFmt formatCode="[&gt;=1000]0&quot;.&quot;000;0" sourceLinked="0"/>
          <c:txPr>
            <a:bodyPr/>
            <a:lstStyle/>
            <a:p>
              <a:pPr>
                <a:defRPr b="0" i="0" strike="noStrike" sz="1100" u="none">
                  <a:solidFill>
                    <a:srgbClr val="1E1C19"/>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B655E"/>
                </a:solidFill>
                <a:latin typeface="+mn-lt"/>
              </a:defRPr>
            </a:pPr>
            <a:endParaRPr lang="en-US"/>
          </a:p>
        </c:txPr>
        <c:crossAx val="2094734552"/>
        <c:crosses val="autoZero"/>
        <c:auto val="1"/>
        <c:lblAlgn val="ctr"/>
        <c:noMultiLvlLbl val="1"/>
      </c:catAx>
      <c:valAx>
        <c:axId val="2094734552"/>
        <c:scaling>
          <c:orientation val="minMax"/>
          <c:max val="17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655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6B655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655E"/>
                </a:solidFill>
                <a:latin typeface="+mn-lt"/>
              </a:defRPr>
            </a:pPr>
            <a:r>
              <a:rPr sz="1200" b="0" i="0" u="none" strike="noStrike">
                <a:solidFill>
                  <a:srgbClr val="6B655E"/>
                </a:solidFill>
                <a:latin typeface="+mn-lt"/>
              </a:rPr>
              <a:t>Kredit bersih, tCO₂e per tahun</a:t>
            </a:r>
          </a:p>
        </c:rich>
      </c:tx>
      <c:layout/>
      <c:overlay val="0"/>
    </c:title>
    <c:autoTitleDeleted val="0"/>
    <c:plotArea>
      <c:layout/>
      <c:barChart>
        <c:barDir val="bar"/>
        <c:grouping val="clustered"/>
        <c:varyColors val="0"/>
        <c:ser>
          <c:idx val="0"/>
          <c:order val="0"/>
          <c:tx>
            <c:strRef>
              <c:f>Sheet1!$B$1</c:f>
              <c:strCache>
                <c:ptCount val="1"/>
                <c:pt idx="0">
                  <c:v>tCO₂e/thn</c:v>
                </c:pt>
              </c:strCache>
            </c:strRef>
          </c:tx>
          <c:spPr>
            <a:solidFill>
              <a:srgbClr val="B23A2E"/>
            </a:solidFill>
            <a:effectLst/>
          </c:spPr>
          <c:invertIfNegative val="0"/>
          <c:dLbls>
            <c:numFmt formatCode="[&gt;=1000]0&quot;.&quot;000;0" sourceLinked="0"/>
            <c:txPr>
              <a:bodyPr/>
              <a:lstStyle/>
              <a:p>
                <a:pPr>
                  <a:defRPr b="0" i="0" strike="noStrike" sz="1300" u="none">
                    <a:solidFill>
                      <a:srgbClr val="1E1C19"/>
                    </a:solidFill>
                    <a:latin typeface="+mn-lt"/>
                  </a:defRPr>
                </a:pPr>
              </a:p>
            </c:txPr>
            <c:showLegendKey val="0"/>
            <c:showVal val="1"/>
            <c:showCatName val="0"/>
            <c:showSerName val="0"/>
            <c:showPercent val="0"/>
            <c:showBubbleSize val="0"/>
            <c:showLeaderLines val="0"/>
          </c:dLbls>
          <c:dPt>
            <c:idx val="0"/>
            <c:invertIfNegative val="0"/>
            <c:bubble3D val="0"/>
            <c:spPr>
              <a:solidFill>
                <a:srgbClr val="B23A2E"/>
              </a:solidFill>
              <a:effectLst/>
            </c:spPr>
          </c:dPt>
          <c:dPt>
            <c:idx val="1"/>
            <c:invertIfNegative val="0"/>
            <c:bubble3D val="0"/>
            <c:spPr>
              <a:solidFill>
                <a:srgbClr val="B23A2E"/>
              </a:solidFill>
              <a:effectLst/>
            </c:spPr>
          </c:dPt>
          <c:dPt>
            <c:idx val="2"/>
            <c:invertIfNegative val="0"/>
            <c:bubble3D val="0"/>
            <c:spPr>
              <a:solidFill>
                <a:srgbClr val="B23A2E"/>
              </a:solidFill>
              <a:effectLst/>
            </c:spPr>
          </c:dPt>
          <c:dPt>
            <c:idx val="3"/>
            <c:invertIfNegative val="0"/>
            <c:bubble3D val="0"/>
            <c:spPr>
              <a:solidFill>
                <a:srgbClr val="2F5D46"/>
              </a:solidFill>
              <a:effectLst/>
            </c:spPr>
          </c:dPt>
          <c:dPt>
            <c:idx val="4"/>
            <c:invertIfNegative val="0"/>
            <c:bubble3D val="0"/>
            <c:spPr>
              <a:solidFill>
                <a:srgbClr val="2F5D46"/>
              </a:solidFill>
              <a:effectLst/>
            </c:spPr>
          </c:dPt>
          <c:dPt>
            <c:idx val="5"/>
            <c:invertIfNegative val="0"/>
            <c:bubble3D val="0"/>
            <c:spPr>
              <a:solidFill>
                <a:srgbClr val="B23A2E"/>
              </a:solidFill>
              <a:effectLst/>
            </c:spPr>
          </c:dPt>
          <c:cat>
            <c:multiLvlStrRef>
              <c:f>Sheet1!$A$2:$A$7</c:f>
              <c:multiLvlStrCache>
                <c:ptCount val="6"/>
                <c:lvl>
                  <c:pt idx="0">
                    <c:v>File · Tuplah (2) S46</c:v>
                  </c:pt>
                  <c:pt idx="1">
                    <c:v>File · Tuplah R57</c:v>
                  </c:pt>
                  <c:pt idx="2">
                    <c:v>File · blok IKHB G57</c:v>
                  </c:pt>
                  <c:pt idx="3">
                    <c:v>Koreksi · laju 2021–26</c:v>
                  </c:pt>
                  <c:pt idx="4">
                    <c:v>Koreksi · konservatif</c:v>
                  </c:pt>
                  <c:pt idx="5">
                    <c:v>File · Tuplah (2) S36</c:v>
                  </c:pt>
                </c:lvl>
              </c:multiLvlStrCache>
            </c:multiLvlStrRef>
          </c:cat>
          <c:val>
            <c:numRef>
              <c:f>Sheet1!$B$2:$B$7</c:f>
              <c:numCache>
                <c:formatCode>General</c:formatCode>
                <c:ptCount val="6"/>
                <c:pt idx="0">
                  <c:v>15642</c:v>
                </c:pt>
                <c:pt idx="1">
                  <c:v>13745</c:v>
                </c:pt>
                <c:pt idx="2">
                  <c:v>9807</c:v>
                </c:pt>
                <c:pt idx="3">
                  <c:v>4126</c:v>
                </c:pt>
                <c:pt idx="4">
                  <c:v>1238</c:v>
                </c:pt>
                <c:pt idx="5">
                  <c:v>6</c:v>
                </c:pt>
              </c:numCache>
            </c:numRef>
          </c:val>
        </c:ser>
        <c:dLbls>
          <c:numFmt formatCode="[&gt;=1000]0&quot;.&quot;000;0" sourceLinked="0"/>
          <c:txPr>
            <a:bodyPr/>
            <a:lstStyle/>
            <a:p>
              <a:pPr>
                <a:defRPr b="0" i="0" strike="noStrike" sz="1300" u="none">
                  <a:solidFill>
                    <a:srgbClr val="1E1C19"/>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6B655E"/>
                </a:solidFill>
                <a:latin typeface="+mn-lt"/>
              </a:defRPr>
            </a:pPr>
            <a:endParaRPr lang="en-US"/>
          </a:p>
        </c:txPr>
        <c:crossAx val="2094734552"/>
        <c:crosses val="autoZero"/>
        <c:auto val="1"/>
        <c:lblAlgn val="ctr"/>
        <c:noMultiLvlLbl val="1"/>
      </c:catAx>
      <c:valAx>
        <c:axId val="2094734552"/>
        <c:scaling>
          <c:orientation val="minMax"/>
          <c:max val="19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655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ini menafsirkan hasil review file Export_Output_Gambut_MEMPAWAH_1.xlsx. Pesan utamanya: data spasial (luas, kedalaman gambut, tutupan lahan) konsisten dan bisa dipakai; tetapi cara menghitung emisi dan kredit belum valid, sehingga angka kredit di file 4 sampai 13 kali terlalu tinggi. Batang di bawah adalah tutupan lahan 2026 seluas 2.468,5 ha — batang yang sama muncul kecil di kiri bawah setiap slide untuk menunjukkan bagian areal yang sedang dibahas.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spasial: luas overlay tutupan PL2022 × kedalaman gambut cocok dengan sheet Gambut (453,93 / 1.586 / 428,57 ha). Neraca tutupan 2016, 2021, 2026 masing-masing 2.468,5 ha. Kehilangan hutan bruto 82,87 ha dikurangi penambahan 41,94 ha = penurunan neto 40,91 ha.
Perhitungan: ada empat kesalahan utama — emisi dari stok seluruh kolom gambut × 1,16%, laju 1,16% tanpa sumber, faktor 'Additional 43%' sebagai pengali, serta salah ketik/rujukan sel.
Kredit: model koreksi menghasilkan ±1.240 tCO2e/thn (konservatif) sampai ±4.130 tCO2e/thn (laju 2021–2026), dibandingkan 13.745–15.642 tCO2e/thn di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Overlay PL2022 × peta kedalaman (sheet Export_Output): bergambut &lt;50 cm 453,93 ha (fungsi budidaya EG, KHG Mempawah–Peniti); gambut 100–200 cm 1.586,01 ha dan 200–300 cm 428,57 ha (fungsi lindung EG, KHG Mempawah–Duri).
Stok C = luas × tebal × 10.000 × BD × fraksi C. Dengan BD 0,11/0,08/0,06 dan C 0,51 dari file: 63.664 + 970.638 + 327.856 = 1.362.158 tC (4,99 juta tCO2e). Rerata tertimbang 551,8 tC/ha — bukan jumlah kerapatan dibagi 3 seperti di file.
Penting: stok ini adalah cadangan. Deforestasi tidak melepas seluruh kolom gambut sekaligus; emisi gambut terjadi bertahap lewat drainase (FE per ha per tahun) dan kebakaran.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Tutupan per tahun (ha):
Hutan sekunder 1.452,07 → 1.549,28 → 1.411,16
Semak belukar 967,94 → 857,33 → 608,69
Perkebunan 6,33 → 26,04 → 359,14
Lahan terbuka 0 → 0 → 57,6
Matriks 2016–2026: hutan → lahan terbuka 55,22 ha; hutan → kebun 7,85 ha; hutan → semak 19,81 ha (bruto 82,87 ha); semak → hutan 41,94 ha.
Ini bukti ancaman yang nyata (dipakai untuk additionality dan leakage), tetapi kenaikan hutan +97 ha pada 2016→2021 harus dijelaskan — regenerasi atau beda interpretasi citra?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 di file (Tuplah!P53, Tuplah (2)!Q41): emisi tahunan = total stok CO2e gambut seluruh area (termasuk semak, kebun, lahan terbuka; seluruh kolom 1,5 m) × 1,16%. Konsekuensinya: (1) gambut di lahan non-hutan ikut dihitung sebagai 'hutan yang terdeforestasi'; (2) seluruh kolom gambut dianggap teroksidasi; (3) karbon pohon tidak masuk sama sekali.
Cara yang benar: emisi tahun t = luas deforestasi tahun t × (stok C biomassa hutan − stok C pasca) × 44/12 + luas kumulatif terdeforestasi × (FE gambut pasca − FE gambut hutan). Kredit bersih = baseline × efektivitas × (1 − leakage) × (1 − buffer) × (1 − ketidakpastian).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Kredit bersih per tahun (tCO2e):
Tuplah (2)!S46 (×0,65): 15.642
Tuplah!R57 (×0,35): 13.745
Tuplah (2)!G57 (blok IKHB): 9.807 — memakai AGB 22291 (salah ketik ×100) dan menjumlah per-ha dengan total
Tuplah (2)!S36: 6 — Q31 merujuk tCO2e per ha (P37), bukan total
Model koreksi: 4.126 (laju neto 2021–2026, 27,6 ha/thn) dan 1.238 (laju bruto 2016–2026, 8,29 ha/thn).
Asumsi pengurang model koreksi: efektivitas 43% (diambil dari angka 'Additional' file), leakage 15%, buffer 20% → faktor 0,29.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lengkap 22 temuan ada di sheet Daftar_Temuan. Yang ditampilkan di sini adalah kesalahan mekanis (bukan metodologis) yang paling besar dampaknya. Semua bisa diperbaiki cepat, tetapi menunjukkan perlunya satu tabel parameter yang dirujuk oleh semua rumus, bukan angka yang diketik ulang di setiap blok.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(sheet Parameter): AGB 222,91 + BGB 64,64 t BK/ha × 0,47 = 135,15 tC/ha. Stok pasca-deforestasi ditimbang menurut matriks 2016–2026: lahan terbuka 2,5 (67%), perkebunan 63 (9%), semak 30 (24%) = 14,8 tC/ha. Faktor emisi biomassa = (135,15 − 14,8) × 44/12 = 441,3 tCO2/ha.
FE gambut pasca tertimbang: 35/40/19 → 31,65; dikurangi FE hutan terdrainase 19 = +12,65 tCO2/ha/thn per ha terdeforestasi (kumulatif).
Laju bruto 2016–2026 = 82,87/10 = 8,29 ha/thn. Baseline rerata 10 tahun = 3.657 (biomassa) + 577 (gambut) = 4.233 tCO2e/thn. Kredit bersih = 4.233 × 0,43 × 0,85 × 0,80 = 1.238 tCO2e/thn.
Tidak termasuk: kebakaran, DOC, CH4/N2O (konservatif). Untuk VM0048, laju diganti data aktivitas yurisdiksi Verra.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Matriks sensitivitas kredit bersih rerata (tCO2e/thn): stok hutan 135,1 tC/ha → 1.238 (laju 8,29 ha/thn) / 4.126 (laju 27,6 ha/thn); stok 79,67 tC/ha → 745 / 2.483.
Nilai porsi LPHD = kredit × 60% × harga × Rp 16.000. Skenario konservatif: USD 5 → Rp 59 juta; USD 10 → Rp 119 juta; USD 15 → Rp 178 juta per tahun. Skenario laju 2021–2026: Rp 198 / 396 / 594 juta per tahun. File asal mencantumkan ±Rp 3,7 miliar per tahun pada USD 15.
Harga REDD+ di pasar sukarela beberapa tahun terakhir umumnya di bawah USD 15 kecuali ada label/premium kualitas; perlakukan USD 15 sebagai skenario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Additionality bukan faktor pengali — hapus 'Additional 43%' dari rumus; bila maksudnya seberapa besar proyek menekan deforestasi, namai 'efektivitas proyek' dan dukung dengan rencana kegiatan.
Uji (mis. alat VCS VT0008):
1. Regulatory surplus — PP 71/2014 jo. PP 57/2016 melarang pembukaan/drainase di fungsi lindung EG, sehingga harus dibuktikan larangan tidak ditegakkan. Bukti tersedia: hutan −138 ha, kebun 26→359 ha, lahan terbuka baru 57,6 ha. Tambah hotspot/area terbakar (FIRMS/SiPongi), catatan penegakan hukum, laju deforestasi di KHG yang sama di luar proyek.
2. Hambatan investasi — arus kas LPHD dengan dan tanpa karbon; daftar dana publik yang sudah masuk (BRGM, dana desa, PS) agar tidak diklaim ulang.
3. Praktik umum — bandingkan dengan Hutan Desa lain di KHG Mempawah tanpa proyek karbon.
Tambahan: jelaskan +97 ha hutan 2016→2021; uji akurasi peta ≥85–90%; daftar SRN-PPI; cegah klaim ganda; otorisasi/corresponding adjustment bila dijual internasional.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Luas ARR di file (Tuplah (2)!C68) = 591,26 + 82,87 + 351,3 = 1.025,43 ha.
• 591,26 ha semak belukar stabil: kandidat kuat ARR dan pembasahan ulang. Di gambut terdrainase, ARR tanpa rewetting tetap menghasilkan emisi gambut di skenario proyek. Rewetting dapat menurunkan FE dari ±19 menuju mendekati 0 tCO2/ha/thn — berpotensi lebih besar dari serapan pohon — tetapi butuh desain hidrologi tingkat KHG.
• 82,87 ha hutan yang hilang 2016–2026: tidak eligible ARR di VCS (dibuka &lt;10 tahun sebelum proyek); masuk akuntansi REDD+.
• 351,3 ha perkebunan aktif: jangan dijadikan ARR murni karena memicu activity-shifting leakage; jadikan zona paludikultur/agroforestri.
Luas REDD+ di file (1.443,06 ha) juga memasukkan sungai 31,92 ha — keluarkan.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Activity-shifting: jangan gusur kebun 359 ha — jadikan zona paludikultur/agroforestri (jelutung rawa, sagu, kopi liberika). Petakan pelaku pembukaan lahan; intensifikasi lahan budidaya yang ada di luar kubah gambut (zona &lt;50 cm, 454 ha). Tetapkan sabuk leakage di KHG yang sama, pantau dengan citra &amp; periode yang sama. Potongan 15% di model adalah sementara.
2. Market leakage: relevan bila produksi komoditas turun; dengan paludikultur produksi tetap ada.
3. Hidrologis (khas gambut): kanal di luar batas mengeringkan gambut di dalam dan sebaliknya. Batas mengikuti sub-KHG atau diberi zona penyangga; inventarisasi kanal; sekat kanal bersama BRGM, desa, konsesi sekitar; pantau TMAT di dalam &amp; luar (target ≤ 0,4 m, PP 57/2016).
4. Kebakaran: dihitung sebagai risiko reversal di buffer non-permanen (kemungkinan &gt;20%). MPA/regu damkar, sumur bor, peringatan dini berbasis hotspot.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kerja yang disarankan:
1. Satu peta tutupan resolusi tinggi untuk 2016, 2021, 2026 + uji akurasi + matriks perubahan bruto per periode (termasuk 2021–2026).
2. Satu tabel parameter: BD dan %C gambut dari lab per kelas kedalaman; stok biomassa hutan dari plot (SNI 7724:2019, CI 90%).
3. Pilih jalur: Verra VM0048 + komponen WRC, atau skema domestik SPE-GRK; ganti laju dan faktor indikatif dengan nilai metodologi.
4. Susun bab additionality dan rencana pengelolaan leakage di PDD.
5. Hitung buffer dengan AFOLU Non-Permanence Risk Tool; seragamkan kurs dan pakai harga pasar terkini.
Langkah pertama yang bisa dimulai minggu ini: pengadaan citra resolusi tinggi dan rencana ground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 parameter dapat diubah di sheet Parameter pada Model_Koreksi_Karbon_Gambut_Mempawah.xlsx; sel kuning adalah asumsi kunci yang wajib dijustifikasi di PDD.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280160"/>
            <a:ext cx="10058400" cy="15544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6"/>
                </a:solidFill>
              </a:rPr>
              <a:t>REVIEW PERHITUNGAN KARBON  ·  HUTAN DESA, KHG SUNGAI MEMPAWAH</a:t>
            </a:r>
            <a:endParaRPr lang="en-US" sz="1400" dirty="0"/>
          </a:p>
        </p:txBody>
      </p:sp>
      <p:sp>
        <p:nvSpPr>
          <p:cNvPr id="3" name="Text 0"/>
          <p:cNvSpPr/>
          <p:nvPr>
            <p:ph idx="101" type="title" hasCustomPrompt="1"/>
          </p:nvPr>
        </p:nvSpPr>
        <p:spPr>
          <a:xfrm>
            <a:off x="548640" y="1280160"/>
            <a:ext cx="100584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Datanya valid, angka kreditnya belum</a:t>
            </a:r>
            <a:endParaRPr lang="en-US" sz="4000" dirty="0"/>
          </a:p>
        </p:txBody>
      </p:sp>
      <p:sp>
        <p:nvSpPr>
          <p:cNvPr id="5" name="Text 2"/>
          <p:cNvSpPr txBox="1"/>
          <p:nvPr/>
        </p:nvSpPr>
        <p:spPr>
          <a:xfrm>
            <a:off x="548640" y="2514600"/>
            <a:ext cx="9326880" cy="822960"/>
          </a:xfrm>
          <a:prstGeom prst="rect">
            <a:avLst/>
          </a:prstGeom>
          <a:noFill/>
          <a:ln/>
        </p:spPr>
        <p:txBody>
          <a:bodyPr wrap="square" lIns="0" tIns="0" rIns="0" bIns="0" rtlCol="0" anchor="t"/>
          <a:lstStyle/>
          <a:p>
            <a:pPr indent="0" marL="0">
              <a:buNone/>
            </a:pPr>
            <a:r>
              <a:rPr lang="en-US" sz="1800" dirty="0">
                <a:solidFill>
                  <a:srgbClr val="D9D2C8"/>
                </a:solidFill>
              </a:rPr>
              <a:t>Kredit karbon realistis ±1.200–4.100 tCO₂e per tahun, bukan 13.700–15.600 tCO₂e seperti di file — dan additionality masih harus dibuktikan</a:t>
            </a:r>
            <a:endParaRPr lang="en-US" sz="1800" dirty="0"/>
          </a:p>
        </p:txBody>
      </p:sp>
      <p:sp>
        <p:nvSpPr>
          <p:cNvPr id="6" name="tutupan-hs"/>
          <p:cNvSpPr/>
          <p:nvPr/>
        </p:nvSpPr>
        <p:spPr>
          <a:xfrm>
            <a:off x="548640" y="4160520"/>
            <a:ext cx="6240809" cy="566928"/>
          </a:xfrm>
          <a:prstGeom prst="rect">
            <a:avLst/>
          </a:prstGeom>
          <a:solidFill>
            <a:schemeClr val="accent1"/>
          </a:solidFill>
          <a:ln/>
        </p:spPr>
      </p:sp>
      <p:sp>
        <p:nvSpPr>
          <p:cNvPr id="7" name="tutupan-sb"/>
          <p:cNvSpPr/>
          <p:nvPr/>
        </p:nvSpPr>
        <p:spPr>
          <a:xfrm>
            <a:off x="6833827" y="4160520"/>
            <a:ext cx="2691912" cy="566928"/>
          </a:xfrm>
          <a:prstGeom prst="rect">
            <a:avLst/>
          </a:prstGeom>
          <a:solidFill>
            <a:schemeClr val="accent2"/>
          </a:solidFill>
          <a:ln/>
        </p:spPr>
      </p:sp>
      <p:sp>
        <p:nvSpPr>
          <p:cNvPr id="8" name="tutupan-kb"/>
          <p:cNvSpPr/>
          <p:nvPr/>
        </p:nvSpPr>
        <p:spPr>
          <a:xfrm>
            <a:off x="9570116" y="4160520"/>
            <a:ext cx="1588285" cy="566928"/>
          </a:xfrm>
          <a:prstGeom prst="rect">
            <a:avLst/>
          </a:prstGeom>
          <a:solidFill>
            <a:schemeClr val="accent3"/>
          </a:solidFill>
          <a:ln/>
        </p:spPr>
      </p:sp>
      <p:sp>
        <p:nvSpPr>
          <p:cNvPr id="9" name="tutupan-lt"/>
          <p:cNvSpPr/>
          <p:nvPr/>
        </p:nvSpPr>
        <p:spPr>
          <a:xfrm>
            <a:off x="11202778" y="4160520"/>
            <a:ext cx="254734" cy="566928"/>
          </a:xfrm>
          <a:prstGeom prst="rect">
            <a:avLst/>
          </a:prstGeom>
          <a:solidFill>
            <a:srgbClr val="B9AE9C"/>
          </a:solidFill>
          <a:ln/>
        </p:spPr>
      </p:sp>
      <p:sp>
        <p:nvSpPr>
          <p:cNvPr id="10" name="tutupan-sg"/>
          <p:cNvSpPr/>
          <p:nvPr/>
        </p:nvSpPr>
        <p:spPr>
          <a:xfrm>
            <a:off x="11501890" y="4160520"/>
            <a:ext cx="141165" cy="566928"/>
          </a:xfrm>
          <a:prstGeom prst="rect">
            <a:avLst/>
          </a:prstGeom>
          <a:solidFill>
            <a:srgbClr val="3F7C85"/>
          </a:solidFill>
          <a:ln/>
        </p:spPr>
      </p:sp>
      <p:sp>
        <p:nvSpPr>
          <p:cNvPr id="11" name="Text 8"/>
          <p:cNvSpPr txBox="1"/>
          <p:nvPr/>
        </p:nvSpPr>
        <p:spPr>
          <a:xfrm>
            <a:off x="548640" y="4892040"/>
            <a:ext cx="6240809" cy="7315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1.411 ha</a:t>
            </a:r>
            <a:endParaRPr lang="en-US" sz="1400" dirty="0"/>
          </a:p>
          <a:p>
            <a:pPr indent="0" marL="0">
              <a:buNone/>
            </a:pPr>
            <a:r>
              <a:rPr lang="en-US" sz="1300" dirty="0">
                <a:solidFill>
                  <a:srgbClr val="D9D2C8"/>
                </a:solidFill>
              </a:rPr>
              <a:t>Hutan sekunder</a:t>
            </a:r>
            <a:endParaRPr lang="en-US" sz="1400" dirty="0"/>
          </a:p>
        </p:txBody>
      </p:sp>
      <p:sp>
        <p:nvSpPr>
          <p:cNvPr id="12" name="Text 9"/>
          <p:cNvSpPr txBox="1"/>
          <p:nvPr/>
        </p:nvSpPr>
        <p:spPr>
          <a:xfrm>
            <a:off x="6833827" y="4892040"/>
            <a:ext cx="2691912" cy="7315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609 ha</a:t>
            </a:r>
            <a:endParaRPr lang="en-US" sz="1400" dirty="0"/>
          </a:p>
          <a:p>
            <a:pPr indent="0" marL="0">
              <a:buNone/>
            </a:pPr>
            <a:r>
              <a:rPr lang="en-US" sz="1300" dirty="0">
                <a:solidFill>
                  <a:srgbClr val="D9D2C8"/>
                </a:solidFill>
              </a:rPr>
              <a:t>Semak belukar</a:t>
            </a:r>
            <a:endParaRPr lang="en-US" sz="1400" dirty="0"/>
          </a:p>
        </p:txBody>
      </p:sp>
      <p:sp>
        <p:nvSpPr>
          <p:cNvPr id="13" name="Text 10"/>
          <p:cNvSpPr txBox="1"/>
          <p:nvPr/>
        </p:nvSpPr>
        <p:spPr>
          <a:xfrm>
            <a:off x="9570116" y="4892040"/>
            <a:ext cx="1828800" cy="73152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359 ha</a:t>
            </a:r>
            <a:endParaRPr lang="en-US" sz="1400" dirty="0"/>
          </a:p>
          <a:p>
            <a:pPr indent="0" marL="0">
              <a:buNone/>
            </a:pPr>
            <a:r>
              <a:rPr lang="en-US" sz="1300" dirty="0">
                <a:solidFill>
                  <a:srgbClr val="D9D2C8"/>
                </a:solidFill>
              </a:rPr>
              <a:t>Perkebunan</a:t>
            </a:r>
            <a:endParaRPr lang="en-US" sz="1400" dirty="0"/>
          </a:p>
        </p:txBody>
      </p:sp>
      <p:sp>
        <p:nvSpPr>
          <p:cNvPr id="14" name="Text 11"/>
          <p:cNvSpPr txBox="1"/>
          <p:nvPr/>
        </p:nvSpPr>
        <p:spPr>
          <a:xfrm>
            <a:off x="8716975" y="3813048"/>
            <a:ext cx="2926080" cy="274320"/>
          </a:xfrm>
          <a:prstGeom prst="rect">
            <a:avLst/>
          </a:prstGeom>
          <a:noFill/>
          <a:ln/>
        </p:spPr>
        <p:txBody>
          <a:bodyPr wrap="square" lIns="0" tIns="0" rIns="0" bIns="0" rtlCol="0" anchor="t"/>
          <a:lstStyle/>
          <a:p>
            <a:pPr algn="r" indent="0" marL="0">
              <a:buNone/>
            </a:pPr>
            <a:r>
              <a:rPr lang="en-US" sz="1200" dirty="0">
                <a:solidFill>
                  <a:srgbClr val="D9D2C8"/>
                </a:solidFill>
              </a:rPr>
              <a:t>Lahan terbuka 57,6 · Sungai 31,9 ha</a:t>
            </a:r>
            <a:endParaRPr lang="en-US" sz="1200" dirty="0"/>
          </a:p>
        </p:txBody>
      </p:sp>
      <p:sp>
        <p:nvSpPr>
          <p:cNvPr id="15" name="Text 12"/>
          <p:cNvSpPr txBox="1"/>
          <p:nvPr/>
        </p:nvSpPr>
        <p:spPr>
          <a:xfrm>
            <a:off x="8899855" y="822960"/>
            <a:ext cx="2743200" cy="320040"/>
          </a:xfrm>
          <a:prstGeom prst="rect">
            <a:avLst/>
          </a:prstGeom>
          <a:noFill/>
          <a:ln/>
        </p:spPr>
        <p:txBody>
          <a:bodyPr wrap="square" lIns="0" tIns="0" rIns="0" bIns="0" rtlCol="0" anchor="t"/>
          <a:lstStyle/>
          <a:p>
            <a:pPr algn="r" indent="0" marL="0">
              <a:buNone/>
            </a:pPr>
            <a:r>
              <a:rPr lang="en-US" sz="1400" b="1" spc="300" kern="0" dirty="0">
                <a:solidFill>
                  <a:schemeClr val="accent6"/>
                </a:solidFill>
              </a:rPr>
              <a:t>OKTOBER 2026</a:t>
            </a:r>
            <a:endParaRPr lang="en-US" sz="1400" dirty="0"/>
          </a:p>
        </p:txBody>
      </p:sp>
      <p:sp>
        <p:nvSpPr>
          <p:cNvPr id="16" name="Text 13"/>
          <p:cNvSpPr txBox="1"/>
          <p:nvPr/>
        </p:nvSpPr>
        <p:spPr>
          <a:xfrm>
            <a:off x="548640" y="6309360"/>
            <a:ext cx="8229600" cy="228600"/>
          </a:xfrm>
          <a:prstGeom prst="rect">
            <a:avLst/>
          </a:prstGeom>
          <a:noFill/>
          <a:ln/>
        </p:spPr>
        <p:txBody>
          <a:bodyPr wrap="square" lIns="0" tIns="0" rIns="0" bIns="0" rtlCol="0" anchor="t"/>
          <a:lstStyle/>
          <a:p>
            <a:pPr indent="0" marL="0">
              <a:buNone/>
            </a:pPr>
            <a:r>
              <a:rPr lang="en-US" sz="1000" i="1" dirty="0">
                <a:solidFill>
                  <a:schemeClr val="accent6"/>
                </a:solidFill>
              </a:rPr>
              <a:t>Tutupan lahan 2026 · total 2.468,5 ha · sumber: interpretasi citra pada file asal (sheet 2021)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KESIMPULAN</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Data spasial bisa dipakai; metode emisi harus diganti sebelum angka kredit dibawa ke pembeli</a:t>
            </a:r>
            <a:endParaRPr lang="en-US" sz="2800" dirty="0"/>
          </a:p>
        </p:txBody>
      </p:sp>
      <p:sp>
        <p:nvSpPr>
          <p:cNvPr id="5" name="Shape 2"/>
          <p:cNvSpPr/>
          <p:nvPr/>
        </p:nvSpPr>
        <p:spPr>
          <a:xfrm>
            <a:off x="548640" y="2057400"/>
            <a:ext cx="384048" cy="384048"/>
          </a:xfrm>
          <a:prstGeom prst="ellipse">
            <a:avLst/>
          </a:prstGeom>
          <a:solidFill>
            <a:schemeClr val="accent1"/>
          </a:solidFill>
          <a:ln/>
        </p:spPr>
      </p:sp>
      <p:sp>
        <p:nvSpPr>
          <p:cNvPr id="6" name="Text 3"/>
          <p:cNvSpPr txBox="1"/>
          <p:nvPr/>
        </p:nvSpPr>
        <p:spPr>
          <a:xfrm>
            <a:off x="1280160" y="2011680"/>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DATA SPASIAL</a:t>
            </a:r>
            <a:endParaRPr lang="en-US" sz="1200" dirty="0"/>
          </a:p>
        </p:txBody>
      </p:sp>
      <p:sp>
        <p:nvSpPr>
          <p:cNvPr id="7" name="Text 4"/>
          <p:cNvSpPr txBox="1"/>
          <p:nvPr/>
        </p:nvSpPr>
        <p:spPr>
          <a:xfrm>
            <a:off x="1280160" y="2304288"/>
            <a:ext cx="6492240" cy="731520"/>
          </a:xfrm>
          <a:prstGeom prst="rect">
            <a:avLst/>
          </a:prstGeom>
          <a:noFill/>
          <a:ln/>
        </p:spPr>
        <p:txBody>
          <a:bodyPr wrap="square" lIns="0" tIns="0" rIns="0" bIns="0" rtlCol="0" anchor="t"/>
          <a:lstStyle/>
          <a:p>
            <a:pPr indent="0" marL="0">
              <a:buNone/>
            </a:pPr>
            <a:r>
              <a:rPr lang="en-US" sz="1500" b="1" dirty="0">
                <a:solidFill>
                  <a:schemeClr val="tx1"/>
                </a:solidFill>
              </a:rPr>
              <a:t>Valid. </a:t>
            </a:r>
            <a:pPr indent="0" marL="0">
              <a:buNone/>
            </a:pPr>
            <a:r>
              <a:rPr lang="en-US" sz="1500" dirty="0">
                <a:solidFill>
                  <a:schemeClr val="tx1"/>
                </a:solidFill>
              </a:rPr>
              <a:t>Luas per kedalaman, neraca tutupan lahan tiap tahun, dan matriks perubahan hutan saling cocok.</a:t>
            </a:r>
            <a:endParaRPr lang="en-US" sz="1500" dirty="0"/>
          </a:p>
        </p:txBody>
      </p:sp>
      <p:sp>
        <p:nvSpPr>
          <p:cNvPr id="8" name="Shape 5"/>
          <p:cNvSpPr/>
          <p:nvPr/>
        </p:nvSpPr>
        <p:spPr>
          <a:xfrm>
            <a:off x="548640" y="3063240"/>
            <a:ext cx="7223760" cy="0"/>
          </a:xfrm>
          <a:prstGeom prst="line">
            <a:avLst/>
          </a:prstGeom>
          <a:noFill/>
          <a:ln w="9525">
            <a:solidFill>
              <a:srgbClr val="333333"/>
            </a:solidFill>
            <a:prstDash val="solid"/>
          </a:ln>
        </p:spPr>
      </p:sp>
      <p:sp>
        <p:nvSpPr>
          <p:cNvPr id="9" name="Shape 6"/>
          <p:cNvSpPr/>
          <p:nvPr/>
        </p:nvSpPr>
        <p:spPr>
          <a:xfrm>
            <a:off x="548640" y="3246120"/>
            <a:ext cx="384048" cy="384048"/>
          </a:xfrm>
          <a:prstGeom prst="ellipse">
            <a:avLst/>
          </a:prstGeom>
          <a:solidFill>
            <a:schemeClr val="accent4"/>
          </a:solidFill>
          <a:ln/>
        </p:spPr>
      </p:sp>
      <p:sp>
        <p:nvSpPr>
          <p:cNvPr id="10" name="Text 7"/>
          <p:cNvSpPr txBox="1"/>
          <p:nvPr/>
        </p:nvSpPr>
        <p:spPr>
          <a:xfrm>
            <a:off x="1280160" y="3200400"/>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PERHITUNGAN</a:t>
            </a:r>
            <a:endParaRPr lang="en-US" sz="1200" dirty="0"/>
          </a:p>
        </p:txBody>
      </p:sp>
      <p:sp>
        <p:nvSpPr>
          <p:cNvPr id="11" name="Text 8"/>
          <p:cNvSpPr txBox="1"/>
          <p:nvPr/>
        </p:nvSpPr>
        <p:spPr>
          <a:xfrm>
            <a:off x="1280160" y="3493008"/>
            <a:ext cx="6492240" cy="731520"/>
          </a:xfrm>
          <a:prstGeom prst="rect">
            <a:avLst/>
          </a:prstGeom>
          <a:noFill/>
          <a:ln/>
        </p:spPr>
        <p:txBody>
          <a:bodyPr wrap="square" lIns="0" tIns="0" rIns="0" bIns="0" rtlCol="0" anchor="t"/>
          <a:lstStyle/>
          <a:p>
            <a:pPr indent="0" marL="0">
              <a:buNone/>
            </a:pPr>
            <a:r>
              <a:rPr lang="en-US" sz="1500" b="1" dirty="0">
                <a:solidFill>
                  <a:schemeClr val="tx1"/>
                </a:solidFill>
              </a:rPr>
              <a:t>Belum valid. </a:t>
            </a:r>
            <a:pPr indent="0" marL="0">
              <a:buNone/>
            </a:pPr>
            <a:r>
              <a:rPr lang="en-US" sz="1500" dirty="0">
                <a:solidFill>
                  <a:schemeClr val="tx1"/>
                </a:solidFill>
              </a:rPr>
              <a:t>Emisi dihitung dari stok seluruh kolom gambut × laju tanpa sumber; biomassa pohon tidak masuk.</a:t>
            </a:r>
            <a:endParaRPr lang="en-US" sz="1500" dirty="0"/>
          </a:p>
        </p:txBody>
      </p:sp>
      <p:sp>
        <p:nvSpPr>
          <p:cNvPr id="12" name="Shape 9"/>
          <p:cNvSpPr/>
          <p:nvPr/>
        </p:nvSpPr>
        <p:spPr>
          <a:xfrm>
            <a:off x="548640" y="4251960"/>
            <a:ext cx="7223760" cy="0"/>
          </a:xfrm>
          <a:prstGeom prst="line">
            <a:avLst/>
          </a:prstGeom>
          <a:noFill/>
          <a:ln w="9525">
            <a:solidFill>
              <a:srgbClr val="333333"/>
            </a:solidFill>
            <a:prstDash val="solid"/>
          </a:ln>
        </p:spPr>
      </p:sp>
      <p:sp>
        <p:nvSpPr>
          <p:cNvPr id="13" name="Shape 10"/>
          <p:cNvSpPr/>
          <p:nvPr/>
        </p:nvSpPr>
        <p:spPr>
          <a:xfrm>
            <a:off x="548640" y="4434840"/>
            <a:ext cx="384048" cy="384048"/>
          </a:xfrm>
          <a:prstGeom prst="ellipse">
            <a:avLst/>
          </a:prstGeom>
          <a:solidFill>
            <a:schemeClr val="accent4"/>
          </a:solidFill>
          <a:ln/>
        </p:spPr>
      </p:sp>
      <p:sp>
        <p:nvSpPr>
          <p:cNvPr id="14" name="Text 11"/>
          <p:cNvSpPr txBox="1"/>
          <p:nvPr/>
        </p:nvSpPr>
        <p:spPr>
          <a:xfrm>
            <a:off x="1280160" y="4389120"/>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KREDIT</a:t>
            </a:r>
            <a:endParaRPr lang="en-US" sz="1200" dirty="0"/>
          </a:p>
        </p:txBody>
      </p:sp>
      <p:sp>
        <p:nvSpPr>
          <p:cNvPr id="15" name="Text 12"/>
          <p:cNvSpPr txBox="1"/>
          <p:nvPr/>
        </p:nvSpPr>
        <p:spPr>
          <a:xfrm>
            <a:off x="1280160" y="4681728"/>
            <a:ext cx="6492240" cy="731520"/>
          </a:xfrm>
          <a:prstGeom prst="rect">
            <a:avLst/>
          </a:prstGeom>
          <a:noFill/>
          <a:ln/>
        </p:spPr>
        <p:txBody>
          <a:bodyPr wrap="square" lIns="0" tIns="0" rIns="0" bIns="0" rtlCol="0" anchor="t"/>
          <a:lstStyle/>
          <a:p>
            <a:pPr indent="0" marL="0">
              <a:buNone/>
            </a:pPr>
            <a:r>
              <a:rPr lang="en-US" sz="1500" b="1" dirty="0">
                <a:solidFill>
                  <a:schemeClr val="tx1"/>
                </a:solidFill>
              </a:rPr>
              <a:t>4–13× terlalu tinggi. </a:t>
            </a:r>
            <a:pPr indent="0" marL="0">
              <a:buNone/>
            </a:pPr>
            <a:r>
              <a:rPr lang="en-US" sz="1500" dirty="0">
                <a:solidFill>
                  <a:schemeClr val="tx1"/>
                </a:solidFill>
              </a:rPr>
              <a:t>Model koreksi: ±1.240–4.130 tCO₂e/thn. File: 13.745–15.642 tCO₂e/thn.</a:t>
            </a:r>
            <a:endParaRPr lang="en-US" sz="1500" dirty="0"/>
          </a:p>
        </p:txBody>
      </p:sp>
      <p:sp>
        <p:nvSpPr>
          <p:cNvPr id="16" name="panel-rekomendasi"/>
          <p:cNvSpPr/>
          <p:nvPr/>
        </p:nvSpPr>
        <p:spPr>
          <a:xfrm>
            <a:off x="8229600" y="1874520"/>
            <a:ext cx="3413455" cy="3566160"/>
          </a:xfrm>
          <a:prstGeom prst="rect">
            <a:avLst/>
          </a:prstGeom>
          <a:solidFill>
            <a:schemeClr val="tx2"/>
          </a:solidFill>
          <a:ln/>
        </p:spPr>
      </p:sp>
      <p:sp>
        <p:nvSpPr>
          <p:cNvPr id="17" name="Text 14"/>
          <p:cNvSpPr txBox="1"/>
          <p:nvPr/>
        </p:nvSpPr>
        <p:spPr>
          <a:xfrm>
            <a:off x="8549640" y="2194560"/>
            <a:ext cx="2773375"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REKOMENDASI</a:t>
            </a:r>
            <a:endParaRPr lang="en-US" sz="1200" dirty="0"/>
          </a:p>
        </p:txBody>
      </p:sp>
      <p:sp>
        <p:nvSpPr>
          <p:cNvPr id="18" name="Text 15"/>
          <p:cNvSpPr txBox="1"/>
          <p:nvPr/>
        </p:nvSpPr>
        <p:spPr>
          <a:xfrm>
            <a:off x="8549640" y="2560320"/>
            <a:ext cx="2773375" cy="2651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Pakai model koreksi sebagai baseline kerja, lalu kumpulkan bukti additionality sebelum membicarakan harga.</a:t>
            </a:r>
            <a:endParaRPr lang="en-US" sz="2000" dirty="0"/>
          </a:p>
        </p:txBody>
      </p:sp>
      <p:sp>
        <p:nvSpPr>
          <p:cNvPr id="19" name="Text 16"/>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Rincian 22 temuan: sheet Daftar_Temuan di Model_Koreksi_Karbon_Gambut_Mempawah.xlsx</a:t>
            </a:r>
            <a:endParaRPr lang="en-US" sz="1000" dirty="0"/>
          </a:p>
        </p:txBody>
      </p:sp>
      <p:sp>
        <p:nvSpPr>
          <p:cNvPr id="20" name="tutupan-hs"/>
          <p:cNvSpPr/>
          <p:nvPr/>
        </p:nvSpPr>
        <p:spPr>
          <a:xfrm>
            <a:off x="548640" y="6400800"/>
            <a:ext cx="794550" cy="91440"/>
          </a:xfrm>
          <a:prstGeom prst="rect">
            <a:avLst/>
          </a:prstGeom>
          <a:solidFill>
            <a:schemeClr val="accent1"/>
          </a:solidFill>
          <a:ln/>
        </p:spPr>
      </p:sp>
      <p:sp>
        <p:nvSpPr>
          <p:cNvPr id="21" name="tutupan-sb"/>
          <p:cNvSpPr/>
          <p:nvPr/>
        </p:nvSpPr>
        <p:spPr>
          <a:xfrm>
            <a:off x="1361478" y="6400800"/>
            <a:ext cx="342721" cy="91440"/>
          </a:xfrm>
          <a:prstGeom prst="rect">
            <a:avLst/>
          </a:prstGeom>
          <a:solidFill>
            <a:schemeClr val="accent2"/>
          </a:solidFill>
          <a:ln/>
        </p:spPr>
      </p:sp>
      <p:sp>
        <p:nvSpPr>
          <p:cNvPr id="22" name="tutupan-kb"/>
          <p:cNvSpPr/>
          <p:nvPr/>
        </p:nvSpPr>
        <p:spPr>
          <a:xfrm>
            <a:off x="1722487" y="6400800"/>
            <a:ext cx="202213" cy="91440"/>
          </a:xfrm>
          <a:prstGeom prst="rect">
            <a:avLst/>
          </a:prstGeom>
          <a:solidFill>
            <a:schemeClr val="accent3"/>
          </a:solidFill>
          <a:ln/>
        </p:spPr>
      </p:sp>
      <p:sp>
        <p:nvSpPr>
          <p:cNvPr id="23" name="tutupan-lt"/>
          <p:cNvSpPr/>
          <p:nvPr/>
        </p:nvSpPr>
        <p:spPr>
          <a:xfrm>
            <a:off x="1942988" y="6400800"/>
            <a:ext cx="32432" cy="91440"/>
          </a:xfrm>
          <a:prstGeom prst="rect">
            <a:avLst/>
          </a:prstGeom>
          <a:solidFill>
            <a:srgbClr val="B9AE9C"/>
          </a:solidFill>
          <a:ln/>
        </p:spPr>
      </p:sp>
      <p:sp>
        <p:nvSpPr>
          <p:cNvPr id="24" name="tutupan-sg"/>
          <p:cNvSpPr/>
          <p:nvPr/>
        </p:nvSpPr>
        <p:spPr>
          <a:xfrm>
            <a:off x="1993708" y="6400800"/>
            <a:ext cx="17972" cy="91440"/>
          </a:xfrm>
          <a:prstGeom prst="rect">
            <a:avLst/>
          </a:prstGeom>
          <a:solidFill>
            <a:srgbClr val="3F7C85"/>
          </a:solidFill>
          <a:ln/>
        </p:spPr>
      </p:sp>
      <p:sp>
        <p:nvSpPr>
          <p:cNvPr id="25" name="Text 22"/>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Seluruh areal 2.468,5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GAMBUT</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Hampir seluruh areal bergambut, dan 2.015 ha di antaranya berstatus fungsi lindung</a:t>
            </a:r>
            <a:endParaRPr lang="en-US" sz="2800" dirty="0"/>
          </a:p>
        </p:txBody>
      </p:sp>
      <p:graphicFrame>
        <p:nvGraphicFramePr>
          <p:cNvPr id="5" name="Chart 0" descr=""/>
          <p:cNvGraphicFramePr/>
          <p:nvPr/>
        </p:nvGraphicFramePr>
        <p:xfrm>
          <a:off x="548640" y="1920240"/>
          <a:ext cx="6949440" cy="38404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138160" y="2011680"/>
            <a:ext cx="3504895" cy="100584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1,36 juta tC</a:t>
            </a:r>
            <a:endParaRPr lang="en-US" sz="1400" dirty="0"/>
          </a:p>
          <a:p>
            <a:pPr indent="0" marL="0">
              <a:buNone/>
            </a:pPr>
            <a:r>
              <a:rPr lang="en-US" sz="1400" dirty="0">
                <a:solidFill>
                  <a:schemeClr val="accent5"/>
                </a:solidFill>
              </a:rPr>
              <a:t>stok karbon gambut (4,99 juta tCO₂e)</a:t>
            </a:r>
            <a:endParaRPr lang="en-US" sz="1400" dirty="0"/>
          </a:p>
        </p:txBody>
      </p:sp>
      <p:sp>
        <p:nvSpPr>
          <p:cNvPr id="7" name="Shape 3"/>
          <p:cNvSpPr/>
          <p:nvPr/>
        </p:nvSpPr>
        <p:spPr>
          <a:xfrm>
            <a:off x="8138160" y="3063240"/>
            <a:ext cx="3504895" cy="0"/>
          </a:xfrm>
          <a:prstGeom prst="line">
            <a:avLst/>
          </a:prstGeom>
          <a:noFill/>
          <a:ln w="9525">
            <a:solidFill>
              <a:srgbClr val="333333"/>
            </a:solidFill>
            <a:prstDash val="solid"/>
          </a:ln>
        </p:spPr>
      </p:sp>
      <p:sp>
        <p:nvSpPr>
          <p:cNvPr id="8" name="Text 4"/>
          <p:cNvSpPr txBox="1"/>
          <p:nvPr/>
        </p:nvSpPr>
        <p:spPr>
          <a:xfrm>
            <a:off x="8138160" y="3246120"/>
            <a:ext cx="3504895" cy="10058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82%</a:t>
            </a:r>
            <a:endParaRPr lang="en-US" sz="1400" dirty="0"/>
          </a:p>
          <a:p>
            <a:pPr indent="0" marL="0">
              <a:buNone/>
            </a:pPr>
            <a:r>
              <a:rPr lang="en-US" sz="1400" dirty="0">
                <a:solidFill>
                  <a:schemeClr val="accent5"/>
                </a:solidFill>
              </a:rPr>
              <a:t>areal di fungsi lindung ekosistem gambut</a:t>
            </a:r>
            <a:endParaRPr lang="en-US" sz="1400" dirty="0"/>
          </a:p>
        </p:txBody>
      </p:sp>
      <p:sp>
        <p:nvSpPr>
          <p:cNvPr id="9" name="Shape 5"/>
          <p:cNvSpPr/>
          <p:nvPr/>
        </p:nvSpPr>
        <p:spPr>
          <a:xfrm>
            <a:off x="8138160" y="4297680"/>
            <a:ext cx="3504895" cy="0"/>
          </a:xfrm>
          <a:prstGeom prst="line">
            <a:avLst/>
          </a:prstGeom>
          <a:noFill/>
          <a:ln w="9525">
            <a:solidFill>
              <a:srgbClr val="333333"/>
            </a:solidFill>
            <a:prstDash val="solid"/>
          </a:ln>
        </p:spPr>
      </p:sp>
      <p:sp>
        <p:nvSpPr>
          <p:cNvPr id="10" name="Text 6"/>
          <p:cNvSpPr txBox="1"/>
          <p:nvPr/>
        </p:nvSpPr>
        <p:spPr>
          <a:xfrm>
            <a:off x="8138160" y="4480560"/>
            <a:ext cx="3504895" cy="1005840"/>
          </a:xfrm>
          <a:prstGeom prst="rect">
            <a:avLst/>
          </a:prstGeom>
          <a:noFill/>
          <a:ln/>
        </p:spPr>
        <p:txBody>
          <a:bodyPr wrap="square" lIns="0" tIns="0" rIns="0" bIns="0" rtlCol="0" anchor="t"/>
          <a:lstStyle/>
          <a:p>
            <a:pPr indent="0" marL="0">
              <a:buNone/>
            </a:pPr>
            <a:r>
              <a:rPr lang="en-US" sz="2800" b="1" dirty="0">
                <a:solidFill>
                  <a:schemeClr val="accent4"/>
                </a:solidFill>
                <a:latin typeface="Cambria" pitchFamily="34" charset="0"/>
                <a:ea typeface="Cambria" pitchFamily="34" charset="-122"/>
                <a:cs typeface="Cambria" pitchFamily="34" charset="-120"/>
              </a:rPr>
              <a:t>Cadangan</a:t>
            </a:r>
            <a:endParaRPr lang="en-US" sz="1400" dirty="0"/>
          </a:p>
          <a:p>
            <a:pPr indent="0" marL="0">
              <a:buNone/>
            </a:pPr>
            <a:r>
              <a:rPr lang="en-US" sz="1400" dirty="0">
                <a:solidFill>
                  <a:schemeClr val="accent5"/>
                </a:solidFill>
              </a:rPr>
              <a:t>bukan emisi — gambut lepas bertahap lewat drainase dan kebakaran</a:t>
            </a:r>
            <a:endParaRPr lang="en-US" sz="1400" dirty="0"/>
          </a:p>
        </p:txBody>
      </p:sp>
      <p:sp>
        <p:nvSpPr>
          <p:cNvPr id="11" name="Text 7"/>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Sumber: sheet Export_Output &amp; Gambut (file asal); BD dan fraksi C perlu dikonfirmasi uji lab.</a:t>
            </a:r>
            <a:endParaRPr lang="en-US" sz="1000" dirty="0"/>
          </a:p>
        </p:txBody>
      </p:sp>
      <p:sp>
        <p:nvSpPr>
          <p:cNvPr id="12" name="tutupan-hs"/>
          <p:cNvSpPr/>
          <p:nvPr/>
        </p:nvSpPr>
        <p:spPr>
          <a:xfrm>
            <a:off x="548640" y="6400800"/>
            <a:ext cx="794550" cy="91440"/>
          </a:xfrm>
          <a:prstGeom prst="rect">
            <a:avLst/>
          </a:prstGeom>
          <a:solidFill>
            <a:schemeClr val="accent1"/>
          </a:solidFill>
          <a:ln/>
        </p:spPr>
      </p:sp>
      <p:sp>
        <p:nvSpPr>
          <p:cNvPr id="13" name="tutupan-sb"/>
          <p:cNvSpPr/>
          <p:nvPr/>
        </p:nvSpPr>
        <p:spPr>
          <a:xfrm>
            <a:off x="1361478" y="6400800"/>
            <a:ext cx="342721" cy="91440"/>
          </a:xfrm>
          <a:prstGeom prst="rect">
            <a:avLst/>
          </a:prstGeom>
          <a:solidFill>
            <a:schemeClr val="accent2"/>
          </a:solidFill>
          <a:ln/>
        </p:spPr>
      </p:sp>
      <p:sp>
        <p:nvSpPr>
          <p:cNvPr id="14" name="tutupan-kb"/>
          <p:cNvSpPr/>
          <p:nvPr/>
        </p:nvSpPr>
        <p:spPr>
          <a:xfrm>
            <a:off x="1722487" y="6400800"/>
            <a:ext cx="202213" cy="91440"/>
          </a:xfrm>
          <a:prstGeom prst="rect">
            <a:avLst/>
          </a:prstGeom>
          <a:solidFill>
            <a:schemeClr val="accent3"/>
          </a:solidFill>
          <a:ln/>
        </p:spPr>
      </p:sp>
      <p:sp>
        <p:nvSpPr>
          <p:cNvPr id="15" name="tutupan-lt"/>
          <p:cNvSpPr/>
          <p:nvPr/>
        </p:nvSpPr>
        <p:spPr>
          <a:xfrm>
            <a:off x="1942988" y="6400800"/>
            <a:ext cx="32432" cy="91440"/>
          </a:xfrm>
          <a:prstGeom prst="rect">
            <a:avLst/>
          </a:prstGeom>
          <a:solidFill>
            <a:srgbClr val="B9AE9C"/>
          </a:solidFill>
          <a:ln/>
        </p:spPr>
      </p:sp>
      <p:sp>
        <p:nvSpPr>
          <p:cNvPr id="16" name="tutupan-sg"/>
          <p:cNvSpPr/>
          <p:nvPr/>
        </p:nvSpPr>
        <p:spPr>
          <a:xfrm>
            <a:off x="1993708" y="6400800"/>
            <a:ext cx="17972" cy="91440"/>
          </a:xfrm>
          <a:prstGeom prst="rect">
            <a:avLst/>
          </a:prstGeom>
          <a:solidFill>
            <a:srgbClr val="3F7C85"/>
          </a:solidFill>
          <a:ln/>
        </p:spPr>
      </p:sp>
      <p:sp>
        <p:nvSpPr>
          <p:cNvPr id="17" name="Text 13"/>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Seluruh areal 2.468,5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PERUBAHAN TUTUPAN 2016–2026</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Dalam lima tahun terakhir hutan hilang 138 ha dan perkebunan melonjak dari 26 ha menjadi 359 ha</a:t>
            </a:r>
            <a:endParaRPr lang="en-US" sz="2800" dirty="0"/>
          </a:p>
        </p:txBody>
      </p:sp>
      <p:graphicFrame>
        <p:nvGraphicFramePr>
          <p:cNvPr id="5" name="Chart 0" descr=""/>
          <p:cNvGraphicFramePr/>
          <p:nvPr/>
        </p:nvGraphicFramePr>
        <p:xfrm>
          <a:off x="548640" y="1920240"/>
          <a:ext cx="7498080" cy="388620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503920" y="2011680"/>
            <a:ext cx="3139135" cy="1005840"/>
          </a:xfrm>
          <a:prstGeom prst="rect">
            <a:avLst/>
          </a:prstGeom>
          <a:noFill/>
          <a:ln/>
        </p:spPr>
        <p:txBody>
          <a:bodyPr wrap="square" lIns="0" tIns="0" rIns="0" bIns="0" rtlCol="0" anchor="t"/>
          <a:lstStyle/>
          <a:p>
            <a:pPr indent="0" marL="0">
              <a:buNone/>
            </a:pPr>
            <a:r>
              <a:rPr lang="en-US" sz="2800" b="1" dirty="0">
                <a:solidFill>
                  <a:schemeClr val="accent4"/>
                </a:solidFill>
                <a:latin typeface="Cambria" pitchFamily="34" charset="0"/>
                <a:ea typeface="Cambria" pitchFamily="34" charset="-122"/>
                <a:cs typeface="Cambria" pitchFamily="34" charset="-120"/>
              </a:rPr>
              <a:t>−138 ha</a:t>
            </a:r>
            <a:endParaRPr lang="en-US" sz="1400" dirty="0"/>
          </a:p>
          <a:p>
            <a:pPr indent="0" marL="0">
              <a:buNone/>
            </a:pPr>
            <a:r>
              <a:rPr lang="en-US" sz="1400" dirty="0">
                <a:solidFill>
                  <a:schemeClr val="accent5"/>
                </a:solidFill>
              </a:rPr>
              <a:t>hutan sekunder, 2021→2026 (1,8%/thn)</a:t>
            </a:r>
            <a:endParaRPr lang="en-US" sz="1400" dirty="0"/>
          </a:p>
        </p:txBody>
      </p:sp>
      <p:sp>
        <p:nvSpPr>
          <p:cNvPr id="7" name="Shape 3"/>
          <p:cNvSpPr/>
          <p:nvPr/>
        </p:nvSpPr>
        <p:spPr>
          <a:xfrm>
            <a:off x="8503920" y="3063240"/>
            <a:ext cx="3139135" cy="0"/>
          </a:xfrm>
          <a:prstGeom prst="line">
            <a:avLst/>
          </a:prstGeom>
          <a:noFill/>
          <a:ln w="9525">
            <a:solidFill>
              <a:srgbClr val="333333"/>
            </a:solidFill>
            <a:prstDash val="solid"/>
          </a:ln>
        </p:spPr>
      </p:sp>
      <p:sp>
        <p:nvSpPr>
          <p:cNvPr id="8" name="Text 4"/>
          <p:cNvSpPr txBox="1"/>
          <p:nvPr/>
        </p:nvSpPr>
        <p:spPr>
          <a:xfrm>
            <a:off x="8503920" y="3246120"/>
            <a:ext cx="3139135" cy="1005840"/>
          </a:xfrm>
          <a:prstGeom prst="rect">
            <a:avLst/>
          </a:prstGeom>
          <a:noFill/>
          <a:ln/>
        </p:spPr>
        <p:txBody>
          <a:bodyPr wrap="square" lIns="0" tIns="0" rIns="0" bIns="0" rtlCol="0" anchor="t"/>
          <a:lstStyle/>
          <a:p>
            <a:pPr indent="0" marL="0">
              <a:buNone/>
            </a:pPr>
            <a:r>
              <a:rPr lang="en-US" sz="2800" b="1" dirty="0">
                <a:solidFill>
                  <a:schemeClr val="accent3"/>
                </a:solidFill>
                <a:latin typeface="Cambria" pitchFamily="34" charset="0"/>
                <a:ea typeface="Cambria" pitchFamily="34" charset="-122"/>
                <a:cs typeface="Cambria" pitchFamily="34" charset="-120"/>
              </a:rPr>
              <a:t>13,8×</a:t>
            </a:r>
            <a:endParaRPr lang="en-US" sz="1400" dirty="0"/>
          </a:p>
          <a:p>
            <a:pPr indent="0" marL="0">
              <a:buNone/>
            </a:pPr>
            <a:r>
              <a:rPr lang="en-US" sz="1400" dirty="0">
                <a:solidFill>
                  <a:schemeClr val="accent5"/>
                </a:solidFill>
              </a:rPr>
              <a:t>luas perkebunan, 2021→2026</a:t>
            </a:r>
            <a:endParaRPr lang="en-US" sz="1400" dirty="0"/>
          </a:p>
        </p:txBody>
      </p:sp>
      <p:sp>
        <p:nvSpPr>
          <p:cNvPr id="9" name="Shape 5"/>
          <p:cNvSpPr/>
          <p:nvPr/>
        </p:nvSpPr>
        <p:spPr>
          <a:xfrm>
            <a:off x="8503920" y="4297680"/>
            <a:ext cx="3139135" cy="0"/>
          </a:xfrm>
          <a:prstGeom prst="line">
            <a:avLst/>
          </a:prstGeom>
          <a:noFill/>
          <a:ln w="9525">
            <a:solidFill>
              <a:srgbClr val="333333"/>
            </a:solidFill>
            <a:prstDash val="solid"/>
          </a:ln>
        </p:spPr>
      </p:sp>
      <p:sp>
        <p:nvSpPr>
          <p:cNvPr id="10" name="Text 6"/>
          <p:cNvSpPr txBox="1"/>
          <p:nvPr/>
        </p:nvSpPr>
        <p:spPr>
          <a:xfrm>
            <a:off x="8503920" y="4480560"/>
            <a:ext cx="3139135" cy="1005840"/>
          </a:xfrm>
          <a:prstGeom prst="rect">
            <a:avLst/>
          </a:prstGeom>
          <a:noFill/>
          <a:ln/>
        </p:spPr>
        <p:txBody>
          <a:bodyPr wrap="square" lIns="0" tIns="0" rIns="0" bIns="0" rtlCol="0" anchor="t"/>
          <a:lstStyle/>
          <a:p>
            <a:pPr indent="0" marL="0">
              <a:buNone/>
            </a:pPr>
            <a:r>
              <a:rPr lang="en-US" sz="2800" b="1" dirty="0">
                <a:solidFill>
                  <a:schemeClr val="accent5"/>
                </a:solidFill>
                <a:latin typeface="Cambria" pitchFamily="34" charset="0"/>
                <a:ea typeface="Cambria" pitchFamily="34" charset="-122"/>
                <a:cs typeface="Cambria" pitchFamily="34" charset="-120"/>
              </a:rPr>
              <a:t>+97 ha</a:t>
            </a:r>
            <a:endParaRPr lang="en-US" sz="1400" dirty="0"/>
          </a:p>
          <a:p>
            <a:pPr indent="0" marL="0">
              <a:buNone/>
            </a:pPr>
            <a:r>
              <a:rPr lang="en-US" sz="1400" dirty="0">
                <a:solidFill>
                  <a:schemeClr val="accent5"/>
                </a:solidFill>
              </a:rPr>
              <a:t>hutan 2016→2021 — wajib dijelaskan ke VVB</a:t>
            </a:r>
            <a:endParaRPr lang="en-US" sz="1400" dirty="0"/>
          </a:p>
        </p:txBody>
      </p:sp>
      <p:sp>
        <p:nvSpPr>
          <p:cNvPr id="11" name="Text 7"/>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Sumber: sheet 2021 dan Tuplah (2) file asal.</a:t>
            </a:r>
            <a:endParaRPr lang="en-US" sz="1000" dirty="0"/>
          </a:p>
        </p:txBody>
      </p:sp>
      <p:sp>
        <p:nvSpPr>
          <p:cNvPr id="12" name="tutupan-hs"/>
          <p:cNvSpPr/>
          <p:nvPr/>
        </p:nvSpPr>
        <p:spPr>
          <a:xfrm>
            <a:off x="548640" y="6400800"/>
            <a:ext cx="794550" cy="91440"/>
          </a:xfrm>
          <a:prstGeom prst="rect">
            <a:avLst/>
          </a:prstGeom>
          <a:solidFill>
            <a:schemeClr val="accent1"/>
          </a:solidFill>
          <a:ln/>
        </p:spPr>
      </p:sp>
      <p:sp>
        <p:nvSpPr>
          <p:cNvPr id="13" name="tutupan-sb"/>
          <p:cNvSpPr/>
          <p:nvPr/>
        </p:nvSpPr>
        <p:spPr>
          <a:xfrm>
            <a:off x="1361478" y="6400800"/>
            <a:ext cx="342721" cy="91440"/>
          </a:xfrm>
          <a:prstGeom prst="rect">
            <a:avLst/>
          </a:prstGeom>
          <a:solidFill>
            <a:srgbClr val="DCD8D2"/>
          </a:solidFill>
          <a:ln/>
        </p:spPr>
      </p:sp>
      <p:sp>
        <p:nvSpPr>
          <p:cNvPr id="14" name="tutupan-kb"/>
          <p:cNvSpPr/>
          <p:nvPr/>
        </p:nvSpPr>
        <p:spPr>
          <a:xfrm>
            <a:off x="1722487" y="6400800"/>
            <a:ext cx="202213" cy="91440"/>
          </a:xfrm>
          <a:prstGeom prst="rect">
            <a:avLst/>
          </a:prstGeom>
          <a:solidFill>
            <a:schemeClr val="accent3"/>
          </a:solidFill>
          <a:ln/>
        </p:spPr>
      </p:sp>
      <p:sp>
        <p:nvSpPr>
          <p:cNvPr id="15" name="tutupan-lt"/>
          <p:cNvSpPr/>
          <p:nvPr/>
        </p:nvSpPr>
        <p:spPr>
          <a:xfrm>
            <a:off x="1942988" y="6400800"/>
            <a:ext cx="32432" cy="91440"/>
          </a:xfrm>
          <a:prstGeom prst="rect">
            <a:avLst/>
          </a:prstGeom>
          <a:solidFill>
            <a:srgbClr val="B9AE9C"/>
          </a:solidFill>
          <a:ln/>
        </p:spPr>
      </p:sp>
      <p:sp>
        <p:nvSpPr>
          <p:cNvPr id="16" name="tutupan-sg"/>
          <p:cNvSpPr/>
          <p:nvPr/>
        </p:nvSpPr>
        <p:spPr>
          <a:xfrm>
            <a:off x="1993708" y="6400800"/>
            <a:ext cx="17972" cy="91440"/>
          </a:xfrm>
          <a:prstGeom prst="rect">
            <a:avLst/>
          </a:prstGeom>
          <a:solidFill>
            <a:srgbClr val="DCD8D2"/>
          </a:solidFill>
          <a:ln/>
        </p:spPr>
      </p:sp>
      <p:sp>
        <p:nvSpPr>
          <p:cNvPr id="17" name="Text 13"/>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Hutan, kebun, lahan terbuka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KESALAHAN INTI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File menghitung emisi dari stok seluruh kolom gambut; yang hilang saat deforestasi adalah biomassa dan oksidasi bertahap</a:t>
            </a:r>
            <a:endParaRPr lang="en-US" sz="2800" dirty="0"/>
          </a:p>
        </p:txBody>
      </p:sp>
      <p:sp>
        <p:nvSpPr>
          <p:cNvPr id="5" name="Shape 2"/>
          <p:cNvSpPr/>
          <p:nvPr/>
        </p:nvSpPr>
        <p:spPr>
          <a:xfrm>
            <a:off x="548640" y="2011680"/>
            <a:ext cx="2377440" cy="310896"/>
          </a:xfrm>
          <a:prstGeom prst="roundRect">
            <a:avLst>
              <a:gd name="adj" fmla="val 50000"/>
            </a:avLst>
          </a:prstGeom>
          <a:solidFill>
            <a:schemeClr val="accent4"/>
          </a:solidFill>
          <a:ln/>
        </p:spPr>
      </p:sp>
      <p:sp>
        <p:nvSpPr>
          <p:cNvPr id="6" name="Text 3"/>
          <p:cNvSpPr txBox="1"/>
          <p:nvPr/>
        </p:nvSpPr>
        <p:spPr>
          <a:xfrm>
            <a:off x="548640" y="2011680"/>
            <a:ext cx="2377440" cy="310896"/>
          </a:xfrm>
          <a:prstGeom prst="rect">
            <a:avLst/>
          </a:prstGeom>
          <a:noFill/>
          <a:ln/>
        </p:spPr>
        <p:txBody>
          <a:bodyPr wrap="square" lIns="0" tIns="0" rIns="0" bIns="0" rtlCol="0" anchor="ctr"/>
          <a:lstStyle/>
          <a:p>
            <a:pPr algn="ctr" indent="0" marL="0">
              <a:buNone/>
            </a:pPr>
            <a:r>
              <a:rPr lang="en-US" sz="1100" b="1" dirty="0">
                <a:solidFill>
                  <a:schemeClr val="bg1"/>
                </a:solidFill>
              </a:rPr>
              <a:t>DI FILE</a:t>
            </a:r>
            <a:endParaRPr lang="en-US" sz="1100" dirty="0"/>
          </a:p>
        </p:txBody>
      </p:sp>
      <p:sp>
        <p:nvSpPr>
          <p:cNvPr id="7" name="Shape 4"/>
          <p:cNvSpPr/>
          <p:nvPr/>
        </p:nvSpPr>
        <p:spPr>
          <a:xfrm>
            <a:off x="548640" y="2606040"/>
            <a:ext cx="5318608" cy="658368"/>
          </a:xfrm>
          <a:prstGeom prst="rect">
            <a:avLst/>
          </a:prstGeom>
          <a:solidFill>
            <a:schemeClr val="bg2"/>
          </a:solidFill>
          <a:ln/>
        </p:spPr>
      </p:sp>
      <p:sp>
        <p:nvSpPr>
          <p:cNvPr id="8" name="Text 5"/>
          <p:cNvSpPr txBox="1"/>
          <p:nvPr/>
        </p:nvSpPr>
        <p:spPr>
          <a:xfrm>
            <a:off x="731520" y="2697480"/>
            <a:ext cx="457200" cy="45720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1</a:t>
            </a:r>
            <a:endParaRPr lang="en-US" sz="2000" dirty="0"/>
          </a:p>
        </p:txBody>
      </p:sp>
      <p:sp>
        <p:nvSpPr>
          <p:cNvPr id="9" name="Text 6"/>
          <p:cNvSpPr txBox="1"/>
          <p:nvPr/>
        </p:nvSpPr>
        <p:spPr>
          <a:xfrm>
            <a:off x="1234440" y="2679192"/>
            <a:ext cx="4449928" cy="548640"/>
          </a:xfrm>
          <a:prstGeom prst="rect">
            <a:avLst/>
          </a:prstGeom>
          <a:noFill/>
          <a:ln/>
        </p:spPr>
        <p:txBody>
          <a:bodyPr wrap="square" lIns="0" tIns="0" rIns="0" bIns="0" rtlCol="0" anchor="ctr"/>
          <a:lstStyle/>
          <a:p>
            <a:pPr indent="0" marL="0">
              <a:buNone/>
            </a:pPr>
            <a:r>
              <a:rPr lang="en-US" sz="1400" dirty="0">
                <a:solidFill>
                  <a:schemeClr val="tx1"/>
                </a:solidFill>
              </a:rPr>
              <a:t>Stok C gambut seluruh areal (2,15 juta tC), termasuk lahan non-hutan</a:t>
            </a:r>
            <a:endParaRPr lang="en-US" sz="1400" dirty="0"/>
          </a:p>
        </p:txBody>
      </p:sp>
      <p:sp>
        <p:nvSpPr>
          <p:cNvPr id="10" name="Shape 7"/>
          <p:cNvSpPr/>
          <p:nvPr/>
        </p:nvSpPr>
        <p:spPr>
          <a:xfrm>
            <a:off x="3207944" y="3282696"/>
            <a:ext cx="0" cy="173736"/>
          </a:xfrm>
          <a:prstGeom prst="line">
            <a:avLst/>
          </a:prstGeom>
          <a:noFill/>
          <a:ln w="19050">
            <a:solidFill>
              <a:srgbClr val="6B655E"/>
            </a:solidFill>
            <a:prstDash val="solid"/>
            <a:tailEnd type="triangle"/>
          </a:ln>
        </p:spPr>
      </p:sp>
      <p:sp>
        <p:nvSpPr>
          <p:cNvPr id="11" name="Shape 8"/>
          <p:cNvSpPr/>
          <p:nvPr/>
        </p:nvSpPr>
        <p:spPr>
          <a:xfrm>
            <a:off x="548640" y="3474720"/>
            <a:ext cx="5318608" cy="658368"/>
          </a:xfrm>
          <a:prstGeom prst="rect">
            <a:avLst/>
          </a:prstGeom>
          <a:solidFill>
            <a:schemeClr val="bg2"/>
          </a:solidFill>
          <a:ln/>
        </p:spPr>
      </p:sp>
      <p:sp>
        <p:nvSpPr>
          <p:cNvPr id="12" name="Text 9"/>
          <p:cNvSpPr txBox="1"/>
          <p:nvPr/>
        </p:nvSpPr>
        <p:spPr>
          <a:xfrm>
            <a:off x="731520" y="3566160"/>
            <a:ext cx="457200" cy="45720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a:t>
            </a:r>
            <a:endParaRPr lang="en-US" sz="2000" dirty="0"/>
          </a:p>
        </p:txBody>
      </p:sp>
      <p:sp>
        <p:nvSpPr>
          <p:cNvPr id="13" name="Text 10"/>
          <p:cNvSpPr txBox="1"/>
          <p:nvPr/>
        </p:nvSpPr>
        <p:spPr>
          <a:xfrm>
            <a:off x="1234440" y="3547872"/>
            <a:ext cx="4449928" cy="548640"/>
          </a:xfrm>
          <a:prstGeom prst="rect">
            <a:avLst/>
          </a:prstGeom>
          <a:noFill/>
          <a:ln/>
        </p:spPr>
        <p:txBody>
          <a:bodyPr wrap="square" lIns="0" tIns="0" rIns="0" bIns="0" rtlCol="0" anchor="ctr"/>
          <a:lstStyle/>
          <a:p>
            <a:pPr indent="0" marL="0">
              <a:buNone/>
            </a:pPr>
            <a:r>
              <a:rPr lang="en-US" sz="1400" dirty="0">
                <a:solidFill>
                  <a:schemeClr val="tx1"/>
                </a:solidFill>
              </a:rPr>
              <a:t>Laju 1,16%/thn — sumber tidak tercatat</a:t>
            </a:r>
            <a:endParaRPr lang="en-US" sz="1400" dirty="0"/>
          </a:p>
        </p:txBody>
      </p:sp>
      <p:sp>
        <p:nvSpPr>
          <p:cNvPr id="14" name="Shape 11"/>
          <p:cNvSpPr/>
          <p:nvPr/>
        </p:nvSpPr>
        <p:spPr>
          <a:xfrm>
            <a:off x="3207944" y="4151376"/>
            <a:ext cx="0" cy="173736"/>
          </a:xfrm>
          <a:prstGeom prst="line">
            <a:avLst/>
          </a:prstGeom>
          <a:noFill/>
          <a:ln w="19050">
            <a:solidFill>
              <a:srgbClr val="6B655E"/>
            </a:solidFill>
            <a:prstDash val="solid"/>
            <a:tailEnd type="triangle"/>
          </a:ln>
        </p:spPr>
      </p:sp>
      <p:sp>
        <p:nvSpPr>
          <p:cNvPr id="15" name="Shape 12"/>
          <p:cNvSpPr/>
          <p:nvPr/>
        </p:nvSpPr>
        <p:spPr>
          <a:xfrm>
            <a:off x="548640" y="4343400"/>
            <a:ext cx="5318608" cy="658368"/>
          </a:xfrm>
          <a:prstGeom prst="rect">
            <a:avLst/>
          </a:prstGeom>
          <a:solidFill>
            <a:schemeClr val="bg2"/>
          </a:solidFill>
          <a:ln/>
        </p:spPr>
      </p:sp>
      <p:sp>
        <p:nvSpPr>
          <p:cNvPr id="16" name="Text 13"/>
          <p:cNvSpPr txBox="1"/>
          <p:nvPr/>
        </p:nvSpPr>
        <p:spPr>
          <a:xfrm>
            <a:off x="731520" y="4434840"/>
            <a:ext cx="457200" cy="45720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a:t>
            </a:r>
            <a:endParaRPr lang="en-US" sz="2000" dirty="0"/>
          </a:p>
        </p:txBody>
      </p:sp>
      <p:sp>
        <p:nvSpPr>
          <p:cNvPr id="17" name="Text 14"/>
          <p:cNvSpPr txBox="1"/>
          <p:nvPr/>
        </p:nvSpPr>
        <p:spPr>
          <a:xfrm>
            <a:off x="1234440" y="4416552"/>
            <a:ext cx="4449928" cy="548640"/>
          </a:xfrm>
          <a:prstGeom prst="rect">
            <a:avLst/>
          </a:prstGeom>
          <a:noFill/>
          <a:ln/>
        </p:spPr>
        <p:txBody>
          <a:bodyPr wrap="square" lIns="0" tIns="0" rIns="0" bIns="0" rtlCol="0" anchor="ctr"/>
          <a:lstStyle/>
          <a:p>
            <a:pPr indent="0" marL="0">
              <a:buNone/>
            </a:pPr>
            <a:r>
              <a:rPr lang="en-US" sz="1400" dirty="0">
                <a:solidFill>
                  <a:schemeClr val="tx1"/>
                </a:solidFill>
              </a:rPr>
              <a:t>"Additional 43%" dipakai sebagai pengali</a:t>
            </a:r>
            <a:endParaRPr lang="en-US" sz="1400" dirty="0"/>
          </a:p>
        </p:txBody>
      </p:sp>
      <p:sp>
        <p:nvSpPr>
          <p:cNvPr id="18" name="Shape 15"/>
          <p:cNvSpPr/>
          <p:nvPr/>
        </p:nvSpPr>
        <p:spPr>
          <a:xfrm>
            <a:off x="3207944" y="5020056"/>
            <a:ext cx="0" cy="173736"/>
          </a:xfrm>
          <a:prstGeom prst="line">
            <a:avLst/>
          </a:prstGeom>
          <a:noFill/>
          <a:ln w="19050">
            <a:solidFill>
              <a:srgbClr val="6B655E"/>
            </a:solidFill>
            <a:prstDash val="solid"/>
            <a:tailEnd type="triangle"/>
          </a:ln>
        </p:spPr>
      </p:sp>
      <p:sp>
        <p:nvSpPr>
          <p:cNvPr id="19" name="Shape 16"/>
          <p:cNvSpPr/>
          <p:nvPr/>
        </p:nvSpPr>
        <p:spPr>
          <a:xfrm>
            <a:off x="548640" y="5212080"/>
            <a:ext cx="5318608" cy="658368"/>
          </a:xfrm>
          <a:prstGeom prst="rect">
            <a:avLst/>
          </a:prstGeom>
          <a:solidFill>
            <a:schemeClr val="bg2"/>
          </a:solidFill>
          <a:ln/>
        </p:spPr>
      </p:sp>
      <p:sp>
        <p:nvSpPr>
          <p:cNvPr id="20" name="Text 17"/>
          <p:cNvSpPr txBox="1"/>
          <p:nvPr/>
        </p:nvSpPr>
        <p:spPr>
          <a:xfrm>
            <a:off x="731520" y="5303520"/>
            <a:ext cx="457200" cy="45720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a:t>
            </a:r>
            <a:endParaRPr lang="en-US" sz="2000" dirty="0"/>
          </a:p>
        </p:txBody>
      </p:sp>
      <p:sp>
        <p:nvSpPr>
          <p:cNvPr id="21" name="Text 18"/>
          <p:cNvSpPr txBox="1"/>
          <p:nvPr/>
        </p:nvSpPr>
        <p:spPr>
          <a:xfrm>
            <a:off x="1234440" y="5285232"/>
            <a:ext cx="4449928" cy="548640"/>
          </a:xfrm>
          <a:prstGeom prst="rect">
            <a:avLst/>
          </a:prstGeom>
          <a:noFill/>
          <a:ln/>
        </p:spPr>
        <p:txBody>
          <a:bodyPr wrap="square" lIns="0" tIns="0" rIns="0" bIns="0" rtlCol="0" anchor="ctr"/>
          <a:lstStyle/>
          <a:p>
            <a:pPr indent="0" marL="0">
              <a:buNone/>
            </a:pPr>
            <a:r>
              <a:rPr lang="en-US" sz="1400" dirty="0">
                <a:solidFill>
                  <a:schemeClr val="tx1"/>
                </a:solidFill>
              </a:rPr>
              <a:t>Biomassa pohon tidak masuk; satu kolom gambut dianggap lepas</a:t>
            </a:r>
            <a:endParaRPr lang="en-US" sz="1400" dirty="0"/>
          </a:p>
        </p:txBody>
      </p:sp>
      <p:sp>
        <p:nvSpPr>
          <p:cNvPr id="22" name="Shape 19"/>
          <p:cNvSpPr/>
          <p:nvPr/>
        </p:nvSpPr>
        <p:spPr>
          <a:xfrm>
            <a:off x="6324448" y="2011680"/>
            <a:ext cx="2377440" cy="310896"/>
          </a:xfrm>
          <a:prstGeom prst="roundRect">
            <a:avLst>
              <a:gd name="adj" fmla="val 50000"/>
            </a:avLst>
          </a:prstGeom>
          <a:solidFill>
            <a:schemeClr val="accent1"/>
          </a:solidFill>
          <a:ln/>
        </p:spPr>
      </p:sp>
      <p:sp>
        <p:nvSpPr>
          <p:cNvPr id="23" name="Text 20"/>
          <p:cNvSpPr txBox="1"/>
          <p:nvPr/>
        </p:nvSpPr>
        <p:spPr>
          <a:xfrm>
            <a:off x="6324448" y="2011680"/>
            <a:ext cx="2377440" cy="310896"/>
          </a:xfrm>
          <a:prstGeom prst="rect">
            <a:avLst/>
          </a:prstGeom>
          <a:noFill/>
          <a:ln/>
        </p:spPr>
        <p:txBody>
          <a:bodyPr wrap="square" lIns="0" tIns="0" rIns="0" bIns="0" rtlCol="0" anchor="ctr"/>
          <a:lstStyle/>
          <a:p>
            <a:pPr algn="ctr" indent="0" marL="0">
              <a:buNone/>
            </a:pPr>
            <a:r>
              <a:rPr lang="en-US" sz="1100" b="1" dirty="0">
                <a:solidFill>
                  <a:schemeClr val="bg1"/>
                </a:solidFill>
              </a:rPr>
              <a:t>SEHARUSNYA</a:t>
            </a:r>
            <a:endParaRPr lang="en-US" sz="1100" dirty="0"/>
          </a:p>
        </p:txBody>
      </p:sp>
      <p:sp>
        <p:nvSpPr>
          <p:cNvPr id="24" name="Shape 21"/>
          <p:cNvSpPr/>
          <p:nvPr/>
        </p:nvSpPr>
        <p:spPr>
          <a:xfrm>
            <a:off x="6324448" y="2606040"/>
            <a:ext cx="5318608" cy="658368"/>
          </a:xfrm>
          <a:prstGeom prst="rect">
            <a:avLst/>
          </a:prstGeom>
          <a:solidFill>
            <a:schemeClr val="bg2"/>
          </a:solidFill>
          <a:ln/>
        </p:spPr>
      </p:sp>
      <p:sp>
        <p:nvSpPr>
          <p:cNvPr id="25" name="Text 22"/>
          <p:cNvSpPr txBox="1"/>
          <p:nvPr/>
        </p:nvSpPr>
        <p:spPr>
          <a:xfrm>
            <a:off x="6507328" y="2697480"/>
            <a:ext cx="457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a:t>
            </a:r>
            <a:endParaRPr lang="en-US" sz="2000" dirty="0"/>
          </a:p>
        </p:txBody>
      </p:sp>
      <p:sp>
        <p:nvSpPr>
          <p:cNvPr id="26" name="Text 23"/>
          <p:cNvSpPr txBox="1"/>
          <p:nvPr/>
        </p:nvSpPr>
        <p:spPr>
          <a:xfrm>
            <a:off x="7010248" y="2679192"/>
            <a:ext cx="4449928" cy="548640"/>
          </a:xfrm>
          <a:prstGeom prst="rect">
            <a:avLst/>
          </a:prstGeom>
          <a:noFill/>
          <a:ln/>
        </p:spPr>
        <p:txBody>
          <a:bodyPr wrap="square" lIns="0" tIns="0" rIns="0" bIns="0" rtlCol="0" anchor="ctr"/>
          <a:lstStyle/>
          <a:p>
            <a:pPr indent="0" marL="0">
              <a:buNone/>
            </a:pPr>
            <a:r>
              <a:rPr lang="en-US" sz="1400" dirty="0">
                <a:solidFill>
                  <a:schemeClr val="tx1"/>
                </a:solidFill>
              </a:rPr>
              <a:t>Luas deforestasi per tahun dari data aktivitas yang terverifikasi</a:t>
            </a:r>
            <a:endParaRPr lang="en-US" sz="1400" dirty="0"/>
          </a:p>
        </p:txBody>
      </p:sp>
      <p:sp>
        <p:nvSpPr>
          <p:cNvPr id="27" name="Shape 24"/>
          <p:cNvSpPr/>
          <p:nvPr/>
        </p:nvSpPr>
        <p:spPr>
          <a:xfrm>
            <a:off x="8983751" y="3282696"/>
            <a:ext cx="0" cy="173736"/>
          </a:xfrm>
          <a:prstGeom prst="line">
            <a:avLst/>
          </a:prstGeom>
          <a:noFill/>
          <a:ln w="19050">
            <a:solidFill>
              <a:srgbClr val="6B655E"/>
            </a:solidFill>
            <a:prstDash val="solid"/>
            <a:tailEnd type="triangle"/>
          </a:ln>
        </p:spPr>
      </p:sp>
      <p:sp>
        <p:nvSpPr>
          <p:cNvPr id="28" name="Shape 25"/>
          <p:cNvSpPr/>
          <p:nvPr/>
        </p:nvSpPr>
        <p:spPr>
          <a:xfrm>
            <a:off x="6324448" y="3474720"/>
            <a:ext cx="5318608" cy="658368"/>
          </a:xfrm>
          <a:prstGeom prst="rect">
            <a:avLst/>
          </a:prstGeom>
          <a:solidFill>
            <a:schemeClr val="bg2"/>
          </a:solidFill>
          <a:ln/>
        </p:spPr>
      </p:sp>
      <p:sp>
        <p:nvSpPr>
          <p:cNvPr id="29" name="Text 26"/>
          <p:cNvSpPr txBox="1"/>
          <p:nvPr/>
        </p:nvSpPr>
        <p:spPr>
          <a:xfrm>
            <a:off x="6507328" y="3566160"/>
            <a:ext cx="457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a:t>
            </a:r>
            <a:endParaRPr lang="en-US" sz="2000" dirty="0"/>
          </a:p>
        </p:txBody>
      </p:sp>
      <p:sp>
        <p:nvSpPr>
          <p:cNvPr id="30" name="Text 27"/>
          <p:cNvSpPr txBox="1"/>
          <p:nvPr/>
        </p:nvSpPr>
        <p:spPr>
          <a:xfrm>
            <a:off x="7010248" y="3547872"/>
            <a:ext cx="4449928" cy="548640"/>
          </a:xfrm>
          <a:prstGeom prst="rect">
            <a:avLst/>
          </a:prstGeom>
          <a:noFill/>
          <a:ln/>
        </p:spPr>
        <p:txBody>
          <a:bodyPr wrap="square" lIns="0" tIns="0" rIns="0" bIns="0" rtlCol="0" anchor="ctr"/>
          <a:lstStyle/>
          <a:p>
            <a:pPr indent="0" marL="0">
              <a:buNone/>
            </a:pPr>
            <a:r>
              <a:rPr lang="en-US" sz="1400" dirty="0">
                <a:solidFill>
                  <a:schemeClr val="tx1"/>
                </a:solidFill>
              </a:rPr>
              <a:t>Selisih stok biomassa: 135,1 → 14,8 tC/ha (441 tCO₂/ha)</a:t>
            </a:r>
            <a:endParaRPr lang="en-US" sz="1400" dirty="0"/>
          </a:p>
        </p:txBody>
      </p:sp>
      <p:sp>
        <p:nvSpPr>
          <p:cNvPr id="31" name="Shape 28"/>
          <p:cNvSpPr/>
          <p:nvPr/>
        </p:nvSpPr>
        <p:spPr>
          <a:xfrm>
            <a:off x="8983751" y="4151376"/>
            <a:ext cx="0" cy="173736"/>
          </a:xfrm>
          <a:prstGeom prst="line">
            <a:avLst/>
          </a:prstGeom>
          <a:noFill/>
          <a:ln w="19050">
            <a:solidFill>
              <a:srgbClr val="6B655E"/>
            </a:solidFill>
            <a:prstDash val="solid"/>
            <a:tailEnd type="triangle"/>
          </a:ln>
        </p:spPr>
      </p:sp>
      <p:sp>
        <p:nvSpPr>
          <p:cNvPr id="32" name="Shape 29"/>
          <p:cNvSpPr/>
          <p:nvPr/>
        </p:nvSpPr>
        <p:spPr>
          <a:xfrm>
            <a:off x="6324448" y="4343400"/>
            <a:ext cx="5318608" cy="658368"/>
          </a:xfrm>
          <a:prstGeom prst="rect">
            <a:avLst/>
          </a:prstGeom>
          <a:solidFill>
            <a:schemeClr val="bg2"/>
          </a:solidFill>
          <a:ln/>
        </p:spPr>
      </p:sp>
      <p:sp>
        <p:nvSpPr>
          <p:cNvPr id="33" name="Text 30"/>
          <p:cNvSpPr txBox="1"/>
          <p:nvPr/>
        </p:nvSpPr>
        <p:spPr>
          <a:xfrm>
            <a:off x="6507328" y="4434840"/>
            <a:ext cx="457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a:t>
            </a:r>
            <a:endParaRPr lang="en-US" sz="2000" dirty="0"/>
          </a:p>
        </p:txBody>
      </p:sp>
      <p:sp>
        <p:nvSpPr>
          <p:cNvPr id="34" name="Text 31"/>
          <p:cNvSpPr txBox="1"/>
          <p:nvPr/>
        </p:nvSpPr>
        <p:spPr>
          <a:xfrm>
            <a:off x="7010248" y="4416552"/>
            <a:ext cx="4449928" cy="548640"/>
          </a:xfrm>
          <a:prstGeom prst="rect">
            <a:avLst/>
          </a:prstGeom>
          <a:noFill/>
          <a:ln/>
        </p:spPr>
        <p:txBody>
          <a:bodyPr wrap="square" lIns="0" tIns="0" rIns="0" bIns="0" rtlCol="0" anchor="ctr"/>
          <a:lstStyle/>
          <a:p>
            <a:pPr indent="0" marL="0">
              <a:buNone/>
            </a:pPr>
            <a:r>
              <a:rPr lang="en-US" sz="1400" dirty="0">
                <a:solidFill>
                  <a:schemeClr val="tx1"/>
                </a:solidFill>
              </a:rPr>
              <a:t>Oksidasi gambut kumulatif: +12,6 tCO₂/ha/thn di lahan terdeforestasi</a:t>
            </a:r>
            <a:endParaRPr lang="en-US" sz="1400" dirty="0"/>
          </a:p>
        </p:txBody>
      </p:sp>
      <p:sp>
        <p:nvSpPr>
          <p:cNvPr id="35" name="Shape 32"/>
          <p:cNvSpPr/>
          <p:nvPr/>
        </p:nvSpPr>
        <p:spPr>
          <a:xfrm>
            <a:off x="8983751" y="5020056"/>
            <a:ext cx="0" cy="173736"/>
          </a:xfrm>
          <a:prstGeom prst="line">
            <a:avLst/>
          </a:prstGeom>
          <a:noFill/>
          <a:ln w="19050">
            <a:solidFill>
              <a:srgbClr val="6B655E"/>
            </a:solidFill>
            <a:prstDash val="solid"/>
            <a:tailEnd type="triangle"/>
          </a:ln>
        </p:spPr>
      </p:sp>
      <p:sp>
        <p:nvSpPr>
          <p:cNvPr id="36" name="Shape 33"/>
          <p:cNvSpPr/>
          <p:nvPr/>
        </p:nvSpPr>
        <p:spPr>
          <a:xfrm>
            <a:off x="6324448" y="5212080"/>
            <a:ext cx="5318608" cy="658368"/>
          </a:xfrm>
          <a:prstGeom prst="rect">
            <a:avLst/>
          </a:prstGeom>
          <a:solidFill>
            <a:schemeClr val="bg2"/>
          </a:solidFill>
          <a:ln/>
        </p:spPr>
      </p:sp>
      <p:sp>
        <p:nvSpPr>
          <p:cNvPr id="37" name="Text 34"/>
          <p:cNvSpPr txBox="1"/>
          <p:nvPr/>
        </p:nvSpPr>
        <p:spPr>
          <a:xfrm>
            <a:off x="6507328" y="5303520"/>
            <a:ext cx="45720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a:t>
            </a:r>
            <a:endParaRPr lang="en-US" sz="2000" dirty="0"/>
          </a:p>
        </p:txBody>
      </p:sp>
      <p:sp>
        <p:nvSpPr>
          <p:cNvPr id="38" name="Text 35"/>
          <p:cNvSpPr txBox="1"/>
          <p:nvPr/>
        </p:nvSpPr>
        <p:spPr>
          <a:xfrm>
            <a:off x="7010248" y="5285232"/>
            <a:ext cx="4449928" cy="548640"/>
          </a:xfrm>
          <a:prstGeom prst="rect">
            <a:avLst/>
          </a:prstGeom>
          <a:noFill/>
          <a:ln/>
        </p:spPr>
        <p:txBody>
          <a:bodyPr wrap="square" lIns="0" tIns="0" rIns="0" bIns="0" rtlCol="0" anchor="ctr"/>
          <a:lstStyle/>
          <a:p>
            <a:pPr indent="0" marL="0">
              <a:buNone/>
            </a:pPr>
            <a:r>
              <a:rPr lang="en-US" sz="1400" dirty="0">
                <a:solidFill>
                  <a:schemeClr val="tx1"/>
                </a:solidFill>
              </a:rPr>
              <a:t>Efektivitas × (1 − leakage) × (1 − buffer) — additionality diuji terpisah</a:t>
            </a:r>
            <a:endParaRPr lang="en-US" sz="1400" dirty="0"/>
          </a:p>
        </p:txBody>
      </p:sp>
      <p:sp>
        <p:nvSpPr>
          <p:cNvPr id="39" name="Text 36"/>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Rumus koreksi diterapkan di sheet Baseline_REDD (model koreksi).</a:t>
            </a:r>
            <a:endParaRPr lang="en-US" sz="1000" dirty="0"/>
          </a:p>
        </p:txBody>
      </p:sp>
      <p:sp>
        <p:nvSpPr>
          <p:cNvPr id="40" name="tutupan-hs"/>
          <p:cNvSpPr/>
          <p:nvPr/>
        </p:nvSpPr>
        <p:spPr>
          <a:xfrm>
            <a:off x="548640" y="6400800"/>
            <a:ext cx="794550" cy="91440"/>
          </a:xfrm>
          <a:prstGeom prst="rect">
            <a:avLst/>
          </a:prstGeom>
          <a:solidFill>
            <a:schemeClr val="accent1"/>
          </a:solidFill>
          <a:ln/>
        </p:spPr>
      </p:sp>
      <p:sp>
        <p:nvSpPr>
          <p:cNvPr id="41" name="tutupan-sb"/>
          <p:cNvSpPr/>
          <p:nvPr/>
        </p:nvSpPr>
        <p:spPr>
          <a:xfrm>
            <a:off x="1361478" y="6400800"/>
            <a:ext cx="342721" cy="91440"/>
          </a:xfrm>
          <a:prstGeom prst="rect">
            <a:avLst/>
          </a:prstGeom>
          <a:solidFill>
            <a:srgbClr val="DCD8D2"/>
          </a:solidFill>
          <a:ln/>
        </p:spPr>
      </p:sp>
      <p:sp>
        <p:nvSpPr>
          <p:cNvPr id="42" name="tutupan-kb"/>
          <p:cNvSpPr/>
          <p:nvPr/>
        </p:nvSpPr>
        <p:spPr>
          <a:xfrm>
            <a:off x="1722487" y="6400800"/>
            <a:ext cx="202213" cy="91440"/>
          </a:xfrm>
          <a:prstGeom prst="rect">
            <a:avLst/>
          </a:prstGeom>
          <a:solidFill>
            <a:srgbClr val="DCD8D2"/>
          </a:solidFill>
          <a:ln/>
        </p:spPr>
      </p:sp>
      <p:sp>
        <p:nvSpPr>
          <p:cNvPr id="43" name="tutupan-lt"/>
          <p:cNvSpPr/>
          <p:nvPr/>
        </p:nvSpPr>
        <p:spPr>
          <a:xfrm>
            <a:off x="1942988" y="6400800"/>
            <a:ext cx="32432" cy="91440"/>
          </a:xfrm>
          <a:prstGeom prst="rect">
            <a:avLst/>
          </a:prstGeom>
          <a:solidFill>
            <a:srgbClr val="DCD8D2"/>
          </a:solidFill>
          <a:ln/>
        </p:spPr>
      </p:sp>
      <p:sp>
        <p:nvSpPr>
          <p:cNvPr id="44" name="tutupan-sg"/>
          <p:cNvSpPr/>
          <p:nvPr/>
        </p:nvSpPr>
        <p:spPr>
          <a:xfrm>
            <a:off x="1993708" y="6400800"/>
            <a:ext cx="17972" cy="91440"/>
          </a:xfrm>
          <a:prstGeom prst="rect">
            <a:avLst/>
          </a:prstGeom>
          <a:solidFill>
            <a:srgbClr val="DCD8D2"/>
          </a:solidFill>
          <a:ln/>
        </p:spPr>
      </p:sp>
      <p:sp>
        <p:nvSpPr>
          <p:cNvPr id="45" name="Text 42"/>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Hutan sekunder 1.411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HASIL YANG SALING BERTENTANGAN</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Empat blok di file memberi empat angka kredit berbeda — semuanya jauh dari hasil model koreksi</a:t>
            </a:r>
            <a:endParaRPr lang="en-US" sz="2800" dirty="0"/>
          </a:p>
        </p:txBody>
      </p:sp>
      <p:graphicFrame>
        <p:nvGraphicFramePr>
          <p:cNvPr id="5" name="Chart 0" descr=""/>
          <p:cNvGraphicFramePr/>
          <p:nvPr/>
        </p:nvGraphicFramePr>
        <p:xfrm>
          <a:off x="548640" y="1920240"/>
          <a:ext cx="768096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686800" y="2057400"/>
            <a:ext cx="2956255" cy="137160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3,8–12,6×</a:t>
            </a:r>
            <a:endParaRPr lang="en-US" sz="1400" dirty="0"/>
          </a:p>
          <a:p>
            <a:pPr indent="0" marL="0">
              <a:buNone/>
            </a:pPr>
            <a:r>
              <a:rPr lang="en-US" sz="1500" b="1" dirty="0">
                <a:solidFill>
                  <a:schemeClr val="tx1"/>
                </a:solidFill>
              </a:rPr>
              <a:t>selisih angka file terhadap model koreksi</a:t>
            </a:r>
            <a:endParaRPr lang="en-US" sz="1400" dirty="0"/>
          </a:p>
        </p:txBody>
      </p:sp>
      <p:sp>
        <p:nvSpPr>
          <p:cNvPr id="7" name="Shape 3"/>
          <p:cNvSpPr/>
          <p:nvPr/>
        </p:nvSpPr>
        <p:spPr>
          <a:xfrm>
            <a:off x="8686800" y="3611880"/>
            <a:ext cx="2956255" cy="0"/>
          </a:xfrm>
          <a:prstGeom prst="line">
            <a:avLst/>
          </a:prstGeom>
          <a:noFill/>
          <a:ln w="9525">
            <a:solidFill>
              <a:srgbClr val="333333"/>
            </a:solidFill>
            <a:prstDash val="solid"/>
          </a:ln>
        </p:spPr>
      </p:sp>
      <p:sp>
        <p:nvSpPr>
          <p:cNvPr id="8" name="Text 4"/>
          <p:cNvSpPr txBox="1"/>
          <p:nvPr/>
        </p:nvSpPr>
        <p:spPr>
          <a:xfrm>
            <a:off x="8686800" y="3749040"/>
            <a:ext cx="2956255" cy="1280160"/>
          </a:xfrm>
          <a:prstGeom prst="rect">
            <a:avLst/>
          </a:prstGeom>
          <a:noFill/>
          <a:ln/>
        </p:spPr>
        <p:txBody>
          <a:bodyPr wrap="square" lIns="0" tIns="0" rIns="0" bIns="0" rtlCol="0" anchor="t"/>
          <a:lstStyle/>
          <a:p>
            <a:pPr indent="0" marL="0">
              <a:buNone/>
            </a:pPr>
            <a:r>
              <a:rPr lang="en-US" sz="1500" dirty="0">
                <a:solidFill>
                  <a:schemeClr val="accent5"/>
                </a:solidFill>
              </a:rPr>
              <a:t>Angka 6 tCO₂e/thn juga salah: sel Q31 mengambil nilai per hektare, bukan total areal.</a:t>
            </a:r>
            <a:endParaRPr lang="en-US" sz="1500" dirty="0"/>
          </a:p>
        </p:txBody>
      </p:sp>
      <p:sp>
        <p:nvSpPr>
          <p:cNvPr id="9" name="Text 5"/>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Model koreksi: rerata 10 tahun; efektivitas 43%, leakage 15%, buffer 20%.</a:t>
            </a:r>
            <a:endParaRPr lang="en-US" sz="1000" dirty="0"/>
          </a:p>
        </p:txBody>
      </p:sp>
      <p:sp>
        <p:nvSpPr>
          <p:cNvPr id="10" name="tutupan-hs"/>
          <p:cNvSpPr/>
          <p:nvPr/>
        </p:nvSpPr>
        <p:spPr>
          <a:xfrm>
            <a:off x="548640" y="6400800"/>
            <a:ext cx="794550" cy="91440"/>
          </a:xfrm>
          <a:prstGeom prst="rect">
            <a:avLst/>
          </a:prstGeom>
          <a:solidFill>
            <a:schemeClr val="accent1"/>
          </a:solidFill>
          <a:ln/>
        </p:spPr>
      </p:sp>
      <p:sp>
        <p:nvSpPr>
          <p:cNvPr id="11" name="tutupan-sb"/>
          <p:cNvSpPr/>
          <p:nvPr/>
        </p:nvSpPr>
        <p:spPr>
          <a:xfrm>
            <a:off x="1361478" y="6400800"/>
            <a:ext cx="342721" cy="91440"/>
          </a:xfrm>
          <a:prstGeom prst="rect">
            <a:avLst/>
          </a:prstGeom>
          <a:solidFill>
            <a:srgbClr val="DCD8D2"/>
          </a:solidFill>
          <a:ln/>
        </p:spPr>
      </p:sp>
      <p:sp>
        <p:nvSpPr>
          <p:cNvPr id="12" name="tutupan-kb"/>
          <p:cNvSpPr/>
          <p:nvPr/>
        </p:nvSpPr>
        <p:spPr>
          <a:xfrm>
            <a:off x="1722487" y="6400800"/>
            <a:ext cx="202213" cy="91440"/>
          </a:xfrm>
          <a:prstGeom prst="rect">
            <a:avLst/>
          </a:prstGeom>
          <a:solidFill>
            <a:srgbClr val="DCD8D2"/>
          </a:solidFill>
          <a:ln/>
        </p:spPr>
      </p:sp>
      <p:sp>
        <p:nvSpPr>
          <p:cNvPr id="13" name="tutupan-lt"/>
          <p:cNvSpPr/>
          <p:nvPr/>
        </p:nvSpPr>
        <p:spPr>
          <a:xfrm>
            <a:off x="1942988" y="6400800"/>
            <a:ext cx="32432" cy="91440"/>
          </a:xfrm>
          <a:prstGeom prst="rect">
            <a:avLst/>
          </a:prstGeom>
          <a:solidFill>
            <a:srgbClr val="DCD8D2"/>
          </a:solidFill>
          <a:ln/>
        </p:spPr>
      </p:sp>
      <p:sp>
        <p:nvSpPr>
          <p:cNvPr id="14" name="tutupan-sg"/>
          <p:cNvSpPr/>
          <p:nvPr/>
        </p:nvSpPr>
        <p:spPr>
          <a:xfrm>
            <a:off x="1993708" y="6400800"/>
            <a:ext cx="17972" cy="91440"/>
          </a:xfrm>
          <a:prstGeom prst="rect">
            <a:avLst/>
          </a:prstGeom>
          <a:solidFill>
            <a:srgbClr val="DCD8D2"/>
          </a:solidFill>
          <a:ln/>
        </p:spPr>
      </p:sp>
      <p:sp>
        <p:nvSpPr>
          <p:cNvPr id="15" name="Text 11"/>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Hutan sekunder 1.411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TEMUAN TEKNIS</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Salah ketik dan salah rujukan sel melipatgandakan angka hingga 100 kali</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2926080"/>
                <a:gridCol w="5120640"/>
                <a:gridCol w="3044952"/>
              </a:tblGrid>
              <a:tr h="475488">
                <a:tc>
                  <a:txBody>
                    <a:bodyPr/>
                    <a:lstStyle/>
                    <a:p>
                      <a:pPr indent="0" marL="0">
                        <a:buNone/>
                      </a:pPr>
                      <a:r>
                        <a:rPr lang="en-US" sz="1200" b="1" dirty="0">
                          <a:solidFill>
                            <a:srgbClr val="6B655E"/>
                          </a:solidFill>
                          <a:latin typeface="Calibri" pitchFamily="34" charset="0"/>
                          <a:ea typeface="Calibri" pitchFamily="34" charset="-122"/>
                          <a:cs typeface="Calibri" pitchFamily="34" charset="-120"/>
                        </a:rPr>
                        <a:t>Lokasi</a:t>
                      </a:r>
                      <a:endParaRPr lang="en-US" sz="12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200" b="1" dirty="0">
                          <a:solidFill>
                            <a:srgbClr val="6B655E"/>
                          </a:solidFill>
                          <a:latin typeface="Calibri" pitchFamily="34" charset="0"/>
                          <a:ea typeface="Calibri" pitchFamily="34" charset="-122"/>
                          <a:cs typeface="Calibri" pitchFamily="34" charset="-120"/>
                        </a:rPr>
                        <a:t>Masalah</a:t>
                      </a:r>
                      <a:endParaRPr lang="en-US" sz="12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200" b="1" dirty="0">
                          <a:solidFill>
                            <a:srgbClr val="6B655E"/>
                          </a:solidFill>
                          <a:latin typeface="Calibri" pitchFamily="34" charset="0"/>
                          <a:ea typeface="Calibri" pitchFamily="34" charset="-122"/>
                          <a:cs typeface="Calibri" pitchFamily="34" charset="-120"/>
                        </a:rPr>
                        <a:t>Dampak</a:t>
                      </a:r>
                      <a:endParaRPr lang="en-US" sz="12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75488">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Tuplah (2) B57, B59, C60</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AGB 22291, litter 66876, tanah 196568 — seharusnya 222,91 / 668,73 / 1.965,68</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B23A2E"/>
                          </a:solidFill>
                          <a:latin typeface="Calibri" pitchFamily="34" charset="0"/>
                          <a:ea typeface="Calibri" pitchFamily="34" charset="-122"/>
                          <a:cs typeface="Calibri" pitchFamily="34" charset="-120"/>
                        </a:rPr>
                        <a:t>Nilai ×100; baris BGB benar (64,64)</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75488">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Tuplah (2) Q31</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Merujuk P37 = tCO₂e per ha, bukan total</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B23A2E"/>
                          </a:solidFill>
                          <a:latin typeface="Calibri" pitchFamily="34" charset="0"/>
                          <a:ea typeface="Calibri" pitchFamily="34" charset="-122"/>
                          <a:cs typeface="Calibri" pitchFamily="34" charset="-120"/>
                        </a:rPr>
                        <a:t>Kredit 6 tCO₂e/thn</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75488">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Tuplah D55, D63 · Tuplah (2) D33, D43</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Kolom stok memakai kolom emisi (C), bukan luas (B)</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B23A2E"/>
                          </a:solidFill>
                          <a:latin typeface="Calibri" pitchFamily="34" charset="0"/>
                          <a:ea typeface="Calibri" pitchFamily="34" charset="-122"/>
                          <a:cs typeface="Calibri" pitchFamily="34" charset="-120"/>
                        </a:rPr>
                        <a:t>Stok kebun 14,8–23,4 juta tC</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75488">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Tuplah (2) D34</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Fraksi C diketik 45, bukan 0,45</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B23A2E"/>
                          </a:solidFill>
                          <a:latin typeface="Calibri" pitchFamily="34" charset="0"/>
                          <a:ea typeface="Calibri" pitchFamily="34" charset="-122"/>
                          <a:cs typeface="Calibri" pitchFamily="34" charset="-120"/>
                        </a:rPr>
                        <a:t>Stok semak 27,4 juta tC</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75488">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Tuplah (2) C61–D64</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Biomassa per-ha dijumlah dengan stok total, lalu ×50% dan ×35</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B23A2E"/>
                          </a:solidFill>
                          <a:latin typeface="Calibri" pitchFamily="34" charset="0"/>
                          <a:ea typeface="Calibri" pitchFamily="34" charset="-122"/>
                          <a:cs typeface="Calibri" pitchFamily="34" charset="-120"/>
                        </a:rPr>
                        <a:t>Satuan bercampur</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75488">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Antar-blok</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Tebal 0,25–1,5 m; BD 0,06–0,13; fraksi C 0,2–0,55; stok hutan 79,7 / 98,8 / 135,1 tC/ha</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B23A2E"/>
                          </a:solidFill>
                          <a:latin typeface="Calibri" pitchFamily="34" charset="0"/>
                          <a:ea typeface="Calibri" pitchFamily="34" charset="-122"/>
                          <a:cs typeface="Calibri" pitchFamily="34" charset="-120"/>
                        </a:rPr>
                        <a:t>Stok gambut 0,8–34,5 juta tC</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75488">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Tuplah R52 · Tuplah (2) S30</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1E1C19"/>
                          </a:solidFill>
                          <a:latin typeface="Calibri" pitchFamily="34" charset="0"/>
                          <a:ea typeface="Calibri" pitchFamily="34" charset="-122"/>
                          <a:cs typeface="Calibri" pitchFamily="34" charset="-120"/>
                        </a:rPr>
                        <a:t>"Net VCU" ×0,35 di satu blok, ×0,65 di blok lain; kurs 18.000 vs 16.000</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300" dirty="0">
                          <a:solidFill>
                            <a:srgbClr val="B23A2E"/>
                          </a:solidFill>
                          <a:latin typeface="Calibri" pitchFamily="34" charset="0"/>
                          <a:ea typeface="Calibri" pitchFamily="34" charset="-122"/>
                          <a:cs typeface="Calibri" pitchFamily="34" charset="-120"/>
                        </a:rPr>
                        <a:t>Hasil berbeda ±2×</a:t>
                      </a:r>
                      <a:endParaRPr lang="en-US" sz="13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bl>
          </a:graphicData>
        </a:graphic>
      </p:graphicFrame>
      <p:sp>
        <p:nvSpPr>
          <p:cNvPr id="6" name="Text 2"/>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Sumber: pemeriksaan rumus &amp; nilai tersimpan pada file asal (22 temuan).</a:t>
            </a:r>
            <a:endParaRPr lang="en-US" sz="1000" dirty="0"/>
          </a:p>
        </p:txBody>
      </p:sp>
      <p:sp>
        <p:nvSpPr>
          <p:cNvPr id="7" name="tutupan-hs"/>
          <p:cNvSpPr/>
          <p:nvPr/>
        </p:nvSpPr>
        <p:spPr>
          <a:xfrm>
            <a:off x="548640" y="6400800"/>
            <a:ext cx="794550" cy="91440"/>
          </a:xfrm>
          <a:prstGeom prst="rect">
            <a:avLst/>
          </a:prstGeom>
          <a:solidFill>
            <a:schemeClr val="accent1"/>
          </a:solidFill>
          <a:ln/>
        </p:spPr>
      </p:sp>
      <p:sp>
        <p:nvSpPr>
          <p:cNvPr id="8" name="tutupan-sb"/>
          <p:cNvSpPr/>
          <p:nvPr/>
        </p:nvSpPr>
        <p:spPr>
          <a:xfrm>
            <a:off x="1361478" y="6400800"/>
            <a:ext cx="342721" cy="91440"/>
          </a:xfrm>
          <a:prstGeom prst="rect">
            <a:avLst/>
          </a:prstGeom>
          <a:solidFill>
            <a:schemeClr val="accent2"/>
          </a:solidFill>
          <a:ln/>
        </p:spPr>
      </p:sp>
      <p:sp>
        <p:nvSpPr>
          <p:cNvPr id="9" name="tutupan-kb"/>
          <p:cNvSpPr/>
          <p:nvPr/>
        </p:nvSpPr>
        <p:spPr>
          <a:xfrm>
            <a:off x="1722487" y="6400800"/>
            <a:ext cx="202213" cy="91440"/>
          </a:xfrm>
          <a:prstGeom prst="rect">
            <a:avLst/>
          </a:prstGeom>
          <a:solidFill>
            <a:schemeClr val="accent3"/>
          </a:solidFill>
          <a:ln/>
        </p:spPr>
      </p:sp>
      <p:sp>
        <p:nvSpPr>
          <p:cNvPr id="10" name="tutupan-lt"/>
          <p:cNvSpPr/>
          <p:nvPr/>
        </p:nvSpPr>
        <p:spPr>
          <a:xfrm>
            <a:off x="1942988" y="6400800"/>
            <a:ext cx="32432" cy="91440"/>
          </a:xfrm>
          <a:prstGeom prst="rect">
            <a:avLst/>
          </a:prstGeom>
          <a:solidFill>
            <a:srgbClr val="B9AE9C"/>
          </a:solidFill>
          <a:ln/>
        </p:spPr>
      </p:sp>
      <p:sp>
        <p:nvSpPr>
          <p:cNvPr id="11" name="tutupan-sg"/>
          <p:cNvSpPr/>
          <p:nvPr/>
        </p:nvSpPr>
        <p:spPr>
          <a:xfrm>
            <a:off x="1993708" y="6400800"/>
            <a:ext cx="17972" cy="91440"/>
          </a:xfrm>
          <a:prstGeom prst="rect">
            <a:avLst/>
          </a:prstGeom>
          <a:solidFill>
            <a:srgbClr val="3F7C85"/>
          </a:solidFill>
          <a:ln/>
        </p:spPr>
      </p:sp>
      <p:sp>
        <p:nvSpPr>
          <p:cNvPr id="12" name="Text 8"/>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Seluruh areal 2.468,5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MODEL KOREKSI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Dengan data proyek sendiri, baseline ±4.230 tCO₂e/thn menghasilkan ±1.240 tCO₂e kredit bersih per tahun</a:t>
            </a:r>
            <a:endParaRPr lang="en-US" sz="2800" dirty="0"/>
          </a:p>
        </p:txBody>
      </p:sp>
      <p:sp>
        <p:nvSpPr>
          <p:cNvPr id="5" name="Shape 2"/>
          <p:cNvSpPr/>
          <p:nvPr/>
        </p:nvSpPr>
        <p:spPr>
          <a:xfrm>
            <a:off x="548640" y="2148840"/>
            <a:ext cx="1582461" cy="2011680"/>
          </a:xfrm>
          <a:prstGeom prst="rect">
            <a:avLst/>
          </a:prstGeom>
          <a:solidFill>
            <a:schemeClr val="bg2"/>
          </a:solidFill>
          <a:ln/>
        </p:spPr>
      </p:sp>
      <p:sp>
        <p:nvSpPr>
          <p:cNvPr id="6" name="Text 3"/>
          <p:cNvSpPr txBox="1"/>
          <p:nvPr/>
        </p:nvSpPr>
        <p:spPr>
          <a:xfrm>
            <a:off x="685800" y="2286000"/>
            <a:ext cx="1308141" cy="86868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8,29</a:t>
            </a:r>
            <a:endParaRPr lang="en-US" sz="1400" dirty="0"/>
          </a:p>
          <a:p>
            <a:pPr algn="ctr" indent="0" marL="0">
              <a:buNone/>
            </a:pPr>
            <a:r>
              <a:rPr lang="en-US" sz="1200" dirty="0">
                <a:solidFill>
                  <a:schemeClr val="accent5"/>
                </a:solidFill>
              </a:rPr>
              <a:t>ha/thn</a:t>
            </a:r>
            <a:endParaRPr lang="en-US" sz="1400" dirty="0"/>
          </a:p>
        </p:txBody>
      </p:sp>
      <p:sp>
        <p:nvSpPr>
          <p:cNvPr id="7" name="Text 4"/>
          <p:cNvSpPr txBox="1"/>
          <p:nvPr/>
        </p:nvSpPr>
        <p:spPr>
          <a:xfrm>
            <a:off x="685800" y="3246120"/>
            <a:ext cx="1308141" cy="822960"/>
          </a:xfrm>
          <a:prstGeom prst="rect">
            <a:avLst/>
          </a:prstGeom>
          <a:noFill/>
          <a:ln/>
        </p:spPr>
        <p:txBody>
          <a:bodyPr wrap="square" lIns="0" tIns="0" rIns="0" bIns="0" rtlCol="0" anchor="t"/>
          <a:lstStyle/>
          <a:p>
            <a:pPr algn="ctr" indent="0" marL="0">
              <a:buNone/>
            </a:pPr>
            <a:r>
              <a:rPr lang="en-US" sz="1300" dirty="0">
                <a:solidFill>
                  <a:schemeClr val="tx1"/>
                </a:solidFill>
              </a:rPr>
              <a:t>Laju deforestasi bruto 2016–2026</a:t>
            </a:r>
            <a:endParaRPr lang="en-US" sz="1300" dirty="0"/>
          </a:p>
        </p:txBody>
      </p:sp>
      <p:sp>
        <p:nvSpPr>
          <p:cNvPr id="8" name="Shape 5"/>
          <p:cNvSpPr/>
          <p:nvPr/>
        </p:nvSpPr>
        <p:spPr>
          <a:xfrm>
            <a:off x="2332269" y="2148840"/>
            <a:ext cx="1582461" cy="2011680"/>
          </a:xfrm>
          <a:prstGeom prst="rect">
            <a:avLst/>
          </a:prstGeom>
          <a:solidFill>
            <a:schemeClr val="bg2"/>
          </a:solidFill>
          <a:ln/>
        </p:spPr>
      </p:sp>
      <p:sp>
        <p:nvSpPr>
          <p:cNvPr id="9" name="Text 6"/>
          <p:cNvSpPr txBox="1"/>
          <p:nvPr/>
        </p:nvSpPr>
        <p:spPr>
          <a:xfrm>
            <a:off x="2469429" y="2286000"/>
            <a:ext cx="1308141" cy="86868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441</a:t>
            </a:r>
            <a:endParaRPr lang="en-US" sz="1400" dirty="0"/>
          </a:p>
          <a:p>
            <a:pPr algn="ctr" indent="0" marL="0">
              <a:buNone/>
            </a:pPr>
            <a:r>
              <a:rPr lang="en-US" sz="1200" dirty="0">
                <a:solidFill>
                  <a:schemeClr val="accent5"/>
                </a:solidFill>
              </a:rPr>
              <a:t>tCO₂/ha</a:t>
            </a:r>
            <a:endParaRPr lang="en-US" sz="1400" dirty="0"/>
          </a:p>
        </p:txBody>
      </p:sp>
      <p:sp>
        <p:nvSpPr>
          <p:cNvPr id="10" name="Text 7"/>
          <p:cNvSpPr txBox="1"/>
          <p:nvPr/>
        </p:nvSpPr>
        <p:spPr>
          <a:xfrm>
            <a:off x="2469429" y="3246120"/>
            <a:ext cx="1308141" cy="822960"/>
          </a:xfrm>
          <a:prstGeom prst="rect">
            <a:avLst/>
          </a:prstGeom>
          <a:noFill/>
          <a:ln/>
        </p:spPr>
        <p:txBody>
          <a:bodyPr wrap="square" lIns="0" tIns="0" rIns="0" bIns="0" rtlCol="0" anchor="t"/>
          <a:lstStyle/>
          <a:p>
            <a:pPr algn="ctr" indent="0" marL="0">
              <a:buNone/>
            </a:pPr>
            <a:r>
              <a:rPr lang="en-US" sz="1300" dirty="0">
                <a:solidFill>
                  <a:schemeClr val="tx1"/>
                </a:solidFill>
              </a:rPr>
              <a:t>Emisi biomassa saat hutan dibuka</a:t>
            </a:r>
            <a:endParaRPr lang="en-US" sz="1300" dirty="0"/>
          </a:p>
        </p:txBody>
      </p:sp>
      <p:sp>
        <p:nvSpPr>
          <p:cNvPr id="11" name="Shape 8"/>
          <p:cNvSpPr/>
          <p:nvPr/>
        </p:nvSpPr>
        <p:spPr>
          <a:xfrm>
            <a:off x="4115897" y="2148840"/>
            <a:ext cx="1582461" cy="2011680"/>
          </a:xfrm>
          <a:prstGeom prst="rect">
            <a:avLst/>
          </a:prstGeom>
          <a:solidFill>
            <a:schemeClr val="bg2"/>
          </a:solidFill>
          <a:ln/>
        </p:spPr>
      </p:sp>
      <p:sp>
        <p:nvSpPr>
          <p:cNvPr id="12" name="Text 9"/>
          <p:cNvSpPr txBox="1"/>
          <p:nvPr/>
        </p:nvSpPr>
        <p:spPr>
          <a:xfrm>
            <a:off x="4253057" y="2286000"/>
            <a:ext cx="1308141" cy="86868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+12,6</a:t>
            </a:r>
            <a:endParaRPr lang="en-US" sz="1400" dirty="0"/>
          </a:p>
          <a:p>
            <a:pPr algn="ctr" indent="0" marL="0">
              <a:buNone/>
            </a:pPr>
            <a:r>
              <a:rPr lang="en-US" sz="1200" dirty="0">
                <a:solidFill>
                  <a:schemeClr val="accent5"/>
                </a:solidFill>
              </a:rPr>
              <a:t>tCO₂/ha/thn</a:t>
            </a:r>
            <a:endParaRPr lang="en-US" sz="1400" dirty="0"/>
          </a:p>
        </p:txBody>
      </p:sp>
      <p:sp>
        <p:nvSpPr>
          <p:cNvPr id="13" name="Text 10"/>
          <p:cNvSpPr txBox="1"/>
          <p:nvPr/>
        </p:nvSpPr>
        <p:spPr>
          <a:xfrm>
            <a:off x="4253057" y="3246120"/>
            <a:ext cx="1308141" cy="822960"/>
          </a:xfrm>
          <a:prstGeom prst="rect">
            <a:avLst/>
          </a:prstGeom>
          <a:noFill/>
          <a:ln/>
        </p:spPr>
        <p:txBody>
          <a:bodyPr wrap="square" lIns="0" tIns="0" rIns="0" bIns="0" rtlCol="0" anchor="t"/>
          <a:lstStyle/>
          <a:p>
            <a:pPr algn="ctr" indent="0" marL="0">
              <a:buNone/>
            </a:pPr>
            <a:r>
              <a:rPr lang="en-US" sz="1300" dirty="0">
                <a:solidFill>
                  <a:schemeClr val="tx1"/>
                </a:solidFill>
              </a:rPr>
              <a:t>Tambahan oksidasi gambut, kumulatif</a:t>
            </a:r>
            <a:endParaRPr lang="en-US" sz="1300" dirty="0"/>
          </a:p>
        </p:txBody>
      </p:sp>
      <p:sp>
        <p:nvSpPr>
          <p:cNvPr id="14" name="Shape 11"/>
          <p:cNvSpPr/>
          <p:nvPr/>
        </p:nvSpPr>
        <p:spPr>
          <a:xfrm>
            <a:off x="5899526" y="2148840"/>
            <a:ext cx="1582461" cy="2011680"/>
          </a:xfrm>
          <a:prstGeom prst="rect">
            <a:avLst/>
          </a:prstGeom>
          <a:solidFill>
            <a:schemeClr val="bg2"/>
          </a:solidFill>
          <a:ln/>
        </p:spPr>
      </p:sp>
      <p:sp>
        <p:nvSpPr>
          <p:cNvPr id="15" name="Text 12"/>
          <p:cNvSpPr txBox="1"/>
          <p:nvPr/>
        </p:nvSpPr>
        <p:spPr>
          <a:xfrm>
            <a:off x="6036686" y="2286000"/>
            <a:ext cx="1308141" cy="86868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4.233</a:t>
            </a:r>
            <a:endParaRPr lang="en-US" sz="1400" dirty="0"/>
          </a:p>
          <a:p>
            <a:pPr algn="ctr" indent="0" marL="0">
              <a:buNone/>
            </a:pPr>
            <a:r>
              <a:rPr lang="en-US" sz="1200" dirty="0">
                <a:solidFill>
                  <a:schemeClr val="accent5"/>
                </a:solidFill>
              </a:rPr>
              <a:t>tCO₂e/thn</a:t>
            </a:r>
            <a:endParaRPr lang="en-US" sz="1400" dirty="0"/>
          </a:p>
        </p:txBody>
      </p:sp>
      <p:sp>
        <p:nvSpPr>
          <p:cNvPr id="16" name="Text 13"/>
          <p:cNvSpPr txBox="1"/>
          <p:nvPr/>
        </p:nvSpPr>
        <p:spPr>
          <a:xfrm>
            <a:off x="6036686" y="3246120"/>
            <a:ext cx="1308141" cy="822960"/>
          </a:xfrm>
          <a:prstGeom prst="rect">
            <a:avLst/>
          </a:prstGeom>
          <a:noFill/>
          <a:ln/>
        </p:spPr>
        <p:txBody>
          <a:bodyPr wrap="square" lIns="0" tIns="0" rIns="0" bIns="0" rtlCol="0" anchor="t"/>
          <a:lstStyle/>
          <a:p>
            <a:pPr algn="ctr" indent="0" marL="0">
              <a:buNone/>
            </a:pPr>
            <a:r>
              <a:rPr lang="en-US" sz="1300" dirty="0">
                <a:solidFill>
                  <a:schemeClr val="tx1"/>
                </a:solidFill>
              </a:rPr>
              <a:t>Baseline, rerata 10 tahun</a:t>
            </a:r>
            <a:endParaRPr lang="en-US" sz="1300" dirty="0"/>
          </a:p>
        </p:txBody>
      </p:sp>
      <p:sp>
        <p:nvSpPr>
          <p:cNvPr id="17" name="Shape 14"/>
          <p:cNvSpPr/>
          <p:nvPr/>
        </p:nvSpPr>
        <p:spPr>
          <a:xfrm>
            <a:off x="7683155" y="2148840"/>
            <a:ext cx="1582461" cy="2011680"/>
          </a:xfrm>
          <a:prstGeom prst="rect">
            <a:avLst/>
          </a:prstGeom>
          <a:solidFill>
            <a:schemeClr val="bg2"/>
          </a:solidFill>
          <a:ln/>
        </p:spPr>
      </p:sp>
      <p:sp>
        <p:nvSpPr>
          <p:cNvPr id="18" name="Text 15"/>
          <p:cNvSpPr txBox="1"/>
          <p:nvPr/>
        </p:nvSpPr>
        <p:spPr>
          <a:xfrm>
            <a:off x="7820315" y="2286000"/>
            <a:ext cx="1308141" cy="86868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 0,29</a:t>
            </a:r>
            <a:endParaRPr lang="en-US" sz="1400" dirty="0"/>
          </a:p>
          <a:p>
            <a:pPr algn="ctr" indent="0" marL="0">
              <a:buNone/>
            </a:pPr>
            <a:r>
              <a:rPr lang="en-US" sz="1200" dirty="0">
                <a:solidFill>
                  <a:schemeClr val="accent5"/>
                </a:solidFill>
              </a:rPr>
              <a:t> </a:t>
            </a:r>
            <a:endParaRPr lang="en-US" sz="1400" dirty="0"/>
          </a:p>
        </p:txBody>
      </p:sp>
      <p:sp>
        <p:nvSpPr>
          <p:cNvPr id="19" name="Text 16"/>
          <p:cNvSpPr txBox="1"/>
          <p:nvPr/>
        </p:nvSpPr>
        <p:spPr>
          <a:xfrm>
            <a:off x="7820315" y="3246120"/>
            <a:ext cx="1308141" cy="822960"/>
          </a:xfrm>
          <a:prstGeom prst="rect">
            <a:avLst/>
          </a:prstGeom>
          <a:noFill/>
          <a:ln/>
        </p:spPr>
        <p:txBody>
          <a:bodyPr wrap="square" lIns="0" tIns="0" rIns="0" bIns="0" rtlCol="0" anchor="t"/>
          <a:lstStyle/>
          <a:p>
            <a:pPr algn="ctr" indent="0" marL="0">
              <a:buNone/>
            </a:pPr>
            <a:r>
              <a:rPr lang="en-US" sz="1300" dirty="0">
                <a:solidFill>
                  <a:schemeClr val="tx1"/>
                </a:solidFill>
              </a:rPr>
              <a:t>Efektivitas 43% · leakage 15% · buffer 20%</a:t>
            </a:r>
            <a:endParaRPr lang="en-US" sz="1300" dirty="0"/>
          </a:p>
        </p:txBody>
      </p:sp>
      <p:sp>
        <p:nvSpPr>
          <p:cNvPr id="20" name="Shape 17"/>
          <p:cNvSpPr/>
          <p:nvPr/>
        </p:nvSpPr>
        <p:spPr>
          <a:xfrm>
            <a:off x="9466783" y="2148840"/>
            <a:ext cx="2176272" cy="2011680"/>
          </a:xfrm>
          <a:prstGeom prst="rect">
            <a:avLst/>
          </a:prstGeom>
          <a:solidFill>
            <a:schemeClr val="accent1"/>
          </a:solidFill>
          <a:ln/>
        </p:spPr>
      </p:sp>
      <p:sp>
        <p:nvSpPr>
          <p:cNvPr id="21" name="Text 18"/>
          <p:cNvSpPr txBox="1"/>
          <p:nvPr/>
        </p:nvSpPr>
        <p:spPr>
          <a:xfrm>
            <a:off x="9603943" y="2377440"/>
            <a:ext cx="1901952" cy="1463040"/>
          </a:xfrm>
          <a:prstGeom prst="rect">
            <a:avLst/>
          </a:prstGeom>
          <a:noFill/>
          <a:ln/>
        </p:spPr>
        <p:txBody>
          <a:bodyPr wrap="square" lIns="0" tIns="0" rIns="0" bIns="0" rtlCol="0" anchor="t"/>
          <a:lstStyle/>
          <a:p>
            <a:pPr algn="ctr" indent="0" marL="0">
              <a:buNone/>
            </a:pPr>
            <a:r>
              <a:rPr lang="en-US" sz="3600" b="1" dirty="0">
                <a:solidFill>
                  <a:schemeClr val="bg1"/>
                </a:solidFill>
                <a:latin typeface="Cambria" pitchFamily="34" charset="0"/>
                <a:ea typeface="Cambria" pitchFamily="34" charset="-122"/>
                <a:cs typeface="Cambria" pitchFamily="34" charset="-120"/>
              </a:rPr>
              <a:t>1.238</a:t>
            </a:r>
            <a:endParaRPr lang="en-US" sz="1400" dirty="0"/>
          </a:p>
          <a:p>
            <a:pPr algn="ctr" indent="0" marL="0">
              <a:buNone/>
            </a:pPr>
            <a:r>
              <a:rPr lang="en-US" sz="1300" dirty="0">
                <a:solidFill>
                  <a:schemeClr val="bg1"/>
                </a:solidFill>
              </a:rPr>
              <a:t>tCO₂e/thn kredit bersih</a:t>
            </a:r>
            <a:endParaRPr lang="en-US" sz="1400" dirty="0"/>
          </a:p>
        </p:txBody>
      </p:sp>
      <p:sp>
        <p:nvSpPr>
          <p:cNvPr id="22" name="Text 19"/>
          <p:cNvSpPr txBox="1"/>
          <p:nvPr/>
        </p:nvSpPr>
        <p:spPr>
          <a:xfrm>
            <a:off x="548640" y="4526280"/>
            <a:ext cx="11094415" cy="365760"/>
          </a:xfrm>
          <a:prstGeom prst="rect">
            <a:avLst/>
          </a:prstGeom>
          <a:noFill/>
          <a:ln/>
        </p:spPr>
        <p:txBody>
          <a:bodyPr wrap="square" lIns="0" tIns="0" rIns="0" bIns="0" rtlCol="0" anchor="t"/>
          <a:lstStyle/>
          <a:p>
            <a:pPr indent="0" marL="0">
              <a:buNone/>
            </a:pPr>
            <a:r>
              <a:rPr lang="en-US" sz="1400" dirty="0">
                <a:solidFill>
                  <a:schemeClr val="accent5"/>
                </a:solidFill>
              </a:rPr>
              <a:t>Belum termasuk: emisi kebakaran gambut, DOC, CH₄/N₂O. Tanpa itu, baseline sengaja konservatif.</a:t>
            </a:r>
            <a:endParaRPr lang="en-US" sz="1400" dirty="0"/>
          </a:p>
        </p:txBody>
      </p:sp>
      <p:sp>
        <p:nvSpPr>
          <p:cNvPr id="23" name="Text 20"/>
          <p:cNvSpPr txBox="1"/>
          <p:nvPr/>
        </p:nvSpPr>
        <p:spPr>
          <a:xfrm>
            <a:off x="548640" y="4983480"/>
            <a:ext cx="11094415" cy="640080"/>
          </a:xfrm>
          <a:prstGeom prst="rect">
            <a:avLst/>
          </a:prstGeom>
          <a:noFill/>
          <a:ln/>
        </p:spPr>
        <p:txBody>
          <a:bodyPr wrap="square" lIns="0" tIns="0" rIns="0" bIns="0" rtlCol="0" anchor="t"/>
          <a:lstStyle/>
          <a:p>
            <a:pPr indent="0" marL="0">
              <a:buNone/>
            </a:pPr>
            <a:r>
              <a:rPr lang="en-US" sz="1400" dirty="0">
                <a:solidFill>
                  <a:schemeClr val="accent5"/>
                </a:solidFill>
              </a:rPr>
              <a:t>Untuk registrasi Verra (VM0048), laju dan lokasi deforestasi baseline diambil dari data aktivitas yurisdiksi yang disediakan Verra, bukan dari laju proyek sendiri.</a:t>
            </a:r>
            <a:endParaRPr lang="en-US" sz="1400" dirty="0"/>
          </a:p>
        </p:txBody>
      </p:sp>
      <p:sp>
        <p:nvSpPr>
          <p:cNvPr id="24" name="Text 21"/>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Sheet Baseline_REDD, Model_Koreksi_Karbon_Gambut_Mempawah.xlsx.</a:t>
            </a:r>
            <a:endParaRPr lang="en-US" sz="1000" dirty="0"/>
          </a:p>
        </p:txBody>
      </p:sp>
      <p:sp>
        <p:nvSpPr>
          <p:cNvPr id="25" name="tutupan-hs"/>
          <p:cNvSpPr/>
          <p:nvPr/>
        </p:nvSpPr>
        <p:spPr>
          <a:xfrm>
            <a:off x="548640" y="6400800"/>
            <a:ext cx="794550" cy="91440"/>
          </a:xfrm>
          <a:prstGeom prst="rect">
            <a:avLst/>
          </a:prstGeom>
          <a:solidFill>
            <a:schemeClr val="accent1"/>
          </a:solidFill>
          <a:ln/>
        </p:spPr>
      </p:sp>
      <p:sp>
        <p:nvSpPr>
          <p:cNvPr id="26" name="tutupan-sb"/>
          <p:cNvSpPr/>
          <p:nvPr/>
        </p:nvSpPr>
        <p:spPr>
          <a:xfrm>
            <a:off x="1361478" y="6400800"/>
            <a:ext cx="342721" cy="91440"/>
          </a:xfrm>
          <a:prstGeom prst="rect">
            <a:avLst/>
          </a:prstGeom>
          <a:solidFill>
            <a:srgbClr val="DCD8D2"/>
          </a:solidFill>
          <a:ln/>
        </p:spPr>
      </p:sp>
      <p:sp>
        <p:nvSpPr>
          <p:cNvPr id="27" name="tutupan-kb"/>
          <p:cNvSpPr/>
          <p:nvPr/>
        </p:nvSpPr>
        <p:spPr>
          <a:xfrm>
            <a:off x="1722487" y="6400800"/>
            <a:ext cx="202213" cy="91440"/>
          </a:xfrm>
          <a:prstGeom prst="rect">
            <a:avLst/>
          </a:prstGeom>
          <a:solidFill>
            <a:srgbClr val="DCD8D2"/>
          </a:solidFill>
          <a:ln/>
        </p:spPr>
      </p:sp>
      <p:sp>
        <p:nvSpPr>
          <p:cNvPr id="28" name="tutupan-lt"/>
          <p:cNvSpPr/>
          <p:nvPr/>
        </p:nvSpPr>
        <p:spPr>
          <a:xfrm>
            <a:off x="1942988" y="6400800"/>
            <a:ext cx="32432" cy="91440"/>
          </a:xfrm>
          <a:prstGeom prst="rect">
            <a:avLst/>
          </a:prstGeom>
          <a:solidFill>
            <a:srgbClr val="DCD8D2"/>
          </a:solidFill>
          <a:ln/>
        </p:spPr>
      </p:sp>
      <p:sp>
        <p:nvSpPr>
          <p:cNvPr id="29" name="tutupan-sg"/>
          <p:cNvSpPr/>
          <p:nvPr/>
        </p:nvSpPr>
        <p:spPr>
          <a:xfrm>
            <a:off x="1993708" y="6400800"/>
            <a:ext cx="17972" cy="91440"/>
          </a:xfrm>
          <a:prstGeom prst="rect">
            <a:avLst/>
          </a:prstGeom>
          <a:solidFill>
            <a:srgbClr val="DCD8D2"/>
          </a:solidFill>
          <a:ln/>
        </p:spPr>
      </p:sp>
      <p:sp>
        <p:nvSpPr>
          <p:cNvPr id="30" name="Text 27"/>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Hutan sekunder 1.411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SENSITIVITAS &amp; NILAI UNTUK LPHD</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Pilihan laju deforestasi mengubah kredit 3,3 kali; nilai bagi LPHD jutaan, bukan miliaran rupiah per tahun</a:t>
            </a:r>
            <a:endParaRPr lang="en-US" sz="2800" dirty="0"/>
          </a:p>
        </p:txBody>
      </p:sp>
      <p:sp>
        <p:nvSpPr>
          <p:cNvPr id="5" name="Text 2"/>
          <p:cNvSpPr txBox="1"/>
          <p:nvPr/>
        </p:nvSpPr>
        <p:spPr>
          <a:xfrm>
            <a:off x="2834640" y="2103120"/>
            <a:ext cx="2148840" cy="320040"/>
          </a:xfrm>
          <a:prstGeom prst="rect">
            <a:avLst/>
          </a:prstGeom>
          <a:noFill/>
          <a:ln/>
        </p:spPr>
        <p:txBody>
          <a:bodyPr wrap="square" lIns="0" tIns="0" rIns="0" bIns="0" rtlCol="0" anchor="t"/>
          <a:lstStyle/>
          <a:p>
            <a:pPr algn="ctr" indent="0" marL="0">
              <a:buNone/>
            </a:pPr>
            <a:r>
              <a:rPr lang="en-US" sz="1300" b="1" dirty="0">
                <a:solidFill>
                  <a:schemeClr val="accent5"/>
                </a:solidFill>
              </a:rPr>
              <a:t>Laju 8,29 ha/thn</a:t>
            </a:r>
            <a:endParaRPr lang="en-US" sz="1300" dirty="0"/>
          </a:p>
        </p:txBody>
      </p:sp>
      <p:sp>
        <p:nvSpPr>
          <p:cNvPr id="6" name="Text 3"/>
          <p:cNvSpPr txBox="1"/>
          <p:nvPr/>
        </p:nvSpPr>
        <p:spPr>
          <a:xfrm>
            <a:off x="5074920" y="2103120"/>
            <a:ext cx="2148840" cy="320040"/>
          </a:xfrm>
          <a:prstGeom prst="rect">
            <a:avLst/>
          </a:prstGeom>
          <a:noFill/>
          <a:ln/>
        </p:spPr>
        <p:txBody>
          <a:bodyPr wrap="square" lIns="0" tIns="0" rIns="0" bIns="0" rtlCol="0" anchor="t"/>
          <a:lstStyle/>
          <a:p>
            <a:pPr algn="ctr" indent="0" marL="0">
              <a:buNone/>
            </a:pPr>
            <a:r>
              <a:rPr lang="en-US" sz="1300" b="1" dirty="0">
                <a:solidFill>
                  <a:schemeClr val="accent5"/>
                </a:solidFill>
              </a:rPr>
              <a:t>Laju 27,6 ha/thn</a:t>
            </a:r>
            <a:endParaRPr lang="en-US" sz="1300" dirty="0"/>
          </a:p>
        </p:txBody>
      </p:sp>
      <p:sp>
        <p:nvSpPr>
          <p:cNvPr id="7" name="Text 4"/>
          <p:cNvSpPr txBox="1"/>
          <p:nvPr/>
        </p:nvSpPr>
        <p:spPr>
          <a:xfrm>
            <a:off x="548640" y="2514600"/>
            <a:ext cx="2148840" cy="1005840"/>
          </a:xfrm>
          <a:prstGeom prst="rect">
            <a:avLst/>
          </a:prstGeom>
          <a:noFill/>
          <a:ln/>
        </p:spPr>
        <p:txBody>
          <a:bodyPr wrap="square" lIns="0" tIns="0" rIns="0" bIns="0" rtlCol="0" anchor="ctr"/>
          <a:lstStyle/>
          <a:p>
            <a:pPr indent="0" marL="0">
              <a:buNone/>
            </a:pPr>
            <a:r>
              <a:rPr lang="en-US" sz="1300" b="1" dirty="0">
                <a:solidFill>
                  <a:schemeClr val="accent5"/>
                </a:solidFill>
              </a:rPr>
              <a:t>Stok hutan 135,1 tC/ha</a:t>
            </a:r>
            <a:endParaRPr lang="en-US" sz="1300" dirty="0"/>
          </a:p>
        </p:txBody>
      </p:sp>
      <p:sp>
        <p:nvSpPr>
          <p:cNvPr id="8" name="Shape 5"/>
          <p:cNvSpPr/>
          <p:nvPr/>
        </p:nvSpPr>
        <p:spPr>
          <a:xfrm>
            <a:off x="2834640" y="2514600"/>
            <a:ext cx="2148840" cy="1005840"/>
          </a:xfrm>
          <a:prstGeom prst="rect">
            <a:avLst/>
          </a:prstGeom>
          <a:solidFill>
            <a:schemeClr val="accent1"/>
          </a:solidFill>
          <a:ln/>
        </p:spPr>
      </p:sp>
      <p:sp>
        <p:nvSpPr>
          <p:cNvPr id="9" name="Text 6"/>
          <p:cNvSpPr txBox="1"/>
          <p:nvPr/>
        </p:nvSpPr>
        <p:spPr>
          <a:xfrm>
            <a:off x="2834640" y="2651760"/>
            <a:ext cx="2148840" cy="822960"/>
          </a:xfrm>
          <a:prstGeom prst="rect">
            <a:avLst/>
          </a:prstGeom>
          <a:noFill/>
          <a:ln/>
        </p:spPr>
        <p:txBody>
          <a:bodyPr wrap="square" lIns="0" tIns="0" rIns="0" bIns="0" rtlCol="0" anchor="t"/>
          <a:lstStyle/>
          <a:p>
            <a:pPr algn="ctr" indent="0" marL="0">
              <a:buNone/>
            </a:pPr>
            <a:r>
              <a:rPr lang="en-US" sz="2800" b="1" dirty="0">
                <a:solidFill>
                  <a:schemeClr val="bg1"/>
                </a:solidFill>
                <a:latin typeface="Cambria" pitchFamily="34" charset="0"/>
                <a:ea typeface="Cambria" pitchFamily="34" charset="-122"/>
                <a:cs typeface="Cambria" pitchFamily="34" charset="-120"/>
              </a:rPr>
              <a:t>1.238</a:t>
            </a:r>
            <a:endParaRPr lang="en-US" sz="1400" dirty="0"/>
          </a:p>
          <a:p>
            <a:pPr algn="ctr" indent="0" marL="0">
              <a:buNone/>
            </a:pPr>
            <a:r>
              <a:rPr lang="en-US" sz="1200" dirty="0">
                <a:solidFill>
                  <a:schemeClr val="bg1"/>
                </a:solidFill>
              </a:rPr>
              <a:t>tCO₂e/thn</a:t>
            </a:r>
            <a:endParaRPr lang="en-US" sz="1400" dirty="0"/>
          </a:p>
        </p:txBody>
      </p:sp>
      <p:sp>
        <p:nvSpPr>
          <p:cNvPr id="10" name="Shape 7"/>
          <p:cNvSpPr/>
          <p:nvPr/>
        </p:nvSpPr>
        <p:spPr>
          <a:xfrm>
            <a:off x="5074920" y="2514600"/>
            <a:ext cx="2148840" cy="1005840"/>
          </a:xfrm>
          <a:prstGeom prst="rect">
            <a:avLst/>
          </a:prstGeom>
          <a:solidFill>
            <a:schemeClr val="bg2"/>
          </a:solidFill>
          <a:ln/>
        </p:spPr>
      </p:sp>
      <p:sp>
        <p:nvSpPr>
          <p:cNvPr id="11" name="Text 8"/>
          <p:cNvSpPr txBox="1"/>
          <p:nvPr/>
        </p:nvSpPr>
        <p:spPr>
          <a:xfrm>
            <a:off x="5074920" y="2651760"/>
            <a:ext cx="2148840" cy="82296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4.126</a:t>
            </a:r>
            <a:endParaRPr lang="en-US" sz="1400" dirty="0"/>
          </a:p>
          <a:p>
            <a:pPr algn="ctr" indent="0" marL="0">
              <a:buNone/>
            </a:pPr>
            <a:r>
              <a:rPr lang="en-US" sz="1200" dirty="0">
                <a:solidFill>
                  <a:schemeClr val="accent5"/>
                </a:solidFill>
              </a:rPr>
              <a:t>tCO₂e/thn</a:t>
            </a:r>
            <a:endParaRPr lang="en-US" sz="1400" dirty="0"/>
          </a:p>
        </p:txBody>
      </p:sp>
      <p:sp>
        <p:nvSpPr>
          <p:cNvPr id="12" name="Text 9"/>
          <p:cNvSpPr txBox="1"/>
          <p:nvPr/>
        </p:nvSpPr>
        <p:spPr>
          <a:xfrm>
            <a:off x="548640" y="3611880"/>
            <a:ext cx="2148840" cy="1005840"/>
          </a:xfrm>
          <a:prstGeom prst="rect">
            <a:avLst/>
          </a:prstGeom>
          <a:noFill/>
          <a:ln/>
        </p:spPr>
        <p:txBody>
          <a:bodyPr wrap="square" lIns="0" tIns="0" rIns="0" bIns="0" rtlCol="0" anchor="ctr"/>
          <a:lstStyle/>
          <a:p>
            <a:pPr indent="0" marL="0">
              <a:buNone/>
            </a:pPr>
            <a:r>
              <a:rPr lang="en-US" sz="1300" b="1" dirty="0">
                <a:solidFill>
                  <a:schemeClr val="accent5"/>
                </a:solidFill>
              </a:rPr>
              <a:t>Stok hutan 79,7 tC/ha</a:t>
            </a:r>
            <a:endParaRPr lang="en-US" sz="1300" dirty="0"/>
          </a:p>
        </p:txBody>
      </p:sp>
      <p:sp>
        <p:nvSpPr>
          <p:cNvPr id="13" name="Shape 10"/>
          <p:cNvSpPr/>
          <p:nvPr/>
        </p:nvSpPr>
        <p:spPr>
          <a:xfrm>
            <a:off x="2834640" y="3611880"/>
            <a:ext cx="2148840" cy="1005840"/>
          </a:xfrm>
          <a:prstGeom prst="rect">
            <a:avLst/>
          </a:prstGeom>
          <a:solidFill>
            <a:schemeClr val="bg2"/>
          </a:solidFill>
          <a:ln/>
        </p:spPr>
      </p:sp>
      <p:sp>
        <p:nvSpPr>
          <p:cNvPr id="14" name="Text 11"/>
          <p:cNvSpPr txBox="1"/>
          <p:nvPr/>
        </p:nvSpPr>
        <p:spPr>
          <a:xfrm>
            <a:off x="2834640" y="3749040"/>
            <a:ext cx="2148840" cy="82296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745</a:t>
            </a:r>
            <a:endParaRPr lang="en-US" sz="1400" dirty="0"/>
          </a:p>
          <a:p>
            <a:pPr algn="ctr" indent="0" marL="0">
              <a:buNone/>
            </a:pPr>
            <a:r>
              <a:rPr lang="en-US" sz="1200" dirty="0">
                <a:solidFill>
                  <a:schemeClr val="accent5"/>
                </a:solidFill>
              </a:rPr>
              <a:t>tCO₂e/thn</a:t>
            </a:r>
            <a:endParaRPr lang="en-US" sz="1400" dirty="0"/>
          </a:p>
        </p:txBody>
      </p:sp>
      <p:sp>
        <p:nvSpPr>
          <p:cNvPr id="15" name="Shape 12"/>
          <p:cNvSpPr/>
          <p:nvPr/>
        </p:nvSpPr>
        <p:spPr>
          <a:xfrm>
            <a:off x="5074920" y="3611880"/>
            <a:ext cx="2148840" cy="1005840"/>
          </a:xfrm>
          <a:prstGeom prst="rect">
            <a:avLst/>
          </a:prstGeom>
          <a:solidFill>
            <a:schemeClr val="bg2"/>
          </a:solidFill>
          <a:ln/>
        </p:spPr>
      </p:sp>
      <p:sp>
        <p:nvSpPr>
          <p:cNvPr id="16" name="Text 13"/>
          <p:cNvSpPr txBox="1"/>
          <p:nvPr/>
        </p:nvSpPr>
        <p:spPr>
          <a:xfrm>
            <a:off x="5074920" y="3749040"/>
            <a:ext cx="2148840" cy="822960"/>
          </a:xfrm>
          <a:prstGeom prst="rect">
            <a:avLst/>
          </a:prstGeom>
          <a:noFill/>
          <a:ln/>
        </p:spPr>
        <p:txBody>
          <a:bodyPr wrap="square" lIns="0" tIns="0" rIns="0" bIns="0" rtlCol="0" anchor="t"/>
          <a:lstStyle/>
          <a:p>
            <a:pPr algn="ctr" indent="0" marL="0">
              <a:buNone/>
            </a:pPr>
            <a:r>
              <a:rPr lang="en-US" sz="2800" b="1" dirty="0">
                <a:solidFill>
                  <a:schemeClr val="tx1"/>
                </a:solidFill>
                <a:latin typeface="Cambria" pitchFamily="34" charset="0"/>
                <a:ea typeface="Cambria" pitchFamily="34" charset="-122"/>
                <a:cs typeface="Cambria" pitchFamily="34" charset="-120"/>
              </a:rPr>
              <a:t>2.483</a:t>
            </a:r>
            <a:endParaRPr lang="en-US" sz="1400" dirty="0"/>
          </a:p>
          <a:p>
            <a:pPr algn="ctr" indent="0" marL="0">
              <a:buNone/>
            </a:pPr>
            <a:r>
              <a:rPr lang="en-US" sz="1200" dirty="0">
                <a:solidFill>
                  <a:schemeClr val="accent5"/>
                </a:solidFill>
              </a:rPr>
              <a:t>tCO₂e/thn</a:t>
            </a:r>
            <a:endParaRPr lang="en-US" sz="1400" dirty="0"/>
          </a:p>
        </p:txBody>
      </p:sp>
      <p:sp>
        <p:nvSpPr>
          <p:cNvPr id="17" name="Text 14"/>
          <p:cNvSpPr txBox="1"/>
          <p:nvPr/>
        </p:nvSpPr>
        <p:spPr>
          <a:xfrm>
            <a:off x="548640" y="4754880"/>
            <a:ext cx="6858000" cy="274320"/>
          </a:xfrm>
          <a:prstGeom prst="rect">
            <a:avLst/>
          </a:prstGeom>
          <a:noFill/>
          <a:ln/>
        </p:spPr>
        <p:txBody>
          <a:bodyPr wrap="square" lIns="0" tIns="0" rIns="0" bIns="0" rtlCol="0" anchor="t"/>
          <a:lstStyle/>
          <a:p>
            <a:pPr indent="0" marL="0">
              <a:buNone/>
            </a:pPr>
            <a:r>
              <a:rPr lang="en-US" sz="1200" dirty="0">
                <a:solidFill>
                  <a:schemeClr val="accent5"/>
                </a:solidFill>
              </a:rPr>
              <a:t>Kotak hijau = asumsi dasar model koreksi.</a:t>
            </a:r>
            <a:endParaRPr lang="en-US" sz="1200" dirty="0"/>
          </a:p>
        </p:txBody>
      </p:sp>
      <p:sp>
        <p:nvSpPr>
          <p:cNvPr id="18" name="Text 15"/>
          <p:cNvSpPr txBox="1"/>
          <p:nvPr/>
        </p:nvSpPr>
        <p:spPr>
          <a:xfrm>
            <a:off x="7589520" y="2103120"/>
            <a:ext cx="4053535"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PORSI LPHD (60%), RP JUTA PER TAHUN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2468880"/>
          <a:ext cx="4053535" cy="914400"/>
        </p:xfrm>
        <a:graphic>
          <a:graphicData uri="http://schemas.openxmlformats.org/drawingml/2006/table">
            <a:tbl>
              <a:tblPr/>
              <a:tblGrid>
                <a:gridCol w="1554480"/>
                <a:gridCol w="1261872"/>
                <a:gridCol w="1234440"/>
              </a:tblGrid>
              <a:tr h="438912">
                <a:tc>
                  <a:txBody>
                    <a:bodyPr/>
                    <a:lstStyle/>
                    <a:p>
                      <a:pPr indent="0" marL="0">
                        <a:buNone/>
                      </a:pPr>
                      <a:r>
                        <a:rPr lang="en-US" sz="1200" b="1" dirty="0">
                          <a:solidFill>
                            <a:srgbClr val="6B655E"/>
                          </a:solidFill>
                          <a:latin typeface="Calibri" pitchFamily="34" charset="0"/>
                          <a:ea typeface="Calibri" pitchFamily="34" charset="-122"/>
                          <a:cs typeface="Calibri" pitchFamily="34" charset="-120"/>
                        </a:rPr>
                        <a:t>Harga</a:t>
                      </a:r>
                      <a:endParaRPr lang="en-US" sz="12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200" b="1" dirty="0">
                          <a:solidFill>
                            <a:srgbClr val="6B655E"/>
                          </a:solidFill>
                          <a:latin typeface="Calibri" pitchFamily="34" charset="0"/>
                          <a:ea typeface="Calibri" pitchFamily="34" charset="-122"/>
                          <a:cs typeface="Calibri" pitchFamily="34" charset="-120"/>
                        </a:rPr>
                        <a:t>Konservatif</a:t>
                      </a:r>
                      <a:endParaRPr lang="en-US" sz="12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200" b="1" dirty="0">
                          <a:solidFill>
                            <a:srgbClr val="6B655E"/>
                          </a:solidFill>
                          <a:latin typeface="Calibri" pitchFamily="34" charset="0"/>
                          <a:ea typeface="Calibri" pitchFamily="34" charset="-122"/>
                          <a:cs typeface="Calibri" pitchFamily="34" charset="-120"/>
                        </a:rPr>
                        <a:t>Laju 2021–26</a:t>
                      </a:r>
                      <a:endParaRPr lang="en-US" sz="12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38912">
                <a:tc>
                  <a:txBody>
                    <a:bodyPr/>
                    <a:lstStyle/>
                    <a:p>
                      <a:pPr indent="0" marL="0">
                        <a:buNone/>
                      </a:pPr>
                      <a:r>
                        <a:rPr lang="en-US" sz="1500" dirty="0">
                          <a:solidFill>
                            <a:srgbClr val="1E1C19"/>
                          </a:solidFill>
                          <a:latin typeface="Calibri" pitchFamily="34" charset="0"/>
                          <a:ea typeface="Calibri" pitchFamily="34" charset="-122"/>
                          <a:cs typeface="Calibri" pitchFamily="34" charset="-120"/>
                        </a:rPr>
                        <a:t>USD 5</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500" dirty="0">
                          <a:solidFill>
                            <a:srgbClr val="1E1C19"/>
                          </a:solidFill>
                          <a:latin typeface="Calibri" pitchFamily="34" charset="0"/>
                          <a:ea typeface="Calibri" pitchFamily="34" charset="-122"/>
                          <a:cs typeface="Calibri" pitchFamily="34" charset="-120"/>
                        </a:rPr>
                        <a:t>59</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500" dirty="0">
                          <a:solidFill>
                            <a:srgbClr val="1E1C19"/>
                          </a:solidFill>
                          <a:latin typeface="Calibri" pitchFamily="34" charset="0"/>
                          <a:ea typeface="Calibri" pitchFamily="34" charset="-122"/>
                          <a:cs typeface="Calibri" pitchFamily="34" charset="-120"/>
                        </a:rPr>
                        <a:t>198</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38912">
                <a:tc>
                  <a:txBody>
                    <a:bodyPr/>
                    <a:lstStyle/>
                    <a:p>
                      <a:pPr indent="0" marL="0">
                        <a:buNone/>
                      </a:pPr>
                      <a:r>
                        <a:rPr lang="en-US" sz="1500" dirty="0">
                          <a:solidFill>
                            <a:srgbClr val="1E1C19"/>
                          </a:solidFill>
                          <a:latin typeface="Calibri" pitchFamily="34" charset="0"/>
                          <a:ea typeface="Calibri" pitchFamily="34" charset="-122"/>
                          <a:cs typeface="Calibri" pitchFamily="34" charset="-120"/>
                        </a:rPr>
                        <a:t>USD 10</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500" dirty="0">
                          <a:solidFill>
                            <a:srgbClr val="1E1C19"/>
                          </a:solidFill>
                          <a:latin typeface="Calibri" pitchFamily="34" charset="0"/>
                          <a:ea typeface="Calibri" pitchFamily="34" charset="-122"/>
                          <a:cs typeface="Calibri" pitchFamily="34" charset="-120"/>
                        </a:rPr>
                        <a:t>119</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500" dirty="0">
                          <a:solidFill>
                            <a:srgbClr val="1E1C19"/>
                          </a:solidFill>
                          <a:latin typeface="Calibri" pitchFamily="34" charset="0"/>
                          <a:ea typeface="Calibri" pitchFamily="34" charset="-122"/>
                          <a:cs typeface="Calibri" pitchFamily="34" charset="-120"/>
                        </a:rPr>
                        <a:t>396</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38912">
                <a:tc>
                  <a:txBody>
                    <a:bodyPr/>
                    <a:lstStyle/>
                    <a:p>
                      <a:pPr indent="0" marL="0">
                        <a:buNone/>
                      </a:pPr>
                      <a:r>
                        <a:rPr lang="en-US" sz="1500" dirty="0">
                          <a:solidFill>
                            <a:srgbClr val="1E1C19"/>
                          </a:solidFill>
                          <a:latin typeface="Calibri" pitchFamily="34" charset="0"/>
                          <a:ea typeface="Calibri" pitchFamily="34" charset="-122"/>
                          <a:cs typeface="Calibri" pitchFamily="34" charset="-120"/>
                        </a:rPr>
                        <a:t>USD 15</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500" dirty="0">
                          <a:solidFill>
                            <a:srgbClr val="1E1C19"/>
                          </a:solidFill>
                          <a:latin typeface="Calibri" pitchFamily="34" charset="0"/>
                          <a:ea typeface="Calibri" pitchFamily="34" charset="-122"/>
                          <a:cs typeface="Calibri" pitchFamily="34" charset="-120"/>
                        </a:rPr>
                        <a:t>178</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500" dirty="0">
                          <a:solidFill>
                            <a:srgbClr val="1E1C19"/>
                          </a:solidFill>
                          <a:latin typeface="Calibri" pitchFamily="34" charset="0"/>
                          <a:ea typeface="Calibri" pitchFamily="34" charset="-122"/>
                          <a:cs typeface="Calibri" pitchFamily="34" charset="-120"/>
                        </a:rPr>
                        <a:t>594</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38912">
                <a:tc>
                  <a:txBody>
                    <a:bodyPr/>
                    <a:lstStyle/>
                    <a:p>
                      <a:pPr indent="0" marL="0">
                        <a:buNone/>
                      </a:pPr>
                      <a:r>
                        <a:rPr lang="en-US" sz="1500" dirty="0">
                          <a:solidFill>
                            <a:srgbClr val="B23A2E"/>
                          </a:solidFill>
                          <a:latin typeface="Calibri" pitchFamily="34" charset="0"/>
                          <a:ea typeface="Calibri" pitchFamily="34" charset="-122"/>
                          <a:cs typeface="Calibri" pitchFamily="34" charset="-120"/>
                        </a:rPr>
                        <a:t>File asal, USD 15</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algn="r" indent="0" marL="0">
                        <a:buNone/>
                      </a:pPr>
                      <a:r>
                        <a:rPr lang="en-US" sz="1500" b="1" dirty="0">
                          <a:solidFill>
                            <a:srgbClr val="B23A2E"/>
                          </a:solidFill>
                          <a:latin typeface="Calibri" pitchFamily="34" charset="0"/>
                          <a:ea typeface="Calibri" pitchFamily="34" charset="-122"/>
                          <a:cs typeface="Calibri" pitchFamily="34" charset="-120"/>
                        </a:rPr>
                        <a:t>±3.750</a:t>
                      </a: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endParaRPr lang="en-US" sz="1500" dirty="0">
                        <a:latin typeface="Calibri" charset="0"/>
                        <a:ea typeface="Calibri" charset="0"/>
                        <a:cs typeface="Calibri" charset="0"/>
                      </a:endParaRPr>
                    </a:p>
                  </a:txBody>
                  <a:tcPr marL="73152" marR="73152" marT="36576" marB="36576"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bl>
          </a:graphicData>
        </a:graphic>
      </p:graphicFrame>
      <p:sp>
        <p:nvSpPr>
          <p:cNvPr id="20" name="Text 16"/>
          <p:cNvSpPr txBox="1"/>
          <p:nvPr/>
        </p:nvSpPr>
        <p:spPr>
          <a:xfrm>
            <a:off x="7589520" y="4846320"/>
            <a:ext cx="4053535" cy="640080"/>
          </a:xfrm>
          <a:prstGeom prst="rect">
            <a:avLst/>
          </a:prstGeom>
          <a:noFill/>
          <a:ln/>
        </p:spPr>
        <p:txBody>
          <a:bodyPr wrap="square" lIns="0" tIns="0" rIns="0" bIns="0" rtlCol="0" anchor="t"/>
          <a:lstStyle/>
          <a:p>
            <a:pPr indent="0" marL="0">
              <a:buNone/>
            </a:pPr>
            <a:r>
              <a:rPr lang="en-US" sz="1300" dirty="0">
                <a:solidFill>
                  <a:schemeClr val="accent5"/>
                </a:solidFill>
              </a:rPr>
              <a:t>Kurs Rp 16.000/USD diseragamkan; USD 15 adalah skenario atas untuk REDD+.</a:t>
            </a:r>
            <a:endParaRPr lang="en-US" sz="1300" dirty="0"/>
          </a:p>
        </p:txBody>
      </p:sp>
      <p:sp>
        <p:nvSpPr>
          <p:cNvPr id="21" name="Text 17"/>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Sheet Sensitivitas &amp; Baseline_REDD (model koreksi).</a:t>
            </a:r>
            <a:endParaRPr lang="en-US" sz="1000" dirty="0"/>
          </a:p>
        </p:txBody>
      </p:sp>
      <p:sp>
        <p:nvSpPr>
          <p:cNvPr id="22" name="tutupan-hs"/>
          <p:cNvSpPr/>
          <p:nvPr/>
        </p:nvSpPr>
        <p:spPr>
          <a:xfrm>
            <a:off x="548640" y="6400800"/>
            <a:ext cx="794550" cy="91440"/>
          </a:xfrm>
          <a:prstGeom prst="rect">
            <a:avLst/>
          </a:prstGeom>
          <a:solidFill>
            <a:schemeClr val="accent1"/>
          </a:solidFill>
          <a:ln/>
        </p:spPr>
      </p:sp>
      <p:sp>
        <p:nvSpPr>
          <p:cNvPr id="23" name="tutupan-sb"/>
          <p:cNvSpPr/>
          <p:nvPr/>
        </p:nvSpPr>
        <p:spPr>
          <a:xfrm>
            <a:off x="1361478" y="6400800"/>
            <a:ext cx="342721" cy="91440"/>
          </a:xfrm>
          <a:prstGeom prst="rect">
            <a:avLst/>
          </a:prstGeom>
          <a:solidFill>
            <a:srgbClr val="DCD8D2"/>
          </a:solidFill>
          <a:ln/>
        </p:spPr>
      </p:sp>
      <p:sp>
        <p:nvSpPr>
          <p:cNvPr id="24" name="tutupan-kb"/>
          <p:cNvSpPr/>
          <p:nvPr/>
        </p:nvSpPr>
        <p:spPr>
          <a:xfrm>
            <a:off x="1722487" y="6400800"/>
            <a:ext cx="202213" cy="91440"/>
          </a:xfrm>
          <a:prstGeom prst="rect">
            <a:avLst/>
          </a:prstGeom>
          <a:solidFill>
            <a:srgbClr val="DCD8D2"/>
          </a:solidFill>
          <a:ln/>
        </p:spPr>
      </p:sp>
      <p:sp>
        <p:nvSpPr>
          <p:cNvPr id="25" name="tutupan-lt"/>
          <p:cNvSpPr/>
          <p:nvPr/>
        </p:nvSpPr>
        <p:spPr>
          <a:xfrm>
            <a:off x="1942988" y="6400800"/>
            <a:ext cx="32432" cy="91440"/>
          </a:xfrm>
          <a:prstGeom prst="rect">
            <a:avLst/>
          </a:prstGeom>
          <a:solidFill>
            <a:srgbClr val="DCD8D2"/>
          </a:solidFill>
          <a:ln/>
        </p:spPr>
      </p:sp>
      <p:sp>
        <p:nvSpPr>
          <p:cNvPr id="26" name="tutupan-sg"/>
          <p:cNvSpPr/>
          <p:nvPr/>
        </p:nvSpPr>
        <p:spPr>
          <a:xfrm>
            <a:off x="1993708" y="6400800"/>
            <a:ext cx="17972" cy="91440"/>
          </a:xfrm>
          <a:prstGeom prst="rect">
            <a:avLst/>
          </a:prstGeom>
          <a:solidFill>
            <a:srgbClr val="DCD8D2"/>
          </a:solidFill>
          <a:ln/>
        </p:spPr>
      </p:sp>
      <p:sp>
        <p:nvSpPr>
          <p:cNvPr id="27" name="Text 23"/>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Hutan sekunder 1.411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ADDITIONALITY</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Titik terlemah additionality adalah hukum: gambut lindung memang sudah dilarang dibuka</a:t>
            </a:r>
            <a:endParaRPr lang="en-US" sz="2800" dirty="0"/>
          </a:p>
        </p:txBody>
      </p:sp>
      <p:sp>
        <p:nvSpPr>
          <p:cNvPr id="5" name="Text 2"/>
          <p:cNvSpPr txBox="1"/>
          <p:nvPr/>
        </p:nvSpPr>
        <p:spPr>
          <a:xfrm>
            <a:off x="1188720" y="1920240"/>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UJI</a:t>
            </a:r>
            <a:endParaRPr lang="en-US" sz="1200" dirty="0"/>
          </a:p>
        </p:txBody>
      </p:sp>
      <p:sp>
        <p:nvSpPr>
          <p:cNvPr id="6" name="Text 3"/>
          <p:cNvSpPr txBox="1"/>
          <p:nvPr/>
        </p:nvSpPr>
        <p:spPr>
          <a:xfrm>
            <a:off x="4754880" y="1920240"/>
            <a:ext cx="274320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MENGAPA</a:t>
            </a:r>
            <a:endParaRPr lang="en-US" sz="1200" dirty="0"/>
          </a:p>
        </p:txBody>
      </p:sp>
      <p:sp>
        <p:nvSpPr>
          <p:cNvPr id="7" name="Text 4"/>
          <p:cNvSpPr txBox="1"/>
          <p:nvPr/>
        </p:nvSpPr>
        <p:spPr>
          <a:xfrm>
            <a:off x="8229600" y="1920240"/>
            <a:ext cx="33832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BUKTI YANG DIPERLUKAN</a:t>
            </a:r>
            <a:endParaRPr lang="en-US" sz="1200" dirty="0"/>
          </a:p>
        </p:txBody>
      </p:sp>
      <p:sp>
        <p:nvSpPr>
          <p:cNvPr id="8" name="Shape 5"/>
          <p:cNvSpPr/>
          <p:nvPr/>
        </p:nvSpPr>
        <p:spPr>
          <a:xfrm>
            <a:off x="548640" y="2240280"/>
            <a:ext cx="11094415" cy="0"/>
          </a:xfrm>
          <a:prstGeom prst="line">
            <a:avLst/>
          </a:prstGeom>
          <a:noFill/>
          <a:ln w="9525">
            <a:solidFill>
              <a:srgbClr val="333333"/>
            </a:solidFill>
            <a:prstDash val="solid"/>
          </a:ln>
        </p:spPr>
      </p:sp>
      <p:sp>
        <p:nvSpPr>
          <p:cNvPr id="9" name="Text 6"/>
          <p:cNvSpPr txBox="1"/>
          <p:nvPr/>
        </p:nvSpPr>
        <p:spPr>
          <a:xfrm>
            <a:off x="548640" y="2331720"/>
            <a:ext cx="548640" cy="640080"/>
          </a:xfrm>
          <a:prstGeom prst="rect">
            <a:avLst/>
          </a:prstGeom>
          <a:noFill/>
          <a:ln/>
        </p:spPr>
        <p:txBody>
          <a:bodyPr wrap="square" lIns="0" tIns="0" rIns="0" bIns="0" rtlCol="0" anchor="t"/>
          <a:lstStyle/>
          <a:p>
            <a:pPr indent="0" marL="0">
              <a:buNone/>
            </a:pPr>
            <a:r>
              <a:rPr lang="en-US" sz="3200" b="1" dirty="0">
                <a:solidFill>
                  <a:schemeClr val="accent4"/>
                </a:solidFill>
                <a:latin typeface="Cambria" pitchFamily="34" charset="0"/>
                <a:ea typeface="Cambria" pitchFamily="34" charset="-122"/>
                <a:cs typeface="Cambria" pitchFamily="34" charset="-120"/>
              </a:rPr>
              <a:t>1</a:t>
            </a:r>
            <a:endParaRPr lang="en-US" sz="3200" dirty="0"/>
          </a:p>
        </p:txBody>
      </p:sp>
      <p:sp>
        <p:nvSpPr>
          <p:cNvPr id="10" name="Text 7"/>
          <p:cNvSpPr txBox="1"/>
          <p:nvPr/>
        </p:nvSpPr>
        <p:spPr>
          <a:xfrm>
            <a:off x="1188720" y="2331720"/>
            <a:ext cx="3291840" cy="365760"/>
          </a:xfrm>
          <a:prstGeom prst="rect">
            <a:avLst/>
          </a:prstGeom>
          <a:noFill/>
          <a:ln/>
        </p:spPr>
        <p:txBody>
          <a:bodyPr wrap="square" lIns="0" tIns="0" rIns="0" bIns="0" rtlCol="0" anchor="t"/>
          <a:lstStyle/>
          <a:p>
            <a:pPr indent="0" marL="0">
              <a:buNone/>
            </a:pPr>
            <a:r>
              <a:rPr lang="en-US" sz="1600" b="1" dirty="0">
                <a:solidFill>
                  <a:schemeClr val="tx1"/>
                </a:solidFill>
              </a:rPr>
              <a:t>Regulatory surplus</a:t>
            </a:r>
            <a:endParaRPr lang="en-US" sz="1600" dirty="0"/>
          </a:p>
        </p:txBody>
      </p:sp>
      <p:sp>
        <p:nvSpPr>
          <p:cNvPr id="11" name="Shape 8"/>
          <p:cNvSpPr/>
          <p:nvPr/>
        </p:nvSpPr>
        <p:spPr>
          <a:xfrm>
            <a:off x="1188720" y="2788920"/>
            <a:ext cx="1463040" cy="310896"/>
          </a:xfrm>
          <a:prstGeom prst="roundRect">
            <a:avLst>
              <a:gd name="adj" fmla="val 50000"/>
            </a:avLst>
          </a:prstGeom>
          <a:solidFill>
            <a:schemeClr val="accent4"/>
          </a:solidFill>
          <a:ln/>
        </p:spPr>
      </p:sp>
      <p:sp>
        <p:nvSpPr>
          <p:cNvPr id="12" name="Text 9"/>
          <p:cNvSpPr txBox="1"/>
          <p:nvPr/>
        </p:nvSpPr>
        <p:spPr>
          <a:xfrm>
            <a:off x="1188720" y="278892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RAWAN</a:t>
            </a:r>
            <a:endParaRPr lang="en-US" sz="1100" dirty="0"/>
          </a:p>
        </p:txBody>
      </p:sp>
      <p:sp>
        <p:nvSpPr>
          <p:cNvPr id="13" name="Text 10"/>
          <p:cNvSpPr txBox="1"/>
          <p:nvPr/>
        </p:nvSpPr>
        <p:spPr>
          <a:xfrm>
            <a:off x="4754880" y="2331720"/>
            <a:ext cx="3246120" cy="1051560"/>
          </a:xfrm>
          <a:prstGeom prst="rect">
            <a:avLst/>
          </a:prstGeom>
          <a:noFill/>
          <a:ln/>
        </p:spPr>
        <p:txBody>
          <a:bodyPr wrap="square" lIns="0" tIns="0" rIns="0" bIns="0" rtlCol="0" anchor="t"/>
          <a:lstStyle/>
          <a:p>
            <a:pPr indent="0" marL="0">
              <a:buNone/>
            </a:pPr>
            <a:r>
              <a:rPr lang="en-US" sz="1400" dirty="0">
                <a:solidFill>
                  <a:schemeClr val="tx1"/>
                </a:solidFill>
              </a:rPr>
              <a:t>Fungsi lindung EG sudah melarang pembukaan dan drainase. Buktikan larangan tidak ditegakkan.</a:t>
            </a:r>
            <a:endParaRPr lang="en-US" sz="1400" dirty="0"/>
          </a:p>
        </p:txBody>
      </p:sp>
      <p:sp>
        <p:nvSpPr>
          <p:cNvPr id="14" name="Text 11"/>
          <p:cNvSpPr txBox="1"/>
          <p:nvPr/>
        </p:nvSpPr>
        <p:spPr>
          <a:xfrm>
            <a:off x="8229600" y="2331720"/>
            <a:ext cx="3413455" cy="1051560"/>
          </a:xfrm>
          <a:prstGeom prst="rect">
            <a:avLst/>
          </a:prstGeom>
          <a:noFill/>
          <a:ln/>
        </p:spPr>
        <p:txBody>
          <a:bodyPr wrap="square" lIns="0" tIns="0" rIns="0" bIns="0" rtlCol="0" anchor="t"/>
          <a:lstStyle/>
          <a:p>
            <a:pPr indent="0" marL="0">
              <a:buNone/>
            </a:pPr>
            <a:r>
              <a:rPr lang="en-US" sz="1400" dirty="0">
                <a:solidFill>
                  <a:schemeClr val="accent5"/>
                </a:solidFill>
              </a:rPr>
              <a:t>Data sendiri: hutan −138 ha, kebun 26→359 ha. Tambah hotspot, catatan penegakan, laju di luar proyek.</a:t>
            </a:r>
            <a:endParaRPr lang="en-US" sz="1400" dirty="0"/>
          </a:p>
        </p:txBody>
      </p:sp>
      <p:sp>
        <p:nvSpPr>
          <p:cNvPr id="15" name="Shape 12"/>
          <p:cNvSpPr/>
          <p:nvPr/>
        </p:nvSpPr>
        <p:spPr>
          <a:xfrm>
            <a:off x="548640" y="3337560"/>
            <a:ext cx="11094415" cy="0"/>
          </a:xfrm>
          <a:prstGeom prst="line">
            <a:avLst/>
          </a:prstGeom>
          <a:noFill/>
          <a:ln w="9525">
            <a:solidFill>
              <a:srgbClr val="333333"/>
            </a:solidFill>
            <a:prstDash val="solid"/>
          </a:ln>
        </p:spPr>
      </p:sp>
      <p:sp>
        <p:nvSpPr>
          <p:cNvPr id="16" name="Text 13"/>
          <p:cNvSpPr txBox="1"/>
          <p:nvPr/>
        </p:nvSpPr>
        <p:spPr>
          <a:xfrm>
            <a:off x="548640" y="3429000"/>
            <a:ext cx="548640" cy="64008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2</a:t>
            </a:r>
            <a:endParaRPr lang="en-US" sz="3200" dirty="0"/>
          </a:p>
        </p:txBody>
      </p:sp>
      <p:sp>
        <p:nvSpPr>
          <p:cNvPr id="17" name="Text 14"/>
          <p:cNvSpPr txBox="1"/>
          <p:nvPr/>
        </p:nvSpPr>
        <p:spPr>
          <a:xfrm>
            <a:off x="1188720" y="3429000"/>
            <a:ext cx="3291840" cy="365760"/>
          </a:xfrm>
          <a:prstGeom prst="rect">
            <a:avLst/>
          </a:prstGeom>
          <a:noFill/>
          <a:ln/>
        </p:spPr>
        <p:txBody>
          <a:bodyPr wrap="square" lIns="0" tIns="0" rIns="0" bIns="0" rtlCol="0" anchor="t"/>
          <a:lstStyle/>
          <a:p>
            <a:pPr indent="0" marL="0">
              <a:buNone/>
            </a:pPr>
            <a:r>
              <a:rPr lang="en-US" sz="1600" b="1" dirty="0">
                <a:solidFill>
                  <a:schemeClr val="tx1"/>
                </a:solidFill>
              </a:rPr>
              <a:t>Hambatan investasi</a:t>
            </a:r>
            <a:endParaRPr lang="en-US" sz="1600" dirty="0"/>
          </a:p>
        </p:txBody>
      </p:sp>
      <p:sp>
        <p:nvSpPr>
          <p:cNvPr id="18" name="Shape 15"/>
          <p:cNvSpPr/>
          <p:nvPr/>
        </p:nvSpPr>
        <p:spPr>
          <a:xfrm>
            <a:off x="1188720" y="3886200"/>
            <a:ext cx="1463040" cy="310896"/>
          </a:xfrm>
          <a:prstGeom prst="roundRect">
            <a:avLst>
              <a:gd name="adj" fmla="val 50000"/>
            </a:avLst>
          </a:prstGeom>
          <a:solidFill>
            <a:schemeClr val="accent3"/>
          </a:solidFill>
          <a:ln/>
        </p:spPr>
      </p:sp>
      <p:sp>
        <p:nvSpPr>
          <p:cNvPr id="19" name="Text 16"/>
          <p:cNvSpPr txBox="1"/>
          <p:nvPr/>
        </p:nvSpPr>
        <p:spPr>
          <a:xfrm>
            <a:off x="1188720" y="388620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PERLU DATA</a:t>
            </a:r>
            <a:endParaRPr lang="en-US" sz="1100" dirty="0"/>
          </a:p>
        </p:txBody>
      </p:sp>
      <p:sp>
        <p:nvSpPr>
          <p:cNvPr id="20" name="Text 17"/>
          <p:cNvSpPr txBox="1"/>
          <p:nvPr/>
        </p:nvSpPr>
        <p:spPr>
          <a:xfrm>
            <a:off x="4754880" y="3429000"/>
            <a:ext cx="3246120" cy="1051560"/>
          </a:xfrm>
          <a:prstGeom prst="rect">
            <a:avLst/>
          </a:prstGeom>
          <a:noFill/>
          <a:ln/>
        </p:spPr>
        <p:txBody>
          <a:bodyPr wrap="square" lIns="0" tIns="0" rIns="0" bIns="0" rtlCol="0" anchor="t"/>
          <a:lstStyle/>
          <a:p>
            <a:pPr indent="0" marL="0">
              <a:buNone/>
            </a:pPr>
            <a:r>
              <a:rPr lang="en-US" sz="1400" dirty="0">
                <a:solidFill>
                  <a:schemeClr val="tx1"/>
                </a:solidFill>
              </a:rPr>
              <a:t>LPHD tidak punya dana untuk patroli, sekat kanal, regu damkar, rehabilitasi tanpa karbon.</a:t>
            </a:r>
            <a:endParaRPr lang="en-US" sz="1400" dirty="0"/>
          </a:p>
        </p:txBody>
      </p:sp>
      <p:sp>
        <p:nvSpPr>
          <p:cNvPr id="21" name="Text 18"/>
          <p:cNvSpPr txBox="1"/>
          <p:nvPr/>
        </p:nvSpPr>
        <p:spPr>
          <a:xfrm>
            <a:off x="8229600" y="3429000"/>
            <a:ext cx="3413455" cy="1051560"/>
          </a:xfrm>
          <a:prstGeom prst="rect">
            <a:avLst/>
          </a:prstGeom>
          <a:noFill/>
          <a:ln/>
        </p:spPr>
        <p:txBody>
          <a:bodyPr wrap="square" lIns="0" tIns="0" rIns="0" bIns="0" rtlCol="0" anchor="t"/>
          <a:lstStyle/>
          <a:p>
            <a:pPr indent="0" marL="0">
              <a:buNone/>
            </a:pPr>
            <a:r>
              <a:rPr lang="en-US" sz="1400" dirty="0">
                <a:solidFill>
                  <a:schemeClr val="accent5"/>
                </a:solidFill>
              </a:rPr>
              <a:t>Arus kas dengan/tanpa karbon; daftar dana BRGM, dana desa, PS yang sudah masuk.</a:t>
            </a:r>
            <a:endParaRPr lang="en-US" sz="1400" dirty="0"/>
          </a:p>
        </p:txBody>
      </p:sp>
      <p:sp>
        <p:nvSpPr>
          <p:cNvPr id="22" name="Shape 19"/>
          <p:cNvSpPr/>
          <p:nvPr/>
        </p:nvSpPr>
        <p:spPr>
          <a:xfrm>
            <a:off x="548640" y="4434840"/>
            <a:ext cx="11094415" cy="0"/>
          </a:xfrm>
          <a:prstGeom prst="line">
            <a:avLst/>
          </a:prstGeom>
          <a:noFill/>
          <a:ln w="9525">
            <a:solidFill>
              <a:srgbClr val="333333"/>
            </a:solidFill>
            <a:prstDash val="solid"/>
          </a:ln>
        </p:spPr>
      </p:sp>
      <p:sp>
        <p:nvSpPr>
          <p:cNvPr id="23" name="Text 20"/>
          <p:cNvSpPr txBox="1"/>
          <p:nvPr/>
        </p:nvSpPr>
        <p:spPr>
          <a:xfrm>
            <a:off x="548640" y="4526280"/>
            <a:ext cx="548640" cy="64008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3</a:t>
            </a:r>
            <a:endParaRPr lang="en-US" sz="3200" dirty="0"/>
          </a:p>
        </p:txBody>
      </p:sp>
      <p:sp>
        <p:nvSpPr>
          <p:cNvPr id="24" name="Text 21"/>
          <p:cNvSpPr txBox="1"/>
          <p:nvPr/>
        </p:nvSpPr>
        <p:spPr>
          <a:xfrm>
            <a:off x="1188720" y="4526280"/>
            <a:ext cx="3291840" cy="365760"/>
          </a:xfrm>
          <a:prstGeom prst="rect">
            <a:avLst/>
          </a:prstGeom>
          <a:noFill/>
          <a:ln/>
        </p:spPr>
        <p:txBody>
          <a:bodyPr wrap="square" lIns="0" tIns="0" rIns="0" bIns="0" rtlCol="0" anchor="t"/>
          <a:lstStyle/>
          <a:p>
            <a:pPr indent="0" marL="0">
              <a:buNone/>
            </a:pPr>
            <a:r>
              <a:rPr lang="en-US" sz="1600" b="1" dirty="0">
                <a:solidFill>
                  <a:schemeClr val="tx1"/>
                </a:solidFill>
              </a:rPr>
              <a:t>Praktik umum</a:t>
            </a:r>
            <a:endParaRPr lang="en-US" sz="1600" dirty="0"/>
          </a:p>
        </p:txBody>
      </p:sp>
      <p:sp>
        <p:nvSpPr>
          <p:cNvPr id="25" name="Shape 22"/>
          <p:cNvSpPr/>
          <p:nvPr/>
        </p:nvSpPr>
        <p:spPr>
          <a:xfrm>
            <a:off x="1188720" y="4983480"/>
            <a:ext cx="1463040" cy="310896"/>
          </a:xfrm>
          <a:prstGeom prst="roundRect">
            <a:avLst>
              <a:gd name="adj" fmla="val 50000"/>
            </a:avLst>
          </a:prstGeom>
          <a:solidFill>
            <a:schemeClr val="accent3"/>
          </a:solidFill>
          <a:ln/>
        </p:spPr>
      </p:sp>
      <p:sp>
        <p:nvSpPr>
          <p:cNvPr id="26" name="Text 23"/>
          <p:cNvSpPr txBox="1"/>
          <p:nvPr/>
        </p:nvSpPr>
        <p:spPr>
          <a:xfrm>
            <a:off x="1188720" y="4983480"/>
            <a:ext cx="1463040" cy="310896"/>
          </a:xfrm>
          <a:prstGeom prst="rect">
            <a:avLst/>
          </a:prstGeom>
          <a:noFill/>
          <a:ln/>
        </p:spPr>
        <p:txBody>
          <a:bodyPr wrap="square" lIns="0" tIns="0" rIns="0" bIns="0" rtlCol="0" anchor="ctr"/>
          <a:lstStyle/>
          <a:p>
            <a:pPr algn="ctr" indent="0" marL="0">
              <a:buNone/>
            </a:pPr>
            <a:r>
              <a:rPr lang="en-US" sz="1100" b="1" dirty="0">
                <a:solidFill>
                  <a:schemeClr val="bg1"/>
                </a:solidFill>
              </a:rPr>
              <a:t>PERLU DATA</a:t>
            </a:r>
            <a:endParaRPr lang="en-US" sz="1100" dirty="0"/>
          </a:p>
        </p:txBody>
      </p:sp>
      <p:sp>
        <p:nvSpPr>
          <p:cNvPr id="27" name="Text 24"/>
          <p:cNvSpPr txBox="1"/>
          <p:nvPr/>
        </p:nvSpPr>
        <p:spPr>
          <a:xfrm>
            <a:off x="4754880" y="4526280"/>
            <a:ext cx="3246120" cy="1051560"/>
          </a:xfrm>
          <a:prstGeom prst="rect">
            <a:avLst/>
          </a:prstGeom>
          <a:noFill/>
          <a:ln/>
        </p:spPr>
        <p:txBody>
          <a:bodyPr wrap="square" lIns="0" tIns="0" rIns="0" bIns="0" rtlCol="0" anchor="t"/>
          <a:lstStyle/>
          <a:p>
            <a:pPr indent="0" marL="0">
              <a:buNone/>
            </a:pPr>
            <a:r>
              <a:rPr lang="en-US" sz="1400" dirty="0">
                <a:solidFill>
                  <a:schemeClr val="tx1"/>
                </a:solidFill>
              </a:rPr>
              <a:t>Perlindungan aktif belum umum di Hutan Desa sekitar.</a:t>
            </a:r>
            <a:endParaRPr lang="en-US" sz="1400" dirty="0"/>
          </a:p>
        </p:txBody>
      </p:sp>
      <p:sp>
        <p:nvSpPr>
          <p:cNvPr id="28" name="Text 25"/>
          <p:cNvSpPr txBox="1"/>
          <p:nvPr/>
        </p:nvSpPr>
        <p:spPr>
          <a:xfrm>
            <a:off x="8229600" y="4526280"/>
            <a:ext cx="3413455" cy="1051560"/>
          </a:xfrm>
          <a:prstGeom prst="rect">
            <a:avLst/>
          </a:prstGeom>
          <a:noFill/>
          <a:ln/>
        </p:spPr>
        <p:txBody>
          <a:bodyPr wrap="square" lIns="0" tIns="0" rIns="0" bIns="0" rtlCol="0" anchor="t"/>
          <a:lstStyle/>
          <a:p>
            <a:pPr indent="0" marL="0">
              <a:buNone/>
            </a:pPr>
            <a:r>
              <a:rPr lang="en-US" sz="1400" dirty="0">
                <a:solidFill>
                  <a:schemeClr val="accent5"/>
                </a:solidFill>
              </a:rPr>
              <a:t>Bandingkan Hutan Desa lain di KHG Mempawah tanpa proyek karbon.</a:t>
            </a:r>
            <a:endParaRPr lang="en-US" sz="1400" dirty="0"/>
          </a:p>
        </p:txBody>
      </p:sp>
      <p:sp>
        <p:nvSpPr>
          <p:cNvPr id="29" name="Text 26"/>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500" b="1" dirty="0">
                <a:solidFill>
                  <a:schemeClr val="accent4"/>
                </a:solidFill>
              </a:rPr>
              <a:t>Hapus "Additional 43%" dari rumus: additionality adalah uji lulus/gagal, bukan pengali emisi.</a:t>
            </a:r>
            <a:endParaRPr lang="en-US" sz="1500" dirty="0"/>
          </a:p>
        </p:txBody>
      </p:sp>
      <p:sp>
        <p:nvSpPr>
          <p:cNvPr id="30" name="Text 27"/>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Dasar: PP 71/2014 jo. PP 57/2016; alat additionality VCS (VT0008).</a:t>
            </a:r>
            <a:endParaRPr lang="en-US" sz="1000" dirty="0"/>
          </a:p>
        </p:txBody>
      </p:sp>
      <p:sp>
        <p:nvSpPr>
          <p:cNvPr id="31" name="tutupan-hs"/>
          <p:cNvSpPr/>
          <p:nvPr/>
        </p:nvSpPr>
        <p:spPr>
          <a:xfrm>
            <a:off x="548640" y="6400800"/>
            <a:ext cx="794550" cy="91440"/>
          </a:xfrm>
          <a:prstGeom prst="rect">
            <a:avLst/>
          </a:prstGeom>
          <a:solidFill>
            <a:schemeClr val="accent1"/>
          </a:solidFill>
          <a:ln/>
        </p:spPr>
      </p:sp>
      <p:sp>
        <p:nvSpPr>
          <p:cNvPr id="32" name="tutupan-sb"/>
          <p:cNvSpPr/>
          <p:nvPr/>
        </p:nvSpPr>
        <p:spPr>
          <a:xfrm>
            <a:off x="1361478" y="6400800"/>
            <a:ext cx="342721" cy="91440"/>
          </a:xfrm>
          <a:prstGeom prst="rect">
            <a:avLst/>
          </a:prstGeom>
          <a:solidFill>
            <a:srgbClr val="DCD8D2"/>
          </a:solidFill>
          <a:ln/>
        </p:spPr>
      </p:sp>
      <p:sp>
        <p:nvSpPr>
          <p:cNvPr id="33" name="tutupan-kb"/>
          <p:cNvSpPr/>
          <p:nvPr/>
        </p:nvSpPr>
        <p:spPr>
          <a:xfrm>
            <a:off x="1722487" y="6400800"/>
            <a:ext cx="202213" cy="91440"/>
          </a:xfrm>
          <a:prstGeom prst="rect">
            <a:avLst/>
          </a:prstGeom>
          <a:solidFill>
            <a:schemeClr val="accent3"/>
          </a:solidFill>
          <a:ln/>
        </p:spPr>
      </p:sp>
      <p:sp>
        <p:nvSpPr>
          <p:cNvPr id="34" name="tutupan-lt"/>
          <p:cNvSpPr/>
          <p:nvPr/>
        </p:nvSpPr>
        <p:spPr>
          <a:xfrm>
            <a:off x="1942988" y="6400800"/>
            <a:ext cx="32432" cy="91440"/>
          </a:xfrm>
          <a:prstGeom prst="rect">
            <a:avLst/>
          </a:prstGeom>
          <a:solidFill>
            <a:srgbClr val="B9AE9C"/>
          </a:solidFill>
          <a:ln/>
        </p:spPr>
      </p:sp>
      <p:sp>
        <p:nvSpPr>
          <p:cNvPr id="35" name="tutupan-sg"/>
          <p:cNvSpPr/>
          <p:nvPr/>
        </p:nvSpPr>
        <p:spPr>
          <a:xfrm>
            <a:off x="1993708" y="6400800"/>
            <a:ext cx="17972" cy="91440"/>
          </a:xfrm>
          <a:prstGeom prst="rect">
            <a:avLst/>
          </a:prstGeom>
          <a:solidFill>
            <a:srgbClr val="DCD8D2"/>
          </a:solidFill>
          <a:ln/>
        </p:spPr>
      </p:sp>
      <p:sp>
        <p:nvSpPr>
          <p:cNvPr id="36" name="Text 33"/>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Hutan, kebun, lahan terbuka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KELAYAKAN ARR</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Dari 1.025 ha yang dihitung sebagai ARR, hanya ±591 ha kandidat kuat</a:t>
            </a:r>
            <a:endParaRPr lang="en-US" sz="2800" dirty="0"/>
          </a:p>
        </p:txBody>
      </p:sp>
      <p:sp>
        <p:nvSpPr>
          <p:cNvPr id="5" name="Shape 2"/>
          <p:cNvSpPr/>
          <p:nvPr/>
        </p:nvSpPr>
        <p:spPr>
          <a:xfrm>
            <a:off x="548640" y="2286000"/>
            <a:ext cx="6354829" cy="822960"/>
          </a:xfrm>
          <a:prstGeom prst="rect">
            <a:avLst/>
          </a:prstGeom>
          <a:solidFill>
            <a:schemeClr val="accent1"/>
          </a:solidFill>
          <a:ln/>
        </p:spPr>
      </p:sp>
      <p:sp>
        <p:nvSpPr>
          <p:cNvPr id="6" name="Text 3"/>
          <p:cNvSpPr txBox="1"/>
          <p:nvPr/>
        </p:nvSpPr>
        <p:spPr>
          <a:xfrm>
            <a:off x="685800" y="2286000"/>
            <a:ext cx="6080509" cy="82296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591 ha</a:t>
            </a:r>
            <a:endParaRPr lang="en-US" sz="2400" dirty="0"/>
          </a:p>
        </p:txBody>
      </p:sp>
      <p:sp>
        <p:nvSpPr>
          <p:cNvPr id="7" name="Shape 4"/>
          <p:cNvSpPr/>
          <p:nvPr/>
        </p:nvSpPr>
        <p:spPr>
          <a:xfrm>
            <a:off x="6940045" y="2286000"/>
            <a:ext cx="3775752" cy="822960"/>
          </a:xfrm>
          <a:prstGeom prst="rect">
            <a:avLst/>
          </a:prstGeom>
          <a:solidFill>
            <a:schemeClr val="accent3"/>
          </a:solidFill>
          <a:ln/>
        </p:spPr>
      </p:sp>
      <p:sp>
        <p:nvSpPr>
          <p:cNvPr id="8" name="Text 5"/>
          <p:cNvSpPr txBox="1"/>
          <p:nvPr/>
        </p:nvSpPr>
        <p:spPr>
          <a:xfrm>
            <a:off x="7077205" y="2286000"/>
            <a:ext cx="3501432" cy="82296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351 ha</a:t>
            </a:r>
            <a:endParaRPr lang="en-US" sz="2400" dirty="0"/>
          </a:p>
        </p:txBody>
      </p:sp>
      <p:sp>
        <p:nvSpPr>
          <p:cNvPr id="9" name="Shape 6"/>
          <p:cNvSpPr/>
          <p:nvPr/>
        </p:nvSpPr>
        <p:spPr>
          <a:xfrm>
            <a:off x="10752373" y="2286000"/>
            <a:ext cx="890682" cy="822960"/>
          </a:xfrm>
          <a:prstGeom prst="rect">
            <a:avLst/>
          </a:prstGeom>
          <a:solidFill>
            <a:schemeClr val="accent4"/>
          </a:solidFill>
          <a:ln/>
        </p:spPr>
      </p:sp>
      <p:sp>
        <p:nvSpPr>
          <p:cNvPr id="10" name="Text 7"/>
          <p:cNvSpPr txBox="1"/>
          <p:nvPr/>
        </p:nvSpPr>
        <p:spPr>
          <a:xfrm>
            <a:off x="10889533" y="2286000"/>
            <a:ext cx="822960" cy="82296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83 ha</a:t>
            </a:r>
            <a:endParaRPr lang="en-US" sz="1600" dirty="0"/>
          </a:p>
        </p:txBody>
      </p:sp>
      <p:sp>
        <p:nvSpPr>
          <p:cNvPr id="11" name="Text 8"/>
          <p:cNvSpPr txBox="1"/>
          <p:nvPr/>
        </p:nvSpPr>
        <p:spPr>
          <a:xfrm>
            <a:off x="548640" y="1920240"/>
            <a:ext cx="5486400" cy="274320"/>
          </a:xfrm>
          <a:prstGeom prst="rect">
            <a:avLst/>
          </a:prstGeom>
          <a:noFill/>
          <a:ln/>
        </p:spPr>
        <p:txBody>
          <a:bodyPr wrap="square" lIns="0" tIns="0" rIns="0" bIns="0" rtlCol="0" anchor="t"/>
          <a:lstStyle/>
          <a:p>
            <a:pPr indent="0" marL="0">
              <a:buNone/>
            </a:pPr>
            <a:r>
              <a:rPr lang="en-US" sz="1200" b="1" spc="100" kern="0" dirty="0">
                <a:solidFill>
                  <a:schemeClr val="accent5"/>
                </a:solidFill>
              </a:rPr>
              <a:t>Total 1.025 ha diklaim ARR di file</a:t>
            </a:r>
            <a:endParaRPr lang="en-US" sz="1200" dirty="0"/>
          </a:p>
        </p:txBody>
      </p:sp>
      <p:sp>
        <p:nvSpPr>
          <p:cNvPr id="12" name="Shape 9"/>
          <p:cNvSpPr/>
          <p:nvPr/>
        </p:nvSpPr>
        <p:spPr>
          <a:xfrm>
            <a:off x="548640" y="3566160"/>
            <a:ext cx="256032" cy="256032"/>
          </a:xfrm>
          <a:prstGeom prst="ellipse">
            <a:avLst/>
          </a:prstGeom>
          <a:solidFill>
            <a:schemeClr val="accent1"/>
          </a:solidFill>
          <a:ln/>
        </p:spPr>
      </p:sp>
      <p:sp>
        <p:nvSpPr>
          <p:cNvPr id="13" name="Text 10"/>
          <p:cNvSpPr txBox="1"/>
          <p:nvPr/>
        </p:nvSpPr>
        <p:spPr>
          <a:xfrm>
            <a:off x="960120" y="3520440"/>
            <a:ext cx="3103778" cy="914400"/>
          </a:xfrm>
          <a:prstGeom prst="rect">
            <a:avLst/>
          </a:prstGeom>
          <a:noFill/>
          <a:ln/>
        </p:spPr>
        <p:txBody>
          <a:bodyPr wrap="square" lIns="0" tIns="0" rIns="0" bIns="0" rtlCol="0" anchor="t"/>
          <a:lstStyle/>
          <a:p>
            <a:pPr indent="0" marL="0">
              <a:buNone/>
            </a:pPr>
            <a:r>
              <a:rPr lang="en-US" sz="1600" b="1" dirty="0">
                <a:solidFill>
                  <a:schemeClr val="tx1"/>
                </a:solidFill>
              </a:rPr>
              <a:t>Semak belukar stabil</a:t>
            </a:r>
            <a:endParaRPr lang="en-US" sz="1400" dirty="0"/>
          </a:p>
          <a:p>
            <a:pPr indent="0" marL="0">
              <a:buNone/>
            </a:pPr>
            <a:r>
              <a:rPr lang="en-US" sz="1400" dirty="0">
                <a:solidFill>
                  <a:schemeClr val="accent5"/>
                </a:solidFill>
              </a:rPr>
              <a:t>Kandidat ARR + pembasahan ulang</a:t>
            </a:r>
            <a:endParaRPr lang="en-US" sz="1400" dirty="0"/>
          </a:p>
        </p:txBody>
      </p:sp>
      <p:sp>
        <p:nvSpPr>
          <p:cNvPr id="14" name="Shape 11"/>
          <p:cNvSpPr/>
          <p:nvPr/>
        </p:nvSpPr>
        <p:spPr>
          <a:xfrm>
            <a:off x="4338218" y="3566160"/>
            <a:ext cx="256032" cy="256032"/>
          </a:xfrm>
          <a:prstGeom prst="ellipse">
            <a:avLst/>
          </a:prstGeom>
          <a:solidFill>
            <a:schemeClr val="accent3"/>
          </a:solidFill>
          <a:ln/>
        </p:spPr>
      </p:sp>
      <p:sp>
        <p:nvSpPr>
          <p:cNvPr id="15" name="Text 12"/>
          <p:cNvSpPr txBox="1"/>
          <p:nvPr/>
        </p:nvSpPr>
        <p:spPr>
          <a:xfrm>
            <a:off x="4749698" y="3520440"/>
            <a:ext cx="3103778" cy="914400"/>
          </a:xfrm>
          <a:prstGeom prst="rect">
            <a:avLst/>
          </a:prstGeom>
          <a:noFill/>
          <a:ln/>
        </p:spPr>
        <p:txBody>
          <a:bodyPr wrap="square" lIns="0" tIns="0" rIns="0" bIns="0" rtlCol="0" anchor="t"/>
          <a:lstStyle/>
          <a:p>
            <a:pPr indent="0" marL="0">
              <a:buNone/>
            </a:pPr>
            <a:r>
              <a:rPr lang="en-US" sz="1600" b="1" dirty="0">
                <a:solidFill>
                  <a:schemeClr val="tx1"/>
                </a:solidFill>
              </a:rPr>
              <a:t>Perkebunan aktif</a:t>
            </a:r>
            <a:endParaRPr lang="en-US" sz="1400" dirty="0"/>
          </a:p>
          <a:p>
            <a:pPr indent="0" marL="0">
              <a:buNone/>
            </a:pPr>
            <a:r>
              <a:rPr lang="en-US" sz="1400" dirty="0">
                <a:solidFill>
                  <a:schemeClr val="accent5"/>
                </a:solidFill>
              </a:rPr>
              <a:t>Paludikultur/agroforestri, bukan ARR</a:t>
            </a:r>
            <a:endParaRPr lang="en-US" sz="1400" dirty="0"/>
          </a:p>
        </p:txBody>
      </p:sp>
      <p:sp>
        <p:nvSpPr>
          <p:cNvPr id="16" name="Shape 13"/>
          <p:cNvSpPr/>
          <p:nvPr/>
        </p:nvSpPr>
        <p:spPr>
          <a:xfrm>
            <a:off x="8127797" y="3566160"/>
            <a:ext cx="256032" cy="256032"/>
          </a:xfrm>
          <a:prstGeom prst="ellipse">
            <a:avLst/>
          </a:prstGeom>
          <a:solidFill>
            <a:schemeClr val="accent4"/>
          </a:solidFill>
          <a:ln/>
        </p:spPr>
      </p:sp>
      <p:sp>
        <p:nvSpPr>
          <p:cNvPr id="17" name="Text 14"/>
          <p:cNvSpPr txBox="1"/>
          <p:nvPr/>
        </p:nvSpPr>
        <p:spPr>
          <a:xfrm>
            <a:off x="8539277" y="3520440"/>
            <a:ext cx="3103778" cy="914400"/>
          </a:xfrm>
          <a:prstGeom prst="rect">
            <a:avLst/>
          </a:prstGeom>
          <a:noFill/>
          <a:ln/>
        </p:spPr>
        <p:txBody>
          <a:bodyPr wrap="square" lIns="0" tIns="0" rIns="0" bIns="0" rtlCol="0" anchor="t"/>
          <a:lstStyle/>
          <a:p>
            <a:pPr indent="0" marL="0">
              <a:buNone/>
            </a:pPr>
            <a:r>
              <a:rPr lang="en-US" sz="1600" b="1" dirty="0">
                <a:solidFill>
                  <a:schemeClr val="tx1"/>
                </a:solidFill>
              </a:rPr>
              <a:t>Hutan hilang 2016–2026</a:t>
            </a:r>
            <a:endParaRPr lang="en-US" sz="1400" dirty="0"/>
          </a:p>
          <a:p>
            <a:pPr indent="0" marL="0">
              <a:buNone/>
            </a:pPr>
            <a:r>
              <a:rPr lang="en-US" sz="1400" dirty="0">
                <a:solidFill>
                  <a:schemeClr val="accent5"/>
                </a:solidFill>
              </a:rPr>
              <a:t>Tidak eligible ARR → akuntansi REDD+</a:t>
            </a:r>
            <a:endParaRPr lang="en-US" sz="1400" dirty="0"/>
          </a:p>
        </p:txBody>
      </p:sp>
      <p:sp>
        <p:nvSpPr>
          <p:cNvPr id="18" name="Shape 15"/>
          <p:cNvSpPr/>
          <p:nvPr/>
        </p:nvSpPr>
        <p:spPr>
          <a:xfrm>
            <a:off x="548640" y="4709160"/>
            <a:ext cx="11094415" cy="0"/>
          </a:xfrm>
          <a:prstGeom prst="line">
            <a:avLst/>
          </a:prstGeom>
          <a:noFill/>
          <a:ln w="9525">
            <a:solidFill>
              <a:srgbClr val="333333"/>
            </a:solidFill>
            <a:prstDash val="solid"/>
          </a:ln>
        </p:spPr>
      </p:sp>
      <p:sp>
        <p:nvSpPr>
          <p:cNvPr id="19" name="Text 16"/>
          <p:cNvSpPr txBox="1"/>
          <p:nvPr/>
        </p:nvSpPr>
        <p:spPr>
          <a:xfrm>
            <a:off x="548640" y="4846320"/>
            <a:ext cx="11094415" cy="731520"/>
          </a:xfrm>
          <a:prstGeom prst="rect">
            <a:avLst/>
          </a:prstGeom>
          <a:noFill/>
          <a:ln/>
        </p:spPr>
        <p:txBody>
          <a:bodyPr wrap="square" lIns="0" tIns="0" rIns="0" bIns="0" rtlCol="0" anchor="t"/>
          <a:lstStyle/>
          <a:p>
            <a:pPr indent="0" marL="0">
              <a:buNone/>
            </a:pPr>
            <a:r>
              <a:rPr lang="en-US" sz="1400" dirty="0">
                <a:solidFill>
                  <a:schemeClr val="tx1"/>
                </a:solidFill>
              </a:rPr>
              <a:t>Di gambut terdrainase, ARR tanpa pembasahan ulang tetap mengeluarkan emisi gambut. Pembasahan ulang bisa menurunkan FE dari ±19 menuju mendekati 0 tCO₂/ha/thn, tetapi perlu desain hidrologi di tingkat KHG.</a:t>
            </a:r>
            <a:endParaRPr lang="en-US" sz="1400" dirty="0"/>
          </a:p>
        </p:txBody>
      </p:sp>
      <p:sp>
        <p:nvSpPr>
          <p:cNvPr id="20" name="Text 17"/>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Sumber: Tuplah (2)!C68 file asal; aturan VCS ARR (tidak ada pembukaan ekosistem alami 10 thn sebelum proyek).</a:t>
            </a:r>
            <a:endParaRPr lang="en-US" sz="1000" dirty="0"/>
          </a:p>
        </p:txBody>
      </p:sp>
      <p:sp>
        <p:nvSpPr>
          <p:cNvPr id="21" name="tutupan-hs"/>
          <p:cNvSpPr/>
          <p:nvPr/>
        </p:nvSpPr>
        <p:spPr>
          <a:xfrm>
            <a:off x="548640" y="6400800"/>
            <a:ext cx="794550" cy="91440"/>
          </a:xfrm>
          <a:prstGeom prst="rect">
            <a:avLst/>
          </a:prstGeom>
          <a:solidFill>
            <a:srgbClr val="DCD8D2"/>
          </a:solidFill>
          <a:ln/>
        </p:spPr>
      </p:sp>
      <p:sp>
        <p:nvSpPr>
          <p:cNvPr id="22" name="tutupan-sb"/>
          <p:cNvSpPr/>
          <p:nvPr/>
        </p:nvSpPr>
        <p:spPr>
          <a:xfrm>
            <a:off x="1361478" y="6400800"/>
            <a:ext cx="342721" cy="91440"/>
          </a:xfrm>
          <a:prstGeom prst="rect">
            <a:avLst/>
          </a:prstGeom>
          <a:solidFill>
            <a:schemeClr val="accent2"/>
          </a:solidFill>
          <a:ln/>
        </p:spPr>
      </p:sp>
      <p:sp>
        <p:nvSpPr>
          <p:cNvPr id="23" name="tutupan-kb"/>
          <p:cNvSpPr/>
          <p:nvPr/>
        </p:nvSpPr>
        <p:spPr>
          <a:xfrm>
            <a:off x="1722487" y="6400800"/>
            <a:ext cx="202213" cy="91440"/>
          </a:xfrm>
          <a:prstGeom prst="rect">
            <a:avLst/>
          </a:prstGeom>
          <a:solidFill>
            <a:schemeClr val="accent3"/>
          </a:solidFill>
          <a:ln/>
        </p:spPr>
      </p:sp>
      <p:sp>
        <p:nvSpPr>
          <p:cNvPr id="24" name="tutupan-lt"/>
          <p:cNvSpPr/>
          <p:nvPr/>
        </p:nvSpPr>
        <p:spPr>
          <a:xfrm>
            <a:off x="1942988" y="6400800"/>
            <a:ext cx="32432" cy="91440"/>
          </a:xfrm>
          <a:prstGeom prst="rect">
            <a:avLst/>
          </a:prstGeom>
          <a:solidFill>
            <a:srgbClr val="B9AE9C"/>
          </a:solidFill>
          <a:ln/>
        </p:spPr>
      </p:sp>
      <p:sp>
        <p:nvSpPr>
          <p:cNvPr id="25" name="tutupan-sg"/>
          <p:cNvSpPr/>
          <p:nvPr/>
        </p:nvSpPr>
        <p:spPr>
          <a:xfrm>
            <a:off x="1993708" y="6400800"/>
            <a:ext cx="17972" cy="91440"/>
          </a:xfrm>
          <a:prstGeom prst="rect">
            <a:avLst/>
          </a:prstGeom>
          <a:solidFill>
            <a:srgbClr val="DCD8D2"/>
          </a:solidFill>
          <a:ln/>
        </p:spPr>
      </p:sp>
      <p:sp>
        <p:nvSpPr>
          <p:cNvPr id="26" name="Text 23"/>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Semak, kebun, lahan terbuka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LEAKAGE</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Leakage di gambut punya empat jalur; yang terbesar adalah 359 ha kebun yang bisa berpindah</a:t>
            </a:r>
            <a:endParaRPr lang="en-US" sz="2800" dirty="0"/>
          </a:p>
        </p:txBody>
      </p:sp>
      <p:sp>
        <p:nvSpPr>
          <p:cNvPr id="5" name="Shape 2"/>
          <p:cNvSpPr/>
          <p:nvPr/>
        </p:nvSpPr>
        <p:spPr>
          <a:xfrm>
            <a:off x="548640" y="1920240"/>
            <a:ext cx="4937760" cy="4023360"/>
          </a:xfrm>
          <a:prstGeom prst="roundRect">
            <a:avLst>
              <a:gd name="adj" fmla="val 5682"/>
            </a:avLst>
          </a:prstGeom>
          <a:solidFill>
            <a:schemeClr val="bg2"/>
          </a:solidFill>
          <a:ln w="12700">
            <a:solidFill>
              <a:srgbClr val="DCD8D2"/>
            </a:solidFill>
            <a:prstDash val="solid"/>
          </a:ln>
        </p:spPr>
      </p:sp>
      <p:sp>
        <p:nvSpPr>
          <p:cNvPr id="6" name="Text 3"/>
          <p:cNvSpPr txBox="1"/>
          <p:nvPr/>
        </p:nvSpPr>
        <p:spPr>
          <a:xfrm>
            <a:off x="777240" y="2057400"/>
            <a:ext cx="3657600" cy="274320"/>
          </a:xfrm>
          <a:prstGeom prst="rect">
            <a:avLst/>
          </a:prstGeom>
          <a:noFill/>
          <a:ln/>
        </p:spPr>
        <p:txBody>
          <a:bodyPr wrap="square" lIns="0" tIns="0" rIns="0" bIns="0" rtlCol="0" anchor="t"/>
          <a:lstStyle/>
          <a:p>
            <a:pPr indent="0" marL="0">
              <a:buNone/>
            </a:pPr>
            <a:r>
              <a:rPr lang="en-US" sz="1200" b="1" dirty="0">
                <a:solidFill>
                  <a:schemeClr val="accent5"/>
                </a:solidFill>
              </a:rPr>
              <a:t>KHG Sungai Mempawah</a:t>
            </a:r>
            <a:endParaRPr lang="en-US" sz="1200" dirty="0"/>
          </a:p>
        </p:txBody>
      </p:sp>
      <p:sp>
        <p:nvSpPr>
          <p:cNvPr id="7" name="Shape 4"/>
          <p:cNvSpPr/>
          <p:nvPr/>
        </p:nvSpPr>
        <p:spPr>
          <a:xfrm>
            <a:off x="1005840" y="2468880"/>
            <a:ext cx="4023360" cy="3108960"/>
          </a:xfrm>
          <a:prstGeom prst="roundRect">
            <a:avLst>
              <a:gd name="adj" fmla="val 6471"/>
            </a:avLst>
          </a:prstGeom>
          <a:solidFill>
            <a:schemeClr val="bg1"/>
          </a:solidFill>
          <a:ln w="19050">
            <a:solidFill>
              <a:srgbClr val="C08A3E"/>
            </a:solidFill>
            <a:prstDash val="dash"/>
          </a:ln>
        </p:spPr>
      </p:sp>
      <p:sp>
        <p:nvSpPr>
          <p:cNvPr id="8" name="Text 5"/>
          <p:cNvSpPr txBox="1"/>
          <p:nvPr/>
        </p:nvSpPr>
        <p:spPr>
          <a:xfrm>
            <a:off x="1234440" y="2606040"/>
            <a:ext cx="2743200" cy="274320"/>
          </a:xfrm>
          <a:prstGeom prst="rect">
            <a:avLst/>
          </a:prstGeom>
          <a:noFill/>
          <a:ln/>
        </p:spPr>
        <p:txBody>
          <a:bodyPr wrap="square" lIns="0" tIns="0" rIns="0" bIns="0" rtlCol="0" anchor="t"/>
          <a:lstStyle/>
          <a:p>
            <a:pPr indent="0" marL="0">
              <a:buNone/>
            </a:pPr>
            <a:r>
              <a:rPr lang="en-US" sz="1200" b="1" dirty="0">
                <a:solidFill>
                  <a:schemeClr val="accent3"/>
                </a:solidFill>
              </a:rPr>
              <a:t>Sabuk leakage</a:t>
            </a:r>
            <a:endParaRPr lang="en-US" sz="1200" dirty="0"/>
          </a:p>
        </p:txBody>
      </p:sp>
      <p:sp>
        <p:nvSpPr>
          <p:cNvPr id="9" name="Shape 6"/>
          <p:cNvSpPr/>
          <p:nvPr/>
        </p:nvSpPr>
        <p:spPr>
          <a:xfrm>
            <a:off x="1554480" y="3108960"/>
            <a:ext cx="2926080" cy="1920240"/>
          </a:xfrm>
          <a:prstGeom prst="roundRect">
            <a:avLst>
              <a:gd name="adj" fmla="val 8571"/>
            </a:avLst>
          </a:prstGeom>
          <a:solidFill>
            <a:schemeClr val="accent1"/>
          </a:solidFill>
          <a:ln/>
        </p:spPr>
      </p:sp>
      <p:sp>
        <p:nvSpPr>
          <p:cNvPr id="10" name="Text 7"/>
          <p:cNvSpPr txBox="1"/>
          <p:nvPr/>
        </p:nvSpPr>
        <p:spPr>
          <a:xfrm>
            <a:off x="1554480" y="3108960"/>
            <a:ext cx="2926080" cy="1920240"/>
          </a:xfrm>
          <a:prstGeom prst="rect">
            <a:avLst/>
          </a:prstGeom>
          <a:noFill/>
          <a:ln/>
        </p:spPr>
        <p:txBody>
          <a:bodyPr wrap="square" lIns="0" tIns="0" rIns="0" bIns="0" rtlCol="0" anchor="ctr"/>
          <a:lstStyle/>
          <a:p>
            <a:pPr algn="ctr" indent="0" marL="0">
              <a:buNone/>
            </a:pPr>
            <a:r>
              <a:rPr lang="en-US" sz="1500" b="1" dirty="0">
                <a:solidFill>
                  <a:schemeClr val="bg1"/>
                </a:solidFill>
              </a:rPr>
              <a:t>Hutan Desa</a:t>
            </a:r>
            <a:endParaRPr lang="en-US" sz="1400" dirty="0"/>
          </a:p>
          <a:p>
            <a:pPr algn="ctr" indent="0" marL="0">
              <a:buNone/>
            </a:pPr>
            <a:r>
              <a:rPr lang="en-US" sz="2400" b="1" dirty="0">
                <a:solidFill>
                  <a:schemeClr val="bg1"/>
                </a:solidFill>
                <a:latin typeface="Cambria" pitchFamily="34" charset="0"/>
                <a:ea typeface="Cambria" pitchFamily="34" charset="-122"/>
                <a:cs typeface="Cambria" pitchFamily="34" charset="-120"/>
              </a:rPr>
              <a:t>2.468,5 ha</a:t>
            </a:r>
            <a:endParaRPr lang="en-US" sz="1400" dirty="0"/>
          </a:p>
        </p:txBody>
      </p:sp>
      <p:sp>
        <p:nvSpPr>
          <p:cNvPr id="11" name="Text 8"/>
          <p:cNvSpPr txBox="1"/>
          <p:nvPr/>
        </p:nvSpPr>
        <p:spPr>
          <a:xfrm>
            <a:off x="5943600" y="1965960"/>
            <a:ext cx="457200" cy="548640"/>
          </a:xfrm>
          <a:prstGeom prst="rect">
            <a:avLst/>
          </a:prstGeom>
          <a:noFill/>
          <a:ln/>
        </p:spPr>
        <p:txBody>
          <a:bodyPr wrap="square" lIns="0" tIns="0" rIns="0" bIns="0" rtlCol="0" anchor="t"/>
          <a:lstStyle/>
          <a:p>
            <a:pPr indent="0" marL="0">
              <a:buNone/>
            </a:pPr>
            <a:r>
              <a:rPr lang="en-US" sz="2600" b="1" dirty="0">
                <a:solidFill>
                  <a:schemeClr val="accent3"/>
                </a:solidFill>
                <a:latin typeface="Cambria" pitchFamily="34" charset="0"/>
                <a:ea typeface="Cambria" pitchFamily="34" charset="-122"/>
                <a:cs typeface="Cambria" pitchFamily="34" charset="-120"/>
              </a:rPr>
              <a:t>1</a:t>
            </a:r>
            <a:endParaRPr lang="en-US" sz="2600" dirty="0"/>
          </a:p>
        </p:txBody>
      </p:sp>
      <p:sp>
        <p:nvSpPr>
          <p:cNvPr id="12" name="Text 9"/>
          <p:cNvSpPr txBox="1"/>
          <p:nvPr/>
        </p:nvSpPr>
        <p:spPr>
          <a:xfrm>
            <a:off x="6492240" y="1965960"/>
            <a:ext cx="5150815" cy="868680"/>
          </a:xfrm>
          <a:prstGeom prst="rect">
            <a:avLst/>
          </a:prstGeom>
          <a:noFill/>
          <a:ln/>
        </p:spPr>
        <p:txBody>
          <a:bodyPr wrap="square" lIns="0" tIns="0" rIns="0" bIns="0" rtlCol="0" anchor="t"/>
          <a:lstStyle/>
          <a:p>
            <a:pPr indent="0" marL="0">
              <a:buNone/>
            </a:pPr>
            <a:r>
              <a:rPr lang="en-US" sz="1600" b="1" dirty="0">
                <a:solidFill>
                  <a:schemeClr val="tx1"/>
                </a:solidFill>
              </a:rPr>
              <a:t>Pemindahan kegiatan</a:t>
            </a:r>
            <a:endParaRPr lang="en-US" sz="1400" dirty="0"/>
          </a:p>
          <a:p>
            <a:pPr indent="0" marL="0">
              <a:buNone/>
            </a:pPr>
            <a:r>
              <a:rPr lang="en-US" sz="1400" dirty="0">
                <a:solidFill>
                  <a:schemeClr val="accent5"/>
                </a:solidFill>
              </a:rPr>
              <a:t>Kebun 359 ha → zona paludikultur/agroforestri, bukan digusur. Pantau sabuk leakage.</a:t>
            </a:r>
            <a:endParaRPr lang="en-US" sz="1400" dirty="0"/>
          </a:p>
        </p:txBody>
      </p:sp>
      <p:sp>
        <p:nvSpPr>
          <p:cNvPr id="13" name="Shape 10"/>
          <p:cNvSpPr/>
          <p:nvPr/>
        </p:nvSpPr>
        <p:spPr>
          <a:xfrm>
            <a:off x="5943600" y="2843784"/>
            <a:ext cx="5699455" cy="0"/>
          </a:xfrm>
          <a:prstGeom prst="line">
            <a:avLst/>
          </a:prstGeom>
          <a:noFill/>
          <a:ln w="9525">
            <a:solidFill>
              <a:srgbClr val="333333"/>
            </a:solidFill>
            <a:prstDash val="solid"/>
          </a:ln>
        </p:spPr>
      </p:sp>
      <p:sp>
        <p:nvSpPr>
          <p:cNvPr id="14" name="Text 11"/>
          <p:cNvSpPr txBox="1"/>
          <p:nvPr/>
        </p:nvSpPr>
        <p:spPr>
          <a:xfrm>
            <a:off x="5943600" y="2953512"/>
            <a:ext cx="457200" cy="54864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2</a:t>
            </a:r>
            <a:endParaRPr lang="en-US" sz="2600" dirty="0"/>
          </a:p>
        </p:txBody>
      </p:sp>
      <p:sp>
        <p:nvSpPr>
          <p:cNvPr id="15" name="Text 12"/>
          <p:cNvSpPr txBox="1"/>
          <p:nvPr/>
        </p:nvSpPr>
        <p:spPr>
          <a:xfrm>
            <a:off x="6492240" y="2953512"/>
            <a:ext cx="5150815" cy="868680"/>
          </a:xfrm>
          <a:prstGeom prst="rect">
            <a:avLst/>
          </a:prstGeom>
          <a:noFill/>
          <a:ln/>
        </p:spPr>
        <p:txBody>
          <a:bodyPr wrap="square" lIns="0" tIns="0" rIns="0" bIns="0" rtlCol="0" anchor="t"/>
          <a:lstStyle/>
          <a:p>
            <a:pPr indent="0" marL="0">
              <a:buNone/>
            </a:pPr>
            <a:r>
              <a:rPr lang="en-US" sz="1600" b="1" dirty="0">
                <a:solidFill>
                  <a:schemeClr val="tx1"/>
                </a:solidFill>
              </a:rPr>
              <a:t>Pasar</a:t>
            </a:r>
            <a:endParaRPr lang="en-US" sz="1400" dirty="0"/>
          </a:p>
          <a:p>
            <a:pPr indent="0" marL="0">
              <a:buNone/>
            </a:pPr>
            <a:r>
              <a:rPr lang="en-US" sz="1400" dirty="0">
                <a:solidFill>
                  <a:schemeClr val="accent5"/>
                </a:solidFill>
              </a:rPr>
              <a:t>Abaikan secara terdokumentasi bila produksi tetap berjalan lewat paludikultur.</a:t>
            </a:r>
            <a:endParaRPr lang="en-US" sz="1400" dirty="0"/>
          </a:p>
        </p:txBody>
      </p:sp>
      <p:sp>
        <p:nvSpPr>
          <p:cNvPr id="16" name="Shape 13"/>
          <p:cNvSpPr/>
          <p:nvPr/>
        </p:nvSpPr>
        <p:spPr>
          <a:xfrm>
            <a:off x="5943600" y="3831336"/>
            <a:ext cx="5699455" cy="0"/>
          </a:xfrm>
          <a:prstGeom prst="line">
            <a:avLst/>
          </a:prstGeom>
          <a:noFill/>
          <a:ln w="9525">
            <a:solidFill>
              <a:srgbClr val="333333"/>
            </a:solidFill>
            <a:prstDash val="solid"/>
          </a:ln>
        </p:spPr>
      </p:sp>
      <p:sp>
        <p:nvSpPr>
          <p:cNvPr id="17" name="Text 14"/>
          <p:cNvSpPr txBox="1"/>
          <p:nvPr/>
        </p:nvSpPr>
        <p:spPr>
          <a:xfrm>
            <a:off x="5943600" y="3941064"/>
            <a:ext cx="457200" cy="548640"/>
          </a:xfrm>
          <a:prstGeom prst="rect">
            <a:avLst/>
          </a:prstGeom>
          <a:noFill/>
          <a:ln/>
        </p:spPr>
        <p:txBody>
          <a:bodyPr wrap="square" lIns="0" tIns="0" rIns="0" bIns="0" rtlCol="0" anchor="t"/>
          <a:lstStyle/>
          <a:p>
            <a:pPr indent="0" marL="0">
              <a:buNone/>
            </a:pPr>
            <a:r>
              <a:rPr lang="en-US" sz="2600" b="1" dirty="0">
                <a:solidFill>
                  <a:srgbClr val="3F7C85"/>
                </a:solidFill>
                <a:latin typeface="Cambria" pitchFamily="34" charset="0"/>
                <a:ea typeface="Cambria" pitchFamily="34" charset="-122"/>
                <a:cs typeface="Cambria" pitchFamily="34" charset="-120"/>
              </a:rPr>
              <a:t>3</a:t>
            </a:r>
            <a:endParaRPr lang="en-US" sz="2600" dirty="0"/>
          </a:p>
        </p:txBody>
      </p:sp>
      <p:sp>
        <p:nvSpPr>
          <p:cNvPr id="18" name="Text 15"/>
          <p:cNvSpPr txBox="1"/>
          <p:nvPr/>
        </p:nvSpPr>
        <p:spPr>
          <a:xfrm>
            <a:off x="6492240" y="3941064"/>
            <a:ext cx="5150815" cy="868680"/>
          </a:xfrm>
          <a:prstGeom prst="rect">
            <a:avLst/>
          </a:prstGeom>
          <a:noFill/>
          <a:ln/>
        </p:spPr>
        <p:txBody>
          <a:bodyPr wrap="square" lIns="0" tIns="0" rIns="0" bIns="0" rtlCol="0" anchor="t"/>
          <a:lstStyle/>
          <a:p>
            <a:pPr indent="0" marL="0">
              <a:buNone/>
            </a:pPr>
            <a:r>
              <a:rPr lang="en-US" sz="1600" b="1" dirty="0">
                <a:solidFill>
                  <a:schemeClr val="tx1"/>
                </a:solidFill>
              </a:rPr>
              <a:t>Hidrologi</a:t>
            </a:r>
            <a:endParaRPr lang="en-US" sz="1400" dirty="0"/>
          </a:p>
          <a:p>
            <a:pPr indent="0" marL="0">
              <a:buNone/>
            </a:pPr>
            <a:r>
              <a:rPr lang="en-US" sz="1400" dirty="0">
                <a:solidFill>
                  <a:schemeClr val="accent5"/>
                </a:solidFill>
              </a:rPr>
              <a:t>Batas ikut sub-KHG; sekat kanal bersama BRGM &amp; tetangga; pantau TMAT ≤ 0,4 m.</a:t>
            </a:r>
            <a:endParaRPr lang="en-US" sz="1400" dirty="0"/>
          </a:p>
        </p:txBody>
      </p:sp>
      <p:sp>
        <p:nvSpPr>
          <p:cNvPr id="19" name="Shape 16"/>
          <p:cNvSpPr/>
          <p:nvPr/>
        </p:nvSpPr>
        <p:spPr>
          <a:xfrm>
            <a:off x="5943600" y="4818888"/>
            <a:ext cx="5699455" cy="0"/>
          </a:xfrm>
          <a:prstGeom prst="line">
            <a:avLst/>
          </a:prstGeom>
          <a:noFill/>
          <a:ln w="9525">
            <a:solidFill>
              <a:srgbClr val="333333"/>
            </a:solidFill>
            <a:prstDash val="solid"/>
          </a:ln>
        </p:spPr>
      </p:sp>
      <p:sp>
        <p:nvSpPr>
          <p:cNvPr id="20" name="Text 17"/>
          <p:cNvSpPr txBox="1"/>
          <p:nvPr/>
        </p:nvSpPr>
        <p:spPr>
          <a:xfrm>
            <a:off x="5943600" y="4928616"/>
            <a:ext cx="457200" cy="548640"/>
          </a:xfrm>
          <a:prstGeom prst="rect">
            <a:avLst/>
          </a:prstGeom>
          <a:noFill/>
          <a:ln/>
        </p:spPr>
        <p:txBody>
          <a:bodyPr wrap="square" lIns="0" tIns="0" rIns="0" bIns="0" rtlCol="0" anchor="t"/>
          <a:lstStyle/>
          <a:p>
            <a:pPr indent="0" marL="0">
              <a:buNone/>
            </a:pPr>
            <a:r>
              <a:rPr lang="en-US" sz="2600" b="1" dirty="0">
                <a:solidFill>
                  <a:schemeClr val="accent4"/>
                </a:solidFill>
                <a:latin typeface="Cambria" pitchFamily="34" charset="0"/>
                <a:ea typeface="Cambria" pitchFamily="34" charset="-122"/>
                <a:cs typeface="Cambria" pitchFamily="34" charset="-120"/>
              </a:rPr>
              <a:t>4</a:t>
            </a:r>
            <a:endParaRPr lang="en-US" sz="2600" dirty="0"/>
          </a:p>
        </p:txBody>
      </p:sp>
      <p:sp>
        <p:nvSpPr>
          <p:cNvPr id="21" name="Text 18"/>
          <p:cNvSpPr txBox="1"/>
          <p:nvPr/>
        </p:nvSpPr>
        <p:spPr>
          <a:xfrm>
            <a:off x="6492240" y="4928616"/>
            <a:ext cx="5150815" cy="868680"/>
          </a:xfrm>
          <a:prstGeom prst="rect">
            <a:avLst/>
          </a:prstGeom>
          <a:noFill/>
          <a:ln/>
        </p:spPr>
        <p:txBody>
          <a:bodyPr wrap="square" lIns="0" tIns="0" rIns="0" bIns="0" rtlCol="0" anchor="t"/>
          <a:lstStyle/>
          <a:p>
            <a:pPr indent="0" marL="0">
              <a:buNone/>
            </a:pPr>
            <a:r>
              <a:rPr lang="en-US" sz="1600" b="1" dirty="0">
                <a:solidFill>
                  <a:schemeClr val="tx1"/>
                </a:solidFill>
              </a:rPr>
              <a:t>Kebakaran</a:t>
            </a:r>
            <a:endParaRPr lang="en-US" sz="1400" dirty="0"/>
          </a:p>
          <a:p>
            <a:pPr indent="0" marL="0">
              <a:buNone/>
            </a:pPr>
            <a:r>
              <a:rPr lang="en-US" sz="1400" dirty="0">
                <a:solidFill>
                  <a:schemeClr val="accent5"/>
                </a:solidFill>
              </a:rPr>
              <a:t>Risiko reversal → buffer &gt;20%; regu damkar, sumur bor, peringatan dini.</a:t>
            </a:r>
            <a:endParaRPr lang="en-US" sz="1400" dirty="0"/>
          </a:p>
        </p:txBody>
      </p:sp>
      <p:sp>
        <p:nvSpPr>
          <p:cNvPr id="22" name="Text 19"/>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Potongan leakage 15% di model bersifat sementara — ganti dengan hasil modul metodologi terpilih.</a:t>
            </a:r>
            <a:endParaRPr lang="en-US" sz="1000" dirty="0"/>
          </a:p>
        </p:txBody>
      </p:sp>
      <p:sp>
        <p:nvSpPr>
          <p:cNvPr id="23" name="tutupan-hs"/>
          <p:cNvSpPr/>
          <p:nvPr/>
        </p:nvSpPr>
        <p:spPr>
          <a:xfrm>
            <a:off x="548640" y="6400800"/>
            <a:ext cx="794550" cy="91440"/>
          </a:xfrm>
          <a:prstGeom prst="rect">
            <a:avLst/>
          </a:prstGeom>
          <a:solidFill>
            <a:srgbClr val="DCD8D2"/>
          </a:solidFill>
          <a:ln/>
        </p:spPr>
      </p:sp>
      <p:sp>
        <p:nvSpPr>
          <p:cNvPr id="24" name="tutupan-sb"/>
          <p:cNvSpPr/>
          <p:nvPr/>
        </p:nvSpPr>
        <p:spPr>
          <a:xfrm>
            <a:off x="1361478" y="6400800"/>
            <a:ext cx="342721" cy="91440"/>
          </a:xfrm>
          <a:prstGeom prst="rect">
            <a:avLst/>
          </a:prstGeom>
          <a:solidFill>
            <a:srgbClr val="DCD8D2"/>
          </a:solidFill>
          <a:ln/>
        </p:spPr>
      </p:sp>
      <p:sp>
        <p:nvSpPr>
          <p:cNvPr id="25" name="tutupan-kb"/>
          <p:cNvSpPr/>
          <p:nvPr/>
        </p:nvSpPr>
        <p:spPr>
          <a:xfrm>
            <a:off x="1722487" y="6400800"/>
            <a:ext cx="202213" cy="91440"/>
          </a:xfrm>
          <a:prstGeom prst="rect">
            <a:avLst/>
          </a:prstGeom>
          <a:solidFill>
            <a:schemeClr val="accent3"/>
          </a:solidFill>
          <a:ln/>
        </p:spPr>
      </p:sp>
      <p:sp>
        <p:nvSpPr>
          <p:cNvPr id="26" name="tutupan-lt"/>
          <p:cNvSpPr/>
          <p:nvPr/>
        </p:nvSpPr>
        <p:spPr>
          <a:xfrm>
            <a:off x="1942988" y="6400800"/>
            <a:ext cx="32432" cy="91440"/>
          </a:xfrm>
          <a:prstGeom prst="rect">
            <a:avLst/>
          </a:prstGeom>
          <a:solidFill>
            <a:srgbClr val="DCD8D2"/>
          </a:solidFill>
          <a:ln/>
        </p:spPr>
      </p:sp>
      <p:sp>
        <p:nvSpPr>
          <p:cNvPr id="27" name="tutupan-sg"/>
          <p:cNvSpPr/>
          <p:nvPr/>
        </p:nvSpPr>
        <p:spPr>
          <a:xfrm>
            <a:off x="1993708" y="6400800"/>
            <a:ext cx="17972" cy="91440"/>
          </a:xfrm>
          <a:prstGeom prst="rect">
            <a:avLst/>
          </a:prstGeom>
          <a:solidFill>
            <a:srgbClr val="DCD8D2"/>
          </a:solidFill>
          <a:ln/>
        </p:spPr>
      </p:sp>
      <p:sp>
        <p:nvSpPr>
          <p:cNvPr id="28" name="Text 25"/>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Perkebunan 359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11094415" cy="320040"/>
          </a:xfrm>
          <a:prstGeom prst="rect">
            <a:avLst/>
          </a:prstGeom>
          <a:noFill/>
          <a:ln/>
        </p:spPr>
        <p:txBody>
          <a:bodyPr wrap="square" lIns="0" tIns="0" rIns="0" bIns="0" rtlCol="0"/>
          <a:lstStyle/>
          <a:p>
            <a:pPr indent="0" marL="0">
              <a:buNone/>
            </a:pPr>
            <a:r>
              <a:rPr lang="en-US" sz="1400" b="1" spc="300" kern="0" dirty="0">
                <a:solidFill>
                  <a:schemeClr val="accent6"/>
                </a:solidFill>
              </a:rPr>
              <a:t>LANGKAH BERIKUTNYA</a:t>
            </a:r>
            <a:endParaRPr lang="en-US" sz="1400" dirty="0"/>
          </a:p>
        </p:txBody>
      </p:sp>
      <p:sp>
        <p:nvSpPr>
          <p:cNvPr id="3" name="Text 0"/>
          <p:cNvSpPr/>
          <p:nvPr>
            <p:ph idx="101" type="title" hasCustomPrompt="1"/>
          </p:nvPr>
        </p:nvSpPr>
        <p:spPr>
          <a:xfrm>
            <a:off x="548640" y="1280160"/>
            <a:ext cx="10058400" cy="155448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Perbaiki data aktivitas dulu; harga dan pembeli menyusul</a:t>
            </a:r>
            <a:endParaRPr lang="en-US" sz="4000" dirty="0"/>
          </a:p>
        </p:txBody>
      </p:sp>
      <p:sp>
        <p:nvSpPr>
          <p:cNvPr id="5" name="Shape 2"/>
          <p:cNvSpPr/>
          <p:nvPr/>
        </p:nvSpPr>
        <p:spPr>
          <a:xfrm>
            <a:off x="548640" y="3017520"/>
            <a:ext cx="2036003" cy="2194560"/>
          </a:xfrm>
          <a:prstGeom prst="rect">
            <a:avLst/>
          </a:prstGeom>
          <a:solidFill>
            <a:schemeClr val="accent1"/>
          </a:solidFill>
          <a:ln/>
        </p:spPr>
      </p:sp>
      <p:sp>
        <p:nvSpPr>
          <p:cNvPr id="6" name="Text 3"/>
          <p:cNvSpPr txBox="1"/>
          <p:nvPr/>
        </p:nvSpPr>
        <p:spPr>
          <a:xfrm>
            <a:off x="731520" y="3200400"/>
            <a:ext cx="1670243" cy="54864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01</a:t>
            </a:r>
            <a:endParaRPr lang="en-US" sz="2800" dirty="0"/>
          </a:p>
        </p:txBody>
      </p:sp>
      <p:sp>
        <p:nvSpPr>
          <p:cNvPr id="7" name="Text 4"/>
          <p:cNvSpPr txBox="1"/>
          <p:nvPr/>
        </p:nvSpPr>
        <p:spPr>
          <a:xfrm>
            <a:off x="731520" y="3794760"/>
            <a:ext cx="1670243" cy="1325880"/>
          </a:xfrm>
          <a:prstGeom prst="rect">
            <a:avLst/>
          </a:prstGeom>
          <a:noFill/>
          <a:ln/>
        </p:spPr>
        <p:txBody>
          <a:bodyPr wrap="square" lIns="0" tIns="0" rIns="0" bIns="0" rtlCol="0" anchor="t"/>
          <a:lstStyle/>
          <a:p>
            <a:pPr indent="0" marL="0">
              <a:buNone/>
            </a:pPr>
            <a:r>
              <a:rPr lang="en-US" sz="1600" b="1" dirty="0">
                <a:solidFill>
                  <a:schemeClr val="bg1"/>
                </a:solidFill>
              </a:rPr>
              <a:t>Satu peta tutupan</a:t>
            </a:r>
            <a:endParaRPr lang="en-US" sz="1400" dirty="0"/>
          </a:p>
          <a:p>
            <a:pPr indent="0" marL="0">
              <a:buNone/>
            </a:pPr>
            <a:r>
              <a:rPr lang="en-US" sz="1300" dirty="0">
                <a:solidFill>
                  <a:srgbClr val="D9D2C8"/>
                </a:solidFill>
              </a:rPr>
              <a:t>Citra resolusi tinggi 2016/2021/2026, uji akurasi, matriks per periode</a:t>
            </a:r>
            <a:endParaRPr lang="en-US" sz="1400" dirty="0"/>
          </a:p>
        </p:txBody>
      </p:sp>
      <p:sp>
        <p:nvSpPr>
          <p:cNvPr id="8" name="Shape 5"/>
          <p:cNvSpPr/>
          <p:nvPr/>
        </p:nvSpPr>
        <p:spPr>
          <a:xfrm>
            <a:off x="2813243" y="3017520"/>
            <a:ext cx="2036003" cy="2194560"/>
          </a:xfrm>
          <a:prstGeom prst="rect">
            <a:avLst/>
          </a:prstGeom>
          <a:solidFill>
            <a:srgbClr val="3A3129"/>
          </a:solidFill>
          <a:ln/>
        </p:spPr>
      </p:sp>
      <p:sp>
        <p:nvSpPr>
          <p:cNvPr id="9" name="Text 6"/>
          <p:cNvSpPr txBox="1"/>
          <p:nvPr/>
        </p:nvSpPr>
        <p:spPr>
          <a:xfrm>
            <a:off x="2996123" y="3200400"/>
            <a:ext cx="1670243" cy="54864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02</a:t>
            </a:r>
            <a:endParaRPr lang="en-US" sz="2800" dirty="0"/>
          </a:p>
        </p:txBody>
      </p:sp>
      <p:sp>
        <p:nvSpPr>
          <p:cNvPr id="10" name="Text 7"/>
          <p:cNvSpPr txBox="1"/>
          <p:nvPr/>
        </p:nvSpPr>
        <p:spPr>
          <a:xfrm>
            <a:off x="2996123" y="3794760"/>
            <a:ext cx="1670243" cy="1325880"/>
          </a:xfrm>
          <a:prstGeom prst="rect">
            <a:avLst/>
          </a:prstGeom>
          <a:noFill/>
          <a:ln/>
        </p:spPr>
        <p:txBody>
          <a:bodyPr wrap="square" lIns="0" tIns="0" rIns="0" bIns="0" rtlCol="0" anchor="t"/>
          <a:lstStyle/>
          <a:p>
            <a:pPr indent="0" marL="0">
              <a:buNone/>
            </a:pPr>
            <a:r>
              <a:rPr lang="en-US" sz="1600" b="1" dirty="0">
                <a:solidFill>
                  <a:schemeClr val="bg1"/>
                </a:solidFill>
              </a:rPr>
              <a:t>Satu tabel parameter</a:t>
            </a:r>
            <a:endParaRPr lang="en-US" sz="1400" dirty="0"/>
          </a:p>
          <a:p>
            <a:pPr indent="0" marL="0">
              <a:buNone/>
            </a:pPr>
            <a:r>
              <a:rPr lang="en-US" sz="1300" dirty="0">
                <a:solidFill>
                  <a:srgbClr val="D9D2C8"/>
                </a:solidFill>
              </a:rPr>
              <a:t>BD &amp; %C gambut dari lab; stok biomassa dari plot</a:t>
            </a:r>
            <a:endParaRPr lang="en-US" sz="1400" dirty="0"/>
          </a:p>
        </p:txBody>
      </p:sp>
      <p:sp>
        <p:nvSpPr>
          <p:cNvPr id="11" name="Shape 8"/>
          <p:cNvSpPr/>
          <p:nvPr/>
        </p:nvSpPr>
        <p:spPr>
          <a:xfrm>
            <a:off x="5077846" y="3017520"/>
            <a:ext cx="2036003" cy="2194560"/>
          </a:xfrm>
          <a:prstGeom prst="rect">
            <a:avLst/>
          </a:prstGeom>
          <a:solidFill>
            <a:srgbClr val="3A3129"/>
          </a:solidFill>
          <a:ln/>
        </p:spPr>
      </p:sp>
      <p:sp>
        <p:nvSpPr>
          <p:cNvPr id="12" name="Text 9"/>
          <p:cNvSpPr txBox="1"/>
          <p:nvPr/>
        </p:nvSpPr>
        <p:spPr>
          <a:xfrm>
            <a:off x="5260726" y="3200400"/>
            <a:ext cx="1670243" cy="54864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03</a:t>
            </a:r>
            <a:endParaRPr lang="en-US" sz="2800" dirty="0"/>
          </a:p>
        </p:txBody>
      </p:sp>
      <p:sp>
        <p:nvSpPr>
          <p:cNvPr id="13" name="Text 10"/>
          <p:cNvSpPr txBox="1"/>
          <p:nvPr/>
        </p:nvSpPr>
        <p:spPr>
          <a:xfrm>
            <a:off x="5260726" y="3794760"/>
            <a:ext cx="1670243" cy="1325880"/>
          </a:xfrm>
          <a:prstGeom prst="rect">
            <a:avLst/>
          </a:prstGeom>
          <a:noFill/>
          <a:ln/>
        </p:spPr>
        <p:txBody>
          <a:bodyPr wrap="square" lIns="0" tIns="0" rIns="0" bIns="0" rtlCol="0" anchor="t"/>
          <a:lstStyle/>
          <a:p>
            <a:pPr indent="0" marL="0">
              <a:buNone/>
            </a:pPr>
            <a:r>
              <a:rPr lang="en-US" sz="1600" b="1" dirty="0">
                <a:solidFill>
                  <a:schemeClr val="bg1"/>
                </a:solidFill>
              </a:rPr>
              <a:t>Pilih metodologi</a:t>
            </a:r>
            <a:endParaRPr lang="en-US" sz="1400" dirty="0"/>
          </a:p>
          <a:p>
            <a:pPr indent="0" marL="0">
              <a:buNone/>
            </a:pPr>
            <a:r>
              <a:rPr lang="en-US" sz="1300" dirty="0">
                <a:solidFill>
                  <a:srgbClr val="D9D2C8"/>
                </a:solidFill>
              </a:rPr>
              <a:t>VM0048 + WRC, atau skema domestik SPE-GRK</a:t>
            </a:r>
            <a:endParaRPr lang="en-US" sz="1400" dirty="0"/>
          </a:p>
        </p:txBody>
      </p:sp>
      <p:sp>
        <p:nvSpPr>
          <p:cNvPr id="14" name="Shape 11"/>
          <p:cNvSpPr/>
          <p:nvPr/>
        </p:nvSpPr>
        <p:spPr>
          <a:xfrm>
            <a:off x="7342449" y="3017520"/>
            <a:ext cx="2036003" cy="2194560"/>
          </a:xfrm>
          <a:prstGeom prst="rect">
            <a:avLst/>
          </a:prstGeom>
          <a:solidFill>
            <a:srgbClr val="3A3129"/>
          </a:solidFill>
          <a:ln/>
        </p:spPr>
      </p:sp>
      <p:sp>
        <p:nvSpPr>
          <p:cNvPr id="15" name="Text 12"/>
          <p:cNvSpPr txBox="1"/>
          <p:nvPr/>
        </p:nvSpPr>
        <p:spPr>
          <a:xfrm>
            <a:off x="7525329" y="3200400"/>
            <a:ext cx="1670243" cy="54864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04</a:t>
            </a:r>
            <a:endParaRPr lang="en-US" sz="2800" dirty="0"/>
          </a:p>
        </p:txBody>
      </p:sp>
      <p:sp>
        <p:nvSpPr>
          <p:cNvPr id="16" name="Text 13"/>
          <p:cNvSpPr txBox="1"/>
          <p:nvPr/>
        </p:nvSpPr>
        <p:spPr>
          <a:xfrm>
            <a:off x="7525329" y="3794760"/>
            <a:ext cx="1670243" cy="1325880"/>
          </a:xfrm>
          <a:prstGeom prst="rect">
            <a:avLst/>
          </a:prstGeom>
          <a:noFill/>
          <a:ln/>
        </p:spPr>
        <p:txBody>
          <a:bodyPr wrap="square" lIns="0" tIns="0" rIns="0" bIns="0" rtlCol="0" anchor="t"/>
          <a:lstStyle/>
          <a:p>
            <a:pPr indent="0" marL="0">
              <a:buNone/>
            </a:pPr>
            <a:r>
              <a:rPr lang="en-US" sz="1600" b="1" dirty="0">
                <a:solidFill>
                  <a:schemeClr val="bg1"/>
                </a:solidFill>
              </a:rPr>
              <a:t>Bab PDD</a:t>
            </a:r>
            <a:endParaRPr lang="en-US" sz="1400" dirty="0"/>
          </a:p>
          <a:p>
            <a:pPr indent="0" marL="0">
              <a:buNone/>
            </a:pPr>
            <a:r>
              <a:rPr lang="en-US" sz="1300" dirty="0">
                <a:solidFill>
                  <a:srgbClr val="D9D2C8"/>
                </a:solidFill>
              </a:rPr>
              <a:t>Additionality dan rencana pengelolaan leakage</a:t>
            </a:r>
            <a:endParaRPr lang="en-US" sz="1400" dirty="0"/>
          </a:p>
        </p:txBody>
      </p:sp>
      <p:sp>
        <p:nvSpPr>
          <p:cNvPr id="17" name="Shape 14"/>
          <p:cNvSpPr/>
          <p:nvPr/>
        </p:nvSpPr>
        <p:spPr>
          <a:xfrm>
            <a:off x="9607052" y="3017520"/>
            <a:ext cx="2036003" cy="2194560"/>
          </a:xfrm>
          <a:prstGeom prst="rect">
            <a:avLst/>
          </a:prstGeom>
          <a:solidFill>
            <a:srgbClr val="3A3129"/>
          </a:solidFill>
          <a:ln/>
        </p:spPr>
      </p:sp>
      <p:sp>
        <p:nvSpPr>
          <p:cNvPr id="18" name="Text 15"/>
          <p:cNvSpPr txBox="1"/>
          <p:nvPr/>
        </p:nvSpPr>
        <p:spPr>
          <a:xfrm>
            <a:off x="9789932" y="3200400"/>
            <a:ext cx="1670243" cy="54864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05</a:t>
            </a:r>
            <a:endParaRPr lang="en-US" sz="2800" dirty="0"/>
          </a:p>
        </p:txBody>
      </p:sp>
      <p:sp>
        <p:nvSpPr>
          <p:cNvPr id="19" name="Text 16"/>
          <p:cNvSpPr txBox="1"/>
          <p:nvPr/>
        </p:nvSpPr>
        <p:spPr>
          <a:xfrm>
            <a:off x="9789932" y="3794760"/>
            <a:ext cx="1670243" cy="1325880"/>
          </a:xfrm>
          <a:prstGeom prst="rect">
            <a:avLst/>
          </a:prstGeom>
          <a:noFill/>
          <a:ln/>
        </p:spPr>
        <p:txBody>
          <a:bodyPr wrap="square" lIns="0" tIns="0" rIns="0" bIns="0" rtlCol="0" anchor="t"/>
          <a:lstStyle/>
          <a:p>
            <a:pPr indent="0" marL="0">
              <a:buNone/>
            </a:pPr>
            <a:r>
              <a:rPr lang="en-US" sz="1600" b="1" dirty="0">
                <a:solidFill>
                  <a:schemeClr val="bg1"/>
                </a:solidFill>
              </a:rPr>
              <a:t>Buffer &amp; harga</a:t>
            </a:r>
            <a:endParaRPr lang="en-US" sz="1400" dirty="0"/>
          </a:p>
          <a:p>
            <a:pPr indent="0" marL="0">
              <a:buNone/>
            </a:pPr>
            <a:r>
              <a:rPr lang="en-US" sz="1300" dirty="0">
                <a:solidFill>
                  <a:srgbClr val="D9D2C8"/>
                </a:solidFill>
              </a:rPr>
              <a:t>Non-Permanence Risk Tool; kurs dan harga terkini</a:t>
            </a:r>
            <a:endParaRPr lang="en-US" sz="1400" dirty="0"/>
          </a:p>
        </p:txBody>
      </p:sp>
      <p:sp>
        <p:nvSpPr>
          <p:cNvPr id="20" name="Text 17"/>
          <p:cNvSpPr txBox="1"/>
          <p:nvPr/>
        </p:nvSpPr>
        <p:spPr>
          <a:xfrm>
            <a:off x="548640" y="5486400"/>
            <a:ext cx="11094415" cy="365760"/>
          </a:xfrm>
          <a:prstGeom prst="rect">
            <a:avLst/>
          </a:prstGeom>
          <a:noFill/>
          <a:ln/>
        </p:spPr>
        <p:txBody>
          <a:bodyPr wrap="square" lIns="0" tIns="0" rIns="0" bIns="0" rtlCol="0" anchor="t"/>
          <a:lstStyle/>
          <a:p>
            <a:pPr indent="0" marL="0">
              <a:buNone/>
            </a:pPr>
            <a:r>
              <a:rPr lang="en-US" sz="1600" b="1" dirty="0">
                <a:solidFill>
                  <a:schemeClr val="accent6"/>
                </a:solidFill>
              </a:rPr>
              <a:t>Mulai minggu ini: pengadaan citra resolusi tinggi dan rencana ground check.</a:t>
            </a:r>
            <a:endParaRPr lang="en-US" sz="1600" dirty="0"/>
          </a:p>
        </p:txBody>
      </p:sp>
      <p:sp>
        <p:nvSpPr>
          <p:cNvPr id="21" name="tutupan-hs"/>
          <p:cNvSpPr/>
          <p:nvPr/>
        </p:nvSpPr>
        <p:spPr>
          <a:xfrm>
            <a:off x="548640" y="6400800"/>
            <a:ext cx="794550" cy="91440"/>
          </a:xfrm>
          <a:prstGeom prst="rect">
            <a:avLst/>
          </a:prstGeom>
          <a:solidFill>
            <a:schemeClr val="accent1"/>
          </a:solidFill>
          <a:ln/>
        </p:spPr>
      </p:sp>
      <p:sp>
        <p:nvSpPr>
          <p:cNvPr id="22" name="tutupan-sb"/>
          <p:cNvSpPr/>
          <p:nvPr/>
        </p:nvSpPr>
        <p:spPr>
          <a:xfrm>
            <a:off x="1361478" y="6400800"/>
            <a:ext cx="342721" cy="91440"/>
          </a:xfrm>
          <a:prstGeom prst="rect">
            <a:avLst/>
          </a:prstGeom>
          <a:solidFill>
            <a:schemeClr val="accent2"/>
          </a:solidFill>
          <a:ln/>
        </p:spPr>
      </p:sp>
      <p:sp>
        <p:nvSpPr>
          <p:cNvPr id="23" name="tutupan-kb"/>
          <p:cNvSpPr/>
          <p:nvPr/>
        </p:nvSpPr>
        <p:spPr>
          <a:xfrm>
            <a:off x="1722487" y="6400800"/>
            <a:ext cx="202213" cy="91440"/>
          </a:xfrm>
          <a:prstGeom prst="rect">
            <a:avLst/>
          </a:prstGeom>
          <a:solidFill>
            <a:schemeClr val="accent3"/>
          </a:solidFill>
          <a:ln/>
        </p:spPr>
      </p:sp>
      <p:sp>
        <p:nvSpPr>
          <p:cNvPr id="24" name="tutupan-lt"/>
          <p:cNvSpPr/>
          <p:nvPr/>
        </p:nvSpPr>
        <p:spPr>
          <a:xfrm>
            <a:off x="1942988" y="6400800"/>
            <a:ext cx="32432" cy="91440"/>
          </a:xfrm>
          <a:prstGeom prst="rect">
            <a:avLst/>
          </a:prstGeom>
          <a:solidFill>
            <a:srgbClr val="B9AE9C"/>
          </a:solidFill>
          <a:ln/>
        </p:spPr>
      </p:sp>
      <p:sp>
        <p:nvSpPr>
          <p:cNvPr id="25" name="tutupan-sg"/>
          <p:cNvSpPr/>
          <p:nvPr/>
        </p:nvSpPr>
        <p:spPr>
          <a:xfrm>
            <a:off x="1993708" y="6400800"/>
            <a:ext cx="17972" cy="91440"/>
          </a:xfrm>
          <a:prstGeom prst="rect">
            <a:avLst/>
          </a:prstGeom>
          <a:solidFill>
            <a:srgbClr val="3F7C85"/>
          </a:solidFill>
          <a:ln/>
        </p:spPr>
      </p:sp>
      <p:sp>
        <p:nvSpPr>
          <p:cNvPr id="26" name="Text 23"/>
          <p:cNvSpPr txBox="1"/>
          <p:nvPr/>
        </p:nvSpPr>
        <p:spPr>
          <a:xfrm>
            <a:off x="2148840" y="6336792"/>
            <a:ext cx="2743200" cy="228600"/>
          </a:xfrm>
          <a:prstGeom prst="rect">
            <a:avLst/>
          </a:prstGeom>
          <a:noFill/>
          <a:ln/>
        </p:spPr>
        <p:txBody>
          <a:bodyPr wrap="square" lIns="0" tIns="0" rIns="0" bIns="0" rtlCol="0" anchor="t"/>
          <a:lstStyle/>
          <a:p>
            <a:pPr indent="0" marL="0">
              <a:buNone/>
            </a:pPr>
            <a:r>
              <a:rPr lang="en-US" sz="1000" dirty="0">
                <a:solidFill>
                  <a:schemeClr val="accent6"/>
                </a:solidFill>
              </a:rPr>
              <a:t>Seluruh areal 2.468,5 ha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LAMPIRAN · PARAMETER MODEL KOREKSI</a:t>
            </a:r>
            <a:endParaRPr lang="en-US" sz="1200" dirty="0"/>
          </a:p>
        </p:txBody>
      </p:sp>
      <p:sp>
        <p:nvSpPr>
          <p:cNvPr id="3" name="Text 0"/>
          <p:cNvSpPr/>
          <p:nvPr>
            <p:ph idx="101" type="title" hasCustomPrompt="1"/>
          </p:nvPr>
        </p:nvSpPr>
        <p:spPr>
          <a:xfrm>
            <a:off x="548640" y="731520"/>
            <a:ext cx="11094415" cy="1051560"/>
          </a:xfrm>
          <a:prstGeom prst="rect">
            <a:avLst/>
          </a:prstGeom>
          <a:noFill/>
          <a:ln/>
        </p:spPr>
        <p:txBody>
          <a:bodyPr wrap="square" lIns="0" tIns="0" rIns="0" bIns="0"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Semua angka kredit di deck ini berasal dari parameter berikut — ubah di sheet Parameter</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657600"/>
                <a:gridCol w="2560320"/>
                <a:gridCol w="4873752"/>
              </a:tblGrid>
              <a:tr h="457200">
                <a:tc>
                  <a:txBody>
                    <a:bodyPr/>
                    <a:lstStyle/>
                    <a:p>
                      <a:pPr indent="0" marL="0">
                        <a:buNone/>
                      </a:pPr>
                      <a:r>
                        <a:rPr lang="en-US" sz="1200" b="1" dirty="0">
                          <a:solidFill>
                            <a:srgbClr val="6B655E"/>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200" b="1" dirty="0">
                          <a:solidFill>
                            <a:srgbClr val="6B655E"/>
                          </a:solidFill>
                          <a:latin typeface="Calibri" pitchFamily="34" charset="0"/>
                          <a:ea typeface="Calibri" pitchFamily="34" charset="-122"/>
                          <a:cs typeface="Calibri" pitchFamily="34" charset="-120"/>
                        </a:rPr>
                        <a:t>Nilai</a:t>
                      </a:r>
                      <a:endParaRPr lang="en-US" sz="12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200" b="1" dirty="0">
                          <a:solidFill>
                            <a:srgbClr val="6B655E"/>
                          </a:solidFill>
                          <a:latin typeface="Calibri" pitchFamily="34" charset="0"/>
                          <a:ea typeface="Calibri" pitchFamily="34" charset="-122"/>
                          <a:cs typeface="Calibri" pitchFamily="34" charset="-120"/>
                        </a:rPr>
                        <a:t>Sumber</a:t>
                      </a:r>
                      <a:endParaRPr lang="en-US" sz="12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57200">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Stok C biomassa hutan rawa sekunder</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135,1 tC/ha</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(AGB 222,91 + BGB 64,64) × 0,47 — file asal; verifikasi plot</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57200">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Stok C pasca-deforestasi (tertimbang)</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14,8 tC/ha</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Lahan terbuka 2,5 · kebun 63 · semak 30 (sheet Tutupan lahan)</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57200">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FE gambut hutan / pasca-deforestasi</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19 / 31,6 tCO₂/ha/thn</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IPCC 2013 Wetlands Supplement, Tabel 2.1</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57200">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Laju deforestasi</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8,29 ha/thn (alt. 27,6)</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Bruto 2016–2026 (alt. neto 2021–2026)</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57200">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Efektivitas proyek</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43%</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Angka "Additional" file asal — wajib dijustifikasi</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57200">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Leakage / buffer / ketidakpastian</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15% / 20% / 0%</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Indikatif — ganti dengan modul metodologi &amp; NPRT</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r h="457200">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Porsi LPHD · kurs</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60% · Rp 16.000/USD</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c>
                  <a:txBody>
                    <a:bodyPr/>
                    <a:lstStyle/>
                    <a:p>
                      <a:pPr indent="0" marL="0">
                        <a:buNone/>
                      </a:pPr>
                      <a:r>
                        <a:rPr lang="en-US" sz="1400" dirty="0">
                          <a:solidFill>
                            <a:srgbClr val="1E1C19"/>
                          </a:solidFill>
                          <a:latin typeface="Calibri" pitchFamily="34" charset="0"/>
                          <a:ea typeface="Calibri" pitchFamily="34" charset="-122"/>
                          <a:cs typeface="Calibri" pitchFamily="34" charset="-120"/>
                        </a:rPr>
                        <a:t>File asal; kurs diseragamkan</a:t>
                      </a:r>
                      <a:endParaRPr lang="en-US" sz="1400" dirty="0">
                        <a:latin typeface="Calibri" charset="0"/>
                        <a:ea typeface="Calibri" charset="0"/>
                        <a:cs typeface="Calibri" charset="0"/>
                      </a:endParaRPr>
                    </a:p>
                  </a:txBody>
                  <a:tcPr marL="91440" marR="91440" marT="45720" marB="45720" anchor="ctr">
                    <a:lnL w="9525" cap="flat" cmpd="sng" algn="ctr">
                      <a:solidFill>
                        <a:srgbClr val="DCD8D2"/>
                      </a:solidFill>
                      <a:prstDash val="solid"/>
                      <a:round/>
                      <a:headEnd type="none" w="med" len="med"/>
                      <a:tailEnd type="none" w="med" len="med"/>
                    </a:lnL>
                    <a:lnR w="9525" cap="flat" cmpd="sng" algn="ctr">
                      <a:solidFill>
                        <a:srgbClr val="DCD8D2"/>
                      </a:solidFill>
                      <a:prstDash val="solid"/>
                      <a:round/>
                      <a:headEnd type="none" w="med" len="med"/>
                      <a:tailEnd type="none" w="med" len="med"/>
                    </a:lnR>
                    <a:lnT w="9525" cap="flat" cmpd="sng" algn="ctr">
                      <a:solidFill>
                        <a:srgbClr val="DCD8D2"/>
                      </a:solidFill>
                      <a:prstDash val="solid"/>
                      <a:round/>
                      <a:headEnd type="none" w="med" len="med"/>
                      <a:tailEnd type="none" w="med" len="med"/>
                    </a:lnT>
                    <a:lnB w="9525" cap="flat" cmpd="sng" algn="ctr">
                      <a:solidFill>
                        <a:srgbClr val="DCD8D2"/>
                      </a:solidFill>
                      <a:prstDash val="solid"/>
                      <a:round/>
                      <a:headEnd type="none" w="med" len="med"/>
                      <a:tailEnd type="none" w="med" len="med"/>
                    </a:lnB>
                  </a:tcPr>
                </a:tc>
              </a:tr>
            </a:tbl>
          </a:graphicData>
        </a:graphic>
      </p:graphicFrame>
      <p:sp>
        <p:nvSpPr>
          <p:cNvPr id="6" name="Text 2"/>
          <p:cNvSpPr txBox="1"/>
          <p:nvPr/>
        </p:nvSpPr>
        <p:spPr>
          <a:xfrm>
            <a:off x="4297680" y="6336792"/>
            <a:ext cx="6705295" cy="228600"/>
          </a:xfrm>
          <a:prstGeom prst="rect">
            <a:avLst/>
          </a:prstGeom>
          <a:noFill/>
          <a:ln/>
        </p:spPr>
        <p:txBody>
          <a:bodyPr wrap="square" lIns="0" tIns="0" rIns="0" bIns="0" rtlCol="0" anchor="t"/>
          <a:lstStyle/>
          <a:p>
            <a:pPr indent="0" marL="0">
              <a:buNone/>
            </a:pPr>
            <a:r>
              <a:rPr lang="en-US" sz="1000" i="1" dirty="0">
                <a:solidFill>
                  <a:schemeClr val="accent5"/>
                </a:solidFill>
              </a:rPr>
              <a:t>Model_Koreksi_Karbon_Gambut_Mempawah.xlsx · sheet Parameter.</a:t>
            </a:r>
            <a:endParaRPr lang="en-US" sz="1000" dirty="0"/>
          </a:p>
        </p:txBody>
      </p:sp>
      <p:sp>
        <p:nvSpPr>
          <p:cNvPr id="7" name="tutupan-hs"/>
          <p:cNvSpPr/>
          <p:nvPr/>
        </p:nvSpPr>
        <p:spPr>
          <a:xfrm>
            <a:off x="548640" y="6400800"/>
            <a:ext cx="794550" cy="91440"/>
          </a:xfrm>
          <a:prstGeom prst="rect">
            <a:avLst/>
          </a:prstGeom>
          <a:solidFill>
            <a:schemeClr val="accent1"/>
          </a:solidFill>
          <a:ln/>
        </p:spPr>
      </p:sp>
      <p:sp>
        <p:nvSpPr>
          <p:cNvPr id="8" name="tutupan-sb"/>
          <p:cNvSpPr/>
          <p:nvPr/>
        </p:nvSpPr>
        <p:spPr>
          <a:xfrm>
            <a:off x="1361478" y="6400800"/>
            <a:ext cx="342721" cy="91440"/>
          </a:xfrm>
          <a:prstGeom prst="rect">
            <a:avLst/>
          </a:prstGeom>
          <a:solidFill>
            <a:schemeClr val="accent2"/>
          </a:solidFill>
          <a:ln/>
        </p:spPr>
      </p:sp>
      <p:sp>
        <p:nvSpPr>
          <p:cNvPr id="9" name="tutupan-kb"/>
          <p:cNvSpPr/>
          <p:nvPr/>
        </p:nvSpPr>
        <p:spPr>
          <a:xfrm>
            <a:off x="1722487" y="6400800"/>
            <a:ext cx="202213" cy="91440"/>
          </a:xfrm>
          <a:prstGeom prst="rect">
            <a:avLst/>
          </a:prstGeom>
          <a:solidFill>
            <a:schemeClr val="accent3"/>
          </a:solidFill>
          <a:ln/>
        </p:spPr>
      </p:sp>
      <p:sp>
        <p:nvSpPr>
          <p:cNvPr id="10" name="tutupan-lt"/>
          <p:cNvSpPr/>
          <p:nvPr/>
        </p:nvSpPr>
        <p:spPr>
          <a:xfrm>
            <a:off x="1942988" y="6400800"/>
            <a:ext cx="32432" cy="91440"/>
          </a:xfrm>
          <a:prstGeom prst="rect">
            <a:avLst/>
          </a:prstGeom>
          <a:solidFill>
            <a:srgbClr val="B9AE9C"/>
          </a:solidFill>
          <a:ln/>
        </p:spPr>
      </p:sp>
      <p:sp>
        <p:nvSpPr>
          <p:cNvPr id="11" name="tutupan-sg"/>
          <p:cNvSpPr/>
          <p:nvPr/>
        </p:nvSpPr>
        <p:spPr>
          <a:xfrm>
            <a:off x="1993708" y="6400800"/>
            <a:ext cx="17972" cy="91440"/>
          </a:xfrm>
          <a:prstGeom prst="rect">
            <a:avLst/>
          </a:prstGeom>
          <a:solidFill>
            <a:srgbClr val="3F7C85"/>
          </a:solidFill>
          <a:ln/>
        </p:spPr>
      </p:sp>
      <p:sp>
        <p:nvSpPr>
          <p:cNvPr id="12" name="Text 8"/>
          <p:cNvSpPr txBox="1"/>
          <p:nvPr/>
        </p:nvSpPr>
        <p:spPr>
          <a:xfrm>
            <a:off x="2148840" y="6336792"/>
            <a:ext cx="2103120" cy="228600"/>
          </a:xfrm>
          <a:prstGeom prst="rect">
            <a:avLst/>
          </a:prstGeom>
          <a:noFill/>
          <a:ln/>
        </p:spPr>
        <p:txBody>
          <a:bodyPr wrap="square" lIns="0" tIns="0" rIns="0" bIns="0" rtlCol="0" anchor="t"/>
          <a:lstStyle/>
          <a:p>
            <a:pPr indent="0" marL="0">
              <a:buNone/>
            </a:pPr>
            <a:r>
              <a:rPr lang="en-US" sz="1000" dirty="0">
                <a:solidFill>
                  <a:schemeClr val="accent5"/>
                </a:solidFill>
              </a:rPr>
              <a:t>Seluruh areal 2.468,5 ha</a:t>
            </a:r>
            <a:endParaRPr lang="en-US" sz="1000" dirty="0"/>
          </a:p>
        </p:txBody>
      </p:sp>
      <p:sp>
        <p:nvSpPr>
          <p:cNvPr id="25" name="Slide Number Placeholder 0"/>
          <p:cNvSpPr>
            <a:spLocks noGrp="1"/>
          </p:cNvSpPr>
          <p:nvPr>
            <p:ph type="sldNum" sz="quarter" idx="4294967295"/>
          </p:nvPr>
        </p:nvSpPr>
        <p:spPr>
          <a:xfrm>
            <a:off x="11183112" y="632764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Gambut Mempawah">
  <a:themeElements>
    <a:clrScheme name="Gambut Mempawah">
      <a:dk1>
        <a:srgbClr val="1E1C19"/>
      </a:dk1>
      <a:lt1>
        <a:srgbClr val="FFFFFF"/>
      </a:lt1>
      <a:dk2>
        <a:srgbClr val="2B241E"/>
      </a:dk2>
      <a:lt2>
        <a:srgbClr val="F0F1EE"/>
      </a:lt2>
      <a:accent1>
        <a:srgbClr val="2F5D46"/>
      </a:accent1>
      <a:accent2>
        <a:srgbClr val="8C9A5B"/>
      </a:accent2>
      <a:accent3>
        <a:srgbClr val="C08A3E"/>
      </a:accent3>
      <a:accent4>
        <a:srgbClr val="B23A2E"/>
      </a:accent4>
      <a:accent5>
        <a:srgbClr val="6B655E"/>
      </a:accent5>
      <a:accent6>
        <a:srgbClr val="A9C2B1"/>
      </a:accent6>
      <a:hlink>
        <a:srgbClr val="2F5D46"/>
      </a:hlink>
      <a:folHlink>
        <a:srgbClr val="6B655E"/>
      </a:folHlink>
    </a:clrScheme>
    <a:fontScheme name="Gambut Mempawa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Interpretasi Review Perhitungan Karbon Gambut — Hutan Desa, KHG Sungai Mempawah</dc:title>
  <dc:subject>PptxGenJS Presentation</dc:subject>
  <dc:creator>Review perhitungan karbon</dc:creator>
  <cp:lastModifiedBy>Review perhitungan karbon</cp:lastModifiedBy>
  <cp:revision>1</cp:revision>
  <dcterms:created xsi:type="dcterms:W3CDTF">2026-10-23T05:26:37Z</dcterms:created>
  <dcterms:modified xsi:type="dcterms:W3CDTF">2026-10-23T05:26:37Z</dcterms:modified>
</cp:coreProperties>
</file>