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b7da9611-8638-18eb-2941-7175011941cd}">
          <p14:sldIdLst>
            <p14:sldId id="256"/>
            <p14:sldId id="257"/>
          </p14:sldIdLst>
        </p14:section>
        <p14:section name="1. Latar belakang" id="{479fac77-4b28-3ffc-d6bc-730df1e52433}">
          <p14:sldIdLst>
            <p14:sldId id="258"/>
            <p14:sldId id="259"/>
          </p14:sldIdLst>
        </p14:section>
        <p14:section name="2. Konteks program" id="{0e1e2967-e46a-454e-c606-fc8266690c1d}">
          <p14:sldIdLst>
            <p14:sldId id="260"/>
            <p14:sldId id="261"/>
          </p14:sldIdLst>
        </p14:section>
        <p14:section name="3. Studi perbandingan" id="{75254e82-dcdc-fd05-0bfb-954c36e6ab6d}">
          <p14:sldIdLst>
            <p14:sldId id="262"/>
            <p14:sldId id="263"/>
            <p14:sldId id="264"/>
          </p14:sldIdLst>
        </p14:section>
        <p14:section name="4. Plan Vivo" id="{7ae09379-53c3-2ab2-9917-3dd7a218bd00}">
          <p14:sldIdLst>
            <p14:sldId id="265"/>
            <p14:sldId id="266"/>
            <p14:sldId id="267"/>
            <p14:sldId id="268"/>
            <p14:sldId id="269"/>
            <p14:sldId id="270"/>
          </p14:sldIdLst>
        </p14:section>
        <p14:section name="Penutup" id="{70de933b-1b7d-0535-b932-3ffe4407a5eb}">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Skor</c:v>
                </c:pt>
              </c:strCache>
            </c:strRef>
          </c:tx>
          <c:spPr>
            <a:solidFill>
              <a:srgbClr val="2E7D5B"/>
            </a:solidFill>
            <a:effectLst/>
          </c:spPr>
          <c:invertIfNegative val="0"/>
          <c:dLbls>
            <c:numFmt formatCode="#,##0" sourceLinked="0"/>
            <c:txPr>
              <a:bodyPr/>
              <a:lstStyle/>
              <a:p>
                <a:pPr>
                  <a:defRPr b="1" i="0" strike="noStrike" sz="1200" u="none">
                    <a:solidFill>
                      <a:srgbClr val="173F35"/>
                    </a:solidFill>
                    <a:latin typeface="+mn-lt"/>
                  </a:defRPr>
                </a:pPr>
              </a:p>
            </c:txPr>
            <c:showLegendKey val="0"/>
            <c:showVal val="1"/>
            <c:showCatName val="0"/>
            <c:showSerName val="0"/>
            <c:showPercent val="0"/>
            <c:showBubbleSize val="0"/>
            <c:showLeaderLines val="0"/>
          </c:dLbls>
          <c:dPt>
            <c:idx val="0"/>
            <c:invertIfNegative val="0"/>
            <c:bubble3D val="0"/>
            <c:spPr>
              <a:solidFill>
                <a:srgbClr val="2E7D5B"/>
              </a:solidFill>
              <a:effectLst/>
            </c:spPr>
          </c:dPt>
          <c:dPt>
            <c:idx val="1"/>
            <c:invertIfNegative val="0"/>
            <c:bubble3D val="0"/>
            <c:spPr>
              <a:solidFill>
                <a:srgbClr val="9AA59F"/>
              </a:solidFill>
              <a:effectLst/>
            </c:spPr>
          </c:dPt>
          <c:dPt>
            <c:idx val="2"/>
            <c:invertIfNegative val="0"/>
            <c:bubble3D val="0"/>
            <c:spPr>
              <a:solidFill>
                <a:srgbClr val="9AA59F"/>
              </a:solidFill>
              <a:effectLst/>
            </c:spPr>
          </c:dPt>
          <c:dPt>
            <c:idx val="3"/>
            <c:invertIfNegative val="0"/>
            <c:bubble3D val="0"/>
            <c:spPr>
              <a:solidFill>
                <a:srgbClr val="9AA59F"/>
              </a:solidFill>
              <a:effectLst/>
            </c:spPr>
          </c:dPt>
          <c:dPt>
            <c:idx val="4"/>
            <c:invertIfNegative val="0"/>
            <c:bubble3D val="0"/>
            <c:spPr>
              <a:solidFill>
                <a:srgbClr val="9AA59F"/>
              </a:solidFill>
              <a:effectLst/>
            </c:spPr>
          </c:dPt>
          <c:cat>
            <c:multiLvlStrRef>
              <c:f>Sheet1!$A$2:$A$6</c:f>
              <c:multiLvlStrCache>
                <c:ptCount val="5"/>
                <c:lvl>
                  <c:pt idx="0">
                    <c:v>Plan Vivo mikro</c:v>
                  </c:pt>
                  <c:pt idx="1">
                    <c:v>Verra VM0007</c:v>
                  </c:pt>
                  <c:pt idx="2">
                    <c:v>Verra VM0048 + PADA</c:v>
                  </c:pt>
                  <c:pt idx="3">
                    <c:v>Gold Standard mikro</c:v>
                  </c:pt>
                  <c:pt idx="4">
                    <c:v>GCC</c:v>
                  </c:pt>
                </c:lvl>
              </c:multiLvlStrCache>
            </c:multiLvlStrRef>
          </c:cat>
          <c:val>
            <c:numRef>
              <c:f>Sheet1!$B$2:$B$6</c:f>
              <c:numCache>
                <c:formatCode>General</c:formatCode>
                <c:ptCount val="5"/>
                <c:pt idx="0">
                  <c:v>78</c:v>
                </c:pt>
                <c:pt idx="1">
                  <c:v>75</c:v>
                </c:pt>
                <c:pt idx="2">
                  <c:v>71</c:v>
                </c:pt>
                <c:pt idx="3">
                  <c:v>58</c:v>
                </c:pt>
                <c:pt idx="4">
                  <c:v>55</c:v>
                </c:pt>
              </c:numCache>
            </c:numRef>
          </c:val>
        </c:ser>
        <c:dLbls>
          <c:numFmt formatCode="#,##0" sourceLinked="0"/>
          <c:txPr>
            <a:bodyPr/>
            <a:lstStyle/>
            <a:p>
              <a:pPr>
                <a:defRPr b="1" i="0" strike="noStrike" sz="1200" u="none">
                  <a:solidFill>
                    <a:srgbClr val="173F3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C2B25"/>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Deck ini memuat empat bagian: (1) latar belakang Perhutanan Sosial dan karbon komunitas, (2) konteks program dan lokasi, (3) studi perbandingan standar karbon, dan (4) empat milestone Plan Vivo beserta progres pekerjaan saat ini, FPIC, dan BSM.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 presentasi empat bagian. Di akhir, kami berharap ada kesepakatan bahwa jalur pertama adalah Plan Vivo, dimulai dari PIN yang dana awalnya sudah disetujui TAF.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PS adalah kebijakan strategis untuk memperbaiki ketimpangan penguasaan hutan. Hingga 2026 persetujuannya sudah 8,3 juta ha. Tantangan berikutnya: KPS harus mampu mengelola. Pengalaman SAMPAN dan kajian Article 33 menunjukkan pendanaan PS masih ad hoc, KUPS belum bisa menyisihkan pendapatan untuk kawasan, dan kapasitas teknis masih terbatas.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Karbon komunitas (community carbon): masyarakat lewat KPS adalah pemegang hak, pengelola utama, pengambil keputusan, dan penerima manfaat. Pendapatan karbon tidak datang dari hak kelola, tetapi dari aksi mitigasi yang direncanakan, dijalankan, diukur, dan dapat dipertanggungjawabkan. Dananya dipakai kembali untuk kelola kelembagaan, kawasan, dan usaha, serta berkontribusi pada infrastruktur, pendidikan, dan kesehatan desa. Dasar hukumnya Permen LHK 9/2021, Perpres 110/2025, dan Permenhut 6/2026.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Konteks program: judul, periode, lokasi, dan empat output. Program ini menjadi model percontohan aksi mitigasi melalui perdagangan karbon di areal PS, dengan masyarakat sebagai pelaku utama. Persetujuan Hutan Desa Pasir sendiri adalah hasil pendampingan SAMPAN bersama Program SETAPAK.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Hutan Desa Pasir ±2.468 ha berdasarkan SK.10885/MENLHK-PSKL/PKPS/PSL.0/2019. Sekitar 1.482 ha masih hutan, hampir 40% semak belukar, sawit, dan lahan terbuka. Gambut 2.014 ha (81,6%). Pembagian kawasan: 1.299 ha perlindungan (REDD) dan 1.169 ha rehabilitasi (ARR). Pre-assessment: stok biomassa 773–835 ribu tCO2e dan emisi gambut 76.961 tCO2e/tahun. Angka ini bukan volume kredit; kredit bersih baru diketahui setelah baseline, leakage, ketidakpastian, dan buffer dihitung.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studi perbandingan lima skema dengan lima variabel berbobot. Plan Vivo mikro 78, Verra VM0007 75, Verra VM0048+PADA 71, Gold Standard mikro 58, GCC 55. Selisih Plan Vivo dan VM0007 kecil. Skor Plan Vivo mengasumsikan PT002 lolos dan kegiatan yang memengaruhi muka air tidak dimasukkan ke klaim PM001. Ini indeks penyaringan, bukan peluang sertifikasi. Jika kredit akan bergantung pada perubahan tata air gambut, Verra perlu dinilai lebih serius.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Rencana Pasir mencakup perlindungan hutan, pencegahan kebakaran, pemulihan gambut, dan rehabilitasi mangrove. Metode dipilih per kegiatan dan wilayah agar tidak ada penghitungan ganda. Dua hal harus dikonfirmasi tertulis ke Plan Vivo sebelum PDD: kelayakan PT002 untuk Hutan Desa yang sudah dikelola sejak 2019, dan perlakuan kegiatan tata air di bawah PM001.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Perbandingan biaya resmi pada skenario 5.000 dan 10.000 kredit. Plan Vivo mikro US$10.100–12.100, hampir setara Verra VM0007 US$11.750. VM0048 dengan PADA paling mahal. Gold Standard dan GCC lebih murah tetapi metodenya lemah untuk gambut Pasir. Simulasi kasar: 10.000 kredit x US$5 = US$50.000 kotor; sisa Plan Vivo US$37.900 sebelum audit, MRV, dan biaya lain. Proyeksi pendapatan ditunda sampai volume kredit bersih dan biaya audit dihitung. Jangan memilih standar dari biaya registri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milestone Plan Vivo. Tahap 1: persiapan PIN dengan syarat safeguards, kebutuhan, dan progres yang sudah dilakukan; termasuk pengambilan data baseline sesuai tools Plan Vivo untuk menyusun project scenario. Tahap 2: submit PIN dan proses sampai approval, termasuk konfirmasi tertulis soal PT002 dan PM001. Tahap 3: masuk pipeline Plan Vivo untuk mencari investasi; Permenhut sudah membolehkan presale. Tahap 4: penyusunan PDD. FPIC dan BSM berjalan paralel di seluruh tahap.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pekerjaan saat ini. (1) Legalitas SK Hutan Desa Pasir, hasil pendampingan SAMPAN melalui SETAPAK 3. (2) RKPS difasilitasi SAMPAN tahun 2024 dengan pembiayaan mandiri. (3) Persetujuan awal. (4) Proses bersama TAF. (5) Penyiapan lapangan: pembentukan tim patroli, assessment KUPS, persiapan series FPIC. (6) Komunikasi dengan Plan Vivo: sudah dua kali meeting untuk pendaftaran. (7) Kelayakan karbon berdasarkan hitungan tim: tabel skenario tanpa dan dengan proyek, serta FS untuk mendapatkan angka dasar carbon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Struktur hitungan kelayakan karbon: membandingkan skenario tanpa proyek (baseline) dengan skenario dengan proyek. Isi angka dari hitungan tim dan FS carbon accounting. Sebagai patokan, pre-assessment mencatat stok biomassa 773–835 ribu tCO2e dan potensi emisi dekomposisi gambut 76.961 tCO2e per tahun. Keduanya bukan volume kredit.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Pemetaan kebutuhan dokumen Plan Vivo berdasarkan tools. Untuk PIN: bukti hak kelola (sudah ada), peta (sudah ada), deskripsi kegiatan dan ancaman, bukti persetujuan awal dan analisis pemangku kepentingan, serta safeguards awal. Untuk PDD: baseline dan project scenario, additionality dan leakage, rencana MRV dan buffer, BSM dan GRM, serta bukti FPIC tahap desain. Daftar ini pemetaan awal dan perlu dicocokkan dengan template resmi Plan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Series FPIC mengikuti Plan Vivo. (1) Persetujuan pendampingan. (2) Persetujuan tahap konsep: diperoleh setelah tim memberikan pemahaman tentang maksud dan tujuan kegiatan serta mekanisme pendanaan yang memungkinkan untuk dijajaki atau diusulkan. (3) Mapping dan safeguards berdasarkan tools Plan Vivo. (4) Persetujuan tahap desain: diperoleh di akhir kegiatan setelah diketahui rincian rencana kegiatan berdasarkan analisis pohon masalah, solusi, ancaman, dan hambatan. Materi di setiap tahap masih usulan dan akan difinalkan bersama tim.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BSM disusun selama mapping dan safeguards (FPIC tahap 3) dan disepakati pada persetujuan tahap desain (FPIC tahap 4), sebelum PDD. Prinsipnya adil dan transparan, inklusif, diarahkan untuk keberlanjutan aksi mitigasi, dan akuntabel. Kerangka alokasi mengikuti konsep karbon komunitas: kelola kelembagaan, kelola kawasan, kelola usaha, dan kontribusi pembangunan desa. Persentasenya belum ditetapkan dan menjadi keputusan warga.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berikutnya mengikuti rekomendasi studi perbandingan: selesaikan PIN, minta review tertulis Plan Vivo, petakan kegiatan per ekosistem, hitung kredit bersih dan biaya total, serta klarifikasi persetujuan nasional dan SRUK. Persetujuan PIN belum mengunci sertifikasi akhir; lanjut ke PDD hanya setelah syarat PT002, kegiatan gambut, hak karbon, dan pencatatan SRUK jelas. Tutup dengan dukungan yang diharapkan dari TAF.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5120640" cy="1828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ph idx="101" type="body" hasCustomPrompt="1"/>
          </p:nvPr>
        </p:nvSpPr>
        <p:spPr>
          <a:xfrm>
            <a:off x="548640" y="3017520"/>
            <a:ext cx="5120640" cy="822960"/>
          </a:xfrm>
          <a:prstGeom prst="rect">
            <a:avLst/>
          </a:prstGeom>
          <a:noFill/>
          <a:ln/>
        </p:spPr>
        <p:txBody>
          <a:bodyPr wrap="square" rtlCol="0"/>
          <a:lstStyle>
            <a:lvl1pPr algn="l" indent="0" marL="0">
              <a:buNone/>
              <a:defRPr lang="en-US" sz="1400" dirty="0">
                <a:solidFill>
                  <a:schemeClr val="accent3"/>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1000" dirty="0">
                <a:solidFill>
                  <a:schemeClr val="accent5"/>
                </a:solidFill>
              </a:rPr>
              <a:t>SAMPAN Kalimantan  ·  Karbon Komunitas HD Pasir – Plan Vivo</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elap">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rtlCol="0"/>
          <a:lstStyle>
            <a:lvl1pPr algn="l" indent="0" marL="0">
              <a:buNone/>
              <a:defRPr lang="en-US" sz="2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200" dirty="0"/>
          </a:p>
        </p:txBody>
      </p:sp>
      <p:sp>
        <p:nvSpPr>
          <p:cNvPr id="3" name="Text 0"/>
          <p:cNvSpPr/>
          <p:nvPr/>
        </p:nvSpPr>
        <p:spPr>
          <a:xfrm>
            <a:off x="457200" y="4773168"/>
            <a:ext cx="6400800" cy="256032"/>
          </a:xfrm>
          <a:prstGeom prst="rect">
            <a:avLst/>
          </a:prstGeom>
          <a:noFill/>
          <a:ln/>
        </p:spPr>
        <p:txBody>
          <a:bodyPr wrap="square" lIns="0" tIns="0" rIns="0" bIns="0" rtlCol="0" anchor="ctr"/>
          <a:lstStyle/>
          <a:p>
            <a:pPr indent="0" marL="0">
              <a:buNone/>
            </a:pPr>
            <a:r>
              <a:rPr lang="en-US" sz="1000" dirty="0">
                <a:solidFill>
                  <a:schemeClr val="accent3"/>
                </a:solidFill>
              </a:rPr>
              <a:t>SAMPAN Kalimantan  ·  Karbon Komunitas HD Pasir – Plan Vivo</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eta Hutan Desa Pasir" descr="map_tall.jpg">    </p:cNvPr>
          <p:cNvPicPr>
            <a:picLocks noChangeAspect="1"/>
          </p:cNvPicPr>
          <p:nvPr/>
        </p:nvPicPr>
        <p:blipFill>
          <a:blip r:embed="rId1"/>
          <a:srcRect l="0" r="0" t="0" b="0"/>
          <a:stretch/>
        </p:blipFill>
        <p:spPr>
          <a:xfrm>
            <a:off x="5989320" y="0"/>
            <a:ext cx="3154680" cy="5143500"/>
          </a:xfrm>
          <a:prstGeom prst="rect">
            <a:avLst/>
          </a:prstGeom>
        </p:spPr>
      </p:pic>
      <p:sp>
        <p:nvSpPr>
          <p:cNvPr id="3" name="Text 0"/>
          <p:cNvSpPr txBox="1"/>
          <p:nvPr/>
        </p:nvSpPr>
        <p:spPr>
          <a:xfrm>
            <a:off x="548640" y="502920"/>
            <a:ext cx="5394960" cy="320040"/>
          </a:xfrm>
          <a:prstGeom prst="rect">
            <a:avLst/>
          </a:prstGeom>
          <a:noFill/>
          <a:ln/>
        </p:spPr>
        <p:txBody>
          <a:bodyPr wrap="square" lIns="0" tIns="0" rIns="0" bIns="0" rtlCol="0" anchor="t"/>
          <a:lstStyle/>
          <a:p>
            <a:pPr indent="0" marL="0">
              <a:buNone/>
            </a:pPr>
            <a:r>
              <a:rPr lang="en-US" sz="1100" b="1" spc="200" kern="0" dirty="0">
                <a:solidFill>
                  <a:schemeClr val="accent6"/>
                </a:solidFill>
              </a:rPr>
              <a:t>KICKOFF MEETING  ·  SETAPAK – THE ASIA FOUNDATION</a:t>
            </a:r>
            <a:endParaRPr lang="en-US" sz="1100" dirty="0"/>
          </a:p>
        </p:txBody>
      </p:sp>
      <p:sp>
        <p:nvSpPr>
          <p:cNvPr id="4" name="Text 0"/>
          <p:cNvSpPr/>
          <p:nvPr>
            <p:ph idx="100" type="title" hasCustomPrompt="1"/>
          </p:nvPr>
        </p:nvSpPr>
        <p:spPr>
          <a:xfrm>
            <a:off x="548640" y="1143000"/>
            <a:ext cx="5120640" cy="1828800"/>
          </a:xfrm>
          <a:prstGeom prst="rect">
            <a:avLst/>
          </a:prstGeom>
          <a:noFill/>
          <a:ln/>
        </p:spPr>
        <p:txBody>
          <a:bodyPr wrap="square" rtlCol="0" anchor="t"/>
          <a:lstStyle/>
          <a:p>
            <a:pPr algn="l" indent="0" marL="0">
              <a:buNone/>
            </a:pPr>
            <a:r>
              <a:rPr lang="en-US" sz="2800" b="1" dirty="0">
                <a:solidFill>
                  <a:schemeClr val="bg1"/>
                </a:solidFill>
                <a:latin typeface="Cambria" pitchFamily="34" charset="0"/>
                <a:ea typeface="Cambria" pitchFamily="34" charset="-122"/>
                <a:cs typeface="Cambria" pitchFamily="34" charset="-120"/>
              </a:rPr>
              <a:t>Karbon Komunitas Hutan Desa Pasir: Jalur Plan Vivo</a:t>
            </a:r>
            <a:endParaRPr lang="en-US" sz="2800" dirty="0"/>
          </a:p>
        </p:txBody>
      </p:sp>
      <p:sp>
        <p:nvSpPr>
          <p:cNvPr id="5" name="Text 0"/>
          <p:cNvSpPr/>
          <p:nvPr>
            <p:ph idx="101" type="body" hasCustomPrompt="1"/>
          </p:nvPr>
        </p:nvSpPr>
        <p:spPr>
          <a:xfrm>
            <a:off x="548640" y="3017520"/>
            <a:ext cx="5120640" cy="822960"/>
          </a:xfrm>
          <a:prstGeom prst="rect">
            <a:avLst/>
          </a:prstGeom>
          <a:noFill/>
          <a:ln/>
        </p:spPr>
        <p:txBody>
          <a:bodyPr wrap="square" rtlCol="0" anchor="t"/>
          <a:lstStyle/>
          <a:p>
            <a:pPr algn="l" indent="0" marL="0">
              <a:buNone/>
            </a:pPr>
            <a:r>
              <a:rPr lang="en-US" sz="1400" dirty="0">
                <a:solidFill>
                  <a:schemeClr val="accent3"/>
                </a:solidFill>
              </a:rPr>
              <a:t>Latar belakang, konteks program, studi perbandingan standar, dan empat milestone Plan Vivo</a:t>
            </a:r>
            <a:endParaRPr lang="en-US" sz="1400" dirty="0"/>
          </a:p>
        </p:txBody>
      </p:sp>
      <p:sp>
        <p:nvSpPr>
          <p:cNvPr id="6" name="Text 3"/>
          <p:cNvSpPr txBox="1"/>
          <p:nvPr/>
        </p:nvSpPr>
        <p:spPr>
          <a:xfrm>
            <a:off x="548640" y="3749040"/>
            <a:ext cx="5303520" cy="822960"/>
          </a:xfrm>
          <a:prstGeom prst="rect">
            <a:avLst/>
          </a:prstGeom>
          <a:noFill/>
          <a:ln/>
        </p:spPr>
        <p:txBody>
          <a:bodyPr wrap="square" lIns="0" tIns="0" rIns="0" bIns="0" rtlCol="0" anchor="t"/>
          <a:lstStyle/>
          <a:p>
            <a:pPr indent="0" marL="0">
              <a:buNone/>
            </a:pPr>
            <a:r>
              <a:rPr lang="en-US" sz="1200" b="1" dirty="0">
                <a:solidFill>
                  <a:schemeClr val="bg1"/>
                </a:solidFill>
              </a:rPr>
              <a:t>SAMPAN Kalimantan</a:t>
            </a:r>
            <a:endParaRPr lang="en-US" sz="1200" dirty="0"/>
          </a:p>
          <a:p>
            <a:pPr indent="0" marL="0">
              <a:buNone/>
            </a:pPr>
            <a:r>
              <a:rPr lang="en-US" sz="1200" dirty="0">
                <a:solidFill>
                  <a:schemeClr val="bg1"/>
                </a:solidFill>
              </a:rPr>
              <a:t>Hutan Desa Pasir, Kab. Mempawah, Kalimantan Barat</a:t>
            </a:r>
            <a:endParaRPr lang="en-US" sz="1200" dirty="0"/>
          </a:p>
          <a:p>
            <a:pPr indent="0" marL="0">
              <a:buNone/>
            </a:pPr>
            <a:r>
              <a:rPr lang="en-US" sz="1200" dirty="0">
                <a:solidFill>
                  <a:schemeClr val="bg1"/>
                </a:solidFill>
              </a:rPr>
              <a:t>Program SETAPAK  ·  September 2026 – Agustus 2027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Empat hal yang kita bahas hari ini</a:t>
            </a:r>
            <a:endParaRPr lang="en-US" sz="2200" dirty="0"/>
          </a:p>
        </p:txBody>
      </p:sp>
      <p:sp>
        <p:nvSpPr>
          <p:cNvPr id="3" name="Text 1"/>
          <p:cNvSpPr txBox="1"/>
          <p:nvPr/>
        </p:nvSpPr>
        <p:spPr>
          <a:xfrm>
            <a:off x="457200" y="1280160"/>
            <a:ext cx="192024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01</a:t>
            </a:r>
            <a:endParaRPr lang="en-US" sz="4000" dirty="0"/>
          </a:p>
        </p:txBody>
      </p:sp>
      <p:sp>
        <p:nvSpPr>
          <p:cNvPr id="4" name="Shape 2"/>
          <p:cNvSpPr/>
          <p:nvPr/>
        </p:nvSpPr>
        <p:spPr>
          <a:xfrm>
            <a:off x="457200" y="2148840"/>
            <a:ext cx="1920240" cy="0"/>
          </a:xfrm>
          <a:prstGeom prst="line">
            <a:avLst/>
          </a:prstGeom>
          <a:noFill/>
          <a:ln w="12700">
            <a:solidFill>
              <a:srgbClr val="8FC1A6"/>
            </a:solidFill>
            <a:prstDash val="solid"/>
          </a:ln>
        </p:spPr>
      </p:sp>
      <p:sp>
        <p:nvSpPr>
          <p:cNvPr id="5" name="Text 3"/>
          <p:cNvSpPr txBox="1"/>
          <p:nvPr/>
        </p:nvSpPr>
        <p:spPr>
          <a:xfrm>
            <a:off x="457200" y="2286000"/>
            <a:ext cx="1920240" cy="365760"/>
          </a:xfrm>
          <a:prstGeom prst="rect">
            <a:avLst/>
          </a:prstGeom>
          <a:noFill/>
          <a:ln/>
        </p:spPr>
        <p:txBody>
          <a:bodyPr wrap="square" lIns="0" tIns="0" rIns="0" bIns="0" rtlCol="0" anchor="t"/>
          <a:lstStyle/>
          <a:p>
            <a:pPr indent="0" marL="0">
              <a:buNone/>
            </a:pPr>
            <a:r>
              <a:rPr lang="en-US" sz="1600" b="1" dirty="0">
                <a:solidFill>
                  <a:schemeClr val="tx2"/>
                </a:solidFill>
              </a:rPr>
              <a:t>Latar belakang</a:t>
            </a:r>
            <a:endParaRPr lang="en-US" sz="1600" dirty="0"/>
          </a:p>
        </p:txBody>
      </p:sp>
      <p:sp>
        <p:nvSpPr>
          <p:cNvPr id="6" name="Text 4"/>
          <p:cNvSpPr txBox="1"/>
          <p:nvPr/>
        </p:nvSpPr>
        <p:spPr>
          <a:xfrm>
            <a:off x="457200" y="2697480"/>
            <a:ext cx="1874520" cy="914400"/>
          </a:xfrm>
          <a:prstGeom prst="rect">
            <a:avLst/>
          </a:prstGeom>
          <a:noFill/>
          <a:ln/>
        </p:spPr>
        <p:txBody>
          <a:bodyPr wrap="square" lIns="0" tIns="0" rIns="0" bIns="0" rtlCol="0" anchor="t"/>
          <a:lstStyle/>
          <a:p>
            <a:pPr indent="0" marL="0">
              <a:buNone/>
            </a:pPr>
            <a:r>
              <a:rPr lang="en-US" sz="1400" dirty="0">
                <a:solidFill>
                  <a:schemeClr val="tx1"/>
                </a:solidFill>
              </a:rPr>
              <a:t>Perhutanan Sosial dan karbon komunitas</a:t>
            </a:r>
            <a:endParaRPr lang="en-US" sz="1400" dirty="0"/>
          </a:p>
        </p:txBody>
      </p:sp>
      <p:sp>
        <p:nvSpPr>
          <p:cNvPr id="7" name="Text 5"/>
          <p:cNvSpPr txBox="1"/>
          <p:nvPr/>
        </p:nvSpPr>
        <p:spPr>
          <a:xfrm>
            <a:off x="2560320" y="1280160"/>
            <a:ext cx="1920240" cy="731520"/>
          </a:xfrm>
          <a:prstGeom prst="rect">
            <a:avLst/>
          </a:prstGeom>
          <a:noFill/>
          <a:ln/>
        </p:spPr>
        <p:txBody>
          <a:bodyPr wrap="square" lIns="0" tIns="0" rIns="0" bIns="0" rtlCol="0" anchor="t"/>
          <a:lstStyle/>
          <a:p>
            <a:pPr indent="0" marL="0">
              <a:buNone/>
            </a:pPr>
            <a:r>
              <a:rPr lang="en-US" sz="4000" b="1" dirty="0">
                <a:solidFill>
                  <a:schemeClr val="accent4"/>
                </a:solidFill>
                <a:latin typeface="Cambria" pitchFamily="34" charset="0"/>
                <a:ea typeface="Cambria" pitchFamily="34" charset="-122"/>
                <a:cs typeface="Cambria" pitchFamily="34" charset="-120"/>
              </a:rPr>
              <a:t>02</a:t>
            </a:r>
            <a:endParaRPr lang="en-US" sz="4000" dirty="0"/>
          </a:p>
        </p:txBody>
      </p:sp>
      <p:sp>
        <p:nvSpPr>
          <p:cNvPr id="8" name="Shape 6"/>
          <p:cNvSpPr/>
          <p:nvPr/>
        </p:nvSpPr>
        <p:spPr>
          <a:xfrm>
            <a:off x="2560320" y="2148840"/>
            <a:ext cx="1920240" cy="0"/>
          </a:xfrm>
          <a:prstGeom prst="line">
            <a:avLst/>
          </a:prstGeom>
          <a:noFill/>
          <a:ln w="12700">
            <a:solidFill>
              <a:srgbClr val="8FC1A6"/>
            </a:solidFill>
            <a:prstDash val="solid"/>
          </a:ln>
        </p:spPr>
      </p:sp>
      <p:sp>
        <p:nvSpPr>
          <p:cNvPr id="9" name="Text 7"/>
          <p:cNvSpPr txBox="1"/>
          <p:nvPr/>
        </p:nvSpPr>
        <p:spPr>
          <a:xfrm>
            <a:off x="2560320" y="2286000"/>
            <a:ext cx="1920240" cy="365760"/>
          </a:xfrm>
          <a:prstGeom prst="rect">
            <a:avLst/>
          </a:prstGeom>
          <a:noFill/>
          <a:ln/>
        </p:spPr>
        <p:txBody>
          <a:bodyPr wrap="square" lIns="0" tIns="0" rIns="0" bIns="0" rtlCol="0" anchor="t"/>
          <a:lstStyle/>
          <a:p>
            <a:pPr indent="0" marL="0">
              <a:buNone/>
            </a:pPr>
            <a:r>
              <a:rPr lang="en-US" sz="1600" b="1" dirty="0">
                <a:solidFill>
                  <a:schemeClr val="tx2"/>
                </a:solidFill>
              </a:rPr>
              <a:t>Konteks program</a:t>
            </a:r>
            <a:endParaRPr lang="en-US" sz="1600" dirty="0"/>
          </a:p>
        </p:txBody>
      </p:sp>
      <p:sp>
        <p:nvSpPr>
          <p:cNvPr id="10" name="Text 8"/>
          <p:cNvSpPr txBox="1"/>
          <p:nvPr/>
        </p:nvSpPr>
        <p:spPr>
          <a:xfrm>
            <a:off x="2560320" y="2697480"/>
            <a:ext cx="1874520" cy="914400"/>
          </a:xfrm>
          <a:prstGeom prst="rect">
            <a:avLst/>
          </a:prstGeom>
          <a:noFill/>
          <a:ln/>
        </p:spPr>
        <p:txBody>
          <a:bodyPr wrap="square" lIns="0" tIns="0" rIns="0" bIns="0" rtlCol="0" anchor="t"/>
          <a:lstStyle/>
          <a:p>
            <a:pPr indent="0" marL="0">
              <a:buNone/>
            </a:pPr>
            <a:r>
              <a:rPr lang="en-US" sz="1400" dirty="0">
                <a:solidFill>
                  <a:schemeClr val="tx1"/>
                </a:solidFill>
              </a:rPr>
              <a:t>Program SETAPAK dan lokasi Hutan Desa Pasir</a:t>
            </a:r>
            <a:endParaRPr lang="en-US" sz="1400" dirty="0"/>
          </a:p>
        </p:txBody>
      </p:sp>
      <p:sp>
        <p:nvSpPr>
          <p:cNvPr id="11" name="Text 9"/>
          <p:cNvSpPr txBox="1"/>
          <p:nvPr/>
        </p:nvSpPr>
        <p:spPr>
          <a:xfrm>
            <a:off x="4663440" y="1280160"/>
            <a:ext cx="1920240" cy="73152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03</a:t>
            </a:r>
            <a:endParaRPr lang="en-US" sz="4000" dirty="0"/>
          </a:p>
        </p:txBody>
      </p:sp>
      <p:sp>
        <p:nvSpPr>
          <p:cNvPr id="12" name="Shape 10"/>
          <p:cNvSpPr/>
          <p:nvPr/>
        </p:nvSpPr>
        <p:spPr>
          <a:xfrm>
            <a:off x="4663440" y="2148840"/>
            <a:ext cx="1920240" cy="0"/>
          </a:xfrm>
          <a:prstGeom prst="line">
            <a:avLst/>
          </a:prstGeom>
          <a:noFill/>
          <a:ln w="12700">
            <a:solidFill>
              <a:srgbClr val="8FC1A6"/>
            </a:solidFill>
            <a:prstDash val="solid"/>
          </a:ln>
        </p:spPr>
      </p:sp>
      <p:sp>
        <p:nvSpPr>
          <p:cNvPr id="13" name="Text 11"/>
          <p:cNvSpPr txBox="1"/>
          <p:nvPr/>
        </p:nvSpPr>
        <p:spPr>
          <a:xfrm>
            <a:off x="4663440" y="2286000"/>
            <a:ext cx="1920240" cy="365760"/>
          </a:xfrm>
          <a:prstGeom prst="rect">
            <a:avLst/>
          </a:prstGeom>
          <a:noFill/>
          <a:ln/>
        </p:spPr>
        <p:txBody>
          <a:bodyPr wrap="square" lIns="0" tIns="0" rIns="0" bIns="0" rtlCol="0" anchor="t"/>
          <a:lstStyle/>
          <a:p>
            <a:pPr indent="0" marL="0">
              <a:buNone/>
            </a:pPr>
            <a:r>
              <a:rPr lang="en-US" sz="1600" b="1" dirty="0">
                <a:solidFill>
                  <a:schemeClr val="tx2"/>
                </a:solidFill>
              </a:rPr>
              <a:t>Studi perbandingan</a:t>
            </a:r>
            <a:endParaRPr lang="en-US" sz="1600" dirty="0"/>
          </a:p>
        </p:txBody>
      </p:sp>
      <p:sp>
        <p:nvSpPr>
          <p:cNvPr id="14" name="Text 12"/>
          <p:cNvSpPr txBox="1"/>
          <p:nvPr/>
        </p:nvSpPr>
        <p:spPr>
          <a:xfrm>
            <a:off x="4663440" y="2697480"/>
            <a:ext cx="1874520" cy="914400"/>
          </a:xfrm>
          <a:prstGeom prst="rect">
            <a:avLst/>
          </a:prstGeom>
          <a:noFill/>
          <a:ln/>
        </p:spPr>
        <p:txBody>
          <a:bodyPr wrap="square" lIns="0" tIns="0" rIns="0" bIns="0" rtlCol="0" anchor="t"/>
          <a:lstStyle/>
          <a:p>
            <a:pPr indent="0" marL="0">
              <a:buNone/>
            </a:pPr>
            <a:r>
              <a:rPr lang="en-US" sz="1400" dirty="0">
                <a:solidFill>
                  <a:schemeClr val="tx1"/>
                </a:solidFill>
              </a:rPr>
              <a:t>Plan Vivo, Verra, Gold Standard, dan GCC untuk Pasir</a:t>
            </a:r>
            <a:endParaRPr lang="en-US" sz="1400" dirty="0"/>
          </a:p>
        </p:txBody>
      </p:sp>
      <p:sp>
        <p:nvSpPr>
          <p:cNvPr id="15" name="Text 13"/>
          <p:cNvSpPr txBox="1"/>
          <p:nvPr/>
        </p:nvSpPr>
        <p:spPr>
          <a:xfrm>
            <a:off x="6766560" y="1280160"/>
            <a:ext cx="1920240" cy="73152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04</a:t>
            </a:r>
            <a:endParaRPr lang="en-US" sz="4000" dirty="0"/>
          </a:p>
        </p:txBody>
      </p:sp>
      <p:sp>
        <p:nvSpPr>
          <p:cNvPr id="16" name="Shape 14"/>
          <p:cNvSpPr/>
          <p:nvPr/>
        </p:nvSpPr>
        <p:spPr>
          <a:xfrm>
            <a:off x="6766560" y="2148840"/>
            <a:ext cx="1920240" cy="0"/>
          </a:xfrm>
          <a:prstGeom prst="line">
            <a:avLst/>
          </a:prstGeom>
          <a:noFill/>
          <a:ln w="12700">
            <a:solidFill>
              <a:srgbClr val="8FC1A6"/>
            </a:solidFill>
            <a:prstDash val="solid"/>
          </a:ln>
        </p:spPr>
      </p:sp>
      <p:sp>
        <p:nvSpPr>
          <p:cNvPr id="17" name="Text 15"/>
          <p:cNvSpPr txBox="1"/>
          <p:nvPr/>
        </p:nvSpPr>
        <p:spPr>
          <a:xfrm>
            <a:off x="6766560" y="2286000"/>
            <a:ext cx="1920240" cy="365760"/>
          </a:xfrm>
          <a:prstGeom prst="rect">
            <a:avLst/>
          </a:prstGeom>
          <a:noFill/>
          <a:ln/>
        </p:spPr>
        <p:txBody>
          <a:bodyPr wrap="square" lIns="0" tIns="0" rIns="0" bIns="0" rtlCol="0" anchor="t"/>
          <a:lstStyle/>
          <a:p>
            <a:pPr indent="0" marL="0">
              <a:buNone/>
            </a:pPr>
            <a:r>
              <a:rPr lang="en-US" sz="1600" b="1" dirty="0">
                <a:solidFill>
                  <a:schemeClr val="tx2"/>
                </a:solidFill>
              </a:rPr>
              <a:t>Plan Vivo</a:t>
            </a:r>
            <a:endParaRPr lang="en-US" sz="1600" dirty="0"/>
          </a:p>
        </p:txBody>
      </p:sp>
      <p:sp>
        <p:nvSpPr>
          <p:cNvPr id="18" name="Text 16"/>
          <p:cNvSpPr txBox="1"/>
          <p:nvPr/>
        </p:nvSpPr>
        <p:spPr>
          <a:xfrm>
            <a:off x="6766560" y="2697480"/>
            <a:ext cx="1874520" cy="914400"/>
          </a:xfrm>
          <a:prstGeom prst="rect">
            <a:avLst/>
          </a:prstGeom>
          <a:noFill/>
          <a:ln/>
        </p:spPr>
        <p:txBody>
          <a:bodyPr wrap="square" lIns="0" tIns="0" rIns="0" bIns="0" rtlCol="0" anchor="t"/>
          <a:lstStyle/>
          <a:p>
            <a:pPr indent="0" marL="0">
              <a:buNone/>
            </a:pPr>
            <a:r>
              <a:rPr lang="en-US" sz="1400" dirty="0">
                <a:solidFill>
                  <a:schemeClr val="tx1"/>
                </a:solidFill>
              </a:rPr>
              <a:t>Empat milestone, progres saat ini, FPIC, dan BSM</a:t>
            </a:r>
            <a:endParaRPr lang="en-US" sz="1400" dirty="0"/>
          </a:p>
        </p:txBody>
      </p:sp>
      <p:sp>
        <p:nvSpPr>
          <p:cNvPr id="19" name="Shape 17"/>
          <p:cNvSpPr/>
          <p:nvPr/>
        </p:nvSpPr>
        <p:spPr>
          <a:xfrm>
            <a:off x="457200" y="3886200"/>
            <a:ext cx="8229600" cy="685800"/>
          </a:xfrm>
          <a:prstGeom prst="rect">
            <a:avLst/>
          </a:prstGeom>
          <a:solidFill>
            <a:schemeClr val="bg2"/>
          </a:solidFill>
          <a:ln/>
        </p:spPr>
      </p:sp>
      <p:sp>
        <p:nvSpPr>
          <p:cNvPr id="20" name="Text 18"/>
          <p:cNvSpPr txBox="1"/>
          <p:nvPr/>
        </p:nvSpPr>
        <p:spPr>
          <a:xfrm>
            <a:off x="640080" y="3886200"/>
            <a:ext cx="7863840" cy="685800"/>
          </a:xfrm>
          <a:prstGeom prst="rect">
            <a:avLst/>
          </a:prstGeom>
          <a:noFill/>
          <a:ln/>
        </p:spPr>
        <p:txBody>
          <a:bodyPr wrap="square" lIns="0" tIns="0" rIns="0" bIns="0" rtlCol="0" anchor="ctr"/>
          <a:lstStyle/>
          <a:p>
            <a:pPr indent="0" marL="0">
              <a:buNone/>
            </a:pPr>
            <a:r>
              <a:rPr lang="en-US" sz="1400" b="1" dirty="0">
                <a:solidFill>
                  <a:schemeClr val="accent2"/>
                </a:solidFill>
              </a:rPr>
              <a:t>Keputusan yang diharapkan:  </a:t>
            </a:r>
            <a:pPr indent="0" marL="0">
              <a:buNone/>
            </a:pPr>
            <a:r>
              <a:rPr lang="en-US" sz="1400" dirty="0">
                <a:solidFill>
                  <a:schemeClr val="tx1"/>
                </a:solidFill>
              </a:rPr>
              <a:t>kesepakatan jalur Plan Vivo, dimulai dari penyusunan dan pendaftaran PIN dengan dukungan awal TAF</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Akses legal Perhutanan Sosial meluas, tetapi pembiayaannya tertinggal</a:t>
            </a:r>
            <a:endParaRPr lang="en-US" sz="2200" dirty="0"/>
          </a:p>
        </p:txBody>
      </p:sp>
      <p:sp>
        <p:nvSpPr>
          <p:cNvPr id="3" name="Text 1"/>
          <p:cNvSpPr txBox="1"/>
          <p:nvPr/>
        </p:nvSpPr>
        <p:spPr>
          <a:xfrm>
            <a:off x="457200" y="1188720"/>
            <a:ext cx="320040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8,3 juta ha</a:t>
            </a:r>
            <a:endParaRPr lang="en-US" sz="4000" dirty="0"/>
          </a:p>
        </p:txBody>
      </p:sp>
      <p:sp>
        <p:nvSpPr>
          <p:cNvPr id="4" name="Text 2"/>
          <p:cNvSpPr txBox="1"/>
          <p:nvPr/>
        </p:nvSpPr>
        <p:spPr>
          <a:xfrm>
            <a:off x="457200" y="1920240"/>
            <a:ext cx="3017520" cy="731520"/>
          </a:xfrm>
          <a:prstGeom prst="rect">
            <a:avLst/>
          </a:prstGeom>
          <a:noFill/>
          <a:ln/>
        </p:spPr>
        <p:txBody>
          <a:bodyPr wrap="square" lIns="0" tIns="0" rIns="0" bIns="0" rtlCol="0" anchor="t"/>
          <a:lstStyle/>
          <a:p>
            <a:pPr indent="0" marL="0">
              <a:buNone/>
            </a:pPr>
            <a:r>
              <a:rPr lang="en-US" sz="1400" dirty="0">
                <a:solidFill>
                  <a:schemeClr val="tx1"/>
                </a:solidFill>
              </a:rPr>
              <a:t>persetujuan PS hingga 2026: 65,9% dari target 12,7 juta ha, melibatkan ±1,4 juta KK</a:t>
            </a:r>
            <a:endParaRPr lang="en-US" sz="1400" dirty="0"/>
          </a:p>
        </p:txBody>
      </p:sp>
      <p:sp>
        <p:nvSpPr>
          <p:cNvPr id="5" name="Shape 3"/>
          <p:cNvSpPr/>
          <p:nvPr/>
        </p:nvSpPr>
        <p:spPr>
          <a:xfrm>
            <a:off x="457200" y="2880360"/>
            <a:ext cx="3017520" cy="1600200"/>
          </a:xfrm>
          <a:prstGeom prst="rect">
            <a:avLst/>
          </a:prstGeom>
          <a:solidFill>
            <a:schemeClr val="tx2"/>
          </a:solidFill>
          <a:ln/>
        </p:spPr>
      </p:sp>
      <p:sp>
        <p:nvSpPr>
          <p:cNvPr id="6" name="Text 4"/>
          <p:cNvSpPr txBox="1"/>
          <p:nvPr/>
        </p:nvSpPr>
        <p:spPr>
          <a:xfrm>
            <a:off x="640080" y="3017520"/>
            <a:ext cx="2697480" cy="1371600"/>
          </a:xfrm>
          <a:prstGeom prst="rect">
            <a:avLst/>
          </a:prstGeom>
          <a:noFill/>
          <a:ln/>
        </p:spPr>
        <p:txBody>
          <a:bodyPr wrap="square" lIns="0" tIns="0" rIns="0" bIns="0" rtlCol="0" anchor="t"/>
          <a:lstStyle/>
          <a:p>
            <a:pPr indent="0" marL="0">
              <a:spcAft>
                <a:spcPts val="400"/>
              </a:spcAft>
              <a:buNone/>
            </a:pPr>
            <a:r>
              <a:rPr lang="en-US" sz="1300" b="1" dirty="0">
                <a:solidFill>
                  <a:schemeClr val="accent6"/>
                </a:solidFill>
              </a:rPr>
              <a:t>Pertanyaannya bergeser</a:t>
            </a:r>
            <a:endParaRPr lang="en-US" sz="1300" dirty="0"/>
          </a:p>
          <a:p>
            <a:pPr indent="0" marL="0">
              <a:spcAft>
                <a:spcPts val="400"/>
              </a:spcAft>
              <a:buNone/>
            </a:pPr>
            <a:r>
              <a:rPr lang="en-US" sz="1300" dirty="0">
                <a:solidFill>
                  <a:schemeClr val="bg1"/>
                </a:solidFill>
              </a:rPr>
              <a:t>Dari “bagaimana masyarakat mendapat hak kelola” menjadi “bagaimana KPS membiayai pengelolaan hutannya sendiri”.</a:t>
            </a:r>
            <a:endParaRPr lang="en-US" sz="1300" dirty="0"/>
          </a:p>
        </p:txBody>
      </p:sp>
      <p:sp>
        <p:nvSpPr>
          <p:cNvPr id="7" name="Masalah 1 lingkaran"/>
          <p:cNvSpPr/>
          <p:nvPr/>
        </p:nvSpPr>
        <p:spPr>
          <a:xfrm>
            <a:off x="3931920" y="1234440"/>
            <a:ext cx="502920" cy="502920"/>
          </a:xfrm>
          <a:prstGeom prst="ellipse">
            <a:avLst/>
          </a:prstGeom>
          <a:solidFill>
            <a:schemeClr val="accent1"/>
          </a:solidFill>
          <a:ln/>
        </p:spPr>
      </p:sp>
      <p:pic>
        <p:nvPicPr>
          <p:cNvPr id="8" name="Masalah 1 ikon" descr="preencoded.png">    </p:cNvPr>
          <p:cNvPicPr>
            <a:picLocks noChangeAspect="1"/>
          </p:cNvPicPr>
          <p:nvPr/>
        </p:nvPicPr>
        <p:blipFill>
          <a:blip r:embed="rId1"/>
          <a:stretch>
            <a:fillRect/>
          </a:stretch>
        </p:blipFill>
        <p:spPr>
          <a:xfrm>
            <a:off x="4062679" y="1365199"/>
            <a:ext cx="241402" cy="241402"/>
          </a:xfrm>
          <a:prstGeom prst="rect">
            <a:avLst/>
          </a:prstGeom>
        </p:spPr>
      </p:pic>
      <p:sp>
        <p:nvSpPr>
          <p:cNvPr id="9" name="Text 6"/>
          <p:cNvSpPr txBox="1"/>
          <p:nvPr/>
        </p:nvSpPr>
        <p:spPr>
          <a:xfrm>
            <a:off x="4617720" y="1188720"/>
            <a:ext cx="4069080" cy="1005840"/>
          </a:xfrm>
          <a:prstGeom prst="rect">
            <a:avLst/>
          </a:prstGeom>
          <a:noFill/>
          <a:ln/>
        </p:spPr>
        <p:txBody>
          <a:bodyPr wrap="square" lIns="0" tIns="0" rIns="0" bIns="0" rtlCol="0" anchor="t"/>
          <a:lstStyle/>
          <a:p>
            <a:pPr indent="0" marL="0">
              <a:buNone/>
            </a:pPr>
            <a:r>
              <a:rPr lang="en-US" sz="1500" b="1" dirty="0">
                <a:solidFill>
                  <a:schemeClr val="tx1"/>
                </a:solidFill>
              </a:rPr>
              <a:t>Pendanaan ad hoc</a:t>
            </a:r>
            <a:endParaRPr lang="en-US" sz="1500" dirty="0"/>
          </a:p>
          <a:p>
            <a:pPr indent="0" marL="0">
              <a:buNone/>
            </a:pPr>
            <a:r>
              <a:rPr lang="en-US" sz="1300" dirty="0">
                <a:solidFill>
                  <a:schemeClr val="tx1"/>
                </a:solidFill>
              </a:rPr>
              <a:t>RKPS dan RKT sudah disusun, tetapi pelaksanaannya bergantung pada hibah dan anggaran pemerintah yang terbatas.</a:t>
            </a:r>
            <a:endParaRPr lang="en-US" sz="1500" dirty="0"/>
          </a:p>
        </p:txBody>
      </p:sp>
      <p:sp>
        <p:nvSpPr>
          <p:cNvPr id="10" name="Masalah 2 lingkaran"/>
          <p:cNvSpPr/>
          <p:nvPr/>
        </p:nvSpPr>
        <p:spPr>
          <a:xfrm>
            <a:off x="3931920" y="2350008"/>
            <a:ext cx="502920" cy="502920"/>
          </a:xfrm>
          <a:prstGeom prst="ellipse">
            <a:avLst/>
          </a:prstGeom>
          <a:solidFill>
            <a:schemeClr val="accent1"/>
          </a:solidFill>
          <a:ln/>
        </p:spPr>
      </p:sp>
      <p:pic>
        <p:nvPicPr>
          <p:cNvPr id="11" name="Masalah 2 ikon" descr="preencoded.png">    </p:cNvPr>
          <p:cNvPicPr>
            <a:picLocks noChangeAspect="1"/>
          </p:cNvPicPr>
          <p:nvPr/>
        </p:nvPicPr>
        <p:blipFill>
          <a:blip r:embed="rId2"/>
          <a:stretch>
            <a:fillRect/>
          </a:stretch>
        </p:blipFill>
        <p:spPr>
          <a:xfrm>
            <a:off x="4062679" y="2480767"/>
            <a:ext cx="241402" cy="241402"/>
          </a:xfrm>
          <a:prstGeom prst="rect">
            <a:avLst/>
          </a:prstGeom>
        </p:spPr>
      </p:pic>
      <p:sp>
        <p:nvSpPr>
          <p:cNvPr id="12" name="Text 8"/>
          <p:cNvSpPr txBox="1"/>
          <p:nvPr/>
        </p:nvSpPr>
        <p:spPr>
          <a:xfrm>
            <a:off x="4617720" y="2304288"/>
            <a:ext cx="4069080" cy="1005840"/>
          </a:xfrm>
          <a:prstGeom prst="rect">
            <a:avLst/>
          </a:prstGeom>
          <a:noFill/>
          <a:ln/>
        </p:spPr>
        <p:txBody>
          <a:bodyPr wrap="square" lIns="0" tIns="0" rIns="0" bIns="0" rtlCol="0" anchor="t"/>
          <a:lstStyle/>
          <a:p>
            <a:pPr indent="0" marL="0">
              <a:buNone/>
            </a:pPr>
            <a:r>
              <a:rPr lang="en-US" sz="1500" b="1" dirty="0">
                <a:solidFill>
                  <a:schemeClr val="tx1"/>
                </a:solidFill>
              </a:rPr>
              <a:t>KUPS belum menopang kawasan</a:t>
            </a:r>
            <a:endParaRPr lang="en-US" sz="1500" dirty="0"/>
          </a:p>
          <a:p>
            <a:pPr indent="0" marL="0">
              <a:buNone/>
            </a:pPr>
            <a:r>
              <a:rPr lang="en-US" sz="1300" dirty="0">
                <a:solidFill>
                  <a:schemeClr val="tx1"/>
                </a:solidFill>
              </a:rPr>
              <a:t>Pendapatan usaha masih menjadi tambahan penghasilan anggota, belum disisihkan untuk perlindungan hutan.</a:t>
            </a:r>
            <a:endParaRPr lang="en-US" sz="1500" dirty="0"/>
          </a:p>
        </p:txBody>
      </p:sp>
      <p:sp>
        <p:nvSpPr>
          <p:cNvPr id="13" name="Masalah 3 lingkaran"/>
          <p:cNvSpPr/>
          <p:nvPr/>
        </p:nvSpPr>
        <p:spPr>
          <a:xfrm>
            <a:off x="3931920" y="3465576"/>
            <a:ext cx="502920" cy="502920"/>
          </a:xfrm>
          <a:prstGeom prst="ellipse">
            <a:avLst/>
          </a:prstGeom>
          <a:solidFill>
            <a:schemeClr val="accent1"/>
          </a:solidFill>
          <a:ln/>
        </p:spPr>
      </p:sp>
      <p:pic>
        <p:nvPicPr>
          <p:cNvPr id="14" name="Masalah 3 ikon" descr="preencoded.png">    </p:cNvPr>
          <p:cNvPicPr>
            <a:picLocks noChangeAspect="1"/>
          </p:cNvPicPr>
          <p:nvPr/>
        </p:nvPicPr>
        <p:blipFill>
          <a:blip r:embed="rId3"/>
          <a:stretch>
            <a:fillRect/>
          </a:stretch>
        </p:blipFill>
        <p:spPr>
          <a:xfrm>
            <a:off x="4062679" y="3596335"/>
            <a:ext cx="241402" cy="241402"/>
          </a:xfrm>
          <a:prstGeom prst="rect">
            <a:avLst/>
          </a:prstGeom>
        </p:spPr>
      </p:pic>
      <p:sp>
        <p:nvSpPr>
          <p:cNvPr id="15" name="Text 10"/>
          <p:cNvSpPr txBox="1"/>
          <p:nvPr/>
        </p:nvSpPr>
        <p:spPr>
          <a:xfrm>
            <a:off x="4617720" y="3419856"/>
            <a:ext cx="4069080" cy="1005840"/>
          </a:xfrm>
          <a:prstGeom prst="rect">
            <a:avLst/>
          </a:prstGeom>
          <a:noFill/>
          <a:ln/>
        </p:spPr>
        <p:txBody>
          <a:bodyPr wrap="square" lIns="0" tIns="0" rIns="0" bIns="0" rtlCol="0" anchor="t"/>
          <a:lstStyle/>
          <a:p>
            <a:pPr indent="0" marL="0">
              <a:buNone/>
            </a:pPr>
            <a:r>
              <a:rPr lang="en-US" sz="1500" b="1" dirty="0">
                <a:solidFill>
                  <a:schemeClr val="tx1"/>
                </a:solidFill>
              </a:rPr>
              <a:t>Kapasitas teknis terbatas</a:t>
            </a:r>
            <a:endParaRPr lang="en-US" sz="1500" dirty="0"/>
          </a:p>
          <a:p>
            <a:pPr indent="0" marL="0">
              <a:buNone/>
            </a:pPr>
            <a:r>
              <a:rPr lang="en-US" sz="1300" dirty="0">
                <a:solidFill>
                  <a:schemeClr val="tx1"/>
                </a:solidFill>
              </a:rPr>
              <a:t>Kelembagaan, data, akses pasar karbon, dan modal awal belum siap.</a:t>
            </a:r>
            <a:endParaRPr lang="en-US" sz="15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Karbon komunitas: kinerja mitigasi masyarakat menjadi sumber pembiayaan</a:t>
            </a:r>
            <a:endParaRPr lang="en-US" sz="2200" dirty="0"/>
          </a:p>
        </p:txBody>
      </p:sp>
      <p:sp>
        <p:nvSpPr>
          <p:cNvPr id="3" name="Shape 1"/>
          <p:cNvSpPr/>
          <p:nvPr/>
        </p:nvSpPr>
        <p:spPr>
          <a:xfrm>
            <a:off x="1097280" y="1188720"/>
            <a:ext cx="640080" cy="640080"/>
          </a:xfrm>
          <a:prstGeom prst="ellipse">
            <a:avLst/>
          </a:prstGeom>
          <a:solidFill>
            <a:schemeClr val="accent1"/>
          </a:solidFill>
          <a:ln/>
        </p:spPr>
      </p:sp>
      <p:sp>
        <p:nvSpPr>
          <p:cNvPr id="4" name="Text 2"/>
          <p:cNvSpPr txBox="1"/>
          <p:nvPr/>
        </p:nvSpPr>
        <p:spPr>
          <a:xfrm>
            <a:off x="1097280"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5" name="Shape 3"/>
          <p:cNvSpPr/>
          <p:nvPr/>
        </p:nvSpPr>
        <p:spPr>
          <a:xfrm>
            <a:off x="1828800" y="1508760"/>
            <a:ext cx="1371600" cy="0"/>
          </a:xfrm>
          <a:prstGeom prst="line">
            <a:avLst/>
          </a:prstGeom>
          <a:noFill/>
          <a:ln w="19050">
            <a:solidFill>
              <a:srgbClr val="8FC1A6"/>
            </a:solidFill>
            <a:prstDash val="solid"/>
            <a:tailEnd type="triangle"/>
          </a:ln>
        </p:spPr>
      </p:sp>
      <p:sp>
        <p:nvSpPr>
          <p:cNvPr id="6" name="Text 4"/>
          <p:cNvSpPr txBox="1"/>
          <p:nvPr/>
        </p:nvSpPr>
        <p:spPr>
          <a:xfrm>
            <a:off x="457200" y="1920240"/>
            <a:ext cx="1920240" cy="320040"/>
          </a:xfrm>
          <a:prstGeom prst="rect">
            <a:avLst/>
          </a:prstGeom>
          <a:noFill/>
          <a:ln/>
        </p:spPr>
        <p:txBody>
          <a:bodyPr wrap="square" lIns="0" tIns="0" rIns="0" bIns="0" rtlCol="0" anchor="t"/>
          <a:lstStyle/>
          <a:p>
            <a:pPr algn="ctr" indent="0" marL="0">
              <a:buNone/>
            </a:pPr>
            <a:r>
              <a:rPr lang="en-US" sz="1500" b="1" dirty="0">
                <a:solidFill>
                  <a:schemeClr val="tx2"/>
                </a:solidFill>
              </a:rPr>
              <a:t>Aksi mitigasi</a:t>
            </a:r>
            <a:endParaRPr lang="en-US" sz="1500" dirty="0"/>
          </a:p>
        </p:txBody>
      </p:sp>
      <p:sp>
        <p:nvSpPr>
          <p:cNvPr id="7" name="Text 5"/>
          <p:cNvSpPr txBox="1"/>
          <p:nvPr/>
        </p:nvSpPr>
        <p:spPr>
          <a:xfrm>
            <a:off x="502920" y="2240280"/>
            <a:ext cx="1828800" cy="731520"/>
          </a:xfrm>
          <a:prstGeom prst="rect">
            <a:avLst/>
          </a:prstGeom>
          <a:noFill/>
          <a:ln/>
        </p:spPr>
        <p:txBody>
          <a:bodyPr wrap="square" lIns="0" tIns="0" rIns="0" bIns="0" rtlCol="0" anchor="t"/>
          <a:lstStyle/>
          <a:p>
            <a:pPr algn="ctr" indent="0" marL="0">
              <a:buNone/>
            </a:pPr>
            <a:r>
              <a:rPr lang="en-US" sz="1200" dirty="0">
                <a:solidFill>
                  <a:schemeClr val="tx1"/>
                </a:solidFill>
              </a:rPr>
              <a:t>Patroli, cegah karhutla, pulihkan hutan, gambut &amp; mangrove</a:t>
            </a:r>
            <a:endParaRPr lang="en-US" sz="1200" dirty="0"/>
          </a:p>
        </p:txBody>
      </p:sp>
      <p:sp>
        <p:nvSpPr>
          <p:cNvPr id="8" name="Shape 6"/>
          <p:cNvSpPr/>
          <p:nvPr/>
        </p:nvSpPr>
        <p:spPr>
          <a:xfrm>
            <a:off x="3200400" y="1188720"/>
            <a:ext cx="640080" cy="640080"/>
          </a:xfrm>
          <a:prstGeom prst="ellipse">
            <a:avLst/>
          </a:prstGeom>
          <a:solidFill>
            <a:schemeClr val="accent4"/>
          </a:solidFill>
          <a:ln/>
        </p:spPr>
      </p:sp>
      <p:sp>
        <p:nvSpPr>
          <p:cNvPr id="9" name="Text 7"/>
          <p:cNvSpPr txBox="1"/>
          <p:nvPr/>
        </p:nvSpPr>
        <p:spPr>
          <a:xfrm>
            <a:off x="3200400"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10" name="Shape 8"/>
          <p:cNvSpPr/>
          <p:nvPr/>
        </p:nvSpPr>
        <p:spPr>
          <a:xfrm>
            <a:off x="3931920" y="1508760"/>
            <a:ext cx="1371600" cy="0"/>
          </a:xfrm>
          <a:prstGeom prst="line">
            <a:avLst/>
          </a:prstGeom>
          <a:noFill/>
          <a:ln w="19050">
            <a:solidFill>
              <a:srgbClr val="8FC1A6"/>
            </a:solidFill>
            <a:prstDash val="solid"/>
            <a:tailEnd type="triangle"/>
          </a:ln>
        </p:spPr>
      </p:sp>
      <p:sp>
        <p:nvSpPr>
          <p:cNvPr id="11" name="Text 9"/>
          <p:cNvSpPr txBox="1"/>
          <p:nvPr/>
        </p:nvSpPr>
        <p:spPr>
          <a:xfrm>
            <a:off x="2560320" y="1920240"/>
            <a:ext cx="1920240" cy="320040"/>
          </a:xfrm>
          <a:prstGeom prst="rect">
            <a:avLst/>
          </a:prstGeom>
          <a:noFill/>
          <a:ln/>
        </p:spPr>
        <p:txBody>
          <a:bodyPr wrap="square" lIns="0" tIns="0" rIns="0" bIns="0" rtlCol="0" anchor="t"/>
          <a:lstStyle/>
          <a:p>
            <a:pPr algn="ctr" indent="0" marL="0">
              <a:buNone/>
            </a:pPr>
            <a:r>
              <a:rPr lang="en-US" sz="1500" b="1" dirty="0">
                <a:solidFill>
                  <a:schemeClr val="tx2"/>
                </a:solidFill>
              </a:rPr>
              <a:t>Terukur &amp; terverifikasi</a:t>
            </a:r>
            <a:endParaRPr lang="en-US" sz="1500" dirty="0"/>
          </a:p>
        </p:txBody>
      </p:sp>
      <p:sp>
        <p:nvSpPr>
          <p:cNvPr id="12" name="Text 10"/>
          <p:cNvSpPr txBox="1"/>
          <p:nvPr/>
        </p:nvSpPr>
        <p:spPr>
          <a:xfrm>
            <a:off x="2606040" y="2240280"/>
            <a:ext cx="1828800" cy="731520"/>
          </a:xfrm>
          <a:prstGeom prst="rect">
            <a:avLst/>
          </a:prstGeom>
          <a:noFill/>
          <a:ln/>
        </p:spPr>
        <p:txBody>
          <a:bodyPr wrap="square" lIns="0" tIns="0" rIns="0" bIns="0" rtlCol="0" anchor="t"/>
          <a:lstStyle/>
          <a:p>
            <a:pPr algn="ctr" indent="0" marL="0">
              <a:buNone/>
            </a:pPr>
            <a:r>
              <a:rPr lang="en-US" sz="1200" dirty="0">
                <a:solidFill>
                  <a:schemeClr val="tx1"/>
                </a:solidFill>
              </a:rPr>
              <a:t>Baseline, MRV, dan safeguards sesuai standar</a:t>
            </a:r>
            <a:endParaRPr lang="en-US" sz="1200" dirty="0"/>
          </a:p>
        </p:txBody>
      </p:sp>
      <p:sp>
        <p:nvSpPr>
          <p:cNvPr id="13" name="Shape 11"/>
          <p:cNvSpPr/>
          <p:nvPr/>
        </p:nvSpPr>
        <p:spPr>
          <a:xfrm>
            <a:off x="5303520" y="1188720"/>
            <a:ext cx="640080" cy="640080"/>
          </a:xfrm>
          <a:prstGeom prst="ellipse">
            <a:avLst/>
          </a:prstGeom>
          <a:solidFill>
            <a:schemeClr val="accent6"/>
          </a:solidFill>
          <a:ln/>
        </p:spPr>
      </p:sp>
      <p:sp>
        <p:nvSpPr>
          <p:cNvPr id="14" name="Text 12"/>
          <p:cNvSpPr txBox="1"/>
          <p:nvPr/>
        </p:nvSpPr>
        <p:spPr>
          <a:xfrm>
            <a:off x="5303520"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5" name="Shape 13"/>
          <p:cNvSpPr/>
          <p:nvPr/>
        </p:nvSpPr>
        <p:spPr>
          <a:xfrm>
            <a:off x="6035040" y="1508760"/>
            <a:ext cx="1371600" cy="0"/>
          </a:xfrm>
          <a:prstGeom prst="line">
            <a:avLst/>
          </a:prstGeom>
          <a:noFill/>
          <a:ln w="19050">
            <a:solidFill>
              <a:srgbClr val="8FC1A6"/>
            </a:solidFill>
            <a:prstDash val="solid"/>
            <a:tailEnd type="triangle"/>
          </a:ln>
        </p:spPr>
      </p:sp>
      <p:sp>
        <p:nvSpPr>
          <p:cNvPr id="16" name="Text 14"/>
          <p:cNvSpPr txBox="1"/>
          <p:nvPr/>
        </p:nvSpPr>
        <p:spPr>
          <a:xfrm>
            <a:off x="4663440" y="1920240"/>
            <a:ext cx="1920240" cy="320040"/>
          </a:xfrm>
          <a:prstGeom prst="rect">
            <a:avLst/>
          </a:prstGeom>
          <a:noFill/>
          <a:ln/>
        </p:spPr>
        <p:txBody>
          <a:bodyPr wrap="square" lIns="0" tIns="0" rIns="0" bIns="0" rtlCol="0" anchor="t"/>
          <a:lstStyle/>
          <a:p>
            <a:pPr algn="ctr" indent="0" marL="0">
              <a:buNone/>
            </a:pPr>
            <a:r>
              <a:rPr lang="en-US" sz="1500" b="1" dirty="0">
                <a:solidFill>
                  <a:schemeClr val="tx2"/>
                </a:solidFill>
              </a:rPr>
              <a:t>Pembiayaan karbon</a:t>
            </a:r>
            <a:endParaRPr lang="en-US" sz="1500" dirty="0"/>
          </a:p>
        </p:txBody>
      </p:sp>
      <p:sp>
        <p:nvSpPr>
          <p:cNvPr id="17" name="Text 15"/>
          <p:cNvSpPr txBox="1"/>
          <p:nvPr/>
        </p:nvSpPr>
        <p:spPr>
          <a:xfrm>
            <a:off x="4709160" y="2240280"/>
            <a:ext cx="1828800" cy="731520"/>
          </a:xfrm>
          <a:prstGeom prst="rect">
            <a:avLst/>
          </a:prstGeom>
          <a:noFill/>
          <a:ln/>
        </p:spPr>
        <p:txBody>
          <a:bodyPr wrap="square" lIns="0" tIns="0" rIns="0" bIns="0" rtlCol="0" anchor="t"/>
          <a:lstStyle/>
          <a:p>
            <a:pPr algn="ctr" indent="0" marL="0">
              <a:buNone/>
            </a:pPr>
            <a:r>
              <a:rPr lang="en-US" sz="1200" dirty="0">
                <a:solidFill>
                  <a:schemeClr val="tx1"/>
                </a:solidFill>
              </a:rPr>
              <a:t>Unit karbon dijual ke pasar nasional atau internasional</a:t>
            </a:r>
            <a:endParaRPr lang="en-US" sz="1200" dirty="0"/>
          </a:p>
        </p:txBody>
      </p:sp>
      <p:sp>
        <p:nvSpPr>
          <p:cNvPr id="18" name="Shape 16"/>
          <p:cNvSpPr/>
          <p:nvPr/>
        </p:nvSpPr>
        <p:spPr>
          <a:xfrm>
            <a:off x="7406640" y="1188720"/>
            <a:ext cx="640080" cy="640080"/>
          </a:xfrm>
          <a:prstGeom prst="ellipse">
            <a:avLst/>
          </a:prstGeom>
          <a:solidFill>
            <a:schemeClr val="accent2"/>
          </a:solidFill>
          <a:ln/>
        </p:spPr>
      </p:sp>
      <p:sp>
        <p:nvSpPr>
          <p:cNvPr id="19" name="Text 17"/>
          <p:cNvSpPr txBox="1"/>
          <p:nvPr/>
        </p:nvSpPr>
        <p:spPr>
          <a:xfrm>
            <a:off x="7406640" y="118872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20" name="Text 18"/>
          <p:cNvSpPr txBox="1"/>
          <p:nvPr/>
        </p:nvSpPr>
        <p:spPr>
          <a:xfrm>
            <a:off x="6766560" y="1920240"/>
            <a:ext cx="1920240" cy="320040"/>
          </a:xfrm>
          <a:prstGeom prst="rect">
            <a:avLst/>
          </a:prstGeom>
          <a:noFill/>
          <a:ln/>
        </p:spPr>
        <p:txBody>
          <a:bodyPr wrap="square" lIns="0" tIns="0" rIns="0" bIns="0" rtlCol="0" anchor="t"/>
          <a:lstStyle/>
          <a:p>
            <a:pPr algn="ctr" indent="0" marL="0">
              <a:buNone/>
            </a:pPr>
            <a:r>
              <a:rPr lang="en-US" sz="1500" b="1" dirty="0">
                <a:solidFill>
                  <a:schemeClr val="tx2"/>
                </a:solidFill>
              </a:rPr>
              <a:t>Kembali ke desa</a:t>
            </a:r>
            <a:endParaRPr lang="en-US" sz="1500" dirty="0"/>
          </a:p>
        </p:txBody>
      </p:sp>
      <p:sp>
        <p:nvSpPr>
          <p:cNvPr id="21" name="Text 19"/>
          <p:cNvSpPr txBox="1"/>
          <p:nvPr/>
        </p:nvSpPr>
        <p:spPr>
          <a:xfrm>
            <a:off x="6812280" y="2240280"/>
            <a:ext cx="1828800" cy="731520"/>
          </a:xfrm>
          <a:prstGeom prst="rect">
            <a:avLst/>
          </a:prstGeom>
          <a:noFill/>
          <a:ln/>
        </p:spPr>
        <p:txBody>
          <a:bodyPr wrap="square" lIns="0" tIns="0" rIns="0" bIns="0" rtlCol="0" anchor="t"/>
          <a:lstStyle/>
          <a:p>
            <a:pPr algn="ctr" indent="0" marL="0">
              <a:buNone/>
            </a:pPr>
            <a:r>
              <a:rPr lang="en-US" sz="1200" dirty="0">
                <a:solidFill>
                  <a:schemeClr val="tx1"/>
                </a:solidFill>
              </a:rPr>
              <a:t>Dibagi lewat mekanisme yang adil dan transparan</a:t>
            </a:r>
            <a:endParaRPr lang="en-US" sz="1200" dirty="0"/>
          </a:p>
        </p:txBody>
      </p:sp>
      <p:sp>
        <p:nvSpPr>
          <p:cNvPr id="22" name="Shape 20"/>
          <p:cNvSpPr/>
          <p:nvPr/>
        </p:nvSpPr>
        <p:spPr>
          <a:xfrm>
            <a:off x="457200" y="3154680"/>
            <a:ext cx="5120640" cy="1325880"/>
          </a:xfrm>
          <a:prstGeom prst="rect">
            <a:avLst/>
          </a:prstGeom>
          <a:solidFill>
            <a:schemeClr val="bg2"/>
          </a:solidFill>
          <a:ln/>
        </p:spPr>
      </p:sp>
      <p:sp>
        <p:nvSpPr>
          <p:cNvPr id="23" name="Text 21"/>
          <p:cNvSpPr txBox="1"/>
          <p:nvPr/>
        </p:nvSpPr>
        <p:spPr>
          <a:xfrm>
            <a:off x="640080" y="3246120"/>
            <a:ext cx="4754880" cy="274320"/>
          </a:xfrm>
          <a:prstGeom prst="rect">
            <a:avLst/>
          </a:prstGeom>
          <a:noFill/>
          <a:ln/>
        </p:spPr>
        <p:txBody>
          <a:bodyPr wrap="square" lIns="0" tIns="0" rIns="0" bIns="0" rtlCol="0" anchor="t"/>
          <a:lstStyle/>
          <a:p>
            <a:pPr indent="0" marL="0">
              <a:buNone/>
            </a:pPr>
            <a:r>
              <a:rPr lang="en-US" sz="1300" b="1" dirty="0">
                <a:solidFill>
                  <a:schemeClr val="tx2"/>
                </a:solidFill>
              </a:rPr>
              <a:t>Dana karbon dipakai kembali untuk</a:t>
            </a:r>
            <a:endParaRPr lang="en-US" sz="1300" dirty="0"/>
          </a:p>
        </p:txBody>
      </p:sp>
      <p:sp>
        <p:nvSpPr>
          <p:cNvPr id="24" name="Shape 22"/>
          <p:cNvSpPr/>
          <p:nvPr/>
        </p:nvSpPr>
        <p:spPr>
          <a:xfrm>
            <a:off x="640080" y="3611880"/>
            <a:ext cx="1481328" cy="329184"/>
          </a:xfrm>
          <a:prstGeom prst="roundRect">
            <a:avLst>
              <a:gd name="adj" fmla="val 50000"/>
            </a:avLst>
          </a:prstGeom>
          <a:solidFill>
            <a:schemeClr val="bg1"/>
          </a:solidFill>
          <a:ln w="12700">
            <a:solidFill>
              <a:schemeClr val="accent1"/>
            </a:solidFill>
            <a:prstDash val="solid"/>
          </a:ln>
        </p:spPr>
      </p:sp>
      <p:sp>
        <p:nvSpPr>
          <p:cNvPr id="25" name="Text 23"/>
          <p:cNvSpPr txBox="1"/>
          <p:nvPr/>
        </p:nvSpPr>
        <p:spPr>
          <a:xfrm>
            <a:off x="640080" y="3611880"/>
            <a:ext cx="1481328" cy="329184"/>
          </a:xfrm>
          <a:prstGeom prst="rect">
            <a:avLst/>
          </a:prstGeom>
          <a:noFill/>
          <a:ln/>
        </p:spPr>
        <p:txBody>
          <a:bodyPr wrap="square" lIns="0" tIns="0" rIns="0" bIns="0" rtlCol="0" anchor="ctr"/>
          <a:lstStyle/>
          <a:p>
            <a:pPr algn="ctr" indent="0" marL="0">
              <a:buNone/>
            </a:pPr>
            <a:r>
              <a:rPr lang="en-US" sz="1200" dirty="0">
                <a:solidFill>
                  <a:schemeClr val="tx2"/>
                </a:solidFill>
              </a:rPr>
              <a:t>Kelola kelembagaan</a:t>
            </a:r>
            <a:endParaRPr lang="en-US" sz="1200" dirty="0"/>
          </a:p>
        </p:txBody>
      </p:sp>
      <p:sp>
        <p:nvSpPr>
          <p:cNvPr id="26" name="Shape 24"/>
          <p:cNvSpPr/>
          <p:nvPr/>
        </p:nvSpPr>
        <p:spPr>
          <a:xfrm>
            <a:off x="2240280" y="3611880"/>
            <a:ext cx="1481328" cy="329184"/>
          </a:xfrm>
          <a:prstGeom prst="roundRect">
            <a:avLst>
              <a:gd name="adj" fmla="val 50000"/>
            </a:avLst>
          </a:prstGeom>
          <a:solidFill>
            <a:schemeClr val="bg1"/>
          </a:solidFill>
          <a:ln w="12700">
            <a:solidFill>
              <a:schemeClr val="accent1"/>
            </a:solidFill>
            <a:prstDash val="solid"/>
          </a:ln>
        </p:spPr>
      </p:sp>
      <p:sp>
        <p:nvSpPr>
          <p:cNvPr id="27" name="Text 25"/>
          <p:cNvSpPr txBox="1"/>
          <p:nvPr/>
        </p:nvSpPr>
        <p:spPr>
          <a:xfrm>
            <a:off x="2240280" y="3611880"/>
            <a:ext cx="1481328" cy="329184"/>
          </a:xfrm>
          <a:prstGeom prst="rect">
            <a:avLst/>
          </a:prstGeom>
          <a:noFill/>
          <a:ln/>
        </p:spPr>
        <p:txBody>
          <a:bodyPr wrap="square" lIns="0" tIns="0" rIns="0" bIns="0" rtlCol="0" anchor="ctr"/>
          <a:lstStyle/>
          <a:p>
            <a:pPr algn="ctr" indent="0" marL="0">
              <a:buNone/>
            </a:pPr>
            <a:r>
              <a:rPr lang="en-US" sz="1200" dirty="0">
                <a:solidFill>
                  <a:schemeClr val="tx2"/>
                </a:solidFill>
              </a:rPr>
              <a:t>Kelola kawasan</a:t>
            </a:r>
            <a:endParaRPr lang="en-US" sz="1200" dirty="0"/>
          </a:p>
        </p:txBody>
      </p:sp>
      <p:sp>
        <p:nvSpPr>
          <p:cNvPr id="28" name="Shape 26"/>
          <p:cNvSpPr/>
          <p:nvPr/>
        </p:nvSpPr>
        <p:spPr>
          <a:xfrm>
            <a:off x="3840480" y="3611880"/>
            <a:ext cx="1481328" cy="329184"/>
          </a:xfrm>
          <a:prstGeom prst="roundRect">
            <a:avLst>
              <a:gd name="adj" fmla="val 50000"/>
            </a:avLst>
          </a:prstGeom>
          <a:solidFill>
            <a:schemeClr val="bg1"/>
          </a:solidFill>
          <a:ln w="12700">
            <a:solidFill>
              <a:schemeClr val="accent1"/>
            </a:solidFill>
            <a:prstDash val="solid"/>
          </a:ln>
        </p:spPr>
      </p:sp>
      <p:sp>
        <p:nvSpPr>
          <p:cNvPr id="29" name="Text 27"/>
          <p:cNvSpPr txBox="1"/>
          <p:nvPr/>
        </p:nvSpPr>
        <p:spPr>
          <a:xfrm>
            <a:off x="3840480" y="3611880"/>
            <a:ext cx="1481328" cy="329184"/>
          </a:xfrm>
          <a:prstGeom prst="rect">
            <a:avLst/>
          </a:prstGeom>
          <a:noFill/>
          <a:ln/>
        </p:spPr>
        <p:txBody>
          <a:bodyPr wrap="square" lIns="0" tIns="0" rIns="0" bIns="0" rtlCol="0" anchor="ctr"/>
          <a:lstStyle/>
          <a:p>
            <a:pPr algn="ctr" indent="0" marL="0">
              <a:buNone/>
            </a:pPr>
            <a:r>
              <a:rPr lang="en-US" sz="1200" dirty="0">
                <a:solidFill>
                  <a:schemeClr val="tx2"/>
                </a:solidFill>
              </a:rPr>
              <a:t>Kelola usaha</a:t>
            </a:r>
            <a:endParaRPr lang="en-US" sz="1200" dirty="0"/>
          </a:p>
        </p:txBody>
      </p:sp>
      <p:sp>
        <p:nvSpPr>
          <p:cNvPr id="30" name="Shape 28"/>
          <p:cNvSpPr/>
          <p:nvPr/>
        </p:nvSpPr>
        <p:spPr>
          <a:xfrm>
            <a:off x="640080" y="4023360"/>
            <a:ext cx="1481328" cy="329184"/>
          </a:xfrm>
          <a:prstGeom prst="roundRect">
            <a:avLst>
              <a:gd name="adj" fmla="val 50000"/>
            </a:avLst>
          </a:prstGeom>
          <a:solidFill>
            <a:schemeClr val="bg1"/>
          </a:solidFill>
          <a:ln w="12700">
            <a:solidFill>
              <a:schemeClr val="accent2"/>
            </a:solidFill>
            <a:prstDash val="solid"/>
          </a:ln>
        </p:spPr>
      </p:sp>
      <p:sp>
        <p:nvSpPr>
          <p:cNvPr id="31" name="Text 29"/>
          <p:cNvSpPr txBox="1"/>
          <p:nvPr/>
        </p:nvSpPr>
        <p:spPr>
          <a:xfrm>
            <a:off x="640080" y="4023360"/>
            <a:ext cx="1481328" cy="329184"/>
          </a:xfrm>
          <a:prstGeom prst="rect">
            <a:avLst/>
          </a:prstGeom>
          <a:noFill/>
          <a:ln/>
        </p:spPr>
        <p:txBody>
          <a:bodyPr wrap="square" lIns="0" tIns="0" rIns="0" bIns="0" rtlCol="0" anchor="ctr"/>
          <a:lstStyle/>
          <a:p>
            <a:pPr algn="ctr" indent="0" marL="0">
              <a:buNone/>
            </a:pPr>
            <a:r>
              <a:rPr lang="en-US" sz="1200" dirty="0">
                <a:solidFill>
                  <a:schemeClr val="tx2"/>
                </a:solidFill>
              </a:rPr>
              <a:t>Infrastruktur desa</a:t>
            </a:r>
            <a:endParaRPr lang="en-US" sz="1200" dirty="0"/>
          </a:p>
        </p:txBody>
      </p:sp>
      <p:sp>
        <p:nvSpPr>
          <p:cNvPr id="32" name="Shape 30"/>
          <p:cNvSpPr/>
          <p:nvPr/>
        </p:nvSpPr>
        <p:spPr>
          <a:xfrm>
            <a:off x="2240280" y="4023360"/>
            <a:ext cx="1481328" cy="329184"/>
          </a:xfrm>
          <a:prstGeom prst="roundRect">
            <a:avLst>
              <a:gd name="adj" fmla="val 50000"/>
            </a:avLst>
          </a:prstGeom>
          <a:solidFill>
            <a:schemeClr val="bg1"/>
          </a:solidFill>
          <a:ln w="12700">
            <a:solidFill>
              <a:schemeClr val="accent2"/>
            </a:solidFill>
            <a:prstDash val="solid"/>
          </a:ln>
        </p:spPr>
      </p:sp>
      <p:sp>
        <p:nvSpPr>
          <p:cNvPr id="33" name="Text 31"/>
          <p:cNvSpPr txBox="1"/>
          <p:nvPr/>
        </p:nvSpPr>
        <p:spPr>
          <a:xfrm>
            <a:off x="2240280" y="4023360"/>
            <a:ext cx="1481328" cy="329184"/>
          </a:xfrm>
          <a:prstGeom prst="rect">
            <a:avLst/>
          </a:prstGeom>
          <a:noFill/>
          <a:ln/>
        </p:spPr>
        <p:txBody>
          <a:bodyPr wrap="square" lIns="0" tIns="0" rIns="0" bIns="0" rtlCol="0" anchor="ctr"/>
          <a:lstStyle/>
          <a:p>
            <a:pPr algn="ctr" indent="0" marL="0">
              <a:buNone/>
            </a:pPr>
            <a:r>
              <a:rPr lang="en-US" sz="1200" dirty="0">
                <a:solidFill>
                  <a:schemeClr val="tx2"/>
                </a:solidFill>
              </a:rPr>
              <a:t>Pendidikan</a:t>
            </a:r>
            <a:endParaRPr lang="en-US" sz="1200" dirty="0"/>
          </a:p>
        </p:txBody>
      </p:sp>
      <p:sp>
        <p:nvSpPr>
          <p:cNvPr id="34" name="Shape 32"/>
          <p:cNvSpPr/>
          <p:nvPr/>
        </p:nvSpPr>
        <p:spPr>
          <a:xfrm>
            <a:off x="3840480" y="4023360"/>
            <a:ext cx="1481328" cy="329184"/>
          </a:xfrm>
          <a:prstGeom prst="roundRect">
            <a:avLst>
              <a:gd name="adj" fmla="val 50000"/>
            </a:avLst>
          </a:prstGeom>
          <a:solidFill>
            <a:schemeClr val="bg1"/>
          </a:solidFill>
          <a:ln w="12700">
            <a:solidFill>
              <a:schemeClr val="accent2"/>
            </a:solidFill>
            <a:prstDash val="solid"/>
          </a:ln>
        </p:spPr>
      </p:sp>
      <p:sp>
        <p:nvSpPr>
          <p:cNvPr id="35" name="Text 33"/>
          <p:cNvSpPr txBox="1"/>
          <p:nvPr/>
        </p:nvSpPr>
        <p:spPr>
          <a:xfrm>
            <a:off x="3840480" y="4023360"/>
            <a:ext cx="1481328" cy="329184"/>
          </a:xfrm>
          <a:prstGeom prst="rect">
            <a:avLst/>
          </a:prstGeom>
          <a:noFill/>
          <a:ln/>
        </p:spPr>
        <p:txBody>
          <a:bodyPr wrap="square" lIns="0" tIns="0" rIns="0" bIns="0" rtlCol="0" anchor="ctr"/>
          <a:lstStyle/>
          <a:p>
            <a:pPr algn="ctr" indent="0" marL="0">
              <a:buNone/>
            </a:pPr>
            <a:r>
              <a:rPr lang="en-US" sz="1200" dirty="0">
                <a:solidFill>
                  <a:schemeClr val="tx2"/>
                </a:solidFill>
              </a:rPr>
              <a:t>Kesehatan</a:t>
            </a:r>
            <a:endParaRPr lang="en-US" sz="1200" dirty="0"/>
          </a:p>
        </p:txBody>
      </p:sp>
      <p:sp>
        <p:nvSpPr>
          <p:cNvPr id="36" name="Text 34"/>
          <p:cNvSpPr txBox="1"/>
          <p:nvPr/>
        </p:nvSpPr>
        <p:spPr>
          <a:xfrm>
            <a:off x="5852160" y="3154680"/>
            <a:ext cx="2834640" cy="1371600"/>
          </a:xfrm>
          <a:prstGeom prst="rect">
            <a:avLst/>
          </a:prstGeom>
          <a:noFill/>
          <a:ln/>
        </p:spPr>
        <p:txBody>
          <a:bodyPr wrap="square" lIns="0" tIns="0" rIns="0" bIns="0" rtlCol="0" anchor="t"/>
          <a:lstStyle/>
          <a:p>
            <a:pPr indent="0" marL="0">
              <a:spcAft>
                <a:spcPts val="200"/>
              </a:spcAft>
              <a:buNone/>
            </a:pPr>
            <a:r>
              <a:rPr lang="en-US" sz="1100" b="1" dirty="0">
                <a:solidFill>
                  <a:schemeClr val="tx2"/>
                </a:solidFill>
              </a:rPr>
              <a:t>Dasar hukum</a:t>
            </a:r>
            <a:endParaRPr lang="en-US" sz="1100" dirty="0"/>
          </a:p>
          <a:p>
            <a:pPr marL="342900" indent="-342900">
              <a:spcAft>
                <a:spcPts val="200"/>
              </a:spcAft>
              <a:buSzPct val="100000"/>
              <a:buChar char="•"/>
            </a:pPr>
            <a:r>
              <a:rPr lang="en-US" sz="1100" dirty="0">
                <a:solidFill>
                  <a:schemeClr val="tx1"/>
                </a:solidFill>
              </a:rPr>
              <a:t>Permen LHK 9/2021: jasa lingkungan karbon di PS</a:t>
            </a:r>
            <a:endParaRPr lang="en-US" sz="1100" dirty="0"/>
          </a:p>
          <a:p>
            <a:pPr marL="342900" indent="-342900">
              <a:spcAft>
                <a:spcPts val="200"/>
              </a:spcAft>
              <a:buSzPct val="100000"/>
              <a:buChar char="•"/>
            </a:pPr>
            <a:r>
              <a:rPr lang="en-US" sz="1100" dirty="0">
                <a:solidFill>
                  <a:schemeClr val="tx1"/>
                </a:solidFill>
              </a:rPr>
              <a:t>Perpres 110/2025: Nilai Ekonomi Karbon</a:t>
            </a:r>
            <a:endParaRPr lang="en-US" sz="1100" dirty="0"/>
          </a:p>
          <a:p>
            <a:pPr marL="342900" indent="-342900">
              <a:spcAft>
                <a:spcPts val="200"/>
              </a:spcAft>
              <a:buSzPct val="100000"/>
              <a:buChar char="•"/>
            </a:pPr>
            <a:r>
              <a:rPr lang="en-US" sz="1100" dirty="0">
                <a:solidFill>
                  <a:schemeClr val="tx1"/>
                </a:solidFill>
              </a:rPr>
              <a:t>Permenhut 6/2026: pemegang PS dapat berdagang karbon bersama pendamping teregistrasi</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Program SETAPAK menyiapkan HD Pasir sebagai model karbon komunitas</a:t>
            </a:r>
            <a:endParaRPr lang="en-US" sz="2200" dirty="0"/>
          </a:p>
        </p:txBody>
      </p:sp>
      <p:sp>
        <p:nvSpPr>
          <p:cNvPr id="3" name="Shape 1"/>
          <p:cNvSpPr/>
          <p:nvPr/>
        </p:nvSpPr>
        <p:spPr>
          <a:xfrm>
            <a:off x="457200" y="1143000"/>
            <a:ext cx="3291840" cy="3337560"/>
          </a:xfrm>
          <a:prstGeom prst="rect">
            <a:avLst/>
          </a:prstGeom>
          <a:solidFill>
            <a:schemeClr val="tx2"/>
          </a:solidFill>
          <a:ln/>
        </p:spPr>
      </p:sp>
      <p:sp>
        <p:nvSpPr>
          <p:cNvPr id="4" name="Text 2"/>
          <p:cNvSpPr txBox="1"/>
          <p:nvPr/>
        </p:nvSpPr>
        <p:spPr>
          <a:xfrm>
            <a:off x="685800" y="1325880"/>
            <a:ext cx="2880360" cy="3017520"/>
          </a:xfrm>
          <a:prstGeom prst="rect">
            <a:avLst/>
          </a:prstGeom>
          <a:noFill/>
          <a:ln/>
        </p:spPr>
        <p:txBody>
          <a:bodyPr wrap="square" lIns="0" tIns="0" rIns="0" bIns="0" rtlCol="0" anchor="t"/>
          <a:lstStyle/>
          <a:p>
            <a:pPr indent="0" marL="0">
              <a:spcAft>
                <a:spcPts val="300"/>
              </a:spcAft>
              <a:buNone/>
            </a:pPr>
            <a:r>
              <a:rPr lang="en-US" sz="1500" b="1" dirty="0">
                <a:solidFill>
                  <a:schemeClr val="bg1"/>
                </a:solidFill>
                <a:latin typeface="Cambria" pitchFamily="34" charset="0"/>
                <a:ea typeface="Cambria" pitchFamily="34" charset="-122"/>
                <a:cs typeface="Cambria" pitchFamily="34" charset="-120"/>
              </a:rPr>
              <a:t>Strengthening Women’s Roles and Leadership in Social Forestry through Community-Based Climate Mitigation</a:t>
            </a:r>
            <a:endParaRPr lang="en-US" sz="1200" dirty="0"/>
          </a:p>
          <a:p>
            <a:pPr indent="0" marL="0">
              <a:spcAft>
                <a:spcPts val="300"/>
              </a:spcAft>
              <a:buNone/>
            </a:pPr>
            <a:r>
              <a:rPr lang="en-US" sz="600" dirty="0">
                <a:solidFill>
                  <a:schemeClr val="bg1"/>
                </a:solidFill>
              </a:rPr>
              <a:t> </a:t>
            </a:r>
            <a:endParaRPr lang="en-US" sz="1200" dirty="0"/>
          </a:p>
          <a:p>
            <a:pPr indent="0" marL="0">
              <a:spcAft>
                <a:spcPts val="300"/>
              </a:spcAft>
              <a:buNone/>
            </a:pPr>
            <a:r>
              <a:rPr lang="en-US" sz="1200" dirty="0">
                <a:solidFill>
                  <a:schemeClr val="bg1"/>
                </a:solidFill>
              </a:rPr>
              <a:t>Pelaksana: SAMPAN Kalimantan</a:t>
            </a:r>
            <a:endParaRPr lang="en-US" sz="1200" dirty="0"/>
          </a:p>
          <a:p>
            <a:pPr indent="0" marL="0">
              <a:spcAft>
                <a:spcPts val="300"/>
              </a:spcAft>
              <a:buNone/>
            </a:pPr>
            <a:r>
              <a:rPr lang="en-US" sz="1200" dirty="0">
                <a:solidFill>
                  <a:schemeClr val="bg1"/>
                </a:solidFill>
              </a:rPr>
              <a:t>Periode: Sep 2026 – Agt 2027 (12 bulan)</a:t>
            </a:r>
            <a:endParaRPr lang="en-US" sz="1200" dirty="0"/>
          </a:p>
          <a:p>
            <a:pPr indent="0" marL="0">
              <a:spcAft>
                <a:spcPts val="300"/>
              </a:spcAft>
              <a:buNone/>
            </a:pPr>
            <a:r>
              <a:rPr lang="en-US" sz="1200" dirty="0">
                <a:solidFill>
                  <a:schemeClr val="bg1"/>
                </a:solidFill>
              </a:rPr>
              <a:t>Lokasi: Desa Pasir, Kab. Mempawah</a:t>
            </a:r>
            <a:endParaRPr lang="en-US" sz="1200" dirty="0"/>
          </a:p>
          <a:p>
            <a:pPr indent="0" marL="0">
              <a:spcAft>
                <a:spcPts val="300"/>
              </a:spcAft>
              <a:buNone/>
            </a:pPr>
            <a:r>
              <a:rPr lang="en-US" sz="1200" dirty="0">
                <a:solidFill>
                  <a:schemeClr val="bg1"/>
                </a:solidFill>
              </a:rPr>
              <a:t>Kontribusi: SETAPAK Output 1, 2, dan 4</a:t>
            </a:r>
            <a:endParaRPr lang="en-US" sz="1200" dirty="0"/>
          </a:p>
        </p:txBody>
      </p:sp>
      <p:sp>
        <p:nvSpPr>
          <p:cNvPr id="5" name="Shape 3"/>
          <p:cNvSpPr/>
          <p:nvPr/>
        </p:nvSpPr>
        <p:spPr>
          <a:xfrm>
            <a:off x="4023360" y="1143000"/>
            <a:ext cx="1051560" cy="566928"/>
          </a:xfrm>
          <a:prstGeom prst="rect">
            <a:avLst/>
          </a:prstGeom>
          <a:solidFill>
            <a:schemeClr val="accent1"/>
          </a:solidFill>
          <a:ln/>
        </p:spPr>
      </p:sp>
      <p:sp>
        <p:nvSpPr>
          <p:cNvPr id="6" name="Text 4"/>
          <p:cNvSpPr txBox="1"/>
          <p:nvPr/>
        </p:nvSpPr>
        <p:spPr>
          <a:xfrm>
            <a:off x="4023360" y="1143000"/>
            <a:ext cx="1051560" cy="566928"/>
          </a:xfrm>
          <a:prstGeom prst="rect">
            <a:avLst/>
          </a:prstGeom>
          <a:noFill/>
          <a:ln/>
        </p:spPr>
        <p:txBody>
          <a:bodyPr wrap="square" lIns="0" tIns="0" rIns="0" bIns="0" rtlCol="0" anchor="ctr"/>
          <a:lstStyle/>
          <a:p>
            <a:pPr algn="ctr" indent="0" marL="0">
              <a:buNone/>
            </a:pPr>
            <a:r>
              <a:rPr lang="en-US" sz="1300" b="1" dirty="0">
                <a:solidFill>
                  <a:schemeClr val="bg1"/>
                </a:solidFill>
              </a:rPr>
              <a:t>Output 1</a:t>
            </a:r>
            <a:endParaRPr lang="en-US" sz="1300" dirty="0"/>
          </a:p>
        </p:txBody>
      </p:sp>
      <p:sp>
        <p:nvSpPr>
          <p:cNvPr id="7" name="Text 5"/>
          <p:cNvSpPr txBox="1"/>
          <p:nvPr/>
        </p:nvSpPr>
        <p:spPr>
          <a:xfrm>
            <a:off x="5212080" y="1143000"/>
            <a:ext cx="3474720" cy="566928"/>
          </a:xfrm>
          <a:prstGeom prst="rect">
            <a:avLst/>
          </a:prstGeom>
          <a:noFill/>
          <a:ln/>
        </p:spPr>
        <p:txBody>
          <a:bodyPr wrap="square" lIns="0" tIns="0" rIns="0" bIns="0" rtlCol="0" anchor="ctr"/>
          <a:lstStyle/>
          <a:p>
            <a:pPr indent="0" marL="0">
              <a:buNone/>
            </a:pPr>
            <a:r>
              <a:rPr lang="en-US" sz="1300" dirty="0">
                <a:solidFill>
                  <a:schemeClr val="tx1"/>
                </a:solidFill>
              </a:rPr>
              <a:t>Aksi mitigasi berbasis masyarakat yang terukur dan layak karbon</a:t>
            </a:r>
            <a:endParaRPr lang="en-US" sz="1300" dirty="0"/>
          </a:p>
        </p:txBody>
      </p:sp>
      <p:sp>
        <p:nvSpPr>
          <p:cNvPr id="8" name="Shape 6"/>
          <p:cNvSpPr/>
          <p:nvPr/>
        </p:nvSpPr>
        <p:spPr>
          <a:xfrm>
            <a:off x="4023360" y="1828800"/>
            <a:ext cx="1051560" cy="566928"/>
          </a:xfrm>
          <a:prstGeom prst="rect">
            <a:avLst/>
          </a:prstGeom>
          <a:solidFill>
            <a:schemeClr val="accent4"/>
          </a:solidFill>
          <a:ln/>
        </p:spPr>
      </p:sp>
      <p:sp>
        <p:nvSpPr>
          <p:cNvPr id="9" name="Text 7"/>
          <p:cNvSpPr txBox="1"/>
          <p:nvPr/>
        </p:nvSpPr>
        <p:spPr>
          <a:xfrm>
            <a:off x="4023360" y="1828800"/>
            <a:ext cx="1051560" cy="566928"/>
          </a:xfrm>
          <a:prstGeom prst="rect">
            <a:avLst/>
          </a:prstGeom>
          <a:noFill/>
          <a:ln/>
        </p:spPr>
        <p:txBody>
          <a:bodyPr wrap="square" lIns="0" tIns="0" rIns="0" bIns="0" rtlCol="0" anchor="ctr"/>
          <a:lstStyle/>
          <a:p>
            <a:pPr algn="ctr" indent="0" marL="0">
              <a:buNone/>
            </a:pPr>
            <a:r>
              <a:rPr lang="en-US" sz="1300" b="1" dirty="0">
                <a:solidFill>
                  <a:schemeClr val="bg1"/>
                </a:solidFill>
              </a:rPr>
              <a:t>Output 2</a:t>
            </a:r>
            <a:endParaRPr lang="en-US" sz="1300" dirty="0"/>
          </a:p>
        </p:txBody>
      </p:sp>
      <p:sp>
        <p:nvSpPr>
          <p:cNvPr id="10" name="Text 8"/>
          <p:cNvSpPr txBox="1"/>
          <p:nvPr/>
        </p:nvSpPr>
        <p:spPr>
          <a:xfrm>
            <a:off x="5212080" y="1828800"/>
            <a:ext cx="3474720" cy="566928"/>
          </a:xfrm>
          <a:prstGeom prst="rect">
            <a:avLst/>
          </a:prstGeom>
          <a:noFill/>
          <a:ln/>
        </p:spPr>
        <p:txBody>
          <a:bodyPr wrap="square" lIns="0" tIns="0" rIns="0" bIns="0" rtlCol="0" anchor="ctr"/>
          <a:lstStyle/>
          <a:p>
            <a:pPr indent="0" marL="0">
              <a:buNone/>
            </a:pPr>
            <a:r>
              <a:rPr lang="en-US" sz="1300" dirty="0">
                <a:solidFill>
                  <a:schemeClr val="tx1"/>
                </a:solidFill>
              </a:rPr>
              <a:t>Proyek karbon siap memenuhi syarat registri nasional dan internasional</a:t>
            </a:r>
            <a:endParaRPr lang="en-US" sz="1300" dirty="0"/>
          </a:p>
        </p:txBody>
      </p:sp>
      <p:sp>
        <p:nvSpPr>
          <p:cNvPr id="11" name="Shape 9"/>
          <p:cNvSpPr/>
          <p:nvPr/>
        </p:nvSpPr>
        <p:spPr>
          <a:xfrm>
            <a:off x="4023360" y="2514600"/>
            <a:ext cx="1051560" cy="566928"/>
          </a:xfrm>
          <a:prstGeom prst="rect">
            <a:avLst/>
          </a:prstGeom>
          <a:solidFill>
            <a:schemeClr val="accent6"/>
          </a:solidFill>
          <a:ln/>
        </p:spPr>
      </p:sp>
      <p:sp>
        <p:nvSpPr>
          <p:cNvPr id="12" name="Text 10"/>
          <p:cNvSpPr txBox="1"/>
          <p:nvPr/>
        </p:nvSpPr>
        <p:spPr>
          <a:xfrm>
            <a:off x="4023360" y="2514600"/>
            <a:ext cx="1051560" cy="566928"/>
          </a:xfrm>
          <a:prstGeom prst="rect">
            <a:avLst/>
          </a:prstGeom>
          <a:noFill/>
          <a:ln/>
        </p:spPr>
        <p:txBody>
          <a:bodyPr wrap="square" lIns="0" tIns="0" rIns="0" bIns="0" rtlCol="0" anchor="ctr"/>
          <a:lstStyle/>
          <a:p>
            <a:pPr algn="ctr" indent="0" marL="0">
              <a:buNone/>
            </a:pPr>
            <a:r>
              <a:rPr lang="en-US" sz="1300" b="1" dirty="0">
                <a:solidFill>
                  <a:schemeClr val="bg1"/>
                </a:solidFill>
              </a:rPr>
              <a:t>Output 3</a:t>
            </a:r>
            <a:endParaRPr lang="en-US" sz="1300" dirty="0"/>
          </a:p>
        </p:txBody>
      </p:sp>
      <p:sp>
        <p:nvSpPr>
          <p:cNvPr id="13" name="Text 11"/>
          <p:cNvSpPr txBox="1"/>
          <p:nvPr/>
        </p:nvSpPr>
        <p:spPr>
          <a:xfrm>
            <a:off x="5212080" y="2514600"/>
            <a:ext cx="3474720" cy="566928"/>
          </a:xfrm>
          <a:prstGeom prst="rect">
            <a:avLst/>
          </a:prstGeom>
          <a:noFill/>
          <a:ln/>
        </p:spPr>
        <p:txBody>
          <a:bodyPr wrap="square" lIns="0" tIns="0" rIns="0" bIns="0" rtlCol="0" anchor="ctr"/>
          <a:lstStyle/>
          <a:p>
            <a:pPr indent="0" marL="0">
              <a:buNone/>
            </a:pPr>
            <a:r>
              <a:rPr lang="en-US" sz="1300" dirty="0">
                <a:solidFill>
                  <a:schemeClr val="tx1"/>
                </a:solidFill>
              </a:rPr>
              <a:t>Kemitraan pembiayaan dengan swasta</a:t>
            </a:r>
            <a:endParaRPr lang="en-US" sz="1300" dirty="0"/>
          </a:p>
        </p:txBody>
      </p:sp>
      <p:sp>
        <p:nvSpPr>
          <p:cNvPr id="14" name="Shape 12"/>
          <p:cNvSpPr/>
          <p:nvPr/>
        </p:nvSpPr>
        <p:spPr>
          <a:xfrm>
            <a:off x="4023360" y="3200400"/>
            <a:ext cx="1051560" cy="566928"/>
          </a:xfrm>
          <a:prstGeom prst="rect">
            <a:avLst/>
          </a:prstGeom>
          <a:solidFill>
            <a:schemeClr val="accent2"/>
          </a:solidFill>
          <a:ln/>
        </p:spPr>
      </p:sp>
      <p:sp>
        <p:nvSpPr>
          <p:cNvPr id="15" name="Text 13"/>
          <p:cNvSpPr txBox="1"/>
          <p:nvPr/>
        </p:nvSpPr>
        <p:spPr>
          <a:xfrm>
            <a:off x="4023360" y="3200400"/>
            <a:ext cx="1051560" cy="566928"/>
          </a:xfrm>
          <a:prstGeom prst="rect">
            <a:avLst/>
          </a:prstGeom>
          <a:noFill/>
          <a:ln/>
        </p:spPr>
        <p:txBody>
          <a:bodyPr wrap="square" lIns="0" tIns="0" rIns="0" bIns="0" rtlCol="0" anchor="ctr"/>
          <a:lstStyle/>
          <a:p>
            <a:pPr algn="ctr" indent="0" marL="0">
              <a:buNone/>
            </a:pPr>
            <a:r>
              <a:rPr lang="en-US" sz="1300" b="1" dirty="0">
                <a:solidFill>
                  <a:schemeClr val="bg1"/>
                </a:solidFill>
              </a:rPr>
              <a:t>Output 4</a:t>
            </a:r>
            <a:endParaRPr lang="en-US" sz="1300" dirty="0"/>
          </a:p>
        </p:txBody>
      </p:sp>
      <p:sp>
        <p:nvSpPr>
          <p:cNvPr id="16" name="Text 14"/>
          <p:cNvSpPr txBox="1"/>
          <p:nvPr/>
        </p:nvSpPr>
        <p:spPr>
          <a:xfrm>
            <a:off x="5212080" y="3200400"/>
            <a:ext cx="3474720" cy="566928"/>
          </a:xfrm>
          <a:prstGeom prst="rect">
            <a:avLst/>
          </a:prstGeom>
          <a:noFill/>
          <a:ln/>
        </p:spPr>
        <p:txBody>
          <a:bodyPr wrap="square" lIns="0" tIns="0" rIns="0" bIns="0" rtlCol="0" anchor="ctr"/>
          <a:lstStyle/>
          <a:p>
            <a:pPr indent="0" marL="0">
              <a:buNone/>
            </a:pPr>
            <a:r>
              <a:rPr lang="en-US" sz="1300" dirty="0">
                <a:solidFill>
                  <a:schemeClr val="tx1"/>
                </a:solidFill>
              </a:rPr>
              <a:t>Partisipasi dan kepemimpinan perempuan (≥40% pengurus)</a:t>
            </a:r>
            <a:endParaRPr lang="en-US" sz="1300" dirty="0"/>
          </a:p>
        </p:txBody>
      </p:sp>
      <p:sp>
        <p:nvSpPr>
          <p:cNvPr id="17" name="Text 15"/>
          <p:cNvSpPr txBox="1"/>
          <p:nvPr/>
        </p:nvSpPr>
        <p:spPr>
          <a:xfrm>
            <a:off x="4023360" y="3931920"/>
            <a:ext cx="4663440" cy="548640"/>
          </a:xfrm>
          <a:prstGeom prst="rect">
            <a:avLst/>
          </a:prstGeom>
          <a:noFill/>
          <a:ln/>
        </p:spPr>
        <p:txBody>
          <a:bodyPr wrap="square" lIns="0" tIns="0" rIns="0" bIns="0" rtlCol="0" anchor="t"/>
          <a:lstStyle/>
          <a:p>
            <a:pPr indent="0" marL="0">
              <a:buNone/>
            </a:pPr>
            <a:r>
              <a:rPr lang="en-US" sz="1200" b="1" i="1" dirty="0">
                <a:solidFill>
                  <a:schemeClr val="accent1"/>
                </a:solidFill>
              </a:rPr>
              <a:t>Kesinambungan: </a:t>
            </a:r>
            <a:pPr indent="0" marL="0">
              <a:buNone/>
            </a:pPr>
            <a:r>
              <a:rPr lang="en-US" sz="1200" i="1" dirty="0">
                <a:solidFill>
                  <a:schemeClr val="tx1"/>
                </a:solidFill>
              </a:rPr>
              <a:t>persetujuan Hutan Desa Pasir lahir dari pendampingan SAMPAN bersama Program SETAPAK. Kini kita masuk ke tahap pengelolaan dan pembiayaan.</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Hutan Desa Pasir: 81,6% gambut, separuh dilindungi, separuh dipulihkan</a:t>
            </a:r>
            <a:endParaRPr lang="en-US" sz="2200" dirty="0"/>
          </a:p>
        </p:txBody>
      </p:sp>
      <p:pic>
        <p:nvPicPr>
          <p:cNvPr id="3" name="Peta tutupan lahan HD Pasir" descr="map_wide.jpg">    </p:cNvPr>
          <p:cNvPicPr>
            <a:picLocks noChangeAspect="1"/>
          </p:cNvPicPr>
          <p:nvPr/>
        </p:nvPicPr>
        <p:blipFill>
          <a:blip r:embed="rId1"/>
          <a:stretch>
            <a:fillRect/>
          </a:stretch>
        </p:blipFill>
        <p:spPr>
          <a:xfrm>
            <a:off x="457200" y="1143000"/>
            <a:ext cx="4663440" cy="2633472"/>
          </a:xfrm>
          <a:prstGeom prst="rect">
            <a:avLst/>
          </a:prstGeom>
        </p:spPr>
      </p:pic>
      <p:sp>
        <p:nvSpPr>
          <p:cNvPr id="4" name="Shape 1"/>
          <p:cNvSpPr/>
          <p:nvPr/>
        </p:nvSpPr>
        <p:spPr>
          <a:xfrm>
            <a:off x="457200" y="3904488"/>
            <a:ext cx="164592" cy="164592"/>
          </a:xfrm>
          <a:prstGeom prst="rect">
            <a:avLst/>
          </a:prstGeom>
          <a:solidFill>
            <a:srgbClr val="4CC41A"/>
          </a:solidFill>
          <a:ln w="6350">
            <a:solidFill>
              <a:srgbClr val="9AA59F"/>
            </a:solidFill>
            <a:prstDash val="solid"/>
          </a:ln>
        </p:spPr>
      </p:sp>
      <p:sp>
        <p:nvSpPr>
          <p:cNvPr id="5" name="Text 2"/>
          <p:cNvSpPr txBox="1"/>
          <p:nvPr/>
        </p:nvSpPr>
        <p:spPr>
          <a:xfrm>
            <a:off x="685800" y="3867912"/>
            <a:ext cx="914400" cy="237744"/>
          </a:xfrm>
          <a:prstGeom prst="rect">
            <a:avLst/>
          </a:prstGeom>
          <a:noFill/>
          <a:ln/>
        </p:spPr>
        <p:txBody>
          <a:bodyPr wrap="square" lIns="0" tIns="0" rIns="0" bIns="0" rtlCol="0" anchor="t"/>
          <a:lstStyle/>
          <a:p>
            <a:pPr indent="0" marL="0">
              <a:buNone/>
            </a:pPr>
            <a:r>
              <a:rPr lang="en-US" sz="1000" dirty="0">
                <a:solidFill>
                  <a:schemeClr val="accent5"/>
                </a:solidFill>
              </a:rPr>
              <a:t>Hutan</a:t>
            </a:r>
            <a:endParaRPr lang="en-US" sz="1000" dirty="0"/>
          </a:p>
        </p:txBody>
      </p:sp>
      <p:sp>
        <p:nvSpPr>
          <p:cNvPr id="6" name="Shape 3"/>
          <p:cNvSpPr/>
          <p:nvPr/>
        </p:nvSpPr>
        <p:spPr>
          <a:xfrm>
            <a:off x="1627632" y="3904488"/>
            <a:ext cx="164592" cy="164592"/>
          </a:xfrm>
          <a:prstGeom prst="rect">
            <a:avLst/>
          </a:prstGeom>
          <a:solidFill>
            <a:srgbClr val="D6EE8C"/>
          </a:solidFill>
          <a:ln w="6350">
            <a:solidFill>
              <a:srgbClr val="9AA59F"/>
            </a:solidFill>
            <a:prstDash val="solid"/>
          </a:ln>
        </p:spPr>
      </p:sp>
      <p:sp>
        <p:nvSpPr>
          <p:cNvPr id="7" name="Text 4"/>
          <p:cNvSpPr txBox="1"/>
          <p:nvPr/>
        </p:nvSpPr>
        <p:spPr>
          <a:xfrm>
            <a:off x="1856232" y="3867912"/>
            <a:ext cx="914400" cy="237744"/>
          </a:xfrm>
          <a:prstGeom prst="rect">
            <a:avLst/>
          </a:prstGeom>
          <a:noFill/>
          <a:ln/>
        </p:spPr>
        <p:txBody>
          <a:bodyPr wrap="square" lIns="0" tIns="0" rIns="0" bIns="0" rtlCol="0" anchor="t"/>
          <a:lstStyle/>
          <a:p>
            <a:pPr indent="0" marL="0">
              <a:buNone/>
            </a:pPr>
            <a:r>
              <a:rPr lang="en-US" sz="1000" dirty="0">
                <a:solidFill>
                  <a:schemeClr val="accent5"/>
                </a:solidFill>
              </a:rPr>
              <a:t>Lahan terbuka</a:t>
            </a:r>
            <a:endParaRPr lang="en-US" sz="1000" dirty="0"/>
          </a:p>
        </p:txBody>
      </p:sp>
      <p:sp>
        <p:nvSpPr>
          <p:cNvPr id="8" name="Shape 5"/>
          <p:cNvSpPr/>
          <p:nvPr/>
        </p:nvSpPr>
        <p:spPr>
          <a:xfrm>
            <a:off x="2798064" y="3904488"/>
            <a:ext cx="164592" cy="164592"/>
          </a:xfrm>
          <a:prstGeom prst="rect">
            <a:avLst/>
          </a:prstGeom>
          <a:solidFill>
            <a:srgbClr val="E08A1E"/>
          </a:solidFill>
          <a:ln w="6350">
            <a:solidFill>
              <a:srgbClr val="9AA59F"/>
            </a:solidFill>
            <a:prstDash val="solid"/>
          </a:ln>
        </p:spPr>
      </p:sp>
      <p:sp>
        <p:nvSpPr>
          <p:cNvPr id="9" name="Text 6"/>
          <p:cNvSpPr txBox="1"/>
          <p:nvPr/>
        </p:nvSpPr>
        <p:spPr>
          <a:xfrm>
            <a:off x="3026664" y="3867912"/>
            <a:ext cx="914400" cy="237744"/>
          </a:xfrm>
          <a:prstGeom prst="rect">
            <a:avLst/>
          </a:prstGeom>
          <a:noFill/>
          <a:ln/>
        </p:spPr>
        <p:txBody>
          <a:bodyPr wrap="square" lIns="0" tIns="0" rIns="0" bIns="0" rtlCol="0" anchor="t"/>
          <a:lstStyle/>
          <a:p>
            <a:pPr indent="0" marL="0">
              <a:buNone/>
            </a:pPr>
            <a:r>
              <a:rPr lang="en-US" sz="1000" dirty="0">
                <a:solidFill>
                  <a:schemeClr val="accent5"/>
                </a:solidFill>
              </a:rPr>
              <a:t>Sawit</a:t>
            </a:r>
            <a:endParaRPr lang="en-US" sz="1000" dirty="0"/>
          </a:p>
        </p:txBody>
      </p:sp>
      <p:sp>
        <p:nvSpPr>
          <p:cNvPr id="10" name="Shape 7"/>
          <p:cNvSpPr/>
          <p:nvPr/>
        </p:nvSpPr>
        <p:spPr>
          <a:xfrm>
            <a:off x="3968496" y="3904488"/>
            <a:ext cx="164592" cy="164592"/>
          </a:xfrm>
          <a:prstGeom prst="rect">
            <a:avLst/>
          </a:prstGeom>
          <a:solidFill>
            <a:srgbClr val="E6F4C8"/>
          </a:solidFill>
          <a:ln w="6350">
            <a:solidFill>
              <a:srgbClr val="9AA59F"/>
            </a:solidFill>
            <a:prstDash val="solid"/>
          </a:ln>
        </p:spPr>
      </p:sp>
      <p:sp>
        <p:nvSpPr>
          <p:cNvPr id="11" name="Text 8"/>
          <p:cNvSpPr txBox="1"/>
          <p:nvPr/>
        </p:nvSpPr>
        <p:spPr>
          <a:xfrm>
            <a:off x="4197096" y="3867912"/>
            <a:ext cx="914400" cy="237744"/>
          </a:xfrm>
          <a:prstGeom prst="rect">
            <a:avLst/>
          </a:prstGeom>
          <a:noFill/>
          <a:ln/>
        </p:spPr>
        <p:txBody>
          <a:bodyPr wrap="square" lIns="0" tIns="0" rIns="0" bIns="0" rtlCol="0" anchor="t"/>
          <a:lstStyle/>
          <a:p>
            <a:pPr indent="0" marL="0">
              <a:buNone/>
            </a:pPr>
            <a:r>
              <a:rPr lang="en-US" sz="1000" dirty="0">
                <a:solidFill>
                  <a:schemeClr val="accent5"/>
                </a:solidFill>
              </a:rPr>
              <a:t>Semak belukar</a:t>
            </a:r>
            <a:endParaRPr lang="en-US" sz="1000" dirty="0"/>
          </a:p>
        </p:txBody>
      </p:sp>
      <p:sp>
        <p:nvSpPr>
          <p:cNvPr id="12" name="Text 9"/>
          <p:cNvSpPr txBox="1"/>
          <p:nvPr/>
        </p:nvSpPr>
        <p:spPr>
          <a:xfrm>
            <a:off x="457200" y="4206240"/>
            <a:ext cx="4663440" cy="228600"/>
          </a:xfrm>
          <a:prstGeom prst="rect">
            <a:avLst/>
          </a:prstGeom>
          <a:noFill/>
          <a:ln/>
        </p:spPr>
        <p:txBody>
          <a:bodyPr wrap="square" lIns="0" tIns="0" rIns="0" bIns="0" rtlCol="0" anchor="t"/>
          <a:lstStyle/>
          <a:p>
            <a:pPr indent="0" marL="0">
              <a:buNone/>
            </a:pPr>
            <a:r>
              <a:rPr lang="en-US" sz="1000" dirty="0">
                <a:solidFill>
                  <a:schemeClr val="accent5"/>
                </a:solidFill>
              </a:rPr>
              <a:t>Sumber: Peta Tutupan Lahan dan Gambut HD Pasir, SAMPAN Kalimantan (2025)</a:t>
            </a:r>
            <a:endParaRPr lang="en-US" sz="1000" dirty="0"/>
          </a:p>
        </p:txBody>
      </p:sp>
      <p:sp>
        <p:nvSpPr>
          <p:cNvPr id="13" name="Text 10"/>
          <p:cNvSpPr txBox="1"/>
          <p:nvPr/>
        </p:nvSpPr>
        <p:spPr>
          <a:xfrm>
            <a:off x="5486400" y="1143000"/>
            <a:ext cx="1508760"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±2.468 ha</a:t>
            </a:r>
            <a:endParaRPr lang="en-US" sz="2000" dirty="0"/>
          </a:p>
        </p:txBody>
      </p:sp>
      <p:sp>
        <p:nvSpPr>
          <p:cNvPr id="14" name="Text 11"/>
          <p:cNvSpPr txBox="1"/>
          <p:nvPr/>
        </p:nvSpPr>
        <p:spPr>
          <a:xfrm>
            <a:off x="7040880" y="1143000"/>
            <a:ext cx="1645920" cy="502920"/>
          </a:xfrm>
          <a:prstGeom prst="rect">
            <a:avLst/>
          </a:prstGeom>
          <a:noFill/>
          <a:ln/>
        </p:spPr>
        <p:txBody>
          <a:bodyPr wrap="square" lIns="0" tIns="0" rIns="0" bIns="0" rtlCol="0" anchor="ctr"/>
          <a:lstStyle/>
          <a:p>
            <a:pPr indent="0" marL="0">
              <a:buNone/>
            </a:pPr>
            <a:r>
              <a:rPr lang="en-US" sz="1200" dirty="0">
                <a:solidFill>
                  <a:schemeClr val="tx1"/>
                </a:solidFill>
              </a:rPr>
              <a:t>Hutan Desa · SK.10885/2019</a:t>
            </a:r>
            <a:endParaRPr lang="en-US" sz="1200" dirty="0"/>
          </a:p>
        </p:txBody>
      </p:sp>
      <p:sp>
        <p:nvSpPr>
          <p:cNvPr id="15" name="Text 12"/>
          <p:cNvSpPr txBox="1"/>
          <p:nvPr/>
        </p:nvSpPr>
        <p:spPr>
          <a:xfrm>
            <a:off x="5486400" y="1764792"/>
            <a:ext cx="1508760"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1.482 ha</a:t>
            </a:r>
            <a:endParaRPr lang="en-US" sz="2000" dirty="0"/>
          </a:p>
        </p:txBody>
      </p:sp>
      <p:sp>
        <p:nvSpPr>
          <p:cNvPr id="16" name="Text 13"/>
          <p:cNvSpPr txBox="1"/>
          <p:nvPr/>
        </p:nvSpPr>
        <p:spPr>
          <a:xfrm>
            <a:off x="7040880" y="1764792"/>
            <a:ext cx="1645920" cy="502920"/>
          </a:xfrm>
          <a:prstGeom prst="rect">
            <a:avLst/>
          </a:prstGeom>
          <a:noFill/>
          <a:ln/>
        </p:spPr>
        <p:txBody>
          <a:bodyPr wrap="square" lIns="0" tIns="0" rIns="0" bIns="0" rtlCol="0" anchor="ctr"/>
          <a:lstStyle/>
          <a:p>
            <a:pPr indent="0" marL="0">
              <a:buNone/>
            </a:pPr>
            <a:r>
              <a:rPr lang="en-US" sz="1200" dirty="0">
                <a:solidFill>
                  <a:schemeClr val="tx1"/>
                </a:solidFill>
              </a:rPr>
              <a:t>masih berhutan (60%)</a:t>
            </a:r>
            <a:endParaRPr lang="en-US" sz="1200" dirty="0"/>
          </a:p>
        </p:txBody>
      </p:sp>
      <p:sp>
        <p:nvSpPr>
          <p:cNvPr id="17" name="Text 14"/>
          <p:cNvSpPr txBox="1"/>
          <p:nvPr/>
        </p:nvSpPr>
        <p:spPr>
          <a:xfrm>
            <a:off x="5486400" y="2386584"/>
            <a:ext cx="1508760"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2.014 ha</a:t>
            </a:r>
            <a:endParaRPr lang="en-US" sz="2000" dirty="0"/>
          </a:p>
        </p:txBody>
      </p:sp>
      <p:sp>
        <p:nvSpPr>
          <p:cNvPr id="18" name="Text 15"/>
          <p:cNvSpPr txBox="1"/>
          <p:nvPr/>
        </p:nvSpPr>
        <p:spPr>
          <a:xfrm>
            <a:off x="7040880" y="2386584"/>
            <a:ext cx="1645920" cy="502920"/>
          </a:xfrm>
          <a:prstGeom prst="rect">
            <a:avLst/>
          </a:prstGeom>
          <a:noFill/>
          <a:ln/>
        </p:spPr>
        <p:txBody>
          <a:bodyPr wrap="square" lIns="0" tIns="0" rIns="0" bIns="0" rtlCol="0" anchor="ctr"/>
          <a:lstStyle/>
          <a:p>
            <a:pPr indent="0" marL="0">
              <a:buNone/>
            </a:pPr>
            <a:r>
              <a:rPr lang="en-US" sz="1200" dirty="0">
                <a:solidFill>
                  <a:schemeClr val="tx1"/>
                </a:solidFill>
              </a:rPr>
              <a:t>gambut (81,6%)</a:t>
            </a:r>
            <a:endParaRPr lang="en-US" sz="1200" dirty="0"/>
          </a:p>
        </p:txBody>
      </p:sp>
      <p:sp>
        <p:nvSpPr>
          <p:cNvPr id="19" name="Shape 16"/>
          <p:cNvSpPr/>
          <p:nvPr/>
        </p:nvSpPr>
        <p:spPr>
          <a:xfrm>
            <a:off x="5486400" y="3108960"/>
            <a:ext cx="1684050" cy="347472"/>
          </a:xfrm>
          <a:prstGeom prst="rect">
            <a:avLst/>
          </a:prstGeom>
          <a:solidFill>
            <a:schemeClr val="accent1"/>
          </a:solidFill>
          <a:ln/>
        </p:spPr>
      </p:sp>
      <p:sp>
        <p:nvSpPr>
          <p:cNvPr id="20" name="Shape 17"/>
          <p:cNvSpPr/>
          <p:nvPr/>
        </p:nvSpPr>
        <p:spPr>
          <a:xfrm>
            <a:off x="7170450" y="3108960"/>
            <a:ext cx="1516350" cy="347472"/>
          </a:xfrm>
          <a:prstGeom prst="rect">
            <a:avLst/>
          </a:prstGeom>
          <a:solidFill>
            <a:schemeClr val="accent2"/>
          </a:solidFill>
          <a:ln/>
        </p:spPr>
      </p:sp>
      <p:sp>
        <p:nvSpPr>
          <p:cNvPr id="21" name="Text 18"/>
          <p:cNvSpPr txBox="1"/>
          <p:nvPr/>
        </p:nvSpPr>
        <p:spPr>
          <a:xfrm>
            <a:off x="5559552" y="3108960"/>
            <a:ext cx="1645920" cy="347472"/>
          </a:xfrm>
          <a:prstGeom prst="rect">
            <a:avLst/>
          </a:prstGeom>
          <a:noFill/>
          <a:ln/>
        </p:spPr>
        <p:txBody>
          <a:bodyPr wrap="square" lIns="0" tIns="0" rIns="0" bIns="0" rtlCol="0" anchor="ctr"/>
          <a:lstStyle/>
          <a:p>
            <a:pPr indent="0" marL="0">
              <a:buNone/>
            </a:pPr>
            <a:r>
              <a:rPr lang="en-US" sz="1000" b="1" dirty="0">
                <a:solidFill>
                  <a:schemeClr val="bg1"/>
                </a:solidFill>
              </a:rPr>
              <a:t>Perlindungan 1.299 ha</a:t>
            </a:r>
            <a:endParaRPr lang="en-US" sz="1000" dirty="0"/>
          </a:p>
        </p:txBody>
      </p:sp>
      <p:sp>
        <p:nvSpPr>
          <p:cNvPr id="22" name="Text 19"/>
          <p:cNvSpPr txBox="1"/>
          <p:nvPr/>
        </p:nvSpPr>
        <p:spPr>
          <a:xfrm>
            <a:off x="7242048" y="3108960"/>
            <a:ext cx="1463040" cy="347472"/>
          </a:xfrm>
          <a:prstGeom prst="rect">
            <a:avLst/>
          </a:prstGeom>
          <a:noFill/>
          <a:ln/>
        </p:spPr>
        <p:txBody>
          <a:bodyPr wrap="square" lIns="0" tIns="0" rIns="0" bIns="0" rtlCol="0" anchor="ctr"/>
          <a:lstStyle/>
          <a:p>
            <a:pPr indent="0" marL="0">
              <a:buNone/>
            </a:pPr>
            <a:r>
              <a:rPr lang="en-US" sz="1000" b="1" dirty="0">
                <a:solidFill>
                  <a:schemeClr val="bg1"/>
                </a:solidFill>
              </a:rPr>
              <a:t>Rehabilitasi 1.169 ha</a:t>
            </a:r>
            <a:endParaRPr lang="en-US" sz="1000" dirty="0"/>
          </a:p>
        </p:txBody>
      </p:sp>
      <p:sp>
        <p:nvSpPr>
          <p:cNvPr id="23" name="Text 20"/>
          <p:cNvSpPr txBox="1"/>
          <p:nvPr/>
        </p:nvSpPr>
        <p:spPr>
          <a:xfrm>
            <a:off x="5486400" y="3611880"/>
            <a:ext cx="3200400" cy="822960"/>
          </a:xfrm>
          <a:prstGeom prst="rect">
            <a:avLst/>
          </a:prstGeom>
          <a:noFill/>
          <a:ln/>
        </p:spPr>
        <p:txBody>
          <a:bodyPr wrap="square" lIns="0" tIns="0" rIns="0" bIns="0" rtlCol="0" anchor="t"/>
          <a:lstStyle/>
          <a:p>
            <a:pPr indent="0" marL="0">
              <a:buNone/>
            </a:pPr>
            <a:r>
              <a:rPr lang="en-US" sz="1200" i="1" dirty="0">
                <a:solidFill>
                  <a:schemeClr val="accent5"/>
                </a:solidFill>
              </a:rPr>
              <a:t>Habitat orangutan dan trenggiling (CR), beruang madu (VU), serta rangkong gading.</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Plan Vivo unggul tipis untuk Pasir, dengan dua syarat yang harus dikonfirmasi</a:t>
            </a:r>
            <a:endParaRPr lang="en-US" sz="2200" dirty="0"/>
          </a:p>
        </p:txBody>
      </p:sp>
      <p:graphicFrame>
        <p:nvGraphicFramePr>
          <p:cNvPr id="3" name="Skor kecocokan" descr=""/>
          <p:cNvGraphicFramePr/>
          <p:nvPr/>
        </p:nvGraphicFramePr>
        <p:xfrm>
          <a:off x="365760" y="1097280"/>
          <a:ext cx="4937760" cy="29260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4069080"/>
            <a:ext cx="4846320" cy="411480"/>
          </a:xfrm>
          <a:prstGeom prst="rect">
            <a:avLst/>
          </a:prstGeom>
          <a:noFill/>
          <a:ln/>
        </p:spPr>
        <p:txBody>
          <a:bodyPr wrap="square" lIns="0" tIns="0" rIns="0" bIns="0" rtlCol="0" anchor="t"/>
          <a:lstStyle/>
          <a:p>
            <a:pPr indent="0" marL="0">
              <a:buNone/>
            </a:pPr>
            <a:r>
              <a:rPr lang="en-US" sz="1000" dirty="0">
                <a:solidFill>
                  <a:schemeClr val="accent5"/>
                </a:solidFill>
              </a:rPr>
              <a:t>Skor kecocokan /100 · bobot: metode 35%, komunitas 20%, penggabungan 15%, biaya 20%, dukungan 10%</a:t>
            </a:r>
            <a:endParaRPr lang="en-US" sz="1000" dirty="0"/>
          </a:p>
        </p:txBody>
      </p:sp>
      <p:sp>
        <p:nvSpPr>
          <p:cNvPr id="5" name="Shape 2"/>
          <p:cNvSpPr/>
          <p:nvPr/>
        </p:nvSpPr>
        <p:spPr>
          <a:xfrm>
            <a:off x="5577840" y="1143000"/>
            <a:ext cx="3108960" cy="3337560"/>
          </a:xfrm>
          <a:prstGeom prst="rect">
            <a:avLst/>
          </a:prstGeom>
          <a:solidFill>
            <a:schemeClr val="bg2"/>
          </a:solidFill>
          <a:ln/>
        </p:spPr>
      </p:sp>
      <p:sp>
        <p:nvSpPr>
          <p:cNvPr id="6" name="Text 3"/>
          <p:cNvSpPr txBox="1"/>
          <p:nvPr/>
        </p:nvSpPr>
        <p:spPr>
          <a:xfrm>
            <a:off x="5760720" y="1280160"/>
            <a:ext cx="2743200" cy="274320"/>
          </a:xfrm>
          <a:prstGeom prst="rect">
            <a:avLst/>
          </a:prstGeom>
          <a:noFill/>
          <a:ln/>
        </p:spPr>
        <p:txBody>
          <a:bodyPr wrap="square" lIns="0" tIns="0" rIns="0" bIns="0" rtlCol="0" anchor="t"/>
          <a:lstStyle/>
          <a:p>
            <a:pPr indent="0" marL="0">
              <a:buNone/>
            </a:pPr>
            <a:r>
              <a:rPr lang="en-US" sz="1400" b="1" dirty="0">
                <a:solidFill>
                  <a:schemeClr val="accent1"/>
                </a:solidFill>
              </a:rPr>
              <a:t>Mengapa Plan Vivo</a:t>
            </a:r>
            <a:endParaRPr lang="en-US" sz="1400" dirty="0"/>
          </a:p>
        </p:txBody>
      </p:sp>
      <p:sp>
        <p:nvSpPr>
          <p:cNvPr id="7" name="Text 4"/>
          <p:cNvSpPr txBox="1"/>
          <p:nvPr/>
        </p:nvSpPr>
        <p:spPr>
          <a:xfrm>
            <a:off x="5760720" y="1572768"/>
            <a:ext cx="2743200" cy="960120"/>
          </a:xfrm>
          <a:prstGeom prst="rect">
            <a:avLst/>
          </a:prstGeom>
          <a:noFill/>
          <a:ln/>
        </p:spPr>
        <p:txBody>
          <a:bodyPr wrap="square" lIns="0" tIns="0" rIns="0" bIns="0" rtlCol="0" anchor="t"/>
          <a:lstStyle/>
          <a:p>
            <a:pPr indent="0" marL="0">
              <a:buNone/>
            </a:pPr>
            <a:r>
              <a:rPr lang="en-US" sz="1200" dirty="0">
                <a:solidFill>
                  <a:schemeClr val="tx1"/>
                </a:solidFill>
              </a:rPr>
              <a:t>Paling cocok untuk pengelolaan berbasis komunitas (5/5) dan penggabungan kegiatan (5/5). Dana awal PIN dari TAF sudah disetujui.</a:t>
            </a:r>
            <a:endParaRPr lang="en-US" sz="1200" dirty="0"/>
          </a:p>
        </p:txBody>
      </p:sp>
      <p:sp>
        <p:nvSpPr>
          <p:cNvPr id="8" name="Text 5"/>
          <p:cNvSpPr txBox="1"/>
          <p:nvPr/>
        </p:nvSpPr>
        <p:spPr>
          <a:xfrm>
            <a:off x="5760720" y="2606040"/>
            <a:ext cx="2743200" cy="274320"/>
          </a:xfrm>
          <a:prstGeom prst="rect">
            <a:avLst/>
          </a:prstGeom>
          <a:noFill/>
          <a:ln/>
        </p:spPr>
        <p:txBody>
          <a:bodyPr wrap="square" lIns="0" tIns="0" rIns="0" bIns="0" rtlCol="0" anchor="t"/>
          <a:lstStyle/>
          <a:p>
            <a:pPr indent="0" marL="0">
              <a:buNone/>
            </a:pPr>
            <a:r>
              <a:rPr lang="en-US" sz="1400" b="1" dirty="0">
                <a:solidFill>
                  <a:schemeClr val="accent2"/>
                </a:solidFill>
              </a:rPr>
              <a:t>Dua syarat</a:t>
            </a:r>
            <a:endParaRPr lang="en-US" sz="1400" dirty="0"/>
          </a:p>
        </p:txBody>
      </p:sp>
      <p:sp>
        <p:nvSpPr>
          <p:cNvPr id="9" name="Text 6"/>
          <p:cNvSpPr txBox="1"/>
          <p:nvPr/>
        </p:nvSpPr>
        <p:spPr>
          <a:xfrm>
            <a:off x="5760720" y="2880360"/>
            <a:ext cx="2788920" cy="15087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PT002 gugur bila baseline sudah menunjukkan pengelolaan masyarakat yang efektif</a:t>
            </a:r>
            <a:endParaRPr lang="en-US" sz="1200" dirty="0"/>
          </a:p>
          <a:p>
            <a:pPr marL="342900" indent="-342900">
              <a:spcAft>
                <a:spcPts val="400"/>
              </a:spcAft>
              <a:buSzPct val="100000"/>
              <a:buChar char="•"/>
            </a:pPr>
            <a:r>
              <a:rPr lang="en-US" sz="1200" dirty="0">
                <a:solidFill>
                  <a:schemeClr val="tx1"/>
                </a:solidFill>
              </a:rPr>
              <a:t>PM001 tidak mengkreditkan kegiatan yang memengaruhi muka air gambut</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Metode dipilih per kegiatan agar manfaat karbon tidak dihitung dua kali</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645920"/>
                <a:gridCol w="2240280"/>
                <a:gridCol w="2057400"/>
                <a:gridCol w="228600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Kegiatan</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Plan Vivo</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Verra &amp; pembanding</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Catatan Pasir</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r>
              <a:tr h="512064">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Perlindungan hutan (REDD)</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PT002 aktif, gugur bila baseline sudah dikelola efektif</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VM0007 modul REDD/gambut; VM0048 butuh PADA</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Sudah HD sejak 2019 + RKPS: uji baseline &amp; additionality</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r>
              <a:tr h="512064">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Pemulihan vegetasi</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PM001: hutan rawa &amp; mangrove, bersyarat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VM0047 (ARR); gambut perlu metode WRC</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Zona rehabilitasi tidak otomatis jadi area kredit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Tata air / emisi gambut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PM001 melarang kegiatan yang mengubah muka air</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VM0007 punya modul gambut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Jika pembasahan gambut inti klaim, PV tidak punya jalur jelas</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r>
              <a:tr h="512064">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Mangrove pasang-surut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PM001 dapat mencakup, sesuai modul</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VM0033 (revisi v3.0 dikonsultasikan)</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Petakan terpisah dari hutan rawa/gambut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512064">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Lahan mineral</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PM001 dapat berlaku</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GCC MA001 hanya non-wetland</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Screening terpisah untuk ±454 ha mineral</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r>
            </a:tbl>
          </a:graphicData>
        </a:graphic>
      </p:graphicFrame>
      <p:sp>
        <p:nvSpPr>
          <p:cNvPr id="4" name="Shape 1"/>
          <p:cNvSpPr/>
          <p:nvPr/>
        </p:nvSpPr>
        <p:spPr>
          <a:xfrm>
            <a:off x="457200" y="4114800"/>
            <a:ext cx="8229600" cy="502920"/>
          </a:xfrm>
          <a:prstGeom prst="rect">
            <a:avLst/>
          </a:prstGeom>
          <a:solidFill>
            <a:schemeClr val="tx2"/>
          </a:solidFill>
          <a:ln/>
        </p:spPr>
      </p:sp>
      <p:sp>
        <p:nvSpPr>
          <p:cNvPr id="5" name="Text 2"/>
          <p:cNvSpPr txBox="1"/>
          <p:nvPr/>
        </p:nvSpPr>
        <p:spPr>
          <a:xfrm>
            <a:off x="640080" y="4114800"/>
            <a:ext cx="7863840" cy="502920"/>
          </a:xfrm>
          <a:prstGeom prst="rect">
            <a:avLst/>
          </a:prstGeom>
          <a:noFill/>
          <a:ln/>
        </p:spPr>
        <p:txBody>
          <a:bodyPr wrap="square" lIns="0" tIns="0" rIns="0" bIns="0" rtlCol="0" anchor="ctr"/>
          <a:lstStyle/>
          <a:p>
            <a:pPr indent="0" marL="0">
              <a:buNone/>
            </a:pPr>
            <a:r>
              <a:rPr lang="en-US" sz="1200" b="1" dirty="0">
                <a:solidFill>
                  <a:schemeClr val="accent6"/>
                </a:solidFill>
              </a:rPr>
              <a:t>Sebelum PDD:  </a:t>
            </a:r>
            <a:pPr indent="0" marL="0">
              <a:buNone/>
            </a:pPr>
            <a:r>
              <a:rPr lang="en-US" sz="1200" dirty="0">
                <a:solidFill>
                  <a:schemeClr val="bg1"/>
                </a:solidFill>
              </a:rPr>
              <a:t>minta jawaban tertulis Plan Vivo soal PT002 dan PM001. Jalur SRUK: PDD → persetujuan Menteri → sertifikat eksternal → pencatatan SRUK.</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Biaya registri Plan Vivo setara Verra; audit dan MRV belum termasuk</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394960" cy="914400"/>
        </p:xfrm>
        <a:graphic>
          <a:graphicData uri="http://schemas.openxmlformats.org/drawingml/2006/table">
            <a:tbl>
              <a:tblPr/>
              <a:tblGrid>
                <a:gridCol w="1463040"/>
                <a:gridCol w="1051560"/>
                <a:gridCol w="1051560"/>
                <a:gridCol w="1828800"/>
              </a:tblGrid>
              <a:tr h="29260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Skema</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5.000 kredit</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algn="r" indent="0" marL="0">
                        <a:buNone/>
                      </a:pPr>
                      <a:r>
                        <a:rPr lang="en-US" sz="1100" b="1" dirty="0">
                          <a:solidFill>
                            <a:srgbClr val="FFFFFF"/>
                          </a:solidFill>
                          <a:latin typeface="Calibri" pitchFamily="34" charset="0"/>
                          <a:ea typeface="Calibri" pitchFamily="34" charset="-122"/>
                          <a:cs typeface="Calibri" pitchFamily="34" charset="-120"/>
                        </a:rPr>
                        <a:t>10.000 kredit</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Catatan</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r>
              <a:tr h="384048">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Plan Vivo mikro</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BE2"/>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$10.100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BE2"/>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$12.100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BE2"/>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Bisa memilih audit Independent Expert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BE2"/>
                    </a:solidFill>
                  </a:tcPr>
                </a:tc>
              </a:tr>
              <a:tr h="384048">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Verra VM0007</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$11.750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$11.750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Termasuk uang muka penerbitan $2.500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Verra VM0048 + PADA</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$22.075–22.367</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$22.075–22.367</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PADA menambah ±$10.325–10.617</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r>
              <a:tr h="384048">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Gold Standard mikro</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$5.550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$6.800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Diskon 40% tinjauan proyek mikro</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GCC</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$5.450–5.950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r" indent="0" marL="0">
                        <a:buNone/>
                      </a:pPr>
                      <a:r>
                        <a:rPr lang="en-US" sz="1000" dirty="0">
                          <a:solidFill>
                            <a:srgbClr val="1C2B25"/>
                          </a:solidFill>
                          <a:latin typeface="Calibri" pitchFamily="34" charset="0"/>
                          <a:ea typeface="Calibri" pitchFamily="34" charset="-122"/>
                          <a:cs typeface="Calibri" pitchFamily="34" charset="-120"/>
                        </a:rPr>
                        <a:t>$6.400–7.400</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Bergantung volume dan tipe proyek</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r>
            </a:tbl>
          </a:graphicData>
        </a:graphic>
      </p:graphicFrame>
      <p:sp>
        <p:nvSpPr>
          <p:cNvPr id="4" name="Text 1"/>
          <p:cNvSpPr txBox="1"/>
          <p:nvPr/>
        </p:nvSpPr>
        <p:spPr>
          <a:xfrm>
            <a:off x="457200" y="3611880"/>
            <a:ext cx="5394960" cy="548640"/>
          </a:xfrm>
          <a:prstGeom prst="rect">
            <a:avLst/>
          </a:prstGeom>
          <a:noFill/>
          <a:ln/>
        </p:spPr>
        <p:txBody>
          <a:bodyPr wrap="square" lIns="0" tIns="0" rIns="0" bIns="0" rtlCol="0" anchor="t"/>
          <a:lstStyle/>
          <a:p>
            <a:pPr indent="0" marL="0">
              <a:buNone/>
            </a:pPr>
            <a:r>
              <a:rPr lang="en-US" sz="1000" dirty="0">
                <a:solidFill>
                  <a:schemeClr val="accent5"/>
                </a:solidFill>
              </a:rPr>
              <a:t>Biaya program/registri yang dipublikasikan, diperiksa 24 Sep 2026. Belum termasuk VVB/auditor, penyusunan PDD, MRV, konsultasi masyarakat, dan operasional.</a:t>
            </a:r>
            <a:endParaRPr lang="en-US" sz="1000" dirty="0"/>
          </a:p>
        </p:txBody>
      </p:sp>
      <p:sp>
        <p:nvSpPr>
          <p:cNvPr id="5" name="Shape 2"/>
          <p:cNvSpPr/>
          <p:nvPr/>
        </p:nvSpPr>
        <p:spPr>
          <a:xfrm>
            <a:off x="6126480" y="1143000"/>
            <a:ext cx="2560320" cy="3337560"/>
          </a:xfrm>
          <a:prstGeom prst="rect">
            <a:avLst/>
          </a:prstGeom>
          <a:solidFill>
            <a:schemeClr val="tx2"/>
          </a:solidFill>
          <a:ln/>
        </p:spPr>
      </p:sp>
      <p:sp>
        <p:nvSpPr>
          <p:cNvPr id="6" name="Text 3"/>
          <p:cNvSpPr txBox="1"/>
          <p:nvPr/>
        </p:nvSpPr>
        <p:spPr>
          <a:xfrm>
            <a:off x="6309360" y="1280160"/>
            <a:ext cx="219456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SIMULASI KASAR</a:t>
            </a:r>
            <a:endParaRPr lang="en-US" sz="1000" dirty="0"/>
          </a:p>
        </p:txBody>
      </p:sp>
      <p:sp>
        <p:nvSpPr>
          <p:cNvPr id="7" name="Text 4"/>
          <p:cNvSpPr txBox="1"/>
          <p:nvPr/>
        </p:nvSpPr>
        <p:spPr>
          <a:xfrm>
            <a:off x="6309360" y="1554480"/>
            <a:ext cx="2286000" cy="50292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US$50.000</a:t>
            </a:r>
            <a:endParaRPr lang="en-US" sz="2600" dirty="0"/>
          </a:p>
        </p:txBody>
      </p:sp>
      <p:sp>
        <p:nvSpPr>
          <p:cNvPr id="8" name="Text 5"/>
          <p:cNvSpPr txBox="1"/>
          <p:nvPr/>
        </p:nvSpPr>
        <p:spPr>
          <a:xfrm>
            <a:off x="6309360" y="2057400"/>
            <a:ext cx="2240280" cy="640080"/>
          </a:xfrm>
          <a:prstGeom prst="rect">
            <a:avLst/>
          </a:prstGeom>
          <a:noFill/>
          <a:ln/>
        </p:spPr>
        <p:txBody>
          <a:bodyPr wrap="square" lIns="0" tIns="0" rIns="0" bIns="0" rtlCol="0" anchor="t"/>
          <a:lstStyle/>
          <a:p>
            <a:pPr indent="0" marL="0">
              <a:buNone/>
            </a:pPr>
            <a:r>
              <a:rPr lang="en-US" sz="1200" dirty="0">
                <a:solidFill>
                  <a:schemeClr val="bg1"/>
                </a:solidFill>
              </a:rPr>
              <a:t>penerimaan kotor bila 10.000 kredit terbit dan terjual pada US$5</a:t>
            </a:r>
            <a:endParaRPr lang="en-US" sz="1200" dirty="0"/>
          </a:p>
        </p:txBody>
      </p:sp>
      <p:sp>
        <p:nvSpPr>
          <p:cNvPr id="9" name="Text 6"/>
          <p:cNvSpPr txBox="1"/>
          <p:nvPr/>
        </p:nvSpPr>
        <p:spPr>
          <a:xfrm>
            <a:off x="6309360" y="2743200"/>
            <a:ext cx="2286000" cy="45720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US$37.900</a:t>
            </a:r>
            <a:endParaRPr lang="en-US" sz="2200" dirty="0"/>
          </a:p>
        </p:txBody>
      </p:sp>
      <p:sp>
        <p:nvSpPr>
          <p:cNvPr id="10" name="Text 7"/>
          <p:cNvSpPr txBox="1"/>
          <p:nvPr/>
        </p:nvSpPr>
        <p:spPr>
          <a:xfrm>
            <a:off x="6309360" y="3200400"/>
            <a:ext cx="2240280" cy="640080"/>
          </a:xfrm>
          <a:prstGeom prst="rect">
            <a:avLst/>
          </a:prstGeom>
          <a:noFill/>
          <a:ln/>
        </p:spPr>
        <p:txBody>
          <a:bodyPr wrap="square" lIns="0" tIns="0" rIns="0" bIns="0" rtlCol="0" anchor="t"/>
          <a:lstStyle/>
          <a:p>
            <a:pPr indent="0" marL="0">
              <a:buNone/>
            </a:pPr>
            <a:r>
              <a:rPr lang="en-US" sz="1200" dirty="0">
                <a:solidFill>
                  <a:schemeClr val="bg1"/>
                </a:solidFill>
              </a:rPr>
              <a:t>sisa Plan Vivo sebelum audit, MRV, dan biaya lain; belum laba</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Empat milestone menuju PDD Plan Vivo</a:t>
            </a:r>
            <a:endParaRPr lang="en-US" sz="2200" dirty="0"/>
          </a:p>
        </p:txBody>
      </p:sp>
      <p:sp>
        <p:nvSpPr>
          <p:cNvPr id="3" name="Tahap 1"/>
          <p:cNvSpPr/>
          <p:nvPr/>
        </p:nvSpPr>
        <p:spPr>
          <a:xfrm>
            <a:off x="457200" y="1143000"/>
            <a:ext cx="2075688" cy="566928"/>
          </a:xfrm>
          <a:prstGeom prst="chevron">
            <a:avLst/>
          </a:prstGeom>
          <a:solidFill>
            <a:schemeClr val="accent1"/>
          </a:solidFill>
          <a:ln/>
        </p:spPr>
      </p:sp>
      <p:sp>
        <p:nvSpPr>
          <p:cNvPr id="4" name="Text 2"/>
          <p:cNvSpPr txBox="1"/>
          <p:nvPr/>
        </p:nvSpPr>
        <p:spPr>
          <a:xfrm>
            <a:off x="685800" y="1143000"/>
            <a:ext cx="1600200" cy="566928"/>
          </a:xfrm>
          <a:prstGeom prst="rect">
            <a:avLst/>
          </a:prstGeom>
          <a:noFill/>
          <a:ln/>
        </p:spPr>
        <p:txBody>
          <a:bodyPr wrap="square" lIns="0" tIns="0" rIns="0" bIns="0" rtlCol="0" anchor="ctr"/>
          <a:lstStyle/>
          <a:p>
            <a:pPr algn="ctr" indent="0" marL="0">
              <a:buNone/>
            </a:pPr>
            <a:r>
              <a:rPr lang="en-US" sz="1400" b="1" dirty="0">
                <a:solidFill>
                  <a:schemeClr val="bg1"/>
                </a:solidFill>
              </a:rPr>
              <a:t>Tahap 1</a:t>
            </a:r>
            <a:endParaRPr lang="en-US" sz="1400" dirty="0"/>
          </a:p>
        </p:txBody>
      </p:sp>
      <p:sp>
        <p:nvSpPr>
          <p:cNvPr id="5" name="Text 3"/>
          <p:cNvSpPr txBox="1"/>
          <p:nvPr/>
        </p:nvSpPr>
        <p:spPr>
          <a:xfrm>
            <a:off x="457200" y="1828800"/>
            <a:ext cx="196596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Persiapan PIN</a:t>
            </a:r>
            <a:endParaRPr lang="en-US" sz="1600" dirty="0"/>
          </a:p>
        </p:txBody>
      </p:sp>
      <p:sp>
        <p:nvSpPr>
          <p:cNvPr id="6" name="Text 4"/>
          <p:cNvSpPr txBox="1"/>
          <p:nvPr/>
        </p:nvSpPr>
        <p:spPr>
          <a:xfrm>
            <a:off x="457200" y="2240280"/>
            <a:ext cx="192024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Safeguards awal</a:t>
            </a:r>
            <a:endParaRPr lang="en-US" sz="1200" dirty="0"/>
          </a:p>
          <a:p>
            <a:pPr marL="342900" indent="-342900">
              <a:spcAft>
                <a:spcPts val="400"/>
              </a:spcAft>
              <a:buSzPct val="100000"/>
              <a:buChar char="•"/>
            </a:pPr>
            <a:r>
              <a:rPr lang="en-US" sz="1200" dirty="0">
                <a:solidFill>
                  <a:schemeClr val="tx1"/>
                </a:solidFill>
              </a:rPr>
              <a:t>Pemetaan kebutuhan</a:t>
            </a:r>
            <a:endParaRPr lang="en-US" sz="1200" dirty="0"/>
          </a:p>
          <a:p>
            <a:pPr marL="342900" indent="-342900">
              <a:spcAft>
                <a:spcPts val="400"/>
              </a:spcAft>
              <a:buSzPct val="100000"/>
              <a:buChar char="•"/>
            </a:pPr>
            <a:r>
              <a:rPr lang="en-US" sz="1200" dirty="0">
                <a:solidFill>
                  <a:schemeClr val="tx1"/>
                </a:solidFill>
              </a:rPr>
              <a:t>Dokumentasi progres</a:t>
            </a:r>
            <a:endParaRPr lang="en-US" sz="1200" dirty="0"/>
          </a:p>
          <a:p>
            <a:pPr marL="342900" indent="-342900">
              <a:spcAft>
                <a:spcPts val="400"/>
              </a:spcAft>
              <a:buSzPct val="100000"/>
              <a:buChar char="•"/>
            </a:pPr>
            <a:r>
              <a:rPr lang="en-US" sz="1200" dirty="0">
                <a:solidFill>
                  <a:schemeClr val="tx1"/>
                </a:solidFill>
              </a:rPr>
              <a:t>Data baseline dengan tools PV untuk project scenario</a:t>
            </a:r>
            <a:endParaRPr lang="en-US" sz="1200" dirty="0"/>
          </a:p>
        </p:txBody>
      </p:sp>
      <p:sp>
        <p:nvSpPr>
          <p:cNvPr id="7" name="Tahap 2"/>
          <p:cNvSpPr/>
          <p:nvPr/>
        </p:nvSpPr>
        <p:spPr>
          <a:xfrm>
            <a:off x="2560320" y="1143000"/>
            <a:ext cx="2075688" cy="566928"/>
          </a:xfrm>
          <a:prstGeom prst="chevron">
            <a:avLst/>
          </a:prstGeom>
          <a:solidFill>
            <a:schemeClr val="accent4"/>
          </a:solidFill>
          <a:ln/>
        </p:spPr>
      </p:sp>
      <p:sp>
        <p:nvSpPr>
          <p:cNvPr id="8" name="Text 6"/>
          <p:cNvSpPr txBox="1"/>
          <p:nvPr/>
        </p:nvSpPr>
        <p:spPr>
          <a:xfrm>
            <a:off x="2788920" y="1143000"/>
            <a:ext cx="1600200" cy="566928"/>
          </a:xfrm>
          <a:prstGeom prst="rect">
            <a:avLst/>
          </a:prstGeom>
          <a:noFill/>
          <a:ln/>
        </p:spPr>
        <p:txBody>
          <a:bodyPr wrap="square" lIns="0" tIns="0" rIns="0" bIns="0" rtlCol="0" anchor="ctr"/>
          <a:lstStyle/>
          <a:p>
            <a:pPr algn="ctr" indent="0" marL="0">
              <a:buNone/>
            </a:pPr>
            <a:r>
              <a:rPr lang="en-US" sz="1400" b="1" dirty="0">
                <a:solidFill>
                  <a:schemeClr val="bg1"/>
                </a:solidFill>
              </a:rPr>
              <a:t>Tahap 2</a:t>
            </a:r>
            <a:endParaRPr lang="en-US" sz="1400" dirty="0"/>
          </a:p>
        </p:txBody>
      </p:sp>
      <p:sp>
        <p:nvSpPr>
          <p:cNvPr id="9" name="Text 7"/>
          <p:cNvSpPr txBox="1"/>
          <p:nvPr/>
        </p:nvSpPr>
        <p:spPr>
          <a:xfrm>
            <a:off x="2560320" y="1828800"/>
            <a:ext cx="196596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Submit PIN</a:t>
            </a:r>
            <a:endParaRPr lang="en-US" sz="1600" dirty="0"/>
          </a:p>
        </p:txBody>
      </p:sp>
      <p:sp>
        <p:nvSpPr>
          <p:cNvPr id="10" name="Text 8"/>
          <p:cNvSpPr txBox="1"/>
          <p:nvPr/>
        </p:nvSpPr>
        <p:spPr>
          <a:xfrm>
            <a:off x="2560320" y="2240280"/>
            <a:ext cx="192024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Pengajuan PIN ke Plan Vivo</a:t>
            </a:r>
            <a:endParaRPr lang="en-US" sz="1200" dirty="0"/>
          </a:p>
          <a:p>
            <a:pPr marL="342900" indent="-342900">
              <a:spcAft>
                <a:spcPts val="400"/>
              </a:spcAft>
              <a:buSzPct val="100000"/>
              <a:buChar char="•"/>
            </a:pPr>
            <a:r>
              <a:rPr lang="en-US" sz="1200" dirty="0">
                <a:solidFill>
                  <a:schemeClr val="tx1"/>
                </a:solidFill>
              </a:rPr>
              <a:t>Tanggapan dan klarifikasi (PT002, PM001)</a:t>
            </a:r>
            <a:endParaRPr lang="en-US" sz="1200" dirty="0"/>
          </a:p>
          <a:p>
            <a:pPr marL="342900" indent="-342900">
              <a:spcAft>
                <a:spcPts val="400"/>
              </a:spcAft>
              <a:buSzPct val="100000"/>
              <a:buChar char="•"/>
            </a:pPr>
            <a:r>
              <a:rPr lang="en-US" sz="1200" dirty="0">
                <a:solidFill>
                  <a:schemeClr val="tx1"/>
                </a:solidFill>
              </a:rPr>
              <a:t>Proses hingga approval</a:t>
            </a:r>
            <a:endParaRPr lang="en-US" sz="1200" dirty="0"/>
          </a:p>
        </p:txBody>
      </p:sp>
      <p:sp>
        <p:nvSpPr>
          <p:cNvPr id="11" name="Tahap 3"/>
          <p:cNvSpPr/>
          <p:nvPr/>
        </p:nvSpPr>
        <p:spPr>
          <a:xfrm>
            <a:off x="4663440" y="1143000"/>
            <a:ext cx="2075688" cy="566928"/>
          </a:xfrm>
          <a:prstGeom prst="chevron">
            <a:avLst/>
          </a:prstGeom>
          <a:solidFill>
            <a:schemeClr val="accent6"/>
          </a:solidFill>
          <a:ln/>
        </p:spPr>
      </p:sp>
      <p:sp>
        <p:nvSpPr>
          <p:cNvPr id="12" name="Text 10"/>
          <p:cNvSpPr txBox="1"/>
          <p:nvPr/>
        </p:nvSpPr>
        <p:spPr>
          <a:xfrm>
            <a:off x="4892040" y="1143000"/>
            <a:ext cx="1600200" cy="566928"/>
          </a:xfrm>
          <a:prstGeom prst="rect">
            <a:avLst/>
          </a:prstGeom>
          <a:noFill/>
          <a:ln/>
        </p:spPr>
        <p:txBody>
          <a:bodyPr wrap="square" lIns="0" tIns="0" rIns="0" bIns="0" rtlCol="0" anchor="ctr"/>
          <a:lstStyle/>
          <a:p>
            <a:pPr algn="ctr" indent="0" marL="0">
              <a:buNone/>
            </a:pPr>
            <a:r>
              <a:rPr lang="en-US" sz="1400" b="1" dirty="0">
                <a:solidFill>
                  <a:schemeClr val="bg1"/>
                </a:solidFill>
              </a:rPr>
              <a:t>Tahap 3</a:t>
            </a:r>
            <a:endParaRPr lang="en-US" sz="1400" dirty="0"/>
          </a:p>
        </p:txBody>
      </p:sp>
      <p:sp>
        <p:nvSpPr>
          <p:cNvPr id="13" name="Text 11"/>
          <p:cNvSpPr txBox="1"/>
          <p:nvPr/>
        </p:nvSpPr>
        <p:spPr>
          <a:xfrm>
            <a:off x="4663440" y="1828800"/>
            <a:ext cx="196596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Pipeline Plan Vivo</a:t>
            </a:r>
            <a:endParaRPr lang="en-US" sz="1600" dirty="0"/>
          </a:p>
        </p:txBody>
      </p:sp>
      <p:sp>
        <p:nvSpPr>
          <p:cNvPr id="14" name="Text 12"/>
          <p:cNvSpPr txBox="1"/>
          <p:nvPr/>
        </p:nvSpPr>
        <p:spPr>
          <a:xfrm>
            <a:off x="4663440" y="2240280"/>
            <a:ext cx="192024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Proyek tercatat di pipeline</a:t>
            </a:r>
            <a:endParaRPr lang="en-US" sz="1200" dirty="0"/>
          </a:p>
          <a:p>
            <a:pPr marL="342900" indent="-342900">
              <a:spcAft>
                <a:spcPts val="400"/>
              </a:spcAft>
              <a:buSzPct val="100000"/>
              <a:buChar char="•"/>
            </a:pPr>
            <a:r>
              <a:rPr lang="en-US" sz="1200" dirty="0">
                <a:solidFill>
                  <a:schemeClr val="tx1"/>
                </a:solidFill>
              </a:rPr>
              <a:t>Penjajakan investor dan pembeli</a:t>
            </a:r>
            <a:endParaRPr lang="en-US" sz="1200" dirty="0"/>
          </a:p>
          <a:p>
            <a:pPr marL="342900" indent="-342900">
              <a:spcAft>
                <a:spcPts val="400"/>
              </a:spcAft>
              <a:buSzPct val="100000"/>
              <a:buChar char="•"/>
            </a:pPr>
            <a:r>
              <a:rPr lang="en-US" sz="1200" dirty="0">
                <a:solidFill>
                  <a:schemeClr val="tx1"/>
                </a:solidFill>
              </a:rPr>
              <a:t>Presale: diperbolehkan Permenhut</a:t>
            </a:r>
            <a:endParaRPr lang="en-US" sz="1200" dirty="0"/>
          </a:p>
        </p:txBody>
      </p:sp>
      <p:sp>
        <p:nvSpPr>
          <p:cNvPr id="15" name="Tahap 4"/>
          <p:cNvSpPr/>
          <p:nvPr/>
        </p:nvSpPr>
        <p:spPr>
          <a:xfrm>
            <a:off x="6766560" y="1143000"/>
            <a:ext cx="2075688" cy="566928"/>
          </a:xfrm>
          <a:prstGeom prst="chevron">
            <a:avLst/>
          </a:prstGeom>
          <a:solidFill>
            <a:schemeClr val="accent2"/>
          </a:solidFill>
          <a:ln/>
        </p:spPr>
      </p:sp>
      <p:sp>
        <p:nvSpPr>
          <p:cNvPr id="16" name="Text 14"/>
          <p:cNvSpPr txBox="1"/>
          <p:nvPr/>
        </p:nvSpPr>
        <p:spPr>
          <a:xfrm>
            <a:off x="6995160" y="1143000"/>
            <a:ext cx="1600200" cy="566928"/>
          </a:xfrm>
          <a:prstGeom prst="rect">
            <a:avLst/>
          </a:prstGeom>
          <a:noFill/>
          <a:ln/>
        </p:spPr>
        <p:txBody>
          <a:bodyPr wrap="square" lIns="0" tIns="0" rIns="0" bIns="0" rtlCol="0" anchor="ctr"/>
          <a:lstStyle/>
          <a:p>
            <a:pPr algn="ctr" indent="0" marL="0">
              <a:buNone/>
            </a:pPr>
            <a:r>
              <a:rPr lang="en-US" sz="1400" b="1" dirty="0">
                <a:solidFill>
                  <a:schemeClr val="bg1"/>
                </a:solidFill>
              </a:rPr>
              <a:t>Tahap 4</a:t>
            </a:r>
            <a:endParaRPr lang="en-US" sz="1400" dirty="0"/>
          </a:p>
        </p:txBody>
      </p:sp>
      <p:sp>
        <p:nvSpPr>
          <p:cNvPr id="17" name="Text 15"/>
          <p:cNvSpPr txBox="1"/>
          <p:nvPr/>
        </p:nvSpPr>
        <p:spPr>
          <a:xfrm>
            <a:off x="6766560" y="1828800"/>
            <a:ext cx="196596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Penyusunan PDD</a:t>
            </a:r>
            <a:endParaRPr lang="en-US" sz="1600" dirty="0"/>
          </a:p>
        </p:txBody>
      </p:sp>
      <p:sp>
        <p:nvSpPr>
          <p:cNvPr id="18" name="Text 16"/>
          <p:cNvSpPr txBox="1"/>
          <p:nvPr/>
        </p:nvSpPr>
        <p:spPr>
          <a:xfrm>
            <a:off x="6766560" y="2240280"/>
            <a:ext cx="1920240" cy="16002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Desain proyek lengkap</a:t>
            </a:r>
            <a:endParaRPr lang="en-US" sz="1200" dirty="0"/>
          </a:p>
          <a:p>
            <a:pPr marL="342900" indent="-342900">
              <a:spcAft>
                <a:spcPts val="400"/>
              </a:spcAft>
              <a:buSzPct val="100000"/>
              <a:buChar char="•"/>
            </a:pPr>
            <a:r>
              <a:rPr lang="en-US" sz="1200" dirty="0">
                <a:solidFill>
                  <a:schemeClr val="tx1"/>
                </a:solidFill>
              </a:rPr>
              <a:t>Metode, MRV, BSM, GRM</a:t>
            </a:r>
            <a:endParaRPr lang="en-US" sz="1200" dirty="0"/>
          </a:p>
          <a:p>
            <a:pPr marL="342900" indent="-342900">
              <a:spcAft>
                <a:spcPts val="400"/>
              </a:spcAft>
              <a:buSzPct val="100000"/>
              <a:buChar char="•"/>
            </a:pPr>
            <a:r>
              <a:rPr lang="en-US" sz="1200" dirty="0">
                <a:solidFill>
                  <a:schemeClr val="tx1"/>
                </a:solidFill>
              </a:rPr>
              <a:t>FPIC tahap desain</a:t>
            </a:r>
            <a:endParaRPr lang="en-US" sz="1200" dirty="0"/>
          </a:p>
          <a:p>
            <a:pPr marL="342900" indent="-342900">
              <a:spcAft>
                <a:spcPts val="400"/>
              </a:spcAft>
              <a:buSzPct val="100000"/>
              <a:buChar char="•"/>
            </a:pPr>
            <a:r>
              <a:rPr lang="en-US" sz="1200" dirty="0">
                <a:solidFill>
                  <a:schemeClr val="tx1"/>
                </a:solidFill>
              </a:rPr>
              <a:t>Siap validasi</a:t>
            </a:r>
            <a:endParaRPr lang="en-US" sz="1200" dirty="0"/>
          </a:p>
        </p:txBody>
      </p:sp>
      <p:sp>
        <p:nvSpPr>
          <p:cNvPr id="19" name="Shape 17"/>
          <p:cNvSpPr/>
          <p:nvPr/>
        </p:nvSpPr>
        <p:spPr>
          <a:xfrm>
            <a:off x="457200" y="3977640"/>
            <a:ext cx="4069080" cy="594360"/>
          </a:xfrm>
          <a:prstGeom prst="rect">
            <a:avLst/>
          </a:prstGeom>
          <a:solidFill>
            <a:schemeClr val="bg2"/>
          </a:solidFill>
          <a:ln/>
        </p:spPr>
      </p:sp>
      <p:sp>
        <p:nvSpPr>
          <p:cNvPr id="20" name="Text 18"/>
          <p:cNvSpPr txBox="1"/>
          <p:nvPr/>
        </p:nvSpPr>
        <p:spPr>
          <a:xfrm>
            <a:off x="594360" y="3977640"/>
            <a:ext cx="3840480" cy="594360"/>
          </a:xfrm>
          <a:prstGeom prst="rect">
            <a:avLst/>
          </a:prstGeom>
          <a:noFill/>
          <a:ln/>
        </p:spPr>
        <p:txBody>
          <a:bodyPr wrap="square" lIns="0" tIns="0" rIns="0" bIns="0" rtlCol="0" anchor="ctr"/>
          <a:lstStyle/>
          <a:p>
            <a:pPr indent="0" marL="0">
              <a:buNone/>
            </a:pPr>
            <a:r>
              <a:rPr lang="en-US" sz="1300" b="1" dirty="0">
                <a:solidFill>
                  <a:schemeClr val="accent1"/>
                </a:solidFill>
              </a:rPr>
              <a:t>Posisi saat ini: </a:t>
            </a:r>
            <a:pPr indent="0" marL="0">
              <a:buNone/>
            </a:pPr>
            <a:r>
              <a:rPr lang="en-US" sz="1300" dirty="0">
                <a:solidFill>
                  <a:schemeClr val="tx1"/>
                </a:solidFill>
              </a:rPr>
              <a:t>Tahap 1, persiapan PIN dengan dana awal TAF</a:t>
            </a:r>
            <a:endParaRPr lang="en-US" sz="1300" dirty="0"/>
          </a:p>
        </p:txBody>
      </p:sp>
      <p:sp>
        <p:nvSpPr>
          <p:cNvPr id="21" name="Shape 19"/>
          <p:cNvSpPr/>
          <p:nvPr/>
        </p:nvSpPr>
        <p:spPr>
          <a:xfrm>
            <a:off x="4663440" y="3977640"/>
            <a:ext cx="4023360" cy="594360"/>
          </a:xfrm>
          <a:prstGeom prst="rect">
            <a:avLst/>
          </a:prstGeom>
          <a:solidFill>
            <a:schemeClr val="tx2"/>
          </a:solidFill>
          <a:ln/>
        </p:spPr>
      </p:sp>
      <p:sp>
        <p:nvSpPr>
          <p:cNvPr id="22" name="Text 20"/>
          <p:cNvSpPr txBox="1"/>
          <p:nvPr/>
        </p:nvSpPr>
        <p:spPr>
          <a:xfrm>
            <a:off x="4800600" y="3977640"/>
            <a:ext cx="3794760" cy="594360"/>
          </a:xfrm>
          <a:prstGeom prst="rect">
            <a:avLst/>
          </a:prstGeom>
          <a:noFill/>
          <a:ln/>
        </p:spPr>
        <p:txBody>
          <a:bodyPr wrap="square" lIns="0" tIns="0" rIns="0" bIns="0" rtlCol="0" anchor="ctr"/>
          <a:lstStyle/>
          <a:p>
            <a:pPr indent="0" marL="0">
              <a:buNone/>
            </a:pPr>
            <a:r>
              <a:rPr lang="en-US" sz="1300" b="1" dirty="0">
                <a:solidFill>
                  <a:schemeClr val="accent6"/>
                </a:solidFill>
              </a:rPr>
              <a:t>Paralel: </a:t>
            </a:r>
            <a:pPr indent="0" marL="0">
              <a:buNone/>
            </a:pPr>
            <a:r>
              <a:rPr lang="en-US" sz="1300" dirty="0">
                <a:solidFill>
                  <a:schemeClr val="bg1"/>
                </a:solidFill>
              </a:rPr>
              <a:t>series FPIC dan penyusunan BSM berjalan di seluruh tahap</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Progres saat ini: fondasi legal sudah ada, persiapan lapangan berjalan</a:t>
            </a:r>
            <a:endParaRPr lang="en-US" sz="2200" dirty="0"/>
          </a:p>
        </p:txBody>
      </p:sp>
      <p:sp>
        <p:nvSpPr>
          <p:cNvPr id="3" name="Shape 1"/>
          <p:cNvSpPr/>
          <p:nvPr/>
        </p:nvSpPr>
        <p:spPr>
          <a:xfrm>
            <a:off x="457200" y="1216152"/>
            <a:ext cx="384048" cy="384048"/>
          </a:xfrm>
          <a:prstGeom prst="ellipse">
            <a:avLst/>
          </a:prstGeom>
          <a:solidFill>
            <a:schemeClr val="accent1"/>
          </a:solidFill>
          <a:ln/>
        </p:spPr>
      </p:sp>
      <p:sp>
        <p:nvSpPr>
          <p:cNvPr id="4" name="Text 2"/>
          <p:cNvSpPr txBox="1"/>
          <p:nvPr/>
        </p:nvSpPr>
        <p:spPr>
          <a:xfrm>
            <a:off x="457200" y="12161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960120" y="1143000"/>
            <a:ext cx="3520440" cy="777240"/>
          </a:xfrm>
          <a:prstGeom prst="rect">
            <a:avLst/>
          </a:prstGeom>
          <a:noFill/>
          <a:ln/>
        </p:spPr>
        <p:txBody>
          <a:bodyPr wrap="square" lIns="0" tIns="0" rIns="0" bIns="0" rtlCol="0" anchor="t"/>
          <a:lstStyle/>
          <a:p>
            <a:pPr indent="0" marL="0">
              <a:buNone/>
            </a:pPr>
            <a:r>
              <a:rPr lang="en-US" sz="1400" b="1" dirty="0">
                <a:solidFill>
                  <a:schemeClr val="tx1"/>
                </a:solidFill>
              </a:rPr>
              <a:t>Legalitas</a:t>
            </a:r>
            <a:pPr indent="0" marL="0">
              <a:buNone/>
            </a:pPr>
            <a:r>
              <a:rPr lang="en-US" sz="1000" b="1" dirty="0">
                <a:solidFill>
                  <a:schemeClr val="accent1"/>
                </a:solidFill>
              </a:rPr>
              <a:t>   Selesai</a:t>
            </a:r>
            <a:endParaRPr lang="en-US" sz="1400" dirty="0"/>
          </a:p>
          <a:p>
            <a:pPr indent="0" marL="0">
              <a:buNone/>
            </a:pPr>
            <a:r>
              <a:rPr lang="en-US" sz="1200" dirty="0">
                <a:solidFill>
                  <a:schemeClr val="tx1"/>
                </a:solidFill>
              </a:rPr>
              <a:t>SK Hutan Desa Pasir, hasil pendampingan SAMPAN melalui SETAPAK 3</a:t>
            </a:r>
            <a:endParaRPr lang="en-US" sz="1400" dirty="0"/>
          </a:p>
        </p:txBody>
      </p:sp>
      <p:sp>
        <p:nvSpPr>
          <p:cNvPr id="6" name="Shape 4"/>
          <p:cNvSpPr/>
          <p:nvPr/>
        </p:nvSpPr>
        <p:spPr>
          <a:xfrm>
            <a:off x="457200" y="2057400"/>
            <a:ext cx="384048" cy="384048"/>
          </a:xfrm>
          <a:prstGeom prst="ellipse">
            <a:avLst/>
          </a:prstGeom>
          <a:solidFill>
            <a:schemeClr val="accent1"/>
          </a:solidFill>
          <a:ln/>
        </p:spPr>
      </p:sp>
      <p:sp>
        <p:nvSpPr>
          <p:cNvPr id="7" name="Text 5"/>
          <p:cNvSpPr txBox="1"/>
          <p:nvPr/>
        </p:nvSpPr>
        <p:spPr>
          <a:xfrm>
            <a:off x="457200" y="20574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Text 6"/>
          <p:cNvSpPr txBox="1"/>
          <p:nvPr/>
        </p:nvSpPr>
        <p:spPr>
          <a:xfrm>
            <a:off x="960120" y="1984248"/>
            <a:ext cx="3520440" cy="777240"/>
          </a:xfrm>
          <a:prstGeom prst="rect">
            <a:avLst/>
          </a:prstGeom>
          <a:noFill/>
          <a:ln/>
        </p:spPr>
        <p:txBody>
          <a:bodyPr wrap="square" lIns="0" tIns="0" rIns="0" bIns="0" rtlCol="0" anchor="t"/>
          <a:lstStyle/>
          <a:p>
            <a:pPr indent="0" marL="0">
              <a:buNone/>
            </a:pPr>
            <a:r>
              <a:rPr lang="en-US" sz="1400" b="1" dirty="0">
                <a:solidFill>
                  <a:schemeClr val="tx1"/>
                </a:solidFill>
              </a:rPr>
              <a:t>RKPS</a:t>
            </a:r>
            <a:pPr indent="0" marL="0">
              <a:buNone/>
            </a:pPr>
            <a:r>
              <a:rPr lang="en-US" sz="1000" b="1" dirty="0">
                <a:solidFill>
                  <a:schemeClr val="accent1"/>
                </a:solidFill>
              </a:rPr>
              <a:t>   Selesai</a:t>
            </a:r>
            <a:endParaRPr lang="en-US" sz="1400" dirty="0"/>
          </a:p>
          <a:p>
            <a:pPr indent="0" marL="0">
              <a:buNone/>
            </a:pPr>
            <a:r>
              <a:rPr lang="en-US" sz="1200" dirty="0">
                <a:solidFill>
                  <a:schemeClr val="tx1"/>
                </a:solidFill>
              </a:rPr>
              <a:t>Difasilitasi SAMPAN pada 2024 dengan pembiayaan mandiri</a:t>
            </a:r>
            <a:endParaRPr lang="en-US" sz="1400" dirty="0"/>
          </a:p>
        </p:txBody>
      </p:sp>
      <p:sp>
        <p:nvSpPr>
          <p:cNvPr id="9" name="Shape 7"/>
          <p:cNvSpPr/>
          <p:nvPr/>
        </p:nvSpPr>
        <p:spPr>
          <a:xfrm>
            <a:off x="457200" y="2898648"/>
            <a:ext cx="384048" cy="384048"/>
          </a:xfrm>
          <a:prstGeom prst="ellipse">
            <a:avLst/>
          </a:prstGeom>
          <a:solidFill>
            <a:schemeClr val="accent1"/>
          </a:solidFill>
          <a:ln/>
        </p:spPr>
      </p:sp>
      <p:sp>
        <p:nvSpPr>
          <p:cNvPr id="10" name="Text 8"/>
          <p:cNvSpPr txBox="1"/>
          <p:nvPr/>
        </p:nvSpPr>
        <p:spPr>
          <a:xfrm>
            <a:off x="457200" y="289864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Text 9"/>
          <p:cNvSpPr txBox="1"/>
          <p:nvPr/>
        </p:nvSpPr>
        <p:spPr>
          <a:xfrm>
            <a:off x="960120" y="2825496"/>
            <a:ext cx="3520440" cy="777240"/>
          </a:xfrm>
          <a:prstGeom prst="rect">
            <a:avLst/>
          </a:prstGeom>
          <a:noFill/>
          <a:ln/>
        </p:spPr>
        <p:txBody>
          <a:bodyPr wrap="square" lIns="0" tIns="0" rIns="0" bIns="0" rtlCol="0" anchor="t"/>
          <a:lstStyle/>
          <a:p>
            <a:pPr indent="0" marL="0">
              <a:buNone/>
            </a:pPr>
            <a:r>
              <a:rPr lang="en-US" sz="1400" b="1" dirty="0">
                <a:solidFill>
                  <a:schemeClr val="tx1"/>
                </a:solidFill>
              </a:rPr>
              <a:t>Persetujuan awal</a:t>
            </a:r>
            <a:pPr indent="0" marL="0">
              <a:buNone/>
            </a:pPr>
            <a:r>
              <a:rPr lang="en-US" sz="1000" b="1" dirty="0">
                <a:solidFill>
                  <a:schemeClr val="accent1"/>
                </a:solidFill>
              </a:rPr>
              <a:t>   Selesai</a:t>
            </a:r>
            <a:endParaRPr lang="en-US" sz="1400" dirty="0"/>
          </a:p>
          <a:p>
            <a:pPr indent="0" marL="0">
              <a:buNone/>
            </a:pPr>
            <a:r>
              <a:rPr lang="en-US" sz="1200" dirty="0">
                <a:solidFill>
                  <a:schemeClr val="tx1"/>
                </a:solidFill>
              </a:rPr>
              <a:t>Persetujuan awal sudah diperoleh</a:t>
            </a:r>
            <a:endParaRPr lang="en-US" sz="1400" dirty="0"/>
          </a:p>
        </p:txBody>
      </p:sp>
      <p:sp>
        <p:nvSpPr>
          <p:cNvPr id="12" name="Shape 10"/>
          <p:cNvSpPr/>
          <p:nvPr/>
        </p:nvSpPr>
        <p:spPr>
          <a:xfrm>
            <a:off x="457200" y="3739896"/>
            <a:ext cx="384048" cy="384048"/>
          </a:xfrm>
          <a:prstGeom prst="ellipse">
            <a:avLst/>
          </a:prstGeom>
          <a:solidFill>
            <a:schemeClr val="bg1"/>
          </a:solidFill>
          <a:ln w="19050">
            <a:solidFill>
              <a:srgbClr val="C99A2E"/>
            </a:solidFill>
            <a:prstDash val="solid"/>
          </a:ln>
        </p:spPr>
      </p:sp>
      <p:sp>
        <p:nvSpPr>
          <p:cNvPr id="13" name="Text 11"/>
          <p:cNvSpPr txBox="1"/>
          <p:nvPr/>
        </p:nvSpPr>
        <p:spPr>
          <a:xfrm>
            <a:off x="457200" y="3739896"/>
            <a:ext cx="384048" cy="384048"/>
          </a:xfrm>
          <a:prstGeom prst="rect">
            <a:avLst/>
          </a:prstGeom>
          <a:noFill/>
          <a:ln/>
        </p:spPr>
        <p:txBody>
          <a:bodyPr wrap="square" lIns="0" tIns="0" rIns="0" bIns="0" rtlCol="0" anchor="ctr"/>
          <a:lstStyle/>
          <a:p>
            <a:pPr algn="ctr" indent="0" marL="0">
              <a:buNone/>
            </a:pPr>
            <a:r>
              <a:rPr lang="en-US" sz="1300" b="1" dirty="0">
                <a:solidFill>
                  <a:schemeClr val="accent6"/>
                </a:solidFill>
              </a:rPr>
              <a:t>4</a:t>
            </a:r>
            <a:endParaRPr lang="en-US" sz="1300" dirty="0"/>
          </a:p>
        </p:txBody>
      </p:sp>
      <p:sp>
        <p:nvSpPr>
          <p:cNvPr id="14" name="Text 12"/>
          <p:cNvSpPr txBox="1"/>
          <p:nvPr/>
        </p:nvSpPr>
        <p:spPr>
          <a:xfrm>
            <a:off x="960120" y="3666744"/>
            <a:ext cx="3520440" cy="777240"/>
          </a:xfrm>
          <a:prstGeom prst="rect">
            <a:avLst/>
          </a:prstGeom>
          <a:noFill/>
          <a:ln/>
        </p:spPr>
        <p:txBody>
          <a:bodyPr wrap="square" lIns="0" tIns="0" rIns="0" bIns="0" rtlCol="0" anchor="t"/>
          <a:lstStyle/>
          <a:p>
            <a:pPr indent="0" marL="0">
              <a:buNone/>
            </a:pPr>
            <a:r>
              <a:rPr lang="en-US" sz="1400" b="1" dirty="0">
                <a:solidFill>
                  <a:schemeClr val="tx1"/>
                </a:solidFill>
              </a:rPr>
              <a:t>Proses bersama TAF</a:t>
            </a:r>
            <a:pPr indent="0" marL="0">
              <a:buNone/>
            </a:pPr>
            <a:r>
              <a:rPr lang="en-US" sz="1000" b="1" dirty="0">
                <a:solidFill>
                  <a:schemeClr val="accent6"/>
                </a:solidFill>
              </a:rPr>
              <a:t>   Berjalan</a:t>
            </a:r>
            <a:endParaRPr lang="en-US" sz="1400" dirty="0"/>
          </a:p>
          <a:p>
            <a:pPr indent="0" marL="0">
              <a:buNone/>
            </a:pPr>
            <a:r>
              <a:rPr lang="en-US" sz="1200" dirty="0">
                <a:solidFill>
                  <a:schemeClr val="tx1"/>
                </a:solidFill>
              </a:rPr>
              <a:t>Proposal SETAPAK disetujui; dana awal penyusunan PIN disetujui</a:t>
            </a:r>
            <a:endParaRPr lang="en-US" sz="1400" dirty="0"/>
          </a:p>
        </p:txBody>
      </p:sp>
      <p:sp>
        <p:nvSpPr>
          <p:cNvPr id="15" name="Shape 13"/>
          <p:cNvSpPr/>
          <p:nvPr/>
        </p:nvSpPr>
        <p:spPr>
          <a:xfrm>
            <a:off x="4663440" y="1216152"/>
            <a:ext cx="384048" cy="384048"/>
          </a:xfrm>
          <a:prstGeom prst="ellipse">
            <a:avLst/>
          </a:prstGeom>
          <a:solidFill>
            <a:schemeClr val="bg1"/>
          </a:solidFill>
          <a:ln w="19050">
            <a:solidFill>
              <a:srgbClr val="C99A2E"/>
            </a:solidFill>
            <a:prstDash val="solid"/>
          </a:ln>
        </p:spPr>
      </p:sp>
      <p:sp>
        <p:nvSpPr>
          <p:cNvPr id="16" name="Text 14"/>
          <p:cNvSpPr txBox="1"/>
          <p:nvPr/>
        </p:nvSpPr>
        <p:spPr>
          <a:xfrm>
            <a:off x="4663440" y="1216152"/>
            <a:ext cx="384048" cy="384048"/>
          </a:xfrm>
          <a:prstGeom prst="rect">
            <a:avLst/>
          </a:prstGeom>
          <a:noFill/>
          <a:ln/>
        </p:spPr>
        <p:txBody>
          <a:bodyPr wrap="square" lIns="0" tIns="0" rIns="0" bIns="0" rtlCol="0" anchor="ctr"/>
          <a:lstStyle/>
          <a:p>
            <a:pPr algn="ctr" indent="0" marL="0">
              <a:buNone/>
            </a:pPr>
            <a:r>
              <a:rPr lang="en-US" sz="1300" b="1" dirty="0">
                <a:solidFill>
                  <a:schemeClr val="accent6"/>
                </a:solidFill>
              </a:rPr>
              <a:t>5</a:t>
            </a:r>
            <a:endParaRPr lang="en-US" sz="1300" dirty="0"/>
          </a:p>
        </p:txBody>
      </p:sp>
      <p:sp>
        <p:nvSpPr>
          <p:cNvPr id="17" name="Text 15"/>
          <p:cNvSpPr txBox="1"/>
          <p:nvPr/>
        </p:nvSpPr>
        <p:spPr>
          <a:xfrm>
            <a:off x="5166360" y="1143000"/>
            <a:ext cx="3520440" cy="777240"/>
          </a:xfrm>
          <a:prstGeom prst="rect">
            <a:avLst/>
          </a:prstGeom>
          <a:noFill/>
          <a:ln/>
        </p:spPr>
        <p:txBody>
          <a:bodyPr wrap="square" lIns="0" tIns="0" rIns="0" bIns="0" rtlCol="0" anchor="t"/>
          <a:lstStyle/>
          <a:p>
            <a:pPr indent="0" marL="0">
              <a:buNone/>
            </a:pPr>
            <a:r>
              <a:rPr lang="en-US" sz="1400" b="1" dirty="0">
                <a:solidFill>
                  <a:schemeClr val="tx1"/>
                </a:solidFill>
              </a:rPr>
              <a:t>Penyiapan lapangan</a:t>
            </a:r>
            <a:pPr indent="0" marL="0">
              <a:buNone/>
            </a:pPr>
            <a:r>
              <a:rPr lang="en-US" sz="1000" b="1" dirty="0">
                <a:solidFill>
                  <a:schemeClr val="accent6"/>
                </a:solidFill>
              </a:rPr>
              <a:t>   Berjalan</a:t>
            </a:r>
            <a:endParaRPr lang="en-US" sz="1400" dirty="0"/>
          </a:p>
          <a:p>
            <a:pPr indent="0" marL="0">
              <a:buNone/>
            </a:pPr>
            <a:r>
              <a:rPr lang="en-US" sz="1200" dirty="0">
                <a:solidFill>
                  <a:schemeClr val="tx1"/>
                </a:solidFill>
              </a:rPr>
              <a:t>Pembentukan tim patroli, assessment KUPS, persiapan series FPIC</a:t>
            </a:r>
            <a:endParaRPr lang="en-US" sz="1400" dirty="0"/>
          </a:p>
        </p:txBody>
      </p:sp>
      <p:sp>
        <p:nvSpPr>
          <p:cNvPr id="18" name="Shape 16"/>
          <p:cNvSpPr/>
          <p:nvPr/>
        </p:nvSpPr>
        <p:spPr>
          <a:xfrm>
            <a:off x="4663440" y="2057400"/>
            <a:ext cx="384048" cy="384048"/>
          </a:xfrm>
          <a:prstGeom prst="ellipse">
            <a:avLst/>
          </a:prstGeom>
          <a:solidFill>
            <a:schemeClr val="bg1"/>
          </a:solidFill>
          <a:ln w="19050">
            <a:solidFill>
              <a:srgbClr val="C99A2E"/>
            </a:solidFill>
            <a:prstDash val="solid"/>
          </a:ln>
        </p:spPr>
      </p:sp>
      <p:sp>
        <p:nvSpPr>
          <p:cNvPr id="19" name="Text 17"/>
          <p:cNvSpPr txBox="1"/>
          <p:nvPr/>
        </p:nvSpPr>
        <p:spPr>
          <a:xfrm>
            <a:off x="4663440" y="2057400"/>
            <a:ext cx="384048" cy="384048"/>
          </a:xfrm>
          <a:prstGeom prst="rect">
            <a:avLst/>
          </a:prstGeom>
          <a:noFill/>
          <a:ln/>
        </p:spPr>
        <p:txBody>
          <a:bodyPr wrap="square" lIns="0" tIns="0" rIns="0" bIns="0" rtlCol="0" anchor="ctr"/>
          <a:lstStyle/>
          <a:p>
            <a:pPr algn="ctr" indent="0" marL="0">
              <a:buNone/>
            </a:pPr>
            <a:r>
              <a:rPr lang="en-US" sz="1300" b="1" dirty="0">
                <a:solidFill>
                  <a:schemeClr val="accent6"/>
                </a:solidFill>
              </a:rPr>
              <a:t>6</a:t>
            </a:r>
            <a:endParaRPr lang="en-US" sz="1300" dirty="0"/>
          </a:p>
        </p:txBody>
      </p:sp>
      <p:sp>
        <p:nvSpPr>
          <p:cNvPr id="20" name="Text 18"/>
          <p:cNvSpPr txBox="1"/>
          <p:nvPr/>
        </p:nvSpPr>
        <p:spPr>
          <a:xfrm>
            <a:off x="5166360" y="1984248"/>
            <a:ext cx="3520440" cy="777240"/>
          </a:xfrm>
          <a:prstGeom prst="rect">
            <a:avLst/>
          </a:prstGeom>
          <a:noFill/>
          <a:ln/>
        </p:spPr>
        <p:txBody>
          <a:bodyPr wrap="square" lIns="0" tIns="0" rIns="0" bIns="0" rtlCol="0" anchor="t"/>
          <a:lstStyle/>
          <a:p>
            <a:pPr indent="0" marL="0">
              <a:buNone/>
            </a:pPr>
            <a:r>
              <a:rPr lang="en-US" sz="1400" b="1" dirty="0">
                <a:solidFill>
                  <a:schemeClr val="tx1"/>
                </a:solidFill>
              </a:rPr>
              <a:t>Komunikasi Plan Vivo</a:t>
            </a:r>
            <a:pPr indent="0" marL="0">
              <a:buNone/>
            </a:pPr>
            <a:r>
              <a:rPr lang="en-US" sz="1000" b="1" dirty="0">
                <a:solidFill>
                  <a:schemeClr val="accent6"/>
                </a:solidFill>
              </a:rPr>
              <a:t>   Berjalan</a:t>
            </a:r>
            <a:endParaRPr lang="en-US" sz="1400" dirty="0"/>
          </a:p>
          <a:p>
            <a:pPr indent="0" marL="0">
              <a:buNone/>
            </a:pPr>
            <a:r>
              <a:rPr lang="en-US" sz="1200" dirty="0">
                <a:solidFill>
                  <a:schemeClr val="tx1"/>
                </a:solidFill>
              </a:rPr>
              <a:t>Dua kali pertemuan untuk persiapan pendaftaran</a:t>
            </a:r>
            <a:endParaRPr lang="en-US" sz="1400" dirty="0"/>
          </a:p>
        </p:txBody>
      </p:sp>
      <p:sp>
        <p:nvSpPr>
          <p:cNvPr id="21" name="Shape 19"/>
          <p:cNvSpPr/>
          <p:nvPr/>
        </p:nvSpPr>
        <p:spPr>
          <a:xfrm>
            <a:off x="4663440" y="2898648"/>
            <a:ext cx="384048" cy="384048"/>
          </a:xfrm>
          <a:prstGeom prst="ellipse">
            <a:avLst/>
          </a:prstGeom>
          <a:solidFill>
            <a:schemeClr val="bg1"/>
          </a:solidFill>
          <a:ln w="19050">
            <a:solidFill>
              <a:srgbClr val="C99A2E"/>
            </a:solidFill>
            <a:prstDash val="solid"/>
          </a:ln>
        </p:spPr>
      </p:sp>
      <p:sp>
        <p:nvSpPr>
          <p:cNvPr id="22" name="Text 20"/>
          <p:cNvSpPr txBox="1"/>
          <p:nvPr/>
        </p:nvSpPr>
        <p:spPr>
          <a:xfrm>
            <a:off x="4663440" y="2898648"/>
            <a:ext cx="384048" cy="384048"/>
          </a:xfrm>
          <a:prstGeom prst="rect">
            <a:avLst/>
          </a:prstGeom>
          <a:noFill/>
          <a:ln/>
        </p:spPr>
        <p:txBody>
          <a:bodyPr wrap="square" lIns="0" tIns="0" rIns="0" bIns="0" rtlCol="0" anchor="ctr"/>
          <a:lstStyle/>
          <a:p>
            <a:pPr algn="ctr" indent="0" marL="0">
              <a:buNone/>
            </a:pPr>
            <a:r>
              <a:rPr lang="en-US" sz="1300" b="1" dirty="0">
                <a:solidFill>
                  <a:schemeClr val="accent6"/>
                </a:solidFill>
              </a:rPr>
              <a:t>7</a:t>
            </a:r>
            <a:endParaRPr lang="en-US" sz="1300" dirty="0"/>
          </a:p>
        </p:txBody>
      </p:sp>
      <p:sp>
        <p:nvSpPr>
          <p:cNvPr id="23" name="Text 21"/>
          <p:cNvSpPr txBox="1"/>
          <p:nvPr/>
        </p:nvSpPr>
        <p:spPr>
          <a:xfrm>
            <a:off x="5166360" y="2825496"/>
            <a:ext cx="3520440" cy="777240"/>
          </a:xfrm>
          <a:prstGeom prst="rect">
            <a:avLst/>
          </a:prstGeom>
          <a:noFill/>
          <a:ln/>
        </p:spPr>
        <p:txBody>
          <a:bodyPr wrap="square" lIns="0" tIns="0" rIns="0" bIns="0" rtlCol="0" anchor="t"/>
          <a:lstStyle/>
          <a:p>
            <a:pPr indent="0" marL="0">
              <a:buNone/>
            </a:pPr>
            <a:r>
              <a:rPr lang="en-US" sz="1400" b="1" dirty="0">
                <a:solidFill>
                  <a:schemeClr val="tx1"/>
                </a:solidFill>
              </a:rPr>
              <a:t>Kelayakan karbon</a:t>
            </a:r>
            <a:pPr indent="0" marL="0">
              <a:buNone/>
            </a:pPr>
            <a:r>
              <a:rPr lang="en-US" sz="1000" b="1" dirty="0">
                <a:solidFill>
                  <a:schemeClr val="accent6"/>
                </a:solidFill>
              </a:rPr>
              <a:t>   Berjalan</a:t>
            </a:r>
            <a:endParaRPr lang="en-US" sz="1400" dirty="0"/>
          </a:p>
          <a:p>
            <a:pPr indent="0" marL="0">
              <a:buNone/>
            </a:pPr>
            <a:r>
              <a:rPr lang="en-US" sz="1200" dirty="0">
                <a:solidFill>
                  <a:schemeClr val="tx1"/>
                </a:solidFill>
              </a:rPr>
              <a:t>Skenario tanpa vs dengan proyek; FS untuk angka dasar carbon accounting</a:t>
            </a:r>
            <a:endParaRPr lang="en-US" sz="1400" dirty="0"/>
          </a:p>
        </p:txBody>
      </p:sp>
      <p:sp>
        <p:nvSpPr>
          <p:cNvPr id="24" name="Shape 22"/>
          <p:cNvSpPr/>
          <p:nvPr/>
        </p:nvSpPr>
        <p:spPr>
          <a:xfrm>
            <a:off x="4663440" y="3712464"/>
            <a:ext cx="4023360" cy="777240"/>
          </a:xfrm>
          <a:prstGeom prst="rect">
            <a:avLst/>
          </a:prstGeom>
          <a:solidFill>
            <a:schemeClr val="bg2"/>
          </a:solidFill>
          <a:ln/>
        </p:spPr>
      </p:sp>
      <p:sp>
        <p:nvSpPr>
          <p:cNvPr id="25" name="Text 23"/>
          <p:cNvSpPr txBox="1"/>
          <p:nvPr/>
        </p:nvSpPr>
        <p:spPr>
          <a:xfrm>
            <a:off x="4800600" y="3712464"/>
            <a:ext cx="3794760" cy="777240"/>
          </a:xfrm>
          <a:prstGeom prst="rect">
            <a:avLst/>
          </a:prstGeom>
          <a:noFill/>
          <a:ln/>
        </p:spPr>
        <p:txBody>
          <a:bodyPr wrap="square" lIns="0" tIns="0" rIns="0" bIns="0" rtlCol="0" anchor="ctr"/>
          <a:lstStyle/>
          <a:p>
            <a:pPr indent="0" marL="0">
              <a:buNone/>
            </a:pPr>
            <a:r>
              <a:rPr lang="en-US" sz="1200" b="1" dirty="0">
                <a:solidFill>
                  <a:schemeClr val="tx2"/>
                </a:solidFill>
              </a:rPr>
              <a:t>Status: </a:t>
            </a:r>
            <a:pPr indent="0" marL="0">
              <a:buNone/>
            </a:pPr>
            <a:r>
              <a:rPr lang="en-US" sz="1200" dirty="0">
                <a:solidFill>
                  <a:schemeClr val="tx1"/>
                </a:solidFill>
              </a:rPr>
              <a:t>3 selesai, 4 berjalan. Hasil kelayakan karbon menjadi bahan utama PIN dan project scenario.</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Kelayakan karbon: membandingkan skenario tanpa dan dengan proyek</a:t>
            </a:r>
            <a:endParaRPr lang="en-US" sz="2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5577840" cy="914400"/>
        </p:xfrm>
        <a:graphic>
          <a:graphicData uri="http://schemas.openxmlformats.org/drawingml/2006/table">
            <a:tbl>
              <a:tblPr/>
              <a:tblGrid>
                <a:gridCol w="2286000"/>
                <a:gridCol w="1143000"/>
                <a:gridCol w="1051560"/>
                <a:gridCol w="10972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Komponen</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Tanpa proyek (baseline)</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Dengan proyek</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Selisih / kredit</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r>
              <a:tr h="384048">
                <a:tc>
                  <a:txBody>
                    <a:bodyPr/>
                    <a:lstStyle/>
                    <a:p>
                      <a:pPr indent="0" marL="0">
                        <a:buNone/>
                      </a:pPr>
                      <a:r>
                        <a:rPr lang="en-US" sz="1000" dirty="0">
                          <a:solidFill>
                            <a:srgbClr val="173F35"/>
                          </a:solidFill>
                          <a:latin typeface="Calibri" pitchFamily="34" charset="0"/>
                          <a:ea typeface="Calibri" pitchFamily="34" charset="-122"/>
                          <a:cs typeface="Calibri" pitchFamily="34" charset="-120"/>
                        </a:rPr>
                        <a:t>Laju deforestasi &amp; degradasi (ha/thn)</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r>
              <a:tr h="384048">
                <a:tc>
                  <a:txBody>
                    <a:bodyPr/>
                    <a:lstStyle/>
                    <a:p>
                      <a:pPr indent="0" marL="0">
                        <a:buNone/>
                      </a:pPr>
                      <a:r>
                        <a:rPr lang="en-US" sz="1000" dirty="0">
                          <a:solidFill>
                            <a:srgbClr val="173F35"/>
                          </a:solidFill>
                          <a:latin typeface="Calibri" pitchFamily="34" charset="0"/>
                          <a:ea typeface="Calibri" pitchFamily="34" charset="-122"/>
                          <a:cs typeface="Calibri" pitchFamily="34" charset="-120"/>
                        </a:rPr>
                        <a:t>Emisi dari hilangnya biomassa (tCO₂e/thn)</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73F35"/>
                          </a:solidFill>
                          <a:latin typeface="Calibri" pitchFamily="34" charset="0"/>
                          <a:ea typeface="Calibri" pitchFamily="34" charset="-122"/>
                          <a:cs typeface="Calibri" pitchFamily="34" charset="-120"/>
                        </a:rPr>
                        <a:t>Emisi dekomposisi gambut (tCO₂e/thn)</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r>
              <a:tr h="384048">
                <a:tc>
                  <a:txBody>
                    <a:bodyPr/>
                    <a:lstStyle/>
                    <a:p>
                      <a:pPr indent="0" marL="0">
                        <a:buNone/>
                      </a:pPr>
                      <a:r>
                        <a:rPr lang="en-US" sz="1000" dirty="0">
                          <a:solidFill>
                            <a:srgbClr val="173F35"/>
                          </a:solidFill>
                          <a:latin typeface="Calibri" pitchFamily="34" charset="0"/>
                          <a:ea typeface="Calibri" pitchFamily="34" charset="-122"/>
                          <a:cs typeface="Calibri" pitchFamily="34" charset="-120"/>
                        </a:rPr>
                        <a:t>Serapan dari rehabilitasi (tCO₂e/thn)</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384048">
                <a:tc>
                  <a:txBody>
                    <a:bodyPr/>
                    <a:lstStyle/>
                    <a:p>
                      <a:pPr indent="0" marL="0">
                        <a:buNone/>
                      </a:pPr>
                      <a:r>
                        <a:rPr lang="en-US" sz="1000" dirty="0">
                          <a:solidFill>
                            <a:srgbClr val="173F35"/>
                          </a:solidFill>
                          <a:latin typeface="Calibri" pitchFamily="34" charset="0"/>
                          <a:ea typeface="Calibri" pitchFamily="34" charset="-122"/>
                          <a:cs typeface="Calibri" pitchFamily="34" charset="-120"/>
                        </a:rPr>
                        <a:t>Leakage, ketidakpastian &amp; buffer</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r>
              <a:tr h="384048">
                <a:tc>
                  <a:txBody>
                    <a:bodyPr/>
                    <a:lstStyle/>
                    <a:p>
                      <a:pPr indent="0" marL="0">
                        <a:buNone/>
                      </a:pPr>
                      <a:r>
                        <a:rPr lang="en-US" sz="1000" b="1" dirty="0">
                          <a:solidFill>
                            <a:srgbClr val="173F35"/>
                          </a:solidFill>
                          <a:latin typeface="Calibri" pitchFamily="34" charset="0"/>
                          <a:ea typeface="Calibri" pitchFamily="34" charset="-122"/>
                          <a:cs typeface="Calibri" pitchFamily="34" charset="-120"/>
                        </a:rPr>
                        <a:t>Kredit bersih (tCO₂e/thn)</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BE2"/>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BE2"/>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BE2"/>
                    </a:solidFill>
                  </a:tcPr>
                </a:tc>
                <a:tc>
                  <a:txBody>
                    <a:bodyPr/>
                    <a:lstStyle/>
                    <a:p>
                      <a:pPr algn="ctr" indent="0" marL="0">
                        <a:buNone/>
                      </a:pPr>
                      <a:r>
                        <a:rPr lang="en-US" sz="1000" dirty="0">
                          <a:solidFill>
                            <a:srgbClr val="9AA59F"/>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CEBE2"/>
                    </a:solidFill>
                  </a:tcPr>
                </a:tc>
              </a:tr>
            </a:tbl>
          </a:graphicData>
        </a:graphic>
      </p:graphicFrame>
      <p:sp>
        <p:nvSpPr>
          <p:cNvPr id="4" name="Text 1"/>
          <p:cNvSpPr txBox="1"/>
          <p:nvPr/>
        </p:nvSpPr>
        <p:spPr>
          <a:xfrm>
            <a:off x="457200" y="3931920"/>
            <a:ext cx="5577840" cy="274320"/>
          </a:xfrm>
          <a:prstGeom prst="rect">
            <a:avLst/>
          </a:prstGeom>
          <a:noFill/>
          <a:ln/>
        </p:spPr>
        <p:txBody>
          <a:bodyPr wrap="square" lIns="0" tIns="0" rIns="0" bIns="0" rtlCol="0" anchor="t"/>
          <a:lstStyle/>
          <a:p>
            <a:pPr indent="0" marL="0">
              <a:buNone/>
            </a:pPr>
            <a:r>
              <a:rPr lang="en-US" sz="1000" i="1" dirty="0">
                <a:solidFill>
                  <a:schemeClr val="accent2"/>
                </a:solidFill>
              </a:rPr>
              <a:t>Kolom angka diisi dari hasil hitungan tim dan FS carbon accounting.</a:t>
            </a:r>
            <a:endParaRPr lang="en-US" sz="1000" dirty="0"/>
          </a:p>
        </p:txBody>
      </p:sp>
      <p:sp>
        <p:nvSpPr>
          <p:cNvPr id="5" name="Shape 2"/>
          <p:cNvSpPr/>
          <p:nvPr/>
        </p:nvSpPr>
        <p:spPr>
          <a:xfrm>
            <a:off x="6309360" y="1143000"/>
            <a:ext cx="2377440" cy="3337560"/>
          </a:xfrm>
          <a:prstGeom prst="rect">
            <a:avLst/>
          </a:prstGeom>
          <a:solidFill>
            <a:schemeClr val="tx2"/>
          </a:solidFill>
          <a:ln/>
        </p:spPr>
      </p:sp>
      <p:sp>
        <p:nvSpPr>
          <p:cNvPr id="6" name="Text 3"/>
          <p:cNvSpPr txBox="1"/>
          <p:nvPr/>
        </p:nvSpPr>
        <p:spPr>
          <a:xfrm>
            <a:off x="6492240" y="1280160"/>
            <a:ext cx="210312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PATOKAN PRE-ASSESSMENT</a:t>
            </a:r>
            <a:endParaRPr lang="en-US" sz="1000" dirty="0"/>
          </a:p>
        </p:txBody>
      </p:sp>
      <p:sp>
        <p:nvSpPr>
          <p:cNvPr id="7" name="Text 4"/>
          <p:cNvSpPr txBox="1"/>
          <p:nvPr/>
        </p:nvSpPr>
        <p:spPr>
          <a:xfrm>
            <a:off x="6492240" y="1554480"/>
            <a:ext cx="210312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773–835 rb</a:t>
            </a:r>
            <a:endParaRPr lang="en-US" sz="2200" dirty="0"/>
          </a:p>
        </p:txBody>
      </p:sp>
      <p:sp>
        <p:nvSpPr>
          <p:cNvPr id="8" name="Text 5"/>
          <p:cNvSpPr txBox="1"/>
          <p:nvPr/>
        </p:nvSpPr>
        <p:spPr>
          <a:xfrm>
            <a:off x="6492240" y="2011680"/>
            <a:ext cx="2103120" cy="320040"/>
          </a:xfrm>
          <a:prstGeom prst="rect">
            <a:avLst/>
          </a:prstGeom>
          <a:noFill/>
          <a:ln/>
        </p:spPr>
        <p:txBody>
          <a:bodyPr wrap="square" lIns="0" tIns="0" rIns="0" bIns="0" rtlCol="0" anchor="t"/>
          <a:lstStyle/>
          <a:p>
            <a:pPr indent="0" marL="0">
              <a:buNone/>
            </a:pPr>
            <a:r>
              <a:rPr lang="en-US" sz="1200" dirty="0">
                <a:solidFill>
                  <a:schemeClr val="bg1"/>
                </a:solidFill>
              </a:rPr>
              <a:t>tCO₂e stok biomassa hidup</a:t>
            </a:r>
            <a:endParaRPr lang="en-US" sz="1200" dirty="0"/>
          </a:p>
        </p:txBody>
      </p:sp>
      <p:sp>
        <p:nvSpPr>
          <p:cNvPr id="9" name="Text 6"/>
          <p:cNvSpPr txBox="1"/>
          <p:nvPr/>
        </p:nvSpPr>
        <p:spPr>
          <a:xfrm>
            <a:off x="6492240" y="2468880"/>
            <a:ext cx="210312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76.961</a:t>
            </a:r>
            <a:endParaRPr lang="en-US" sz="2200" dirty="0"/>
          </a:p>
        </p:txBody>
      </p:sp>
      <p:sp>
        <p:nvSpPr>
          <p:cNvPr id="10" name="Text 7"/>
          <p:cNvSpPr txBox="1"/>
          <p:nvPr/>
        </p:nvSpPr>
        <p:spPr>
          <a:xfrm>
            <a:off x="6492240" y="2926080"/>
            <a:ext cx="2103120" cy="320040"/>
          </a:xfrm>
          <a:prstGeom prst="rect">
            <a:avLst/>
          </a:prstGeom>
          <a:noFill/>
          <a:ln/>
        </p:spPr>
        <p:txBody>
          <a:bodyPr wrap="square" lIns="0" tIns="0" rIns="0" bIns="0" rtlCol="0" anchor="t"/>
          <a:lstStyle/>
          <a:p>
            <a:pPr indent="0" marL="0">
              <a:buNone/>
            </a:pPr>
            <a:r>
              <a:rPr lang="en-US" sz="1200" dirty="0">
                <a:solidFill>
                  <a:schemeClr val="bg1"/>
                </a:solidFill>
              </a:rPr>
              <a:t>tCO₂e/thn potensi emisi gambut</a:t>
            </a:r>
            <a:endParaRPr lang="en-US" sz="1200" dirty="0"/>
          </a:p>
        </p:txBody>
      </p:sp>
      <p:sp>
        <p:nvSpPr>
          <p:cNvPr id="11" name="Text 8"/>
          <p:cNvSpPr txBox="1"/>
          <p:nvPr/>
        </p:nvSpPr>
        <p:spPr>
          <a:xfrm>
            <a:off x="6492240" y="3383280"/>
            <a:ext cx="2057400" cy="1005840"/>
          </a:xfrm>
          <a:prstGeom prst="rect">
            <a:avLst/>
          </a:prstGeom>
          <a:noFill/>
          <a:ln/>
        </p:spPr>
        <p:txBody>
          <a:bodyPr wrap="square" lIns="0" tIns="0" rIns="0" bIns="0" rtlCol="0" anchor="t"/>
          <a:lstStyle/>
          <a:p>
            <a:pPr indent="0" marL="0">
              <a:buNone/>
            </a:pPr>
            <a:r>
              <a:rPr lang="en-US" sz="1100" i="1" dirty="0">
                <a:solidFill>
                  <a:schemeClr val="accent3"/>
                </a:solidFill>
              </a:rPr>
              <a:t>Stok bukan volume kredit. Kredit bersih = selisih skenario dikurangi leakage, ketidakpastian, dan buffer.</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Dokumen Plan Vivo dipetakan per tahap, sebagian besar fondasinya sudah ada</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731520"/>
                <a:gridCol w="4480560"/>
                <a:gridCol w="1920240"/>
                <a:gridCol w="1097280"/>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Tahap</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Dokumen / data yang dibutuhkan</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Acuan</a:t>
                      </a:r>
                      <a:endParaRPr lang="en-US" sz="1100" dirty="0">
                        <a:latin typeface="Calibri" charset="0"/>
                        <a:ea typeface="Calibri" charset="0"/>
                        <a:cs typeface="Calibri" charset="0"/>
                      </a:endParaRPr>
                    </a:p>
                  </a:txBody>
                  <a:tcPr marL="54864" marR="54864" marT="54864" marB="54864"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73F35"/>
                    </a:solidFill>
                  </a:tcPr>
                </a:tc>
              </a:tr>
              <a:tr h="306324">
                <a:tc>
                  <a:txBody>
                    <a:bodyPr/>
                    <a:lstStyle/>
                    <a:p>
                      <a:pPr indent="0" marL="0">
                        <a:buNone/>
                      </a:pPr>
                      <a:r>
                        <a:rPr lang="en-US" sz="1000" b="1" dirty="0">
                          <a:solidFill>
                            <a:srgbClr val="2E7D5B"/>
                          </a:solidFill>
                          <a:latin typeface="Calibri" pitchFamily="34" charset="0"/>
                          <a:ea typeface="Calibri" pitchFamily="34" charset="-122"/>
                          <a:cs typeface="Calibri" pitchFamily="34" charset="-120"/>
                        </a:rPr>
                        <a:t>PIN</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Bukti hak kelola: SK HD, RKPS, RKT 2026</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Hak &amp; tenurial</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Ada</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E7D5B"/>
                    </a:solidFill>
                  </a:tcPr>
                </a:tc>
              </a:tr>
              <a:tr h="306324">
                <a:tc>
                  <a:txBody>
                    <a:bodyPr/>
                    <a:lstStyle/>
                    <a:p>
                      <a:pPr indent="0" marL="0">
                        <a:buNone/>
                      </a:pPr>
                      <a:r>
                        <a:rPr lang="en-US" sz="1000" b="1" dirty="0">
                          <a:solidFill>
                            <a:srgbClr val="2E7D5B"/>
                          </a:solidFill>
                          <a:latin typeface="Calibri" pitchFamily="34" charset="0"/>
                          <a:ea typeface="Calibri" pitchFamily="34" charset="-122"/>
                          <a:cs typeface="Calibri" pitchFamily="34" charset="-120"/>
                        </a:rPr>
                        <a:t>PIN</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Peta batas, tutupan lahan, gambut, zona</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Deskripsi area</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Ada</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E7D5B"/>
                    </a:solidFill>
                  </a:tcPr>
                </a:tc>
              </a:tr>
              <a:tr h="306324">
                <a:tc>
                  <a:txBody>
                    <a:bodyPr/>
                    <a:lstStyle/>
                    <a:p>
                      <a:pPr indent="0" marL="0">
                        <a:buNone/>
                      </a:pPr>
                      <a:r>
                        <a:rPr lang="en-US" sz="1000" b="1" dirty="0">
                          <a:solidFill>
                            <a:srgbClr val="2E7D5B"/>
                          </a:solidFill>
                          <a:latin typeface="Calibri" pitchFamily="34" charset="0"/>
                          <a:ea typeface="Calibri" pitchFamily="34" charset="-122"/>
                          <a:cs typeface="Calibri" pitchFamily="34" charset="-120"/>
                        </a:rPr>
                        <a:t>PIN</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Deskripsi kegiatan dan ancaman deforestasi</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PM001 / PT002</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Proses</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99A2E"/>
                    </a:solidFill>
                  </a:tcPr>
                </a:tc>
              </a:tr>
              <a:tr h="306324">
                <a:tc>
                  <a:txBody>
                    <a:bodyPr/>
                    <a:lstStyle/>
                    <a:p>
                      <a:pPr indent="0" marL="0">
                        <a:buNone/>
                      </a:pPr>
                      <a:r>
                        <a:rPr lang="en-US" sz="1000" b="1" dirty="0">
                          <a:solidFill>
                            <a:srgbClr val="2E7D5B"/>
                          </a:solidFill>
                          <a:latin typeface="Calibri" pitchFamily="34" charset="0"/>
                          <a:ea typeface="Calibri" pitchFamily="34" charset="-122"/>
                          <a:cs typeface="Calibri" pitchFamily="34" charset="-120"/>
                        </a:rPr>
                        <a:t>PIN</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Bukti persetujuan awal &amp; analisis pemangku kepentingan</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FPIC tahap konsep</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Proses</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99A2E"/>
                    </a:solidFill>
                  </a:tcPr>
                </a:tc>
              </a:tr>
              <a:tr h="306324">
                <a:tc>
                  <a:txBody>
                    <a:bodyPr/>
                    <a:lstStyle/>
                    <a:p>
                      <a:pPr indent="0" marL="0">
                        <a:buNone/>
                      </a:pPr>
                      <a:r>
                        <a:rPr lang="en-US" sz="1000" b="1" dirty="0">
                          <a:solidFill>
                            <a:srgbClr val="2E7D5B"/>
                          </a:solidFill>
                          <a:latin typeface="Calibri" pitchFamily="34" charset="0"/>
                          <a:ea typeface="Calibri" pitchFamily="34" charset="-122"/>
                          <a:cs typeface="Calibri" pitchFamily="34" charset="-120"/>
                        </a:rPr>
                        <a:t>PIN</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Safeguards awal dan identifikasi risiko</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Safeguards PV</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Proses</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99A2E"/>
                    </a:solidFill>
                  </a:tcPr>
                </a:tc>
              </a:tr>
              <a:tr h="306324">
                <a:tc>
                  <a:txBody>
                    <a:bodyPr/>
                    <a:lstStyle/>
                    <a:p>
                      <a:pPr indent="0" marL="0">
                        <a:buNone/>
                      </a:pPr>
                      <a:r>
                        <a:rPr lang="en-US" sz="1000" b="1" dirty="0">
                          <a:solidFill>
                            <a:srgbClr val="C8642A"/>
                          </a:solidFill>
                          <a:latin typeface="Calibri" pitchFamily="34" charset="0"/>
                          <a:ea typeface="Calibri" pitchFamily="34" charset="-122"/>
                          <a:cs typeface="Calibri" pitchFamily="34" charset="-120"/>
                        </a:rPr>
                        <a:t>PDD</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Baseline &amp; project scenario, additionality, leakage</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PM001 / PT002</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Proses</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99A2E"/>
                    </a:solidFill>
                  </a:tcPr>
                </a:tc>
              </a:tr>
              <a:tr h="306324">
                <a:tc>
                  <a:txBody>
                    <a:bodyPr/>
                    <a:lstStyle/>
                    <a:p>
                      <a:pPr indent="0" marL="0">
                        <a:buNone/>
                      </a:pPr>
                      <a:r>
                        <a:rPr lang="en-US" sz="1000" b="1" dirty="0">
                          <a:solidFill>
                            <a:srgbClr val="C8642A"/>
                          </a:solidFill>
                          <a:latin typeface="Calibri" pitchFamily="34" charset="0"/>
                          <a:ea typeface="Calibri" pitchFamily="34" charset="-122"/>
                          <a:cs typeface="Calibri" pitchFamily="34" charset="-120"/>
                        </a:rPr>
                        <a:t>PDD</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Rencana monitoring (MRV) dan buffer risiko</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Metode &amp; modul</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Belum</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A59F"/>
                    </a:solidFill>
                  </a:tcPr>
                </a:tc>
              </a:tr>
              <a:tr h="306324">
                <a:tc>
                  <a:txBody>
                    <a:bodyPr/>
                    <a:lstStyle/>
                    <a:p>
                      <a:pPr indent="0" marL="0">
                        <a:buNone/>
                      </a:pPr>
                      <a:r>
                        <a:rPr lang="en-US" sz="1000" b="1" dirty="0">
                          <a:solidFill>
                            <a:srgbClr val="C8642A"/>
                          </a:solidFill>
                          <a:latin typeface="Calibri" pitchFamily="34" charset="0"/>
                          <a:ea typeface="Calibri" pitchFamily="34" charset="-122"/>
                          <a:cs typeface="Calibri" pitchFamily="34" charset="-120"/>
                        </a:rPr>
                        <a:t>PDD</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Benefit Sharing Mechanism &amp; Grievance Mechanism</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Tata kelola PV</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Belum</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A59F"/>
                    </a:solidFill>
                  </a:tcPr>
                </a:tc>
              </a:tr>
              <a:tr h="306324">
                <a:tc>
                  <a:txBody>
                    <a:bodyPr/>
                    <a:lstStyle/>
                    <a:p>
                      <a:pPr indent="0" marL="0">
                        <a:buNone/>
                      </a:pPr>
                      <a:r>
                        <a:rPr lang="en-US" sz="1000" b="1" dirty="0">
                          <a:solidFill>
                            <a:srgbClr val="C8642A"/>
                          </a:solidFill>
                          <a:latin typeface="Calibri" pitchFamily="34" charset="0"/>
                          <a:ea typeface="Calibri" pitchFamily="34" charset="-122"/>
                          <a:cs typeface="Calibri" pitchFamily="34" charset="-120"/>
                        </a:rPr>
                        <a:t>PDD</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1C2B25"/>
                          </a:solidFill>
                          <a:latin typeface="Calibri" pitchFamily="34" charset="0"/>
                          <a:ea typeface="Calibri" pitchFamily="34" charset="-122"/>
                          <a:cs typeface="Calibri" pitchFamily="34" charset="-120"/>
                        </a:rPr>
                        <a:t>Bukti FPIC tahap desain</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indent="0" marL="0">
                        <a:buNone/>
                      </a:pPr>
                      <a:r>
                        <a:rPr lang="en-US" sz="1000" dirty="0">
                          <a:solidFill>
                            <a:srgbClr val="6B5A49"/>
                          </a:solidFill>
                          <a:latin typeface="Calibri" pitchFamily="34" charset="0"/>
                          <a:ea typeface="Calibri" pitchFamily="34" charset="-122"/>
                          <a:cs typeface="Calibri" pitchFamily="34" charset="-120"/>
                        </a:rPr>
                        <a:t>FPIC</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3EF"/>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Belum</a:t>
                      </a:r>
                      <a:endParaRPr lang="en-US" sz="1000" dirty="0">
                        <a:latin typeface="Calibri" charset="0"/>
                        <a:ea typeface="Calibri" charset="0"/>
                        <a:cs typeface="Calibri" charset="0"/>
                      </a:endParaRPr>
                    </a:p>
                  </a:txBody>
                  <a:tcPr marL="45720" marR="45720" marT="45720" marB="4572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9AA59F"/>
                    </a:solidFill>
                  </a:tcPr>
                </a:tc>
              </a:tr>
            </a:tbl>
          </a:graphicData>
        </a:graphic>
      </p:graphicFrame>
      <p:sp>
        <p:nvSpPr>
          <p:cNvPr id="4" name="Text 1"/>
          <p:cNvSpPr txBox="1"/>
          <p:nvPr/>
        </p:nvSpPr>
        <p:spPr>
          <a:xfrm>
            <a:off x="457200" y="4224528"/>
            <a:ext cx="8229600" cy="274320"/>
          </a:xfrm>
          <a:prstGeom prst="rect">
            <a:avLst/>
          </a:prstGeom>
          <a:noFill/>
          <a:ln/>
        </p:spPr>
        <p:txBody>
          <a:bodyPr wrap="square" lIns="0" tIns="0" rIns="0" bIns="0" rtlCol="0" anchor="t"/>
          <a:lstStyle/>
          <a:p>
            <a:pPr indent="0" marL="0">
              <a:buNone/>
            </a:pPr>
            <a:r>
              <a:rPr lang="en-US" sz="1000" i="1" dirty="0">
                <a:solidFill>
                  <a:schemeClr val="accent5"/>
                </a:solidFill>
              </a:rPr>
              <a:t>Pemetaan awal; akan dicocokkan dengan template PIN dan PDD resmi Plan Vivo.</a:t>
            </a:r>
            <a:endParaRPr lang="en-US" sz="10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Series FPIC: empat persetujuan bertahap mengikuti Plan Vivo</a:t>
            </a:r>
            <a:endParaRPr lang="en-US" sz="2200" dirty="0"/>
          </a:p>
        </p:txBody>
      </p:sp>
      <p:sp>
        <p:nvSpPr>
          <p:cNvPr id="3" name="Shape 1"/>
          <p:cNvSpPr/>
          <p:nvPr/>
        </p:nvSpPr>
        <p:spPr>
          <a:xfrm>
            <a:off x="457200" y="1097280"/>
            <a:ext cx="1965960" cy="502920"/>
          </a:xfrm>
          <a:prstGeom prst="rect">
            <a:avLst/>
          </a:prstGeom>
          <a:solidFill>
            <a:schemeClr val="accent1"/>
          </a:solidFill>
          <a:ln/>
        </p:spPr>
      </p:sp>
      <p:sp>
        <p:nvSpPr>
          <p:cNvPr id="4" name="Text 2"/>
          <p:cNvSpPr txBox="1"/>
          <p:nvPr/>
        </p:nvSpPr>
        <p:spPr>
          <a:xfrm>
            <a:off x="566928" y="1097280"/>
            <a:ext cx="1783080" cy="50292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1  </a:t>
            </a:r>
            <a:pPr indent="0" marL="0">
              <a:buNone/>
            </a:pPr>
            <a:r>
              <a:rPr lang="en-US" sz="1200" b="1" dirty="0">
                <a:solidFill>
                  <a:schemeClr val="bg1"/>
                </a:solidFill>
              </a:rPr>
              <a:t>Persetujuan pendampingan</a:t>
            </a:r>
            <a:endParaRPr lang="en-US" sz="1200" dirty="0"/>
          </a:p>
        </p:txBody>
      </p:sp>
      <p:sp>
        <p:nvSpPr>
          <p:cNvPr id="5" name="Text 3"/>
          <p:cNvSpPr txBox="1"/>
          <p:nvPr/>
        </p:nvSpPr>
        <p:spPr>
          <a:xfrm>
            <a:off x="457200" y="1691640"/>
            <a:ext cx="1920240" cy="1143000"/>
          </a:xfrm>
          <a:prstGeom prst="rect">
            <a:avLst/>
          </a:prstGeom>
          <a:noFill/>
          <a:ln/>
        </p:spPr>
        <p:txBody>
          <a:bodyPr wrap="square" lIns="0" tIns="0" rIns="0" bIns="0" rtlCol="0" anchor="t"/>
          <a:lstStyle/>
          <a:p>
            <a:pPr indent="0" marL="0">
              <a:buNone/>
            </a:pPr>
            <a:r>
              <a:rPr lang="en-US" sz="1100" dirty="0">
                <a:solidFill>
                  <a:schemeClr val="tx1"/>
                </a:solidFill>
              </a:rPr>
              <a:t>LPHD memberi mandat kepada SAMPAN untuk mendampingi.</a:t>
            </a:r>
            <a:endParaRPr lang="en-US" sz="1100" dirty="0"/>
          </a:p>
        </p:txBody>
      </p:sp>
      <p:sp>
        <p:nvSpPr>
          <p:cNvPr id="6" name="Shape 4"/>
          <p:cNvSpPr/>
          <p:nvPr/>
        </p:nvSpPr>
        <p:spPr>
          <a:xfrm>
            <a:off x="457200" y="2880360"/>
            <a:ext cx="1965960" cy="1600200"/>
          </a:xfrm>
          <a:prstGeom prst="rect">
            <a:avLst/>
          </a:prstGeom>
          <a:solidFill>
            <a:schemeClr val="bg2"/>
          </a:solidFill>
          <a:ln/>
        </p:spPr>
      </p:sp>
      <p:sp>
        <p:nvSpPr>
          <p:cNvPr id="7" name="Text 5"/>
          <p:cNvSpPr txBox="1"/>
          <p:nvPr/>
        </p:nvSpPr>
        <p:spPr>
          <a:xfrm>
            <a:off x="566928" y="2953512"/>
            <a:ext cx="1783080" cy="256032"/>
          </a:xfrm>
          <a:prstGeom prst="rect">
            <a:avLst/>
          </a:prstGeom>
          <a:noFill/>
          <a:ln/>
        </p:spPr>
        <p:txBody>
          <a:bodyPr wrap="square" lIns="0" tIns="0" rIns="0" bIns="0" rtlCol="0" anchor="t"/>
          <a:lstStyle/>
          <a:p>
            <a:pPr indent="0" marL="0">
              <a:buNone/>
            </a:pPr>
            <a:r>
              <a:rPr lang="en-US" sz="1100" b="1" dirty="0">
                <a:solidFill>
                  <a:schemeClr val="accent1"/>
                </a:solidFill>
              </a:rPr>
              <a:t>Materi</a:t>
            </a:r>
            <a:endParaRPr lang="en-US" sz="1100" dirty="0"/>
          </a:p>
        </p:txBody>
      </p:sp>
      <p:sp>
        <p:nvSpPr>
          <p:cNvPr id="8" name="Text 6"/>
          <p:cNvSpPr txBox="1"/>
          <p:nvPr/>
        </p:nvSpPr>
        <p:spPr>
          <a:xfrm>
            <a:off x="566928" y="3218688"/>
            <a:ext cx="1783080" cy="11887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1"/>
                </a:solidFill>
              </a:rPr>
              <a:t>Profil dan peran SAMPAN</a:t>
            </a:r>
            <a:endParaRPr lang="en-US" sz="1100" dirty="0"/>
          </a:p>
          <a:p>
            <a:pPr marL="342900" indent="-342900">
              <a:spcAft>
                <a:spcPts val="300"/>
              </a:spcAft>
              <a:buSzPct val="100000"/>
              <a:buChar char="•"/>
            </a:pPr>
            <a:r>
              <a:rPr lang="en-US" sz="1100" dirty="0">
                <a:solidFill>
                  <a:schemeClr val="tx1"/>
                </a:solidFill>
              </a:rPr>
              <a:t>Hak dan kewajiban LPHD</a:t>
            </a:r>
            <a:endParaRPr lang="en-US" sz="1100" dirty="0"/>
          </a:p>
          <a:p>
            <a:pPr marL="342900" indent="-342900">
              <a:spcAft>
                <a:spcPts val="300"/>
              </a:spcAft>
              <a:buSzPct val="100000"/>
              <a:buChar char="•"/>
            </a:pPr>
            <a:r>
              <a:rPr lang="en-US" sz="1100" dirty="0">
                <a:solidFill>
                  <a:schemeClr val="tx1"/>
                </a:solidFill>
              </a:rPr>
              <a:t>Hak masyarakat untuk menolak</a:t>
            </a:r>
            <a:endParaRPr lang="en-US" sz="1100" dirty="0"/>
          </a:p>
        </p:txBody>
      </p:sp>
      <p:sp>
        <p:nvSpPr>
          <p:cNvPr id="9" name="Shape 7"/>
          <p:cNvSpPr/>
          <p:nvPr/>
        </p:nvSpPr>
        <p:spPr>
          <a:xfrm>
            <a:off x="2560320" y="1097280"/>
            <a:ext cx="1965960" cy="502920"/>
          </a:xfrm>
          <a:prstGeom prst="rect">
            <a:avLst/>
          </a:prstGeom>
          <a:solidFill>
            <a:schemeClr val="accent4"/>
          </a:solidFill>
          <a:ln/>
        </p:spPr>
      </p:sp>
      <p:sp>
        <p:nvSpPr>
          <p:cNvPr id="10" name="Text 8"/>
          <p:cNvSpPr txBox="1"/>
          <p:nvPr/>
        </p:nvSpPr>
        <p:spPr>
          <a:xfrm>
            <a:off x="2670048" y="1097280"/>
            <a:ext cx="1783080" cy="50292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2  </a:t>
            </a:r>
            <a:pPr indent="0" marL="0">
              <a:buNone/>
            </a:pPr>
            <a:r>
              <a:rPr lang="en-US" sz="1200" b="1" dirty="0">
                <a:solidFill>
                  <a:schemeClr val="bg1"/>
                </a:solidFill>
              </a:rPr>
              <a:t>Persetujuan tahap konsep</a:t>
            </a:r>
            <a:endParaRPr lang="en-US" sz="1200" dirty="0"/>
          </a:p>
        </p:txBody>
      </p:sp>
      <p:sp>
        <p:nvSpPr>
          <p:cNvPr id="11" name="Text 9"/>
          <p:cNvSpPr txBox="1"/>
          <p:nvPr/>
        </p:nvSpPr>
        <p:spPr>
          <a:xfrm>
            <a:off x="2560320" y="1691640"/>
            <a:ext cx="1920240" cy="1143000"/>
          </a:xfrm>
          <a:prstGeom prst="rect">
            <a:avLst/>
          </a:prstGeom>
          <a:noFill/>
          <a:ln/>
        </p:spPr>
        <p:txBody>
          <a:bodyPr wrap="square" lIns="0" tIns="0" rIns="0" bIns="0" rtlCol="0" anchor="t"/>
          <a:lstStyle/>
          <a:p>
            <a:pPr indent="0" marL="0">
              <a:buNone/>
            </a:pPr>
            <a:r>
              <a:rPr lang="en-US" sz="1100" dirty="0">
                <a:solidFill>
                  <a:schemeClr val="tx1"/>
                </a:solidFill>
              </a:rPr>
              <a:t>Diperoleh setelah tim menjelaskan maksud, tujuan, dan mekanisme pendanaan yang memungkinkan untuk dijajaki.</a:t>
            </a:r>
            <a:endParaRPr lang="en-US" sz="1100" dirty="0"/>
          </a:p>
        </p:txBody>
      </p:sp>
      <p:sp>
        <p:nvSpPr>
          <p:cNvPr id="12" name="Shape 10"/>
          <p:cNvSpPr/>
          <p:nvPr/>
        </p:nvSpPr>
        <p:spPr>
          <a:xfrm>
            <a:off x="2560320" y="2880360"/>
            <a:ext cx="1965960" cy="1600200"/>
          </a:xfrm>
          <a:prstGeom prst="rect">
            <a:avLst/>
          </a:prstGeom>
          <a:solidFill>
            <a:schemeClr val="bg2"/>
          </a:solidFill>
          <a:ln/>
        </p:spPr>
      </p:sp>
      <p:sp>
        <p:nvSpPr>
          <p:cNvPr id="13" name="Text 11"/>
          <p:cNvSpPr txBox="1"/>
          <p:nvPr/>
        </p:nvSpPr>
        <p:spPr>
          <a:xfrm>
            <a:off x="2670048" y="2953512"/>
            <a:ext cx="1783080" cy="256032"/>
          </a:xfrm>
          <a:prstGeom prst="rect">
            <a:avLst/>
          </a:prstGeom>
          <a:noFill/>
          <a:ln/>
        </p:spPr>
        <p:txBody>
          <a:bodyPr wrap="square" lIns="0" tIns="0" rIns="0" bIns="0" rtlCol="0" anchor="t"/>
          <a:lstStyle/>
          <a:p>
            <a:pPr indent="0" marL="0">
              <a:buNone/>
            </a:pPr>
            <a:r>
              <a:rPr lang="en-US" sz="1100" b="1" dirty="0">
                <a:solidFill>
                  <a:schemeClr val="accent4"/>
                </a:solidFill>
              </a:rPr>
              <a:t>Materi</a:t>
            </a:r>
            <a:endParaRPr lang="en-US" sz="1100" dirty="0"/>
          </a:p>
        </p:txBody>
      </p:sp>
      <p:sp>
        <p:nvSpPr>
          <p:cNvPr id="14" name="Text 12"/>
          <p:cNvSpPr txBox="1"/>
          <p:nvPr/>
        </p:nvSpPr>
        <p:spPr>
          <a:xfrm>
            <a:off x="2670048" y="3218688"/>
            <a:ext cx="1783080" cy="11887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1"/>
                </a:solidFill>
              </a:rPr>
              <a:t>Konsep karbon komunitas</a:t>
            </a:r>
            <a:endParaRPr lang="en-US" sz="1100" dirty="0"/>
          </a:p>
          <a:p>
            <a:pPr marL="342900" indent="-342900">
              <a:spcAft>
                <a:spcPts val="300"/>
              </a:spcAft>
              <a:buSzPct val="100000"/>
              <a:buChar char="•"/>
            </a:pPr>
            <a:r>
              <a:rPr lang="en-US" sz="1100" dirty="0">
                <a:solidFill>
                  <a:schemeClr val="tx1"/>
                </a:solidFill>
              </a:rPr>
              <a:t>Jalur Plan Vivo &amp; presale</a:t>
            </a:r>
            <a:endParaRPr lang="en-US" sz="1100" dirty="0"/>
          </a:p>
          <a:p>
            <a:pPr marL="342900" indent="-342900">
              <a:spcAft>
                <a:spcPts val="300"/>
              </a:spcAft>
              <a:buSzPct val="100000"/>
              <a:buChar char="•"/>
            </a:pPr>
            <a:r>
              <a:rPr lang="en-US" sz="1100" dirty="0">
                <a:solidFill>
                  <a:schemeClr val="tx1"/>
                </a:solidFill>
              </a:rPr>
              <a:t>Manfaat, risiko, kewajiban</a:t>
            </a:r>
            <a:endParaRPr lang="en-US" sz="1100" dirty="0"/>
          </a:p>
        </p:txBody>
      </p:sp>
      <p:sp>
        <p:nvSpPr>
          <p:cNvPr id="15" name="Shape 13"/>
          <p:cNvSpPr/>
          <p:nvPr/>
        </p:nvSpPr>
        <p:spPr>
          <a:xfrm>
            <a:off x="4663440" y="1097280"/>
            <a:ext cx="1965960" cy="502920"/>
          </a:xfrm>
          <a:prstGeom prst="rect">
            <a:avLst/>
          </a:prstGeom>
          <a:solidFill>
            <a:schemeClr val="accent6"/>
          </a:solidFill>
          <a:ln/>
        </p:spPr>
      </p:sp>
      <p:sp>
        <p:nvSpPr>
          <p:cNvPr id="16" name="Text 14"/>
          <p:cNvSpPr txBox="1"/>
          <p:nvPr/>
        </p:nvSpPr>
        <p:spPr>
          <a:xfrm>
            <a:off x="4773168" y="1097280"/>
            <a:ext cx="1783080" cy="50292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3  </a:t>
            </a:r>
            <a:pPr indent="0" marL="0">
              <a:buNone/>
            </a:pPr>
            <a:r>
              <a:rPr lang="en-US" sz="1200" b="1" dirty="0">
                <a:solidFill>
                  <a:schemeClr val="bg1"/>
                </a:solidFill>
              </a:rPr>
              <a:t>Mapping &amp; safeguards</a:t>
            </a:r>
            <a:endParaRPr lang="en-US" sz="1200" dirty="0"/>
          </a:p>
        </p:txBody>
      </p:sp>
      <p:sp>
        <p:nvSpPr>
          <p:cNvPr id="17" name="Text 15"/>
          <p:cNvSpPr txBox="1"/>
          <p:nvPr/>
        </p:nvSpPr>
        <p:spPr>
          <a:xfrm>
            <a:off x="4663440" y="1691640"/>
            <a:ext cx="1920240" cy="1143000"/>
          </a:xfrm>
          <a:prstGeom prst="rect">
            <a:avLst/>
          </a:prstGeom>
          <a:noFill/>
          <a:ln/>
        </p:spPr>
        <p:txBody>
          <a:bodyPr wrap="square" lIns="0" tIns="0" rIns="0" bIns="0" rtlCol="0" anchor="t"/>
          <a:lstStyle/>
          <a:p>
            <a:pPr indent="0" marL="0">
              <a:buNone/>
            </a:pPr>
            <a:r>
              <a:rPr lang="en-US" sz="1100" dirty="0">
                <a:solidFill>
                  <a:schemeClr val="tx1"/>
                </a:solidFill>
              </a:rPr>
              <a:t>Pemetaan partisipatif dan safeguards berdasarkan tools Plan Vivo.</a:t>
            </a:r>
            <a:endParaRPr lang="en-US" sz="1100" dirty="0"/>
          </a:p>
        </p:txBody>
      </p:sp>
      <p:sp>
        <p:nvSpPr>
          <p:cNvPr id="18" name="Shape 16"/>
          <p:cNvSpPr/>
          <p:nvPr/>
        </p:nvSpPr>
        <p:spPr>
          <a:xfrm>
            <a:off x="4663440" y="2880360"/>
            <a:ext cx="1965960" cy="1600200"/>
          </a:xfrm>
          <a:prstGeom prst="rect">
            <a:avLst/>
          </a:prstGeom>
          <a:solidFill>
            <a:schemeClr val="bg2"/>
          </a:solidFill>
          <a:ln/>
        </p:spPr>
      </p:sp>
      <p:sp>
        <p:nvSpPr>
          <p:cNvPr id="19" name="Text 17"/>
          <p:cNvSpPr txBox="1"/>
          <p:nvPr/>
        </p:nvSpPr>
        <p:spPr>
          <a:xfrm>
            <a:off x="4773168" y="2953512"/>
            <a:ext cx="1783080" cy="256032"/>
          </a:xfrm>
          <a:prstGeom prst="rect">
            <a:avLst/>
          </a:prstGeom>
          <a:noFill/>
          <a:ln/>
        </p:spPr>
        <p:txBody>
          <a:bodyPr wrap="square" lIns="0" tIns="0" rIns="0" bIns="0" rtlCol="0" anchor="t"/>
          <a:lstStyle/>
          <a:p>
            <a:pPr indent="0" marL="0">
              <a:buNone/>
            </a:pPr>
            <a:r>
              <a:rPr lang="en-US" sz="1100" b="1" dirty="0">
                <a:solidFill>
                  <a:schemeClr val="accent6"/>
                </a:solidFill>
              </a:rPr>
              <a:t>Materi</a:t>
            </a:r>
            <a:endParaRPr lang="en-US" sz="1100" dirty="0"/>
          </a:p>
        </p:txBody>
      </p:sp>
      <p:sp>
        <p:nvSpPr>
          <p:cNvPr id="20" name="Text 18"/>
          <p:cNvSpPr txBox="1"/>
          <p:nvPr/>
        </p:nvSpPr>
        <p:spPr>
          <a:xfrm>
            <a:off x="4773168" y="3218688"/>
            <a:ext cx="1783080" cy="11887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1"/>
                </a:solidFill>
              </a:rPr>
              <a:t>Penguasaan &amp; pemanfaatan lahan</a:t>
            </a:r>
            <a:endParaRPr lang="en-US" sz="1100" dirty="0"/>
          </a:p>
          <a:p>
            <a:pPr marL="342900" indent="-342900">
              <a:spcAft>
                <a:spcPts val="300"/>
              </a:spcAft>
              <a:buSzPct val="100000"/>
              <a:buChar char="•"/>
            </a:pPr>
            <a:r>
              <a:rPr lang="en-US" sz="1100" dirty="0">
                <a:solidFill>
                  <a:schemeClr val="tx1"/>
                </a:solidFill>
              </a:rPr>
              <a:t>Kelompok rentan &amp; dampak sosial</a:t>
            </a:r>
            <a:endParaRPr lang="en-US" sz="1100" dirty="0"/>
          </a:p>
          <a:p>
            <a:pPr marL="342900" indent="-342900">
              <a:spcAft>
                <a:spcPts val="300"/>
              </a:spcAft>
              <a:buSzPct val="100000"/>
              <a:buChar char="•"/>
            </a:pPr>
            <a:r>
              <a:rPr lang="en-US" sz="1100" dirty="0">
                <a:solidFill>
                  <a:schemeClr val="tx1"/>
                </a:solidFill>
              </a:rPr>
              <a:t>Draf mekanisme keluhan</a:t>
            </a:r>
            <a:endParaRPr lang="en-US" sz="1100" dirty="0"/>
          </a:p>
        </p:txBody>
      </p:sp>
      <p:sp>
        <p:nvSpPr>
          <p:cNvPr id="21" name="Shape 19"/>
          <p:cNvSpPr/>
          <p:nvPr/>
        </p:nvSpPr>
        <p:spPr>
          <a:xfrm>
            <a:off x="6766560" y="1097280"/>
            <a:ext cx="1965960" cy="502920"/>
          </a:xfrm>
          <a:prstGeom prst="rect">
            <a:avLst/>
          </a:prstGeom>
          <a:solidFill>
            <a:schemeClr val="accent2"/>
          </a:solidFill>
          <a:ln/>
        </p:spPr>
      </p:sp>
      <p:sp>
        <p:nvSpPr>
          <p:cNvPr id="22" name="Text 20"/>
          <p:cNvSpPr txBox="1"/>
          <p:nvPr/>
        </p:nvSpPr>
        <p:spPr>
          <a:xfrm>
            <a:off x="6876288" y="1097280"/>
            <a:ext cx="1783080" cy="50292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4  </a:t>
            </a:r>
            <a:pPr indent="0" marL="0">
              <a:buNone/>
            </a:pPr>
            <a:r>
              <a:rPr lang="en-US" sz="1200" b="1" dirty="0">
                <a:solidFill>
                  <a:schemeClr val="bg1"/>
                </a:solidFill>
              </a:rPr>
              <a:t>Persetujuan tahap desain</a:t>
            </a:r>
            <a:endParaRPr lang="en-US" sz="1200" dirty="0"/>
          </a:p>
        </p:txBody>
      </p:sp>
      <p:sp>
        <p:nvSpPr>
          <p:cNvPr id="23" name="Text 21"/>
          <p:cNvSpPr txBox="1"/>
          <p:nvPr/>
        </p:nvSpPr>
        <p:spPr>
          <a:xfrm>
            <a:off x="6766560" y="1691640"/>
            <a:ext cx="1920240" cy="1143000"/>
          </a:xfrm>
          <a:prstGeom prst="rect">
            <a:avLst/>
          </a:prstGeom>
          <a:noFill/>
          <a:ln/>
        </p:spPr>
        <p:txBody>
          <a:bodyPr wrap="square" lIns="0" tIns="0" rIns="0" bIns="0" rtlCol="0" anchor="t"/>
          <a:lstStyle/>
          <a:p>
            <a:pPr indent="0" marL="0">
              <a:buNone/>
            </a:pPr>
            <a:r>
              <a:rPr lang="en-US" sz="1100" dirty="0">
                <a:solidFill>
                  <a:schemeClr val="tx1"/>
                </a:solidFill>
              </a:rPr>
              <a:t>Diperoleh di akhir, setelah rincian rencana kegiatan disusun dari analisis pohon masalah, solusi, ancaman, dan hambatan.</a:t>
            </a:r>
            <a:endParaRPr lang="en-US" sz="1100" dirty="0"/>
          </a:p>
        </p:txBody>
      </p:sp>
      <p:sp>
        <p:nvSpPr>
          <p:cNvPr id="24" name="Shape 22"/>
          <p:cNvSpPr/>
          <p:nvPr/>
        </p:nvSpPr>
        <p:spPr>
          <a:xfrm>
            <a:off x="6766560" y="2880360"/>
            <a:ext cx="1965960" cy="1600200"/>
          </a:xfrm>
          <a:prstGeom prst="rect">
            <a:avLst/>
          </a:prstGeom>
          <a:solidFill>
            <a:schemeClr val="bg2"/>
          </a:solidFill>
          <a:ln/>
        </p:spPr>
      </p:sp>
      <p:sp>
        <p:nvSpPr>
          <p:cNvPr id="25" name="Text 23"/>
          <p:cNvSpPr txBox="1"/>
          <p:nvPr/>
        </p:nvSpPr>
        <p:spPr>
          <a:xfrm>
            <a:off x="6876288" y="2953512"/>
            <a:ext cx="1783080" cy="256032"/>
          </a:xfrm>
          <a:prstGeom prst="rect">
            <a:avLst/>
          </a:prstGeom>
          <a:noFill/>
          <a:ln/>
        </p:spPr>
        <p:txBody>
          <a:bodyPr wrap="square" lIns="0" tIns="0" rIns="0" bIns="0" rtlCol="0" anchor="t"/>
          <a:lstStyle/>
          <a:p>
            <a:pPr indent="0" marL="0">
              <a:buNone/>
            </a:pPr>
            <a:r>
              <a:rPr lang="en-US" sz="1100" b="1" dirty="0">
                <a:solidFill>
                  <a:schemeClr val="accent2"/>
                </a:solidFill>
              </a:rPr>
              <a:t>Materi</a:t>
            </a:r>
            <a:endParaRPr lang="en-US" sz="1100" dirty="0"/>
          </a:p>
        </p:txBody>
      </p:sp>
      <p:sp>
        <p:nvSpPr>
          <p:cNvPr id="26" name="Text 24"/>
          <p:cNvSpPr txBox="1"/>
          <p:nvPr/>
        </p:nvSpPr>
        <p:spPr>
          <a:xfrm>
            <a:off x="6876288" y="3218688"/>
            <a:ext cx="1783080" cy="118872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1"/>
                </a:solidFill>
              </a:rPr>
              <a:t>Rencana kegiatan rinci</a:t>
            </a:r>
            <a:endParaRPr lang="en-US" sz="1100" dirty="0"/>
          </a:p>
          <a:p>
            <a:pPr marL="342900" indent="-342900">
              <a:spcAft>
                <a:spcPts val="300"/>
              </a:spcAft>
              <a:buSzPct val="100000"/>
              <a:buChar char="•"/>
            </a:pPr>
            <a:r>
              <a:rPr lang="en-US" sz="1100" dirty="0">
                <a:solidFill>
                  <a:schemeClr val="tx1"/>
                </a:solidFill>
              </a:rPr>
              <a:t>Draf BSM</a:t>
            </a:r>
            <a:endParaRPr lang="en-US" sz="1100" dirty="0"/>
          </a:p>
          <a:p>
            <a:pPr marL="342900" indent="-342900">
              <a:spcAft>
                <a:spcPts val="300"/>
              </a:spcAft>
              <a:buSzPct val="100000"/>
              <a:buChar char="•"/>
            </a:pPr>
            <a:r>
              <a:rPr lang="en-US" sz="1100" dirty="0">
                <a:solidFill>
                  <a:schemeClr val="tx1"/>
                </a:solidFill>
              </a:rPr>
              <a:t>Rencana monitoring</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tx2"/>
                </a:solidFill>
                <a:latin typeface="Cambria" pitchFamily="34" charset="0"/>
                <a:ea typeface="Cambria" pitchFamily="34" charset="-122"/>
                <a:cs typeface="Cambria" pitchFamily="34" charset="-120"/>
              </a:rPr>
              <a:t>BSM disepakati warga bersama desain proyek, sebelum PDD</a:t>
            </a:r>
            <a:endParaRPr lang="en-US" sz="2200" dirty="0"/>
          </a:p>
        </p:txBody>
      </p:sp>
      <p:sp>
        <p:nvSpPr>
          <p:cNvPr id="3" name="Text 1"/>
          <p:cNvSpPr txBox="1"/>
          <p:nvPr/>
        </p:nvSpPr>
        <p:spPr>
          <a:xfrm>
            <a:off x="457200" y="1143000"/>
            <a:ext cx="4023360" cy="320040"/>
          </a:xfrm>
          <a:prstGeom prst="rect">
            <a:avLst/>
          </a:prstGeom>
          <a:noFill/>
          <a:ln/>
        </p:spPr>
        <p:txBody>
          <a:bodyPr wrap="square" lIns="0" tIns="0" rIns="0" bIns="0" rtlCol="0" anchor="t"/>
          <a:lstStyle/>
          <a:p>
            <a:pPr indent="0" marL="0">
              <a:buNone/>
            </a:pPr>
            <a:r>
              <a:rPr lang="en-US" sz="1500" b="1" dirty="0">
                <a:solidFill>
                  <a:schemeClr val="tx2"/>
                </a:solidFill>
              </a:rPr>
              <a:t>Prinsip Benefit Sharing Mechanism</a:t>
            </a:r>
            <a:endParaRPr lang="en-US" sz="1500" dirty="0"/>
          </a:p>
        </p:txBody>
      </p:sp>
      <p:sp>
        <p:nvSpPr>
          <p:cNvPr id="4" name="Prinsip BSM 1 lingkaran"/>
          <p:cNvSpPr/>
          <p:nvPr/>
        </p:nvSpPr>
        <p:spPr>
          <a:xfrm>
            <a:off x="457200" y="1554480"/>
            <a:ext cx="457200" cy="457200"/>
          </a:xfrm>
          <a:prstGeom prst="ellipse">
            <a:avLst/>
          </a:prstGeom>
          <a:solidFill>
            <a:schemeClr val="accent1"/>
          </a:solidFill>
          <a:ln/>
        </p:spPr>
      </p:sp>
      <p:pic>
        <p:nvPicPr>
          <p:cNvPr id="5" name="Prinsip BSM 1 ikon" descr="preencoded.png">    </p:cNvPr>
          <p:cNvPicPr>
            <a:picLocks noChangeAspect="1"/>
          </p:cNvPicPr>
          <p:nvPr/>
        </p:nvPicPr>
        <p:blipFill>
          <a:blip r:embed="rId1"/>
          <a:stretch>
            <a:fillRect/>
          </a:stretch>
        </p:blipFill>
        <p:spPr>
          <a:xfrm>
            <a:off x="576072" y="1673352"/>
            <a:ext cx="219456" cy="219456"/>
          </a:xfrm>
          <a:prstGeom prst="rect">
            <a:avLst/>
          </a:prstGeom>
        </p:spPr>
      </p:pic>
      <p:sp>
        <p:nvSpPr>
          <p:cNvPr id="6" name="Text 3"/>
          <p:cNvSpPr txBox="1"/>
          <p:nvPr/>
        </p:nvSpPr>
        <p:spPr>
          <a:xfrm>
            <a:off x="1051560" y="1517904"/>
            <a:ext cx="3474720" cy="685800"/>
          </a:xfrm>
          <a:prstGeom prst="rect">
            <a:avLst/>
          </a:prstGeom>
          <a:noFill/>
          <a:ln/>
        </p:spPr>
        <p:txBody>
          <a:bodyPr wrap="square" lIns="0" tIns="0" rIns="0" bIns="0" rtlCol="0" anchor="t"/>
          <a:lstStyle/>
          <a:p>
            <a:pPr indent="0" marL="0">
              <a:buNone/>
            </a:pPr>
            <a:r>
              <a:rPr lang="en-US" sz="1400" b="1" dirty="0">
                <a:solidFill>
                  <a:schemeClr val="tx1"/>
                </a:solidFill>
              </a:rPr>
              <a:t>Adil dan transparan</a:t>
            </a:r>
            <a:endParaRPr lang="en-US" sz="1400" dirty="0"/>
          </a:p>
          <a:p>
            <a:pPr indent="0" marL="0">
              <a:buNone/>
            </a:pPr>
            <a:r>
              <a:rPr lang="en-US" sz="1200" dirty="0">
                <a:solidFill>
                  <a:schemeClr val="tx1"/>
                </a:solidFill>
              </a:rPr>
              <a:t>Aturan, besaran, dan penerima manfaat diketahui semua warga</a:t>
            </a:r>
            <a:endParaRPr lang="en-US" sz="1400" dirty="0"/>
          </a:p>
        </p:txBody>
      </p:sp>
      <p:sp>
        <p:nvSpPr>
          <p:cNvPr id="7" name="Prinsip BSM 2 lingkaran"/>
          <p:cNvSpPr/>
          <p:nvPr/>
        </p:nvSpPr>
        <p:spPr>
          <a:xfrm>
            <a:off x="457200" y="2286000"/>
            <a:ext cx="457200" cy="457200"/>
          </a:xfrm>
          <a:prstGeom prst="ellipse">
            <a:avLst/>
          </a:prstGeom>
          <a:solidFill>
            <a:schemeClr val="accent1"/>
          </a:solidFill>
          <a:ln/>
        </p:spPr>
      </p:sp>
      <p:pic>
        <p:nvPicPr>
          <p:cNvPr id="8" name="Prinsip BSM 2 ikon" descr="preencoded.png">    </p:cNvPr>
          <p:cNvPicPr>
            <a:picLocks noChangeAspect="1"/>
          </p:cNvPicPr>
          <p:nvPr/>
        </p:nvPicPr>
        <p:blipFill>
          <a:blip r:embed="rId2"/>
          <a:stretch>
            <a:fillRect/>
          </a:stretch>
        </p:blipFill>
        <p:spPr>
          <a:xfrm>
            <a:off x="576072" y="2404872"/>
            <a:ext cx="219456" cy="219456"/>
          </a:xfrm>
          <a:prstGeom prst="rect">
            <a:avLst/>
          </a:prstGeom>
        </p:spPr>
      </p:pic>
      <p:sp>
        <p:nvSpPr>
          <p:cNvPr id="9" name="Text 5"/>
          <p:cNvSpPr txBox="1"/>
          <p:nvPr/>
        </p:nvSpPr>
        <p:spPr>
          <a:xfrm>
            <a:off x="1051560" y="2249424"/>
            <a:ext cx="3474720" cy="685800"/>
          </a:xfrm>
          <a:prstGeom prst="rect">
            <a:avLst/>
          </a:prstGeom>
          <a:noFill/>
          <a:ln/>
        </p:spPr>
        <p:txBody>
          <a:bodyPr wrap="square" lIns="0" tIns="0" rIns="0" bIns="0" rtlCol="0" anchor="t"/>
          <a:lstStyle/>
          <a:p>
            <a:pPr indent="0" marL="0">
              <a:buNone/>
            </a:pPr>
            <a:r>
              <a:rPr lang="en-US" sz="1400" b="1" dirty="0">
                <a:solidFill>
                  <a:schemeClr val="tx1"/>
                </a:solidFill>
              </a:rPr>
              <a:t>Inklusif</a:t>
            </a:r>
            <a:endParaRPr lang="en-US" sz="1400" dirty="0"/>
          </a:p>
          <a:p>
            <a:pPr indent="0" marL="0">
              <a:buNone/>
            </a:pPr>
            <a:r>
              <a:rPr lang="en-US" sz="1200" dirty="0">
                <a:solidFill>
                  <a:schemeClr val="tx1"/>
                </a:solidFill>
              </a:rPr>
              <a:t>Perempuan dan kelompok rentan ikut menyusun dan memutuskan</a:t>
            </a:r>
            <a:endParaRPr lang="en-US" sz="1400" dirty="0"/>
          </a:p>
        </p:txBody>
      </p:sp>
      <p:sp>
        <p:nvSpPr>
          <p:cNvPr id="10" name="Prinsip BSM 3 lingkaran"/>
          <p:cNvSpPr/>
          <p:nvPr/>
        </p:nvSpPr>
        <p:spPr>
          <a:xfrm>
            <a:off x="457200" y="3017520"/>
            <a:ext cx="457200" cy="457200"/>
          </a:xfrm>
          <a:prstGeom prst="ellipse">
            <a:avLst/>
          </a:prstGeom>
          <a:solidFill>
            <a:schemeClr val="accent1"/>
          </a:solidFill>
          <a:ln/>
        </p:spPr>
      </p:sp>
      <p:pic>
        <p:nvPicPr>
          <p:cNvPr id="11" name="Prinsip BSM 3 ikon" descr="preencoded.png">    </p:cNvPr>
          <p:cNvPicPr>
            <a:picLocks noChangeAspect="1"/>
          </p:cNvPicPr>
          <p:nvPr/>
        </p:nvPicPr>
        <p:blipFill>
          <a:blip r:embed="rId3"/>
          <a:stretch>
            <a:fillRect/>
          </a:stretch>
        </p:blipFill>
        <p:spPr>
          <a:xfrm>
            <a:off x="576072" y="3136392"/>
            <a:ext cx="219456" cy="219456"/>
          </a:xfrm>
          <a:prstGeom prst="rect">
            <a:avLst/>
          </a:prstGeom>
        </p:spPr>
      </p:pic>
      <p:sp>
        <p:nvSpPr>
          <p:cNvPr id="12" name="Text 7"/>
          <p:cNvSpPr txBox="1"/>
          <p:nvPr/>
        </p:nvSpPr>
        <p:spPr>
          <a:xfrm>
            <a:off x="1051560" y="2980944"/>
            <a:ext cx="3474720" cy="685800"/>
          </a:xfrm>
          <a:prstGeom prst="rect">
            <a:avLst/>
          </a:prstGeom>
          <a:noFill/>
          <a:ln/>
        </p:spPr>
        <p:txBody>
          <a:bodyPr wrap="square" lIns="0" tIns="0" rIns="0" bIns="0" rtlCol="0" anchor="t"/>
          <a:lstStyle/>
          <a:p>
            <a:pPr indent="0" marL="0">
              <a:buNone/>
            </a:pPr>
            <a:r>
              <a:rPr lang="en-US" sz="1400" b="1" dirty="0">
                <a:solidFill>
                  <a:schemeClr val="tx1"/>
                </a:solidFill>
              </a:rPr>
              <a:t>Untuk keberlanjutan mitigasi</a:t>
            </a:r>
            <a:endParaRPr lang="en-US" sz="1400" dirty="0"/>
          </a:p>
          <a:p>
            <a:pPr indent="0" marL="0">
              <a:buNone/>
            </a:pPr>
            <a:r>
              <a:rPr lang="en-US" sz="1200" dirty="0">
                <a:solidFill>
                  <a:schemeClr val="tx1"/>
                </a:solidFill>
              </a:rPr>
              <a:t>Sebagian besar dana kembali ke pengelolaan hutan</a:t>
            </a:r>
            <a:endParaRPr lang="en-US" sz="1400" dirty="0"/>
          </a:p>
        </p:txBody>
      </p:sp>
      <p:sp>
        <p:nvSpPr>
          <p:cNvPr id="13" name="Prinsip BSM 4 lingkaran"/>
          <p:cNvSpPr/>
          <p:nvPr/>
        </p:nvSpPr>
        <p:spPr>
          <a:xfrm>
            <a:off x="457200" y="3749040"/>
            <a:ext cx="457200" cy="457200"/>
          </a:xfrm>
          <a:prstGeom prst="ellipse">
            <a:avLst/>
          </a:prstGeom>
          <a:solidFill>
            <a:schemeClr val="accent1"/>
          </a:solidFill>
          <a:ln/>
        </p:spPr>
      </p:sp>
      <p:pic>
        <p:nvPicPr>
          <p:cNvPr id="14" name="Prinsip BSM 4 ikon" descr="preencoded.png">    </p:cNvPr>
          <p:cNvPicPr>
            <a:picLocks noChangeAspect="1"/>
          </p:cNvPicPr>
          <p:nvPr/>
        </p:nvPicPr>
        <p:blipFill>
          <a:blip r:embed="rId4"/>
          <a:stretch>
            <a:fillRect/>
          </a:stretch>
        </p:blipFill>
        <p:spPr>
          <a:xfrm>
            <a:off x="576072" y="3867912"/>
            <a:ext cx="219456" cy="219456"/>
          </a:xfrm>
          <a:prstGeom prst="rect">
            <a:avLst/>
          </a:prstGeom>
        </p:spPr>
      </p:pic>
      <p:sp>
        <p:nvSpPr>
          <p:cNvPr id="15" name="Text 9"/>
          <p:cNvSpPr txBox="1"/>
          <p:nvPr/>
        </p:nvSpPr>
        <p:spPr>
          <a:xfrm>
            <a:off x="1051560" y="3712464"/>
            <a:ext cx="3474720" cy="685800"/>
          </a:xfrm>
          <a:prstGeom prst="rect">
            <a:avLst/>
          </a:prstGeom>
          <a:noFill/>
          <a:ln/>
        </p:spPr>
        <p:txBody>
          <a:bodyPr wrap="square" lIns="0" tIns="0" rIns="0" bIns="0" rtlCol="0" anchor="t"/>
          <a:lstStyle/>
          <a:p>
            <a:pPr indent="0" marL="0">
              <a:buNone/>
            </a:pPr>
            <a:r>
              <a:rPr lang="en-US" sz="1400" b="1" dirty="0">
                <a:solidFill>
                  <a:schemeClr val="tx1"/>
                </a:solidFill>
              </a:rPr>
              <a:t>Akuntabel</a:t>
            </a:r>
            <a:endParaRPr lang="en-US" sz="1400" dirty="0"/>
          </a:p>
          <a:p>
            <a:pPr indent="0" marL="0">
              <a:buNone/>
            </a:pPr>
            <a:r>
              <a:rPr lang="en-US" sz="1200" dirty="0">
                <a:solidFill>
                  <a:schemeClr val="tx1"/>
                </a:solidFill>
              </a:rPr>
              <a:t>Dilaporkan berkala kepada masyarakat dan para pihak</a:t>
            </a:r>
            <a:endParaRPr lang="en-US" sz="1400" dirty="0"/>
          </a:p>
        </p:txBody>
      </p:sp>
      <p:sp>
        <p:nvSpPr>
          <p:cNvPr id="16" name="Shape 10"/>
          <p:cNvSpPr/>
          <p:nvPr/>
        </p:nvSpPr>
        <p:spPr>
          <a:xfrm>
            <a:off x="4846320" y="1143000"/>
            <a:ext cx="3840480" cy="3337560"/>
          </a:xfrm>
          <a:prstGeom prst="rect">
            <a:avLst/>
          </a:prstGeom>
          <a:solidFill>
            <a:schemeClr val="tx2"/>
          </a:solidFill>
          <a:ln/>
        </p:spPr>
      </p:sp>
      <p:sp>
        <p:nvSpPr>
          <p:cNvPr id="17" name="Text 11"/>
          <p:cNvSpPr txBox="1"/>
          <p:nvPr/>
        </p:nvSpPr>
        <p:spPr>
          <a:xfrm>
            <a:off x="5029200" y="1280160"/>
            <a:ext cx="3474720" cy="320040"/>
          </a:xfrm>
          <a:prstGeom prst="rect">
            <a:avLst/>
          </a:prstGeom>
          <a:noFill/>
          <a:ln/>
        </p:spPr>
        <p:txBody>
          <a:bodyPr wrap="square" lIns="0" tIns="0" rIns="0" bIns="0" rtlCol="0" anchor="t"/>
          <a:lstStyle/>
          <a:p>
            <a:pPr indent="0" marL="0">
              <a:buNone/>
            </a:pPr>
            <a:r>
              <a:rPr lang="en-US" sz="1500" b="1" dirty="0">
                <a:solidFill>
                  <a:schemeClr val="accent6"/>
                </a:solidFill>
                <a:latin typeface="Cambria" pitchFamily="34" charset="0"/>
                <a:ea typeface="Cambria" pitchFamily="34" charset="-122"/>
                <a:cs typeface="Cambria" pitchFamily="34" charset="-120"/>
              </a:rPr>
              <a:t>Kerangka alokasi</a:t>
            </a:r>
            <a:endParaRPr lang="en-US" sz="1500" dirty="0"/>
          </a:p>
        </p:txBody>
      </p:sp>
      <p:sp>
        <p:nvSpPr>
          <p:cNvPr id="18" name="Shape 12"/>
          <p:cNvSpPr/>
          <p:nvPr/>
        </p:nvSpPr>
        <p:spPr>
          <a:xfrm>
            <a:off x="5029200" y="1810512"/>
            <a:ext cx="274320" cy="274320"/>
          </a:xfrm>
          <a:prstGeom prst="ellipse">
            <a:avLst/>
          </a:prstGeom>
          <a:solidFill>
            <a:schemeClr val="accent3"/>
          </a:solidFill>
          <a:ln/>
        </p:spPr>
      </p:sp>
      <p:sp>
        <p:nvSpPr>
          <p:cNvPr id="19" name="Text 13"/>
          <p:cNvSpPr txBox="1"/>
          <p:nvPr/>
        </p:nvSpPr>
        <p:spPr>
          <a:xfrm>
            <a:off x="5440680" y="1737360"/>
            <a:ext cx="3108960" cy="548640"/>
          </a:xfrm>
          <a:prstGeom prst="rect">
            <a:avLst/>
          </a:prstGeom>
          <a:noFill/>
          <a:ln/>
        </p:spPr>
        <p:txBody>
          <a:bodyPr wrap="square" lIns="0" tIns="0" rIns="0" bIns="0" rtlCol="0" anchor="t"/>
          <a:lstStyle/>
          <a:p>
            <a:pPr indent="0" marL="0">
              <a:buNone/>
            </a:pPr>
            <a:r>
              <a:rPr lang="en-US" sz="1300" b="1" dirty="0">
                <a:solidFill>
                  <a:schemeClr val="bg1"/>
                </a:solidFill>
              </a:rPr>
              <a:t>Kelola kelembagaan</a:t>
            </a:r>
            <a:endParaRPr lang="en-US" sz="1300" dirty="0"/>
          </a:p>
          <a:p>
            <a:pPr indent="0" marL="0">
              <a:buNone/>
            </a:pPr>
            <a:r>
              <a:rPr lang="en-US" sz="1100" dirty="0">
                <a:solidFill>
                  <a:schemeClr val="accent3"/>
                </a:solidFill>
              </a:rPr>
              <a:t>LPHD, KUPS, tata kelola</a:t>
            </a:r>
            <a:endParaRPr lang="en-US" sz="1300" dirty="0"/>
          </a:p>
        </p:txBody>
      </p:sp>
      <p:sp>
        <p:nvSpPr>
          <p:cNvPr id="20" name="Shape 14"/>
          <p:cNvSpPr/>
          <p:nvPr/>
        </p:nvSpPr>
        <p:spPr>
          <a:xfrm>
            <a:off x="5029200" y="2432304"/>
            <a:ext cx="274320" cy="274320"/>
          </a:xfrm>
          <a:prstGeom prst="ellipse">
            <a:avLst/>
          </a:prstGeom>
          <a:solidFill>
            <a:schemeClr val="accent3"/>
          </a:solidFill>
          <a:ln/>
        </p:spPr>
      </p:sp>
      <p:sp>
        <p:nvSpPr>
          <p:cNvPr id="21" name="Text 15"/>
          <p:cNvSpPr txBox="1"/>
          <p:nvPr/>
        </p:nvSpPr>
        <p:spPr>
          <a:xfrm>
            <a:off x="5440680" y="2359152"/>
            <a:ext cx="3108960" cy="548640"/>
          </a:xfrm>
          <a:prstGeom prst="rect">
            <a:avLst/>
          </a:prstGeom>
          <a:noFill/>
          <a:ln/>
        </p:spPr>
        <p:txBody>
          <a:bodyPr wrap="square" lIns="0" tIns="0" rIns="0" bIns="0" rtlCol="0" anchor="t"/>
          <a:lstStyle/>
          <a:p>
            <a:pPr indent="0" marL="0">
              <a:buNone/>
            </a:pPr>
            <a:r>
              <a:rPr lang="en-US" sz="1300" b="1" dirty="0">
                <a:solidFill>
                  <a:schemeClr val="bg1"/>
                </a:solidFill>
              </a:rPr>
              <a:t>Kelola kawasan</a:t>
            </a:r>
            <a:endParaRPr lang="en-US" sz="1300" dirty="0"/>
          </a:p>
          <a:p>
            <a:pPr indent="0" marL="0">
              <a:buNone/>
            </a:pPr>
            <a:r>
              <a:rPr lang="en-US" sz="1100" dirty="0">
                <a:solidFill>
                  <a:schemeClr val="accent3"/>
                </a:solidFill>
              </a:rPr>
              <a:t>Patroli, karhutla, rehabilitasi</a:t>
            </a:r>
            <a:endParaRPr lang="en-US" sz="1300" dirty="0"/>
          </a:p>
        </p:txBody>
      </p:sp>
      <p:sp>
        <p:nvSpPr>
          <p:cNvPr id="22" name="Shape 16"/>
          <p:cNvSpPr/>
          <p:nvPr/>
        </p:nvSpPr>
        <p:spPr>
          <a:xfrm>
            <a:off x="5029200" y="3054096"/>
            <a:ext cx="274320" cy="274320"/>
          </a:xfrm>
          <a:prstGeom prst="ellipse">
            <a:avLst/>
          </a:prstGeom>
          <a:solidFill>
            <a:schemeClr val="accent3"/>
          </a:solidFill>
          <a:ln/>
        </p:spPr>
      </p:sp>
      <p:sp>
        <p:nvSpPr>
          <p:cNvPr id="23" name="Text 17"/>
          <p:cNvSpPr txBox="1"/>
          <p:nvPr/>
        </p:nvSpPr>
        <p:spPr>
          <a:xfrm>
            <a:off x="5440680" y="2980944"/>
            <a:ext cx="3108960" cy="548640"/>
          </a:xfrm>
          <a:prstGeom prst="rect">
            <a:avLst/>
          </a:prstGeom>
          <a:noFill/>
          <a:ln/>
        </p:spPr>
        <p:txBody>
          <a:bodyPr wrap="square" lIns="0" tIns="0" rIns="0" bIns="0" rtlCol="0" anchor="t"/>
          <a:lstStyle/>
          <a:p>
            <a:pPr indent="0" marL="0">
              <a:buNone/>
            </a:pPr>
            <a:r>
              <a:rPr lang="en-US" sz="1300" b="1" dirty="0">
                <a:solidFill>
                  <a:schemeClr val="bg1"/>
                </a:solidFill>
              </a:rPr>
              <a:t>Kelola usaha</a:t>
            </a:r>
            <a:endParaRPr lang="en-US" sz="1300" dirty="0"/>
          </a:p>
          <a:p>
            <a:pPr indent="0" marL="0">
              <a:buNone/>
            </a:pPr>
            <a:r>
              <a:rPr lang="en-US" sz="1100" dirty="0">
                <a:solidFill>
                  <a:schemeClr val="accent3"/>
                </a:solidFill>
              </a:rPr>
              <a:t>KUPS dan usaha perempuan</a:t>
            </a:r>
            <a:endParaRPr lang="en-US" sz="1300" dirty="0"/>
          </a:p>
        </p:txBody>
      </p:sp>
      <p:sp>
        <p:nvSpPr>
          <p:cNvPr id="24" name="Shape 18"/>
          <p:cNvSpPr/>
          <p:nvPr/>
        </p:nvSpPr>
        <p:spPr>
          <a:xfrm>
            <a:off x="5029200" y="3675888"/>
            <a:ext cx="274320" cy="274320"/>
          </a:xfrm>
          <a:prstGeom prst="ellipse">
            <a:avLst/>
          </a:prstGeom>
          <a:solidFill>
            <a:schemeClr val="accent2"/>
          </a:solidFill>
          <a:ln/>
        </p:spPr>
      </p:sp>
      <p:sp>
        <p:nvSpPr>
          <p:cNvPr id="25" name="Text 19"/>
          <p:cNvSpPr txBox="1"/>
          <p:nvPr/>
        </p:nvSpPr>
        <p:spPr>
          <a:xfrm>
            <a:off x="5440680" y="3602736"/>
            <a:ext cx="3108960" cy="548640"/>
          </a:xfrm>
          <a:prstGeom prst="rect">
            <a:avLst/>
          </a:prstGeom>
          <a:noFill/>
          <a:ln/>
        </p:spPr>
        <p:txBody>
          <a:bodyPr wrap="square" lIns="0" tIns="0" rIns="0" bIns="0" rtlCol="0" anchor="t"/>
          <a:lstStyle/>
          <a:p>
            <a:pPr indent="0" marL="0">
              <a:buNone/>
            </a:pPr>
            <a:r>
              <a:rPr lang="en-US" sz="1300" b="1" dirty="0">
                <a:solidFill>
                  <a:schemeClr val="bg1"/>
                </a:solidFill>
              </a:rPr>
              <a:t>Pembangunan desa</a:t>
            </a:r>
            <a:endParaRPr lang="en-US" sz="1300" dirty="0"/>
          </a:p>
          <a:p>
            <a:pPr indent="0" marL="0">
              <a:buNone/>
            </a:pPr>
            <a:r>
              <a:rPr lang="en-US" sz="1100" dirty="0">
                <a:solidFill>
                  <a:schemeClr val="accent3"/>
                </a:solidFill>
              </a:rPr>
              <a:t>Infrastruktur, pendidikan, kesehatan</a:t>
            </a:r>
            <a:endParaRPr lang="en-US" sz="1300" dirty="0"/>
          </a:p>
        </p:txBody>
      </p:sp>
      <p:sp>
        <p:nvSpPr>
          <p:cNvPr id="26" name="Text 20"/>
          <p:cNvSpPr txBox="1"/>
          <p:nvPr/>
        </p:nvSpPr>
        <p:spPr>
          <a:xfrm>
            <a:off x="5029200" y="4160520"/>
            <a:ext cx="3474720" cy="256032"/>
          </a:xfrm>
          <a:prstGeom prst="rect">
            <a:avLst/>
          </a:prstGeom>
          <a:noFill/>
          <a:ln/>
        </p:spPr>
        <p:txBody>
          <a:bodyPr wrap="square" lIns="0" tIns="0" rIns="0" bIns="0" rtlCol="0" anchor="t"/>
          <a:lstStyle/>
          <a:p>
            <a:pPr indent="0" marL="0">
              <a:buNone/>
            </a:pPr>
            <a:r>
              <a:rPr lang="en-US" sz="1100" i="1" dirty="0">
                <a:solidFill>
                  <a:schemeClr val="accent3"/>
                </a:solidFill>
              </a:rPr>
              <a:t>Persentase disepakati dalam FPIC tahap desain.</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85800"/>
          </a:xfrm>
          <a:prstGeom prst="rect">
            <a:avLst/>
          </a:prstGeom>
          <a:noFill/>
          <a:ln/>
        </p:spPr>
        <p:txBody>
          <a:bodyPr wrap="square" lIns="0" tIns="0" rIns="0" bIns="0" rtlCol="0" anchor="ctr"/>
          <a:lstStyle/>
          <a:p>
            <a:pPr algn="l" indent="0" marL="0">
              <a:buNone/>
            </a:pPr>
            <a:r>
              <a:rPr lang="en-US" sz="2200" b="1" dirty="0">
                <a:solidFill>
                  <a:schemeClr val="bg1"/>
                </a:solidFill>
                <a:latin typeface="Cambria" pitchFamily="34" charset="0"/>
                <a:ea typeface="Cambria" pitchFamily="34" charset="-122"/>
                <a:cs typeface="Cambria" pitchFamily="34" charset="-120"/>
              </a:rPr>
              <a:t>Langkah berikutnya dan dukungan yang kami harapkan dari TAF</a:t>
            </a:r>
            <a:endParaRPr lang="en-US" sz="2200" dirty="0"/>
          </a:p>
        </p:txBody>
      </p:sp>
      <p:sp>
        <p:nvSpPr>
          <p:cNvPr id="3" name="Text 1"/>
          <p:cNvSpPr txBox="1"/>
          <p:nvPr/>
        </p:nvSpPr>
        <p:spPr>
          <a:xfrm>
            <a:off x="457200" y="1143000"/>
            <a:ext cx="365760" cy="54864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1</a:t>
            </a:r>
            <a:endParaRPr lang="en-US" sz="2200" dirty="0"/>
          </a:p>
        </p:txBody>
      </p:sp>
      <p:sp>
        <p:nvSpPr>
          <p:cNvPr id="4" name="Text 2"/>
          <p:cNvSpPr txBox="1"/>
          <p:nvPr/>
        </p:nvSpPr>
        <p:spPr>
          <a:xfrm>
            <a:off x="868680" y="1143000"/>
            <a:ext cx="3840480" cy="621792"/>
          </a:xfrm>
          <a:prstGeom prst="rect">
            <a:avLst/>
          </a:prstGeom>
          <a:noFill/>
          <a:ln/>
        </p:spPr>
        <p:txBody>
          <a:bodyPr wrap="square" lIns="0" tIns="0" rIns="0" bIns="0" rtlCol="0" anchor="t"/>
          <a:lstStyle/>
          <a:p>
            <a:pPr indent="0" marL="0">
              <a:buNone/>
            </a:pPr>
            <a:r>
              <a:rPr lang="en-US" sz="1400" b="1" dirty="0">
                <a:solidFill>
                  <a:schemeClr val="bg1"/>
                </a:solidFill>
              </a:rPr>
              <a:t>Selesaikan PIN Plan Vivo</a:t>
            </a:r>
            <a:endParaRPr lang="en-US" sz="1400" dirty="0"/>
          </a:p>
          <a:p>
            <a:pPr indent="0" marL="0">
              <a:buNone/>
            </a:pPr>
            <a:r>
              <a:rPr lang="en-US" sz="1200" dirty="0">
                <a:solidFill>
                  <a:schemeClr val="accent3"/>
                </a:solidFill>
              </a:rPr>
              <a:t>Wilayah, peserta, hak karbon, kegiatan, dan manfaat warga</a:t>
            </a:r>
            <a:endParaRPr lang="en-US" sz="1400" dirty="0"/>
          </a:p>
        </p:txBody>
      </p:sp>
      <p:sp>
        <p:nvSpPr>
          <p:cNvPr id="5" name="Text 3"/>
          <p:cNvSpPr txBox="1"/>
          <p:nvPr/>
        </p:nvSpPr>
        <p:spPr>
          <a:xfrm>
            <a:off x="457200" y="1810512"/>
            <a:ext cx="365760" cy="54864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2</a:t>
            </a:r>
            <a:endParaRPr lang="en-US" sz="2200" dirty="0"/>
          </a:p>
        </p:txBody>
      </p:sp>
      <p:sp>
        <p:nvSpPr>
          <p:cNvPr id="6" name="Text 4"/>
          <p:cNvSpPr txBox="1"/>
          <p:nvPr/>
        </p:nvSpPr>
        <p:spPr>
          <a:xfrm>
            <a:off x="868680" y="1810512"/>
            <a:ext cx="3840480" cy="621792"/>
          </a:xfrm>
          <a:prstGeom prst="rect">
            <a:avLst/>
          </a:prstGeom>
          <a:noFill/>
          <a:ln/>
        </p:spPr>
        <p:txBody>
          <a:bodyPr wrap="square" lIns="0" tIns="0" rIns="0" bIns="0" rtlCol="0" anchor="t"/>
          <a:lstStyle/>
          <a:p>
            <a:pPr indent="0" marL="0">
              <a:buNone/>
            </a:pPr>
            <a:r>
              <a:rPr lang="en-US" sz="1400" b="1" dirty="0">
                <a:solidFill>
                  <a:schemeClr val="bg1"/>
                </a:solidFill>
              </a:rPr>
              <a:t>Review tertulis Plan Vivo</a:t>
            </a:r>
            <a:endParaRPr lang="en-US" sz="1400" dirty="0"/>
          </a:p>
          <a:p>
            <a:pPr indent="0" marL="0">
              <a:buNone/>
            </a:pPr>
            <a:r>
              <a:rPr lang="en-US" sz="1200" dirty="0">
                <a:solidFill>
                  <a:schemeClr val="accent3"/>
                </a:solidFill>
              </a:rPr>
              <a:t>Kelayakan PT002 dan perlakuan kegiatan tata air di PM001</a:t>
            </a:r>
            <a:endParaRPr lang="en-US" sz="1400" dirty="0"/>
          </a:p>
        </p:txBody>
      </p:sp>
      <p:sp>
        <p:nvSpPr>
          <p:cNvPr id="7" name="Text 5"/>
          <p:cNvSpPr txBox="1"/>
          <p:nvPr/>
        </p:nvSpPr>
        <p:spPr>
          <a:xfrm>
            <a:off x="457200" y="2478024"/>
            <a:ext cx="365760" cy="54864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3</a:t>
            </a:r>
            <a:endParaRPr lang="en-US" sz="2200" dirty="0"/>
          </a:p>
        </p:txBody>
      </p:sp>
      <p:sp>
        <p:nvSpPr>
          <p:cNvPr id="8" name="Text 6"/>
          <p:cNvSpPr txBox="1"/>
          <p:nvPr/>
        </p:nvSpPr>
        <p:spPr>
          <a:xfrm>
            <a:off x="868680" y="2478024"/>
            <a:ext cx="3840480" cy="621792"/>
          </a:xfrm>
          <a:prstGeom prst="rect">
            <a:avLst/>
          </a:prstGeom>
          <a:noFill/>
          <a:ln/>
        </p:spPr>
        <p:txBody>
          <a:bodyPr wrap="square" lIns="0" tIns="0" rIns="0" bIns="0" rtlCol="0" anchor="t"/>
          <a:lstStyle/>
          <a:p>
            <a:pPr indent="0" marL="0">
              <a:buNone/>
            </a:pPr>
            <a:r>
              <a:rPr lang="en-US" sz="1400" b="1" dirty="0">
                <a:solidFill>
                  <a:schemeClr val="bg1"/>
                </a:solidFill>
              </a:rPr>
              <a:t>Petakan kegiatan per ekosistem</a:t>
            </a:r>
            <a:endParaRPr lang="en-US" sz="1400" dirty="0"/>
          </a:p>
          <a:p>
            <a:pPr indent="0" marL="0">
              <a:buNone/>
            </a:pPr>
            <a:r>
              <a:rPr lang="en-US" sz="1200" dirty="0">
                <a:solidFill>
                  <a:schemeClr val="accent3"/>
                </a:solidFill>
              </a:rPr>
              <a:t>Hutan, gambut, mangrove, mineral, zona, dan lokasi rehabilitasi</a:t>
            </a:r>
            <a:endParaRPr lang="en-US" sz="1400" dirty="0"/>
          </a:p>
        </p:txBody>
      </p:sp>
      <p:sp>
        <p:nvSpPr>
          <p:cNvPr id="9" name="Text 7"/>
          <p:cNvSpPr txBox="1"/>
          <p:nvPr/>
        </p:nvSpPr>
        <p:spPr>
          <a:xfrm>
            <a:off x="457200" y="3145536"/>
            <a:ext cx="365760" cy="54864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4</a:t>
            </a:r>
            <a:endParaRPr lang="en-US" sz="2200" dirty="0"/>
          </a:p>
        </p:txBody>
      </p:sp>
      <p:sp>
        <p:nvSpPr>
          <p:cNvPr id="10" name="Text 8"/>
          <p:cNvSpPr txBox="1"/>
          <p:nvPr/>
        </p:nvSpPr>
        <p:spPr>
          <a:xfrm>
            <a:off x="868680" y="3145536"/>
            <a:ext cx="3840480" cy="621792"/>
          </a:xfrm>
          <a:prstGeom prst="rect">
            <a:avLst/>
          </a:prstGeom>
          <a:noFill/>
          <a:ln/>
        </p:spPr>
        <p:txBody>
          <a:bodyPr wrap="square" lIns="0" tIns="0" rIns="0" bIns="0" rtlCol="0" anchor="t"/>
          <a:lstStyle/>
          <a:p>
            <a:pPr indent="0" marL="0">
              <a:buNone/>
            </a:pPr>
            <a:r>
              <a:rPr lang="en-US" sz="1400" b="1" dirty="0">
                <a:solidFill>
                  <a:schemeClr val="bg1"/>
                </a:solidFill>
              </a:rPr>
              <a:t>Hitung kredit bersih dan biaya total</a:t>
            </a:r>
            <a:endParaRPr lang="en-US" sz="1400" dirty="0"/>
          </a:p>
          <a:p>
            <a:pPr indent="0" marL="0">
              <a:buNone/>
            </a:pPr>
            <a:r>
              <a:rPr lang="en-US" sz="1200" dirty="0">
                <a:solidFill>
                  <a:schemeClr val="accent3"/>
                </a:solidFill>
              </a:rPr>
              <a:t>Baseline, leakage, buffer, audit, MRV, dan BSM</a:t>
            </a:r>
            <a:endParaRPr lang="en-US" sz="1400" dirty="0"/>
          </a:p>
        </p:txBody>
      </p:sp>
      <p:sp>
        <p:nvSpPr>
          <p:cNvPr id="11" name="Text 9"/>
          <p:cNvSpPr txBox="1"/>
          <p:nvPr/>
        </p:nvSpPr>
        <p:spPr>
          <a:xfrm>
            <a:off x="457200" y="3813048"/>
            <a:ext cx="365760" cy="54864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5</a:t>
            </a:r>
            <a:endParaRPr lang="en-US" sz="2200" dirty="0"/>
          </a:p>
        </p:txBody>
      </p:sp>
      <p:sp>
        <p:nvSpPr>
          <p:cNvPr id="12" name="Text 10"/>
          <p:cNvSpPr txBox="1"/>
          <p:nvPr/>
        </p:nvSpPr>
        <p:spPr>
          <a:xfrm>
            <a:off x="868680" y="3813048"/>
            <a:ext cx="3840480" cy="621792"/>
          </a:xfrm>
          <a:prstGeom prst="rect">
            <a:avLst/>
          </a:prstGeom>
          <a:noFill/>
          <a:ln/>
        </p:spPr>
        <p:txBody>
          <a:bodyPr wrap="square" lIns="0" tIns="0" rIns="0" bIns="0" rtlCol="0" anchor="t"/>
          <a:lstStyle/>
          <a:p>
            <a:pPr indent="0" marL="0">
              <a:buNone/>
            </a:pPr>
            <a:r>
              <a:rPr lang="en-US" sz="1400" b="1" dirty="0">
                <a:solidFill>
                  <a:schemeClr val="bg1"/>
                </a:solidFill>
              </a:rPr>
              <a:t>Klarifikasi persetujuan nasional &amp; SRUK</a:t>
            </a:r>
            <a:endParaRPr lang="en-US" sz="1400" dirty="0"/>
          </a:p>
          <a:p>
            <a:pPr indent="0" marL="0">
              <a:buNone/>
            </a:pPr>
            <a:r>
              <a:rPr lang="en-US" sz="1200" dirty="0">
                <a:solidFill>
                  <a:schemeClr val="accent3"/>
                </a:solidFill>
              </a:rPr>
              <a:t>Hindari double counting dengan standar eksternal</a:t>
            </a:r>
            <a:endParaRPr lang="en-US" sz="1400" dirty="0"/>
          </a:p>
        </p:txBody>
      </p:sp>
      <p:sp>
        <p:nvSpPr>
          <p:cNvPr id="13" name="Shape 11"/>
          <p:cNvSpPr/>
          <p:nvPr/>
        </p:nvSpPr>
        <p:spPr>
          <a:xfrm>
            <a:off x="5029200" y="1143000"/>
            <a:ext cx="3657600" cy="3337560"/>
          </a:xfrm>
          <a:prstGeom prst="rect">
            <a:avLst/>
          </a:prstGeom>
          <a:solidFill>
            <a:schemeClr val="accent1"/>
          </a:solidFill>
          <a:ln/>
        </p:spPr>
      </p:sp>
      <p:sp>
        <p:nvSpPr>
          <p:cNvPr id="14" name="Text 12"/>
          <p:cNvSpPr txBox="1"/>
          <p:nvPr/>
        </p:nvSpPr>
        <p:spPr>
          <a:xfrm>
            <a:off x="5257800" y="1325880"/>
            <a:ext cx="3200400"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Dari TAF</a:t>
            </a:r>
            <a:endParaRPr lang="en-US" sz="1600" dirty="0"/>
          </a:p>
        </p:txBody>
      </p:sp>
      <p:sp>
        <p:nvSpPr>
          <p:cNvPr id="15" name="Text 13"/>
          <p:cNvSpPr txBox="1"/>
          <p:nvPr/>
        </p:nvSpPr>
        <p:spPr>
          <a:xfrm>
            <a:off x="5257800" y="1783080"/>
            <a:ext cx="3246120"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Persetujuan jalur Plan Vivo, dimulai dari PIN</a:t>
            </a:r>
            <a:endParaRPr lang="en-US" sz="1400" dirty="0"/>
          </a:p>
          <a:p>
            <a:pPr marL="342900" indent="-342900">
              <a:spcAft>
                <a:spcPts val="800"/>
              </a:spcAft>
              <a:buSzPct val="100000"/>
              <a:buChar char="•"/>
            </a:pPr>
            <a:r>
              <a:rPr lang="en-US" sz="1400" dirty="0">
                <a:solidFill>
                  <a:schemeClr val="bg1"/>
                </a:solidFill>
              </a:rPr>
              <a:t>Dukungan pendanaan PIN sesuai dokumen hibah</a:t>
            </a:r>
            <a:endParaRPr lang="en-US" sz="1400" dirty="0"/>
          </a:p>
          <a:p>
            <a:pPr marL="342900" indent="-342900">
              <a:spcAft>
                <a:spcPts val="800"/>
              </a:spcAft>
              <a:buSzPct val="100000"/>
              <a:buChar char="•"/>
            </a:pPr>
            <a:r>
              <a:rPr lang="en-US" sz="1400" dirty="0">
                <a:solidFill>
                  <a:schemeClr val="bg1"/>
                </a:solidFill>
              </a:rPr>
              <a:t>Akses ke Kemenhut dan KLH untuk persetujuan dan SRUK</a:t>
            </a:r>
            <a:endParaRPr lang="en-US" sz="1400" dirty="0"/>
          </a:p>
          <a:p>
            <a:pPr marL="342900" indent="-342900">
              <a:spcAft>
                <a:spcPts val="800"/>
              </a:spcAft>
              <a:buSzPct val="100000"/>
              <a:buChar char="•"/>
            </a:pPr>
            <a:r>
              <a:rPr lang="en-US" sz="1400" dirty="0">
                <a:solidFill>
                  <a:schemeClr val="bg1"/>
                </a:solidFill>
              </a:rPr>
              <a:t>Jejaring calon investor untuk tahap pipeline dan presale</a:t>
            </a:r>
            <a:endParaRPr lang="en-US" sz="14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SAMPAN Hutan Desa">
  <a:themeElements>
    <a:clrScheme name="SAMPAN Hutan Desa">
      <a:dk1>
        <a:srgbClr val="1C2B25"/>
      </a:dk1>
      <a:lt1>
        <a:srgbClr val="FFFFFF"/>
      </a:lt1>
      <a:dk2>
        <a:srgbClr val="173F35"/>
      </a:dk2>
      <a:lt2>
        <a:srgbClr val="EEF3EF"/>
      </a:lt2>
      <a:accent1>
        <a:srgbClr val="2E7D5B"/>
      </a:accent1>
      <a:accent2>
        <a:srgbClr val="C8642A"/>
      </a:accent2>
      <a:accent3>
        <a:srgbClr val="8FC1A6"/>
      </a:accent3>
      <a:accent4>
        <a:srgbClr val="2F7183"/>
      </a:accent4>
      <a:accent5>
        <a:srgbClr val="8C6A4A"/>
      </a:accent5>
      <a:accent6>
        <a:srgbClr val="C99A2E"/>
      </a:accent6>
      <a:hlink>
        <a:srgbClr val="2E7D5B"/>
      </a:hlink>
      <a:folHlink>
        <a:srgbClr val="2F7183"/>
      </a:folHlink>
    </a:clrScheme>
    <a:fontScheme name="SAMPAN Hutan De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SAMPAN Kalimantan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Karbon Komunitas Hutan Desa Pasir: Jalur Plan Vivo</dc:title>
  <dc:subject>PptxGenJS Presentation</dc:subject>
  <dc:creator>SAMPAN Kalimantan</dc:creator>
  <cp:lastModifiedBy>SAMPAN Kalimantan</cp:lastModifiedBy>
  <cp:revision>1</cp:revision>
  <dcterms:created xsi:type="dcterms:W3CDTF">2026-10-21T11:27:22Z</dcterms:created>
  <dcterms:modified xsi:type="dcterms:W3CDTF">2026-10-21T11:27:22Z</dcterms:modified>
</cp:coreProperties>
</file>